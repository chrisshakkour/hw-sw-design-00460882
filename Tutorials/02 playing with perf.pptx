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4_A388E13B.xml" ContentType="application/vnd.ms-powerpoint.comments+xml"/>
  <Override PartName="/ppt/notesSlides/notesSlide2.xml" ContentType="application/vnd.openxmlformats-officedocument.presentationml.notesSlide+xml"/>
  <Override PartName="/ppt/comments/modernComment_101_1E57DE1E.xml" ContentType="application/vnd.ms-powerpoint.comments+xml"/>
  <Override PartName="/ppt/comments/modernComment_102_4AACB74C.xml" ContentType="application/vnd.ms-powerpoint.comments+xml"/>
  <Override PartName="/ppt/comments/modernComment_104_7F74F408.xml" ContentType="application/vnd.ms-powerpoint.comments+xml"/>
  <Override PartName="/ppt/notesSlides/notesSlide3.xml" ContentType="application/vnd.openxmlformats-officedocument.presentationml.notesSlide+xml"/>
  <Override PartName="/ppt/comments/modernComment_105_A3202D96.xml" ContentType="application/vnd.ms-powerpoint.comments+xml"/>
  <Override PartName="/ppt/notesSlides/notesSlide4.xml" ContentType="application/vnd.openxmlformats-officedocument.presentationml.notesSlide+xml"/>
  <Override PartName="/ppt/comments/modernComment_116_E29F8548.xml" ContentType="application/vnd.ms-powerpoint.comments+xml"/>
  <Override PartName="/ppt/comments/modernComment_106_7621FEE2.xml" ContentType="application/vnd.ms-powerpoint.comments+xml"/>
  <Override PartName="/ppt/comments/modernComment_107_13ABBACD.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79" r:id="rId2"/>
    <p:sldId id="276" r:id="rId3"/>
    <p:sldId id="257" r:id="rId4"/>
    <p:sldId id="259" r:id="rId5"/>
    <p:sldId id="258" r:id="rId6"/>
    <p:sldId id="260" r:id="rId7"/>
    <p:sldId id="261" r:id="rId8"/>
    <p:sldId id="278" r:id="rId9"/>
    <p:sldId id="266" r:id="rId10"/>
    <p:sldId id="262" r:id="rId11"/>
    <p:sldId id="263" r:id="rId12"/>
    <p:sldId id="264" r:id="rId13"/>
    <p:sldId id="265" r:id="rId14"/>
    <p:sldId id="277" r:id="rId15"/>
    <p:sldId id="267" r:id="rId16"/>
    <p:sldId id="271" r:id="rId17"/>
    <p:sldId id="268"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6152583-3690-74EA-A4B1-15012187E5A3}" name="Yoav Etsion" initials="YE" userId="S::yetsion@technion.ac.il::6817d923-c30e-4d6b-be87-a47c131a91a7" providerId="AD"/>
  <p188:author id="{57CFCABF-34A9-031B-E326-77638A7646FC}" name="Ohad Eitan" initials="OE" userId="S::ohad.eitan@campus.technion.ac.il::716374f3-60b9-4c87-b257-64bda1c08bc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172DA6-71A5-3048-6DB4-69445B74ACD2}" v="2" dt="2026-04-09T06:12:59.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5B172DA6-71A5-3048-6DB4-69445B74ACD2}"/>
    <pc:docChg chg="modSld">
      <pc:chgData name="" userId="" providerId="" clId="Web-{5B172DA6-71A5-3048-6DB4-69445B74ACD2}" dt="2026-04-09T06:12:59.099" v="0" actId="20577"/>
      <pc:docMkLst>
        <pc:docMk/>
      </pc:docMkLst>
      <pc:sldChg chg="modSp">
        <pc:chgData name="" userId="" providerId="" clId="Web-{5B172DA6-71A5-3048-6DB4-69445B74ACD2}" dt="2026-04-09T06:12:59.099" v="0" actId="20577"/>
        <pc:sldMkLst>
          <pc:docMk/>
          <pc:sldMk cId="3806134220" sldId="279"/>
        </pc:sldMkLst>
        <pc:spChg chg="mod">
          <ac:chgData name="" userId="" providerId="" clId="Web-{5B172DA6-71A5-3048-6DB4-69445B74ACD2}" dt="2026-04-09T06:12:59.099" v="0" actId="20577"/>
          <ac:spMkLst>
            <pc:docMk/>
            <pc:sldMk cId="3806134220" sldId="279"/>
            <ac:spMk id="5" creationId="{F98EDDEE-620E-C6CB-D58F-342FB62E7ACB}"/>
          </ac:spMkLst>
        </pc:spChg>
      </pc:sldChg>
    </pc:docChg>
  </pc:docChgLst>
  <pc:docChgLst>
    <pc:chgData name="Ohad Eitan" userId="716374f3-60b9-4c87-b257-64bda1c08bcd" providerId="ADAL" clId="{C1006F5B-54CA-4EC1-B3AF-25E6B237354D}"/>
    <pc:docChg chg="undo custSel modSld">
      <pc:chgData name="Ohad Eitan" userId="716374f3-60b9-4c87-b257-64bda1c08bcd" providerId="ADAL" clId="{C1006F5B-54CA-4EC1-B3AF-25E6B237354D}" dt="2026-04-07T15:22:38.502" v="1" actId="20577"/>
      <pc:docMkLst>
        <pc:docMk/>
      </pc:docMkLst>
      <pc:sldChg chg="modSp mod">
        <pc:chgData name="Ohad Eitan" userId="716374f3-60b9-4c87-b257-64bda1c08bcd" providerId="ADAL" clId="{C1006F5B-54CA-4EC1-B3AF-25E6B237354D}" dt="2026-04-07T15:22:38.502" v="1" actId="20577"/>
        <pc:sldMkLst>
          <pc:docMk/>
          <pc:sldMk cId="3806134220" sldId="279"/>
        </pc:sldMkLst>
        <pc:spChg chg="mod">
          <ac:chgData name="Ohad Eitan" userId="716374f3-60b9-4c87-b257-64bda1c08bcd" providerId="ADAL" clId="{C1006F5B-54CA-4EC1-B3AF-25E6B237354D}" dt="2026-04-07T15:22:38.502" v="1" actId="20577"/>
          <ac:spMkLst>
            <pc:docMk/>
            <pc:sldMk cId="3806134220" sldId="279"/>
            <ac:spMk id="5" creationId="{F98EDDEE-620E-C6CB-D58F-342FB62E7ACB}"/>
          </ac:spMkLst>
        </pc:spChg>
      </pc:sldChg>
    </pc:docChg>
  </pc:docChgLst>
  <pc:docChgLst>
    <pc:chgData name="Ohad Eitan" userId="S::ohad.eitan@campus.technion.ac.il::716374f3-60b9-4c87-b257-64bda1c08bcd" providerId="AD" clId="Web-{2E298A62-C7B8-CAE0-357A-8D67A2001C2A}"/>
    <pc:docChg chg="modSld">
      <pc:chgData name="Ohad Eitan" userId="S::ohad.eitan@campus.technion.ac.il::716374f3-60b9-4c87-b257-64bda1c08bcd" providerId="AD" clId="Web-{2E298A62-C7B8-CAE0-357A-8D67A2001C2A}" dt="2026-04-06T14:27:57.491" v="1"/>
      <pc:docMkLst>
        <pc:docMk/>
      </pc:docMkLst>
      <pc:sldChg chg="modSp">
        <pc:chgData name="Ohad Eitan" userId="S::ohad.eitan@campus.technion.ac.il::716374f3-60b9-4c87-b257-64bda1c08bcd" providerId="AD" clId="Web-{2E298A62-C7B8-CAE0-357A-8D67A2001C2A}" dt="2026-04-06T14:27:57.491" v="1"/>
        <pc:sldMkLst>
          <pc:docMk/>
          <pc:sldMk cId="3802105160" sldId="278"/>
        </pc:sldMkLst>
        <pc:graphicFrameChg chg="modGraphic">
          <ac:chgData name="Ohad Eitan" userId="S::ohad.eitan@campus.technion.ac.il::716374f3-60b9-4c87-b257-64bda1c08bcd" providerId="AD" clId="Web-{2E298A62-C7B8-CAE0-357A-8D67A2001C2A}" dt="2026-04-06T14:27:57.491" v="1"/>
          <ac:graphicFrameMkLst>
            <pc:docMk/>
            <pc:sldMk cId="3802105160" sldId="278"/>
            <ac:graphicFrameMk id="5" creationId="{09CAA764-9249-C0D3-B0D9-B08D34CBDBC8}"/>
          </ac:graphicFrameMkLst>
        </pc:graphicFrameChg>
      </pc:sldChg>
    </pc:docChg>
  </pc:docChgLst>
</pc:chgInfo>
</file>

<file path=ppt/comments/modernComment_101_1E57DE1E.xml><?xml version="1.0" encoding="utf-8"?>
<p188:cmLst xmlns:a="http://schemas.openxmlformats.org/drawingml/2006/main" xmlns:r="http://schemas.openxmlformats.org/officeDocument/2006/relationships" xmlns:p188="http://schemas.microsoft.com/office/powerpoint/2018/8/main">
  <p188:cm id="{ED9173BA-DB6D-479C-9739-237E6BC506BD}" authorId="{F6152583-3690-74EA-A4B1-15012187E5A3}" status="resolved" created="2025-05-01T23:12:53.919" complete="100000">
    <ac:txMkLst xmlns:ac="http://schemas.microsoft.com/office/drawing/2013/main/command">
      <pc:docMk xmlns:pc="http://schemas.microsoft.com/office/powerpoint/2013/main/command"/>
      <pc:sldMk xmlns:pc="http://schemas.microsoft.com/office/powerpoint/2013/main/command" cId="509074974" sldId="257"/>
      <ac:graphicFrameMk id="4" creationId="{85BB6E55-F9D0-EAB1-1C44-EA63F40CEB62}"/>
      <ac:tblMk/>
      <ac:tcMk rowId="3614384050" colId="1350520931"/>
      <ac:txMk cp="7" len="8">
        <ac:context len="16" hash="1235729382"/>
      </ac:txMk>
    </ac:txMkLst>
    <p188:pos x="8736724" y="1779423"/>
    <p188:replyLst>
      <p188:reply id="{B2F09674-92BE-438D-B84B-0C753E952AC0}" authorId="{57CFCABF-34A9-031B-E326-77638A7646FC}" created="2025-05-03T06:20:21.369">
        <p188:txBody>
          <a:bodyPr/>
          <a:lstStyle/>
          <a:p>
            <a:r>
              <a:rPr lang="en-US"/>
              <a:t>This is an interesting outcome I want to bring up in class.
All students would typically assume that the row-based approach should be faster and more cache-friendly.
But when you look at the actual performance results-it's surprising!
In practice, the row-based implementation makes 30 times fewer cache accesses than the column-based one.
That’s because of how cache lines work, and how the size of an int compares to the size of a cache line or a CPU register.
As a result, each time the row-based version does access the cache, it's less likely to find useful data there -&gt;leading to a higher cache miss rate.
This unexpected behavior makes it a great example to show how we should always challenge performance results, intuition might be wrong.</a:t>
            </a:r>
          </a:p>
        </p188:txBody>
      </p188:reply>
      <p188:reply id="{7A70E460-86B1-47A1-AB03-2AD5D61CA12E}" authorId="{F6152583-3690-74EA-A4B1-15012187E5A3}" created="2025-05-03T08:49:09.742">
        <p188:txBody>
          <a:bodyPr/>
          <a:lstStyle/>
          <a:p>
            <a:r>
              <a:rPr lang="en-IL"/>
              <a:t>Nice!</a:t>
            </a:r>
          </a:p>
        </p188:txBody>
      </p188:reply>
    </p188:replyLst>
    <p188:txBody>
      <a:bodyPr/>
      <a:lstStyle/>
      <a:p>
        <a:r>
          <a:rPr lang="en-IL"/>
          <a:t>What do the precents mean? Since the line says “cache misses”, would expect miss rate. But miss rates should go down with row-major acceses</a:t>
        </a:r>
      </a:p>
    </p188:txBody>
  </p188:cm>
  <p188:cm id="{6877B4A7-3114-4C6D-BDD7-8327379BAD24}" authorId="{F6152583-3690-74EA-A4B1-15012187E5A3}" status="resolved" created="2025-05-01T23:13:50.320" complete="100000">
    <ac:txMkLst xmlns:ac="http://schemas.microsoft.com/office/drawing/2013/main/command">
      <pc:docMk xmlns:pc="http://schemas.microsoft.com/office/powerpoint/2013/main/command"/>
      <pc:sldMk xmlns:pc="http://schemas.microsoft.com/office/powerpoint/2013/main/command" cId="509074974" sldId="257"/>
      <ac:graphicFrameMk id="4" creationId="{85BB6E55-F9D0-EAB1-1C44-EA63F40CEB62}"/>
      <ac:tblMk/>
      <ac:tcMk rowId="3762152396" colId="3393806957"/>
      <ac:txMk cp="0" len="13">
        <ac:context len="14" hash="2228131092"/>
      </ac:txMk>
    </ac:txMkLst>
    <p188:pos x="5194738" y="297465"/>
    <p188:replyLst>
      <p188:reply id="{6188E3D8-1ECC-463B-AE1D-22F9486A871F}" authorId="{57CFCABF-34A9-031B-E326-77638A7646FC}" created="2025-05-03T06:12:10.865">
        <p188:txBody>
          <a:bodyPr/>
          <a:lstStyle/>
          <a:p>
            <a:r>
              <a:rPr lang="en-US"/>
              <a:t>Done</a:t>
            </a:r>
          </a:p>
        </p188:txBody>
      </p188:reply>
    </p188:replyLst>
    <p188:txBody>
      <a:bodyPr/>
      <a:lstStyle/>
      <a:p>
        <a:r>
          <a:rPr lang="en-IL"/>
          <a:t>The correct terminology is “row-major” vs. “column major” traversals (just like the encoding in C/C++ is row-major)
</a:t>
        </a:r>
      </a:p>
    </p188:txBody>
  </p188:cm>
  <p188:cm id="{48852446-68BD-415C-A8CC-FEB762916D9B}" authorId="{F6152583-3690-74EA-A4B1-15012187E5A3}" status="resolved" created="2025-05-01T23:25:10.032" complete="100000">
    <ac:txMkLst xmlns:ac="http://schemas.microsoft.com/office/drawing/2013/main/command">
      <pc:docMk xmlns:pc="http://schemas.microsoft.com/office/powerpoint/2013/main/command"/>
      <pc:sldMk xmlns:pc="http://schemas.microsoft.com/office/powerpoint/2013/main/command" cId="509074974" sldId="257"/>
      <ac:graphicFrameMk id="4" creationId="{85BB6E55-F9D0-EAB1-1C44-EA63F40CEB62}"/>
      <ac:tblMk/>
      <ac:tcMk rowId="3614384050" colId="3393806957"/>
      <ac:txMk cp="0" len="14">
        <ac:context len="22" hash="737980645"/>
      </ac:txMk>
    </ac:txMkLst>
    <p188:pos x="4953000" y="1779423"/>
    <p188:replyLst>
      <p188:reply id="{44C9388C-CFF6-4BBD-8E6D-D60E338E3030}" authorId="{57CFCABF-34A9-031B-E326-77638A7646FC}" created="2025-05-03T06:12:42.101">
        <p188:txBody>
          <a:bodyPr/>
          <a:lstStyle/>
          <a:p>
            <a:r>
              <a:rPr lang="en-US"/>
              <a:t>ofcourse!</a:t>
            </a:r>
          </a:p>
        </p188:txBody>
      </p188:reply>
    </p188:replyLst>
    <p188:txBody>
      <a:bodyPr/>
      <a:lstStyle/>
      <a:p>
        <a:r>
          <a:rPr lang="en-IL"/>
          <a:t>Do you plan to show the perf command line that records the cache misses? (and other metrics you show down the road). I think it would be great for the students to see it.</a:t>
        </a:r>
      </a:p>
    </p188:txBody>
    <p188:extLst>
      <p:ext xmlns:p="http://schemas.openxmlformats.org/presentationml/2006/main" uri="{57CB4572-C831-44C2-8A1C-0ADB6CCDFE69}">
        <p223:reactions xmlns:p223="http://schemas.microsoft.com/office/powerpoint/2022/03/main">
          <p223:rxn type="👍">
            <p223:instance time="2025-05-03T08:49:31.478" authorId="{F6152583-3690-74EA-A4B1-15012187E5A3}"/>
          </p223:rxn>
        </p223:reactions>
      </p:ext>
    </p188:extLst>
  </p188:cm>
</p188:cmLst>
</file>

<file path=ppt/comments/modernComment_102_4AACB74C.xml><?xml version="1.0" encoding="utf-8"?>
<p188:cmLst xmlns:a="http://schemas.openxmlformats.org/drawingml/2006/main" xmlns:r="http://schemas.openxmlformats.org/officeDocument/2006/relationships" xmlns:p188="http://schemas.microsoft.com/office/powerpoint/2018/8/main">
  <p188:cm id="{91CB9463-0286-4E83-A712-50A1B8490C95}" authorId="{F6152583-3690-74EA-A4B1-15012187E5A3}" status="resolved" created="2025-05-01T23:14:58.868" complete="100000">
    <ac:txMkLst xmlns:ac="http://schemas.microsoft.com/office/drawing/2013/main/command">
      <pc:docMk xmlns:pc="http://schemas.microsoft.com/office/powerpoint/2013/main/command"/>
      <pc:sldMk xmlns:pc="http://schemas.microsoft.com/office/powerpoint/2013/main/command" cId="1252833100" sldId="258"/>
      <ac:spMk id="3" creationId="{C64CF0B6-1946-1D59-F580-ED3803A597B5}"/>
      <ac:txMk cp="145">
        <ac:context len="320" hash="3837765550"/>
      </ac:txMk>
    </ac:txMkLst>
    <p188:pos x="738352" y="1572859"/>
    <p188:replyLst>
      <p188:reply id="{B9D9DDAB-E6CD-4105-B588-AEB208435B2B}" authorId="{57CFCABF-34A9-031B-E326-77638A7646FC}" created="2025-05-03T06:22:13.232">
        <p188:txBody>
          <a:bodyPr/>
          <a:lstStyle/>
          <a:p>
            <a:r>
              <a:rPr lang="en-US"/>
              <a:t>Done</a:t>
            </a:r>
          </a:p>
        </p188:txBody>
      </p188:reply>
    </p188:replyLst>
    <p188:txBody>
      <a:bodyPr/>
      <a:lstStyle/>
      <a:p>
        <a:r>
          <a:rPr lang="en-IL"/>
          <a:t>Who’s “he”?</a:t>
        </a:r>
      </a:p>
    </p188:txBody>
  </p188:cm>
</p188:cmLst>
</file>

<file path=ppt/comments/modernComment_104_7F74F408.xml><?xml version="1.0" encoding="utf-8"?>
<p188:cmLst xmlns:a="http://schemas.openxmlformats.org/drawingml/2006/main" xmlns:r="http://schemas.openxmlformats.org/officeDocument/2006/relationships" xmlns:p188="http://schemas.microsoft.com/office/powerpoint/2018/8/main">
  <p188:cm id="{30A8E6BC-8B46-4303-A457-5B24D494EC99}" authorId="{F6152583-3690-74EA-A4B1-15012187E5A3}" status="resolved" created="2025-05-01T23:15:45.182" complete="100000">
    <ac:txMkLst xmlns:ac="http://schemas.microsoft.com/office/drawing/2013/main/command">
      <pc:docMk xmlns:pc="http://schemas.microsoft.com/office/powerpoint/2013/main/command"/>
      <pc:sldMk xmlns:pc="http://schemas.microsoft.com/office/powerpoint/2013/main/command" cId="2138371080" sldId="260"/>
      <ac:spMk id="3" creationId="{FD794A28-1788-ACC0-3FF0-DC956CDC12C9}"/>
      <ac:txMk cp="64" len="2">
        <ac:context len="74" hash="15493648"/>
      </ac:txMk>
    </ac:txMkLst>
    <p188:pos x="1242848" y="675837"/>
    <p188:replyLst>
      <p188:reply id="{41F3D28C-CF75-49C1-B2A3-014B2DCE72D5}" authorId="{57CFCABF-34A9-031B-E326-77638A7646FC}" created="2025-05-03T06:26:47.243">
        <p188:txBody>
          <a:bodyPr/>
          <a:lstStyle/>
          <a:p>
            <a:r>
              <a:rPr lang="en-US"/>
              <a:t>I ran: sudo perf stat
so it should be LLC
I will write a smarter analysis for this example</a:t>
            </a:r>
          </a:p>
        </p188:txBody>
        <p188:extLst>
          <p:ext xmlns:p="http://schemas.openxmlformats.org/presentationml/2006/main" uri="{57CB4572-C831-44C2-8A1C-0ADB6CCDFE69}">
            <p223:reactions xmlns:p223="http://schemas.microsoft.com/office/powerpoint/2022/03/main">
              <p223:rxn type="👍">
                <p223:instance time="2025-05-03T08:50:43.107" authorId="{F6152583-3690-74EA-A4B1-15012187E5A3}"/>
              </p223:rxn>
            </p223:reactions>
          </p:ext>
        </p188:extLst>
      </p188:reply>
      <p188:reply id="{6B534DF6-91AD-46D3-BA32-6653C8346AF6}" authorId="{F6152583-3690-74EA-A4B1-15012187E5A3}" created="2025-05-03T08:51:23.847">
        <p188:txBody>
          <a:bodyPr/>
          <a:lstStyle/>
          <a:p>
            <a:r>
              <a:rPr lang="en-IL"/>
              <a:t>Great! It will be interesting to see the miss rate in the different caches</a:t>
            </a:r>
          </a:p>
        </p188:txBody>
      </p188:reply>
    </p188:replyLst>
    <p188:txBody>
      <a:bodyPr/>
      <a:lstStyle/>
      <a:p>
        <a:r>
          <a:rPr lang="en-IL"/>
          <a:t>In which cache? L1, L2, or LLC?</a:t>
        </a:r>
      </a:p>
    </p188:txBody>
  </p188:cm>
</p188:cmLst>
</file>

<file path=ppt/comments/modernComment_105_A3202D96.xml><?xml version="1.0" encoding="utf-8"?>
<p188:cmLst xmlns:a="http://schemas.openxmlformats.org/drawingml/2006/main" xmlns:r="http://schemas.openxmlformats.org/officeDocument/2006/relationships" xmlns:p188="http://schemas.microsoft.com/office/powerpoint/2018/8/main">
  <p188:cm id="{821F6F3A-B5A5-4092-8816-CF9F37FE9B9C}" authorId="{F6152583-3690-74EA-A4B1-15012187E5A3}" created="2025-05-01T23:16:58.614">
    <ac:txMkLst xmlns:ac="http://schemas.microsoft.com/office/drawing/2013/main/command">
      <pc:docMk xmlns:pc="http://schemas.microsoft.com/office/powerpoint/2013/main/command"/>
      <pc:sldMk xmlns:pc="http://schemas.microsoft.com/office/powerpoint/2013/main/command" cId="2736795030" sldId="261"/>
      <ac:spMk id="3" creationId="{811991FC-E65D-622C-C139-EEF92DE90019}"/>
      <ac:txMk cp="421" len="41">
        <ac:context len="587" hash="3501967102"/>
      </ac:txMk>
    </ac:txMkLst>
    <p188:pos x="10365828" y="2525658"/>
    <p188:txBody>
      <a:bodyPr/>
      <a:lstStyle/>
      <a:p>
        <a:r>
          <a:rPr lang="en-IL"/>
          <a:t>A good place to mention spatial locality</a:t>
        </a:r>
      </a:p>
    </p188:txBody>
    <p188:extLst>
      <p:ext xmlns:p="http://schemas.openxmlformats.org/presentationml/2006/main" uri="{57CB4572-C831-44C2-8A1C-0ADB6CCDFE69}">
        <p223:reactions xmlns:p223="http://schemas.microsoft.com/office/powerpoint/2022/03/main">
          <p223:rxn type="👍">
            <p223:instance time="2025-05-03T06:27:40.339" authorId="{57CFCABF-34A9-031B-E326-77638A7646FC}"/>
          </p223:rxn>
        </p223:reactions>
      </p:ext>
    </p188:extLst>
  </p188:cm>
</p188:cmLst>
</file>

<file path=ppt/comments/modernComment_106_7621FEE2.xml><?xml version="1.0" encoding="utf-8"?>
<p188:cmLst xmlns:a="http://schemas.openxmlformats.org/drawingml/2006/main" xmlns:r="http://schemas.openxmlformats.org/officeDocument/2006/relationships" xmlns:p188="http://schemas.microsoft.com/office/powerpoint/2018/8/main">
  <p188:cm id="{962A61C9-646B-4EA5-88E7-212DE12F1685}" authorId="{F6152583-3690-74EA-A4B1-15012187E5A3}" status="resolved" created="2025-05-01T23:17:59.337" complete="100000">
    <ac:txMkLst xmlns:ac="http://schemas.microsoft.com/office/drawing/2013/main/command">
      <pc:docMk xmlns:pc="http://schemas.microsoft.com/office/powerpoint/2013/main/command"/>
      <pc:sldMk xmlns:pc="http://schemas.microsoft.com/office/powerpoint/2013/main/command" cId="1981939426" sldId="262"/>
      <ac:spMk id="6" creationId="{F1C85B48-1944-5D82-4F09-CC3A817D2468}"/>
      <ac:txMk cp="90" len="3">
        <ac:context len="100" hash="228199107"/>
      </ac:txMk>
    </ac:txMkLst>
    <p188:pos x="2769556" y="563080"/>
    <p188:replyLst>
      <p188:reply id="{243A0C0E-8914-4EE0-993C-BEE07BD9CEAC}" authorId="{57CFCABF-34A9-031B-E326-77638A7646FC}" created="2025-05-03T06:28:15.324">
        <p188:txBody>
          <a:bodyPr/>
          <a:lstStyle/>
          <a:p>
            <a:r>
              <a:rPr lang="en-US"/>
              <a:t>yes </a:t>
            </a:r>
          </a:p>
        </p188:txBody>
      </p188:reply>
    </p188:replyLst>
    <p188:txBody>
      <a:bodyPr/>
      <a:lstStyle/>
      <a:p>
        <a:r>
          <a:rPr lang="en-IL"/>
          <a:t>Do you mean man page?</a:t>
        </a:r>
      </a:p>
    </p188:txBody>
  </p188:cm>
</p188:cmLst>
</file>

<file path=ppt/comments/modernComment_107_13ABBACD.xml><?xml version="1.0" encoding="utf-8"?>
<p188:cmLst xmlns:a="http://schemas.openxmlformats.org/drawingml/2006/main" xmlns:r="http://schemas.openxmlformats.org/officeDocument/2006/relationships" xmlns:p188="http://schemas.microsoft.com/office/powerpoint/2018/8/main">
  <p188:cm id="{3290347B-008C-4DD2-8A0F-35DB1765053C}" authorId="{F6152583-3690-74EA-A4B1-15012187E5A3}" status="resolved" created="2025-05-01T23:21:16.846" complete="100000">
    <ac:txMkLst xmlns:ac="http://schemas.microsoft.com/office/drawing/2013/main/command">
      <pc:docMk xmlns:pc="http://schemas.microsoft.com/office/powerpoint/2013/main/command"/>
      <pc:sldMk xmlns:pc="http://schemas.microsoft.com/office/powerpoint/2013/main/command" cId="330021581" sldId="263"/>
      <ac:spMk id="3" creationId="{91EA137E-1379-1955-5AB6-4F613ADB32E8}"/>
      <ac:txMk cp="23" len="6">
        <ac:context len="480" hash="3836932796"/>
      </ac:txMk>
    </ac:txMkLst>
    <p188:pos x="5037083" y="297465"/>
    <p188:replyLst>
      <p188:reply id="{308379F5-BB9B-493C-9F35-6B94FE6CC1F6}" authorId="{57CFCABF-34A9-031B-E326-77638A7646FC}" created="2025-05-03T06:30:55.049">
        <p188:txBody>
          <a:bodyPr/>
          <a:lstStyle/>
          <a:p>
            <a:r>
              <a:rPr lang="en-US"/>
              <a:t>Done</a:t>
            </a:r>
          </a:p>
        </p188:txBody>
      </p188:reply>
    </p188:replyLst>
    <p188:txBody>
      <a:bodyPr/>
      <a:lstStyle/>
      <a:p>
        <a:r>
          <a:rPr lang="en-IL"/>
          <a:t>You should also mention that if the buffers are aligned on cache lines (64B), it’s best to use the SIMD unit for memcpy, since it moved 64B at a time.</a:t>
        </a:r>
      </a:p>
    </p188:txBody>
  </p188:cm>
</p188:cmLst>
</file>

<file path=ppt/comments/modernComment_114_A388E13B.xml><?xml version="1.0" encoding="utf-8"?>
<p188:cmLst xmlns:a="http://schemas.openxmlformats.org/drawingml/2006/main" xmlns:r="http://schemas.openxmlformats.org/officeDocument/2006/relationships" xmlns:p188="http://schemas.microsoft.com/office/powerpoint/2018/8/main">
  <p188:cm id="{5C0A71FF-B7B4-4D12-BF8D-9B9AD974BEA6}" authorId="{F6152583-3690-74EA-A4B1-15012187E5A3}" status="resolved" created="2025-05-01T23:12:53.919">
    <ac:txMkLst xmlns:ac="http://schemas.microsoft.com/office/drawing/2013/main/command">
      <pc:docMk xmlns:pc="http://schemas.microsoft.com/office/powerpoint/2013/main/command"/>
      <pc:sldMk xmlns:pc="http://schemas.microsoft.com/office/powerpoint/2013/main/command" cId="2743656763" sldId="276"/>
      <ac:graphicFrameMk id="4" creationId="{E5D72533-F7C5-8284-72FE-506B66937672}"/>
      <ac:tblMk/>
      <ac:tcMk rowId="3614384050" colId="1350520931"/>
      <ac:txMk cp="7" len="8">
        <ac:context len="16" hash="1235729382"/>
      </ac:txMk>
    </ac:txMkLst>
    <p188:pos x="8736724" y="1779423"/>
    <p188:replyLst>
      <p188:reply id="{B2F09674-92BE-438D-B84B-0C753E952AC0}" authorId="{57CFCABF-34A9-031B-E326-77638A7646FC}" created="2025-05-03T06:20:21.369">
        <p188:txBody>
          <a:bodyPr/>
          <a:lstStyle/>
          <a:p>
            <a:r>
              <a:rPr lang="en-US"/>
              <a:t>This is an interesting outcome I want to bring up in class.
All students would typically assume that the row-based approach should be faster and more cache-friendly.
But when you look at the actual performance results-it's surprising!
In practice, the row-based implementation makes 30 times fewer cache accesses than the column-based one.
That’s because of how cache lines work, and how the size of an int compares to the size of a cache line or a CPU register.
As a result, each time the row-based version does access the cache, it's less likely to find useful data there -&gt;leading to a higher cache miss rate.
This unexpected behavior makes it a great example to show how we should always challenge performance results, intuition might be wrong.</a:t>
            </a:r>
          </a:p>
        </p188:txBody>
      </p188:reply>
      <p188:reply id="{7A70E460-86B1-47A1-AB03-2AD5D61CA12E}" authorId="{F6152583-3690-74EA-A4B1-15012187E5A3}" created="2025-05-03T08:49:09.742">
        <p188:txBody>
          <a:bodyPr/>
          <a:lstStyle/>
          <a:p>
            <a:r>
              <a:rPr lang="en-IL"/>
              <a:t>Nice!</a:t>
            </a:r>
          </a:p>
        </p188:txBody>
      </p188:reply>
    </p188:replyLst>
    <p188:txBody>
      <a:bodyPr/>
      <a:lstStyle/>
      <a:p>
        <a:r>
          <a:rPr lang="en-IL"/>
          <a:t>What do the precents mean? Since the line says “cache misses”, would expect miss rate. But miss rates should go down with row-major acceses</a:t>
        </a:r>
      </a:p>
    </p188:txBody>
  </p188:cm>
  <p188:cm id="{0F14264B-D9EE-4A4C-91FB-10C9081798AC}" authorId="{F6152583-3690-74EA-A4B1-15012187E5A3}" status="resolved" created="2025-05-01T23:13:50.320">
    <ac:txMkLst xmlns:ac="http://schemas.microsoft.com/office/drawing/2013/main/command">
      <pc:docMk xmlns:pc="http://schemas.microsoft.com/office/powerpoint/2013/main/command"/>
      <pc:sldMk xmlns:pc="http://schemas.microsoft.com/office/powerpoint/2013/main/command" cId="2743656763" sldId="276"/>
      <ac:graphicFrameMk id="4" creationId="{E5D72533-F7C5-8284-72FE-506B66937672}"/>
      <ac:tblMk/>
      <ac:tcMk rowId="3762152396" colId="3393806957"/>
      <ac:txMk cp="0" len="13">
        <ac:context len="14" hash="2228131092"/>
      </ac:txMk>
    </ac:txMkLst>
    <p188:pos x="5194738" y="297465"/>
    <p188:replyLst>
      <p188:reply id="{6188E3D8-1ECC-463B-AE1D-22F9486A871F}" authorId="{57CFCABF-34A9-031B-E326-77638A7646FC}" created="2025-05-03T06:12:10.865">
        <p188:txBody>
          <a:bodyPr/>
          <a:lstStyle/>
          <a:p>
            <a:r>
              <a:rPr lang="en-US"/>
              <a:t>Done</a:t>
            </a:r>
          </a:p>
        </p188:txBody>
      </p188:reply>
    </p188:replyLst>
    <p188:txBody>
      <a:bodyPr/>
      <a:lstStyle/>
      <a:p>
        <a:r>
          <a:rPr lang="en-IL"/>
          <a:t>The correct terminology is “row-major” vs. “column major” traversals (just like the encoding in C/C++ is row-major)
</a:t>
        </a:r>
      </a:p>
    </p188:txBody>
  </p188:cm>
  <p188:cm id="{E7F295F9-F005-4CB7-9B6E-18E79DCAC181}" authorId="{F6152583-3690-74EA-A4B1-15012187E5A3}" status="resolved" created="2025-05-01T23:25:10.032">
    <ac:txMkLst xmlns:ac="http://schemas.microsoft.com/office/drawing/2013/main/command">
      <pc:docMk xmlns:pc="http://schemas.microsoft.com/office/powerpoint/2013/main/command"/>
      <pc:sldMk xmlns:pc="http://schemas.microsoft.com/office/powerpoint/2013/main/command" cId="2743656763" sldId="276"/>
      <ac:graphicFrameMk id="4" creationId="{E5D72533-F7C5-8284-72FE-506B66937672}"/>
      <ac:tblMk/>
      <ac:tcMk rowId="3614384050" colId="3393806957"/>
      <ac:txMk cp="0" len="14">
        <ac:context len="22" hash="737980645"/>
      </ac:txMk>
    </ac:txMkLst>
    <p188:pos x="4953000" y="1779423"/>
    <p188:replyLst>
      <p188:reply id="{44C9388C-CFF6-4BBD-8E6D-D60E338E3030}" authorId="{57CFCABF-34A9-031B-E326-77638A7646FC}" created="2025-05-03T06:12:42.101">
        <p188:txBody>
          <a:bodyPr/>
          <a:lstStyle/>
          <a:p>
            <a:r>
              <a:rPr lang="en-US"/>
              <a:t>ofcourse!</a:t>
            </a:r>
          </a:p>
        </p188:txBody>
      </p188:reply>
    </p188:replyLst>
    <p188:txBody>
      <a:bodyPr/>
      <a:lstStyle/>
      <a:p>
        <a:r>
          <a:rPr lang="en-IL"/>
          <a:t>Do you plan to show the perf command line that records the cache misses? (and other metrics you show down the road). I think it would be great for the students to see it.</a:t>
        </a:r>
      </a:p>
    </p188:txBody>
    <p188:extLst>
      <p:ext xmlns:p="http://schemas.openxmlformats.org/presentationml/2006/main" uri="{57CB4572-C831-44C2-8A1C-0ADB6CCDFE69}">
        <p223:reactions xmlns:p223="http://schemas.microsoft.com/office/powerpoint/2022/03/main">
          <p223:rxn type="👍">
            <p223:instance time="2025-05-03T08:49:31.478" authorId="{F6152583-3690-74EA-A4B1-15012187E5A3}"/>
          </p223:rxn>
        </p223:reactions>
      </p:ext>
    </p188:extLst>
  </p188:cm>
</p188:cmLst>
</file>

<file path=ppt/comments/modernComment_116_E29F8548.xml><?xml version="1.0" encoding="utf-8"?>
<p188:cmLst xmlns:a="http://schemas.openxmlformats.org/drawingml/2006/main" xmlns:r="http://schemas.openxmlformats.org/officeDocument/2006/relationships" xmlns:p188="http://schemas.microsoft.com/office/powerpoint/2018/8/main">
  <p188:cm id="{13A54B43-4B0D-49DD-A43B-37087F7C426D}" authorId="{F6152583-3690-74EA-A4B1-15012187E5A3}" status="resolved" created="2025-05-01T23:12:53.919">
    <ac:txMkLst xmlns:ac="http://schemas.microsoft.com/office/drawing/2013/main/command">
      <pc:docMk xmlns:pc="http://schemas.microsoft.com/office/powerpoint/2013/main/command"/>
      <pc:sldMk xmlns:pc="http://schemas.microsoft.com/office/powerpoint/2013/main/command" cId="3802105160" sldId="278"/>
      <ac:graphicFrameMk id="4" creationId="{90A75CE9-7739-2FBE-3775-785B75E3226B}"/>
      <ac:tblMk/>
      <ac:tcMk rowId="3614384050" colId="1350520931"/>
      <ac:txMk cp="7" len="8">
        <ac:context len="16" hash="1235729382"/>
      </ac:txMk>
    </ac:txMkLst>
    <p188:replyLst>
      <p188:reply id="{B2F09674-92BE-438D-B84B-0C753E952AC0}" authorId="{57CFCABF-34A9-031B-E326-77638A7646FC}" created="2025-05-03T06:20:21.369">
        <p188:txBody>
          <a:bodyPr/>
          <a:lstStyle/>
          <a:p>
            <a:r>
              <a:rPr lang="en-US"/>
              <a:t>This is an interesting outcome I want to bring up in class.
All students would typically assume that the row-based approach should be faster and more cache-friendly.
But when you look at the actual performance results-it's surprising!
In practice, the row-based implementation makes 30 times fewer cache accesses than the column-based one.
That’s because of how cache lines work, and how the size of an int compares to the size of a cache line or a CPU register.
As a result, each time the row-based version does access the cache, it's less likely to find useful data there -&gt;leading to a higher cache miss rate.
This unexpected behavior makes it a great example to show how we should always challenge performance results, intuition might be wrong.</a:t>
            </a:r>
          </a:p>
        </p188:txBody>
      </p188:reply>
      <p188:reply id="{7A70E460-86B1-47A1-AB03-2AD5D61CA12E}" authorId="{F6152583-3690-74EA-A4B1-15012187E5A3}" created="2025-05-03T08:49:09.742">
        <p188:txBody>
          <a:bodyPr/>
          <a:lstStyle/>
          <a:p>
            <a:r>
              <a:rPr lang="en-IL"/>
              <a:t>Nice!</a:t>
            </a:r>
          </a:p>
        </p188:txBody>
      </p188:reply>
    </p188:replyLst>
    <p188:txBody>
      <a:bodyPr/>
      <a:lstStyle/>
      <a:p>
        <a:r>
          <a:rPr lang="en-IL"/>
          <a:t>What do the precents mean? Since the line says “cache misses”, would expect miss rate. But miss rates should go down with row-major acceses</a:t>
        </a:r>
      </a:p>
    </p188:txBody>
  </p188:cm>
  <p188:cm id="{5F9FE568-4BE8-40A4-B10C-980031C6054B}" authorId="{F6152583-3690-74EA-A4B1-15012187E5A3}" status="resolved" created="2025-05-01T23:13:50.320">
    <ac:txMkLst xmlns:ac="http://schemas.microsoft.com/office/drawing/2013/main/command">
      <pc:docMk xmlns:pc="http://schemas.microsoft.com/office/powerpoint/2013/main/command"/>
      <pc:sldMk xmlns:pc="http://schemas.microsoft.com/office/powerpoint/2013/main/command" cId="3802105160" sldId="278"/>
      <ac:graphicFrameMk id="4" creationId="{90A75CE9-7739-2FBE-3775-785B75E3226B}"/>
      <ac:tblMk/>
      <ac:tcMk rowId="3762152396" colId="3393806957"/>
      <ac:txMk cp="0" len="13">
        <ac:context len="14" hash="2228131092"/>
      </ac:txMk>
    </ac:txMkLst>
    <p188:replyLst>
      <p188:reply id="{6188E3D8-1ECC-463B-AE1D-22F9486A871F}" authorId="{57CFCABF-34A9-031B-E326-77638A7646FC}" created="2025-05-03T06:12:10.865">
        <p188:txBody>
          <a:bodyPr/>
          <a:lstStyle/>
          <a:p>
            <a:r>
              <a:rPr lang="en-US"/>
              <a:t>Done</a:t>
            </a:r>
          </a:p>
        </p188:txBody>
      </p188:reply>
    </p188:replyLst>
    <p188:txBody>
      <a:bodyPr/>
      <a:lstStyle/>
      <a:p>
        <a:r>
          <a:rPr lang="en-IL"/>
          <a:t>The correct terminology is “row-major” vs. “column major” traversals (just like the encoding in C/C++ is row-major)
</a:t>
        </a:r>
      </a:p>
    </p188:txBody>
  </p188:cm>
  <p188:cm id="{DC6C038E-20A0-4486-890A-0A01F270F2C9}" authorId="{F6152583-3690-74EA-A4B1-15012187E5A3}" status="resolved" created="2025-05-01T23:25:10.032">
    <ac:txMkLst xmlns:ac="http://schemas.microsoft.com/office/drawing/2013/main/command">
      <pc:docMk xmlns:pc="http://schemas.microsoft.com/office/powerpoint/2013/main/command"/>
      <pc:sldMk xmlns:pc="http://schemas.microsoft.com/office/powerpoint/2013/main/command" cId="3802105160" sldId="278"/>
      <ac:graphicFrameMk id="4" creationId="{90A75CE9-7739-2FBE-3775-785B75E3226B}"/>
      <ac:tblMk/>
      <ac:tcMk rowId="3614384050" colId="3393806957"/>
      <ac:txMk cp="0" len="14">
        <ac:context len="22" hash="737980645"/>
      </ac:txMk>
    </ac:txMkLst>
    <p188:replyLst>
      <p188:reply id="{44C9388C-CFF6-4BBD-8E6D-D60E338E3030}" authorId="{57CFCABF-34A9-031B-E326-77638A7646FC}" created="2025-05-03T06:12:42.101">
        <p188:txBody>
          <a:bodyPr/>
          <a:lstStyle/>
          <a:p>
            <a:r>
              <a:rPr lang="en-US"/>
              <a:t>ofcourse!</a:t>
            </a:r>
          </a:p>
        </p188:txBody>
      </p188:reply>
    </p188:replyLst>
    <p188:txBody>
      <a:bodyPr/>
      <a:lstStyle/>
      <a:p>
        <a:r>
          <a:rPr lang="en-IL"/>
          <a:t>Do you plan to show the perf command line that records the cache misses? (and other metrics you show down the road). I think it would be great for the students to see it.</a:t>
        </a:r>
      </a:p>
    </p188:txBody>
    <p188:extLst>
      <p:ext xmlns:p="http://schemas.openxmlformats.org/presentationml/2006/main" uri="{57CB4572-C831-44C2-8A1C-0ADB6CCDFE69}">
        <p223:reactions xmlns:p223="http://schemas.microsoft.com/office/powerpoint/2022/03/main">
          <p223:rxn type="👍">
            <p223:instance time="2025-05-03T08:49:31.478" authorId="{F6152583-3690-74EA-A4B1-15012187E5A3}"/>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A0C3A-98AE-422C-BA25-61BB43090829}" type="datetimeFigureOut">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2AC13E-7CFF-46B0-9B78-674EB193EA9E}" type="slidenum">
              <a:t>‹#›</a:t>
            </a:fld>
            <a:endParaRPr lang="en-US"/>
          </a:p>
        </p:txBody>
      </p:sp>
    </p:spTree>
    <p:extLst>
      <p:ext uri="{BB962C8B-B14F-4D97-AF65-F5344CB8AC3E}">
        <p14:creationId xmlns:p14="http://schemas.microsoft.com/office/powerpoint/2010/main" val="3721172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95416-C736-5C02-91D2-A44D252DC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A9F5D-1FA2-5CB9-251A-FF27E04434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EA2EC-A974-0126-7AD0-65C4ECFDC670}"/>
              </a:ext>
            </a:extLst>
          </p:cNvPr>
          <p:cNvSpPr>
            <a:spLocks noGrp="1"/>
          </p:cNvSpPr>
          <p:nvPr>
            <p:ph type="body" idx="1"/>
          </p:nvPr>
        </p:nvSpPr>
        <p:spPr/>
        <p:txBody>
          <a:bodyPr/>
          <a:lstStyle/>
          <a:p>
            <a:r>
              <a:rPr lang="en-US"/>
              <a:t>(just like the encoding in C/C++ is row-major</a:t>
            </a:r>
          </a:p>
          <a:p>
            <a:endParaRPr lang="en-US"/>
          </a:p>
          <a:p>
            <a:pPr>
              <a:buNone/>
            </a:pPr>
            <a:r>
              <a:rPr lang="en-US" sz="1800">
                <a:effectLst/>
                <a:latin typeface="Segoe UI" panose="020B0502040204020203" pitchFamily="34" charset="0"/>
              </a:rPr>
              <a:t>This is an interesting outcome I want to bring up in class.</a:t>
            </a:r>
            <a:endParaRPr lang="en-US" sz="1800">
              <a:effectLst/>
              <a:latin typeface="Arial" panose="020B0604020202020204" pitchFamily="34" charset="0"/>
            </a:endParaRPr>
          </a:p>
          <a:p>
            <a:pPr>
              <a:buNone/>
            </a:pPr>
            <a:r>
              <a:rPr lang="en-US" sz="1800">
                <a:effectLst/>
                <a:latin typeface="Segoe UI" panose="020B0502040204020203" pitchFamily="34" charset="0"/>
              </a:rPr>
              <a:t>All students would typically assume that the row-based approach should be faster and more cache-friendly.</a:t>
            </a:r>
            <a:endParaRPr lang="en-US" sz="1800">
              <a:effectLst/>
              <a:latin typeface="Arial" panose="020B0604020202020204" pitchFamily="34" charset="0"/>
            </a:endParaRPr>
          </a:p>
          <a:p>
            <a:pPr>
              <a:buNone/>
            </a:pPr>
            <a:r>
              <a:rPr lang="en-US" sz="1800">
                <a:effectLst/>
                <a:latin typeface="Segoe UI" panose="020B0502040204020203" pitchFamily="34" charset="0"/>
              </a:rPr>
              <a:t>But when you look at the actual performance results-it's surprising!</a:t>
            </a:r>
            <a:endParaRPr lang="en-US" sz="1800">
              <a:effectLst/>
              <a:latin typeface="Arial" panose="020B0604020202020204" pitchFamily="34" charset="0"/>
            </a:endParaRPr>
          </a:p>
          <a:p>
            <a:pPr>
              <a:buNone/>
            </a:pPr>
            <a:r>
              <a:rPr lang="en-US" sz="1800">
                <a:effectLst/>
                <a:latin typeface="Segoe UI" panose="020B0502040204020203" pitchFamily="34" charset="0"/>
              </a:rPr>
              <a:t>In practice, the row-based implementation makes 30 times fewer cache accesses than the column-based one.</a:t>
            </a:r>
            <a:endParaRPr lang="en-US" sz="1800">
              <a:effectLst/>
              <a:latin typeface="Arial" panose="020B0604020202020204" pitchFamily="34" charset="0"/>
            </a:endParaRPr>
          </a:p>
          <a:p>
            <a:pPr>
              <a:buNone/>
            </a:pPr>
            <a:r>
              <a:rPr lang="en-US" sz="1800">
                <a:effectLst/>
                <a:latin typeface="Segoe UI" panose="020B0502040204020203" pitchFamily="34" charset="0"/>
              </a:rPr>
              <a:t>That’s because of how cache lines work, and how the size of an int compares to the size of a cache line or a CPU register.</a:t>
            </a:r>
            <a:endParaRPr lang="en-US" sz="1800">
              <a:effectLst/>
              <a:latin typeface="Arial" panose="020B0604020202020204" pitchFamily="34" charset="0"/>
            </a:endParaRPr>
          </a:p>
          <a:p>
            <a:pPr>
              <a:buNone/>
            </a:pPr>
            <a:r>
              <a:rPr lang="en-US" sz="1800">
                <a:effectLst/>
                <a:latin typeface="Segoe UI" panose="020B0502040204020203" pitchFamily="34" charset="0"/>
              </a:rPr>
              <a:t>As a result, each time the row-based version does access the cache, it's less likely to find useful data there -&gt;leading to a higher cache miss rate.</a:t>
            </a:r>
            <a:endParaRPr lang="en-US" sz="1800">
              <a:effectLst/>
              <a:latin typeface="Arial" panose="020B0604020202020204" pitchFamily="34" charset="0"/>
            </a:endParaRPr>
          </a:p>
          <a:p>
            <a:r>
              <a:rPr lang="en-US" sz="1800">
                <a:effectLst/>
                <a:latin typeface="Segoe UI" panose="020B0502040204020203" pitchFamily="34" charset="0"/>
              </a:rPr>
              <a:t>This unexpected behavior makes it a great example to show how we should always challenge performance results, intuition might be wrong.</a:t>
            </a:r>
            <a:endParaRPr lang="en-US" sz="1800">
              <a:effectLst/>
              <a:latin typeface="Arial" panose="020B0604020202020204" pitchFamily="34" charset="0"/>
            </a:endParaRPr>
          </a:p>
          <a:p>
            <a:endParaRPr lang="en-US"/>
          </a:p>
        </p:txBody>
      </p:sp>
      <p:sp>
        <p:nvSpPr>
          <p:cNvPr id="4" name="Slide Number Placeholder 3">
            <a:extLst>
              <a:ext uri="{FF2B5EF4-FFF2-40B4-BE49-F238E27FC236}">
                <a16:creationId xmlns:a16="http://schemas.microsoft.com/office/drawing/2014/main" id="{6B43996F-3D91-ACBD-5829-B625C35E2545}"/>
              </a:ext>
            </a:extLst>
          </p:cNvPr>
          <p:cNvSpPr>
            <a:spLocks noGrp="1"/>
          </p:cNvSpPr>
          <p:nvPr>
            <p:ph type="sldNum" sz="quarter" idx="5"/>
          </p:nvPr>
        </p:nvSpPr>
        <p:spPr/>
        <p:txBody>
          <a:bodyPr/>
          <a:lstStyle/>
          <a:p>
            <a:fld id="{962AC13E-7CFF-46B0-9B78-674EB193EA9E}" type="slidenum">
              <a:t>2</a:t>
            </a:fld>
            <a:endParaRPr lang="en-US"/>
          </a:p>
        </p:txBody>
      </p:sp>
    </p:spTree>
    <p:extLst>
      <p:ext uri="{BB962C8B-B14F-4D97-AF65-F5344CB8AC3E}">
        <p14:creationId xmlns:p14="http://schemas.microsoft.com/office/powerpoint/2010/main" val="892149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(just like the encoding in C/C++ is row-major</a:t>
            </a:r>
          </a:p>
        </p:txBody>
      </p:sp>
      <p:sp>
        <p:nvSpPr>
          <p:cNvPr id="4" name="Slide Number Placeholder 3"/>
          <p:cNvSpPr>
            <a:spLocks noGrp="1"/>
          </p:cNvSpPr>
          <p:nvPr>
            <p:ph type="sldNum" sz="quarter" idx="5"/>
          </p:nvPr>
        </p:nvSpPr>
        <p:spPr/>
        <p:txBody>
          <a:bodyPr/>
          <a:lstStyle/>
          <a:p>
            <a:fld id="{962AC13E-7CFF-46B0-9B78-674EB193EA9E}" type="slidenum">
              <a:t>3</a:t>
            </a:fld>
            <a:endParaRPr lang="en-US"/>
          </a:p>
        </p:txBody>
      </p:sp>
    </p:spTree>
    <p:extLst>
      <p:ext uri="{BB962C8B-B14F-4D97-AF65-F5344CB8AC3E}">
        <p14:creationId xmlns:p14="http://schemas.microsoft.com/office/powerpoint/2010/main" val="234212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good place to mention spatial locality</a:t>
            </a:r>
          </a:p>
        </p:txBody>
      </p:sp>
      <p:sp>
        <p:nvSpPr>
          <p:cNvPr id="4" name="Slide Number Placeholder 3"/>
          <p:cNvSpPr>
            <a:spLocks noGrp="1"/>
          </p:cNvSpPr>
          <p:nvPr>
            <p:ph type="sldNum" sz="quarter" idx="5"/>
          </p:nvPr>
        </p:nvSpPr>
        <p:spPr/>
        <p:txBody>
          <a:bodyPr/>
          <a:lstStyle/>
          <a:p>
            <a:fld id="{962AC13E-7CFF-46B0-9B78-674EB193EA9E}" type="slidenum">
              <a:t>7</a:t>
            </a:fld>
            <a:endParaRPr lang="en-US"/>
          </a:p>
        </p:txBody>
      </p:sp>
    </p:spTree>
    <p:extLst>
      <p:ext uri="{BB962C8B-B14F-4D97-AF65-F5344CB8AC3E}">
        <p14:creationId xmlns:p14="http://schemas.microsoft.com/office/powerpoint/2010/main" val="2297187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A0883-ED56-8CCE-E8C2-D27DA1542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43DB8-11EC-E5E4-6A91-6F8084137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029B5-6B99-44C2-E51B-094CF606CF3D}"/>
              </a:ext>
            </a:extLst>
          </p:cNvPr>
          <p:cNvSpPr>
            <a:spLocks noGrp="1"/>
          </p:cNvSpPr>
          <p:nvPr>
            <p:ph type="body" idx="1"/>
          </p:nvPr>
        </p:nvSpPr>
        <p:spPr/>
        <p:txBody>
          <a:bodyPr/>
          <a:lstStyle/>
          <a:p>
            <a:r>
              <a:rPr lang="en-US"/>
              <a:t>(just like the encoding in C/C++ is row-major</a:t>
            </a:r>
          </a:p>
        </p:txBody>
      </p:sp>
      <p:sp>
        <p:nvSpPr>
          <p:cNvPr id="4" name="Slide Number Placeholder 3">
            <a:extLst>
              <a:ext uri="{FF2B5EF4-FFF2-40B4-BE49-F238E27FC236}">
                <a16:creationId xmlns:a16="http://schemas.microsoft.com/office/drawing/2014/main" id="{36D79FAD-95B6-663F-B330-59A875B18F09}"/>
              </a:ext>
            </a:extLst>
          </p:cNvPr>
          <p:cNvSpPr>
            <a:spLocks noGrp="1"/>
          </p:cNvSpPr>
          <p:nvPr>
            <p:ph type="sldNum" sz="quarter" idx="5"/>
          </p:nvPr>
        </p:nvSpPr>
        <p:spPr/>
        <p:txBody>
          <a:bodyPr/>
          <a:lstStyle/>
          <a:p>
            <a:fld id="{962AC13E-7CFF-46B0-9B78-674EB193EA9E}" type="slidenum">
              <a:t>8</a:t>
            </a:fld>
            <a:endParaRPr lang="en-US"/>
          </a:p>
        </p:txBody>
      </p:sp>
    </p:spTree>
    <p:extLst>
      <p:ext uri="{BB962C8B-B14F-4D97-AF65-F5344CB8AC3E}">
        <p14:creationId xmlns:p14="http://schemas.microsoft.com/office/powerpoint/2010/main" val="973245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4/8/2026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14_A388E13B.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1_1E57DE1E.xm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2_4AACB74C.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4_7F74F408.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5_A3202D96.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16_E29F8548.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6_7621FE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7_13ABBACD.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CAE6690-A431-6CBC-F9D3-C8F109529F80}"/>
              </a:ext>
            </a:extLst>
          </p:cNvPr>
          <p:cNvSpPr>
            <a:spLocks noGrp="1"/>
          </p:cNvSpPr>
          <p:nvPr>
            <p:ph type="subTitle" idx="1"/>
          </p:nvPr>
        </p:nvSpPr>
        <p:spPr>
          <a:xfrm>
            <a:off x="1524000" y="4607878"/>
            <a:ext cx="9144000" cy="1655762"/>
          </a:xfrm>
        </p:spPr>
        <p:txBody>
          <a:bodyPr>
            <a:normAutofit lnSpcReduction="10000"/>
          </a:bodyPr>
          <a:lstStyle/>
          <a:p>
            <a:endParaRPr lang="en-US"/>
          </a:p>
          <a:p>
            <a:endParaRPr lang="en-US"/>
          </a:p>
          <a:p>
            <a:endParaRPr lang="en-US"/>
          </a:p>
          <a:p>
            <a:r>
              <a:rPr lang="he-IL"/>
              <a:t>אוהד איתן</a:t>
            </a:r>
          </a:p>
        </p:txBody>
      </p:sp>
      <p:sp>
        <p:nvSpPr>
          <p:cNvPr id="5" name="Rectangle 2">
            <a:extLst>
              <a:ext uri="{FF2B5EF4-FFF2-40B4-BE49-F238E27FC236}">
                <a16:creationId xmlns:a16="http://schemas.microsoft.com/office/drawing/2014/main" id="{F98EDDEE-620E-C6CB-D58F-342FB62E7ACB}"/>
              </a:ext>
            </a:extLst>
          </p:cNvPr>
          <p:cNvSpPr>
            <a:spLocks noGrp="1" noChangeArrowheads="1"/>
          </p:cNvSpPr>
          <p:nvPr>
            <p:ph type="ctrTitle"/>
          </p:nvPr>
        </p:nvSpPr>
        <p:spPr bwMode="auto">
          <a:xfrm>
            <a:off x="1369967" y="1831166"/>
            <a:ext cx="9307286" cy="2662267"/>
          </a:xfrm>
          <a:prstGeom prst="rect">
            <a:avLst/>
          </a:prstGeom>
          <a:noFill/>
          <a:ln>
            <a:noFill/>
          </a:ln>
          <a:effec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rtl="1">
              <a:lnSpc>
                <a:spcPct val="100000"/>
              </a:lnSpc>
            </a:pPr>
            <a:r>
              <a:rPr kumimoji="0" lang="he-IL" altLang="he-IL" sz="4800" b="1" i="0" u="none" strike="noStrike" cap="none" normalizeH="0" baseline="0">
                <a:ln>
                  <a:noFill/>
                </a:ln>
                <a:solidFill>
                  <a:srgbClr val="7030A0"/>
                </a:solidFill>
                <a:effectLst/>
                <a:latin typeface="Assistant"/>
                <a:cs typeface="Assistant"/>
              </a:rPr>
              <a:t>נ.נ. בתכנון משולב חומרה/תוכנה</a:t>
            </a:r>
            <a:br>
              <a:rPr lang="he-IL" altLang="he-IL" sz="4800" b="1" i="0" u="none" strike="noStrike" cap="none" normalizeH="0" baseline="0">
                <a:ln>
                  <a:noFill/>
                </a:ln>
                <a:effectLst/>
                <a:latin typeface="Assistant" pitchFamily="2" charset="-79"/>
                <a:cs typeface="Assistant" pitchFamily="2" charset="-79"/>
              </a:rPr>
            </a:br>
            <a:r>
              <a:rPr kumimoji="0" lang="he-IL" altLang="he-IL" sz="4800" b="1" i="0" u="none" strike="noStrike" cap="none" normalizeH="0" baseline="0">
                <a:ln>
                  <a:noFill/>
                </a:ln>
                <a:solidFill>
                  <a:srgbClr val="7030A0"/>
                </a:solidFill>
                <a:effectLst/>
                <a:latin typeface="Assistant"/>
                <a:cs typeface="Assistant"/>
              </a:rPr>
              <a:t> אביב – 00460882</a:t>
            </a:r>
            <a:br>
              <a:rPr lang="en-US" altLang="he-IL" sz="4800" b="1" i="0" u="none" strike="noStrike" cap="none" normalizeH="0" baseline="0">
                <a:ln>
                  <a:noFill/>
                </a:ln>
                <a:effectLst/>
                <a:latin typeface="Assistant" pitchFamily="2" charset="-79"/>
                <a:cs typeface="Assistant" pitchFamily="2" charset="-79"/>
              </a:rPr>
            </a:br>
            <a:r>
              <a:rPr kumimoji="0" lang="he-IL" altLang="he-IL" sz="4800" b="1" i="0" u="none" strike="noStrike" cap="none" normalizeH="0" baseline="0">
                <a:ln>
                  <a:noFill/>
                </a:ln>
                <a:solidFill>
                  <a:srgbClr val="7030A0"/>
                </a:solidFill>
                <a:effectLst/>
                <a:latin typeface="Assistant"/>
                <a:cs typeface="Assistant"/>
              </a:rPr>
              <a:t>תרגול  </a:t>
            </a:r>
            <a:r>
              <a:rPr lang="he-IL" altLang="he-IL" sz="4800" b="1">
                <a:solidFill>
                  <a:srgbClr val="7030A0"/>
                </a:solidFill>
                <a:latin typeface="Assistant"/>
                <a:cs typeface="Assistant"/>
              </a:rPr>
              <a:t>2</a:t>
            </a:r>
            <a:r>
              <a:rPr kumimoji="0" lang="he-IL" altLang="he-IL" sz="4800" b="1" i="0" u="none" strike="noStrike" cap="none" normalizeH="0" baseline="0">
                <a:ln>
                  <a:noFill/>
                </a:ln>
                <a:solidFill>
                  <a:srgbClr val="7030A0"/>
                </a:solidFill>
                <a:effectLst/>
                <a:latin typeface="Assistant"/>
                <a:cs typeface="Assistant"/>
              </a:rPr>
              <a:t> – מ</a:t>
            </a:r>
            <a:r>
              <a:rPr lang="he-IL" altLang="he-IL" sz="4800" b="1">
                <a:solidFill>
                  <a:srgbClr val="7030A0"/>
                </a:solidFill>
                <a:latin typeface="Assistant"/>
                <a:cs typeface="Assistant"/>
              </a:rPr>
              <a:t>תלכלכים עם </a:t>
            </a:r>
            <a:r>
              <a:rPr lang="en-US" altLang="he-IL" sz="4800" b="1">
                <a:solidFill>
                  <a:srgbClr val="7030A0"/>
                </a:solidFill>
                <a:latin typeface="Assistant"/>
                <a:cs typeface="Assistant"/>
              </a:rPr>
              <a:t>Perf</a:t>
            </a:r>
            <a:br>
              <a:rPr lang="he-IL" altLang="he-IL" sz="1100" b="0" i="0" u="none" strike="noStrike" cap="none" normalizeH="0" baseline="0">
                <a:ln>
                  <a:noFill/>
                </a:ln>
                <a:effectLst/>
                <a:latin typeface="Assistant" pitchFamily="2" charset="-79"/>
                <a:cs typeface="Assistant" pitchFamily="2" charset="-79"/>
              </a:rPr>
            </a:br>
            <a:endParaRPr kumimoji="0" lang="he-IL" altLang="he-IL" sz="1100" b="0" i="0" u="none" strike="noStrike" cap="none" normalizeH="0" baseline="0">
              <a:ln>
                <a:noFill/>
              </a:ln>
              <a:solidFill>
                <a:srgbClr val="7030A0"/>
              </a:solidFill>
              <a:effectLst/>
              <a:latin typeface="Assistant" pitchFamily="2" charset="-79"/>
              <a:cs typeface="Assistant" pitchFamily="2" charset="-79"/>
            </a:endParaRPr>
          </a:p>
          <a:p>
            <a:pPr marL="0" marR="0" lvl="0" indent="0" defTabSz="914400" rtl="1" eaLnBrk="0" fontAlgn="base" latinLnBrk="0" hangingPunct="0">
              <a:lnSpc>
                <a:spcPct val="100000"/>
              </a:lnSpc>
              <a:spcBef>
                <a:spcPct val="0"/>
              </a:spcBef>
              <a:spcAft>
                <a:spcPct val="0"/>
              </a:spcAft>
              <a:buClrTx/>
              <a:buSzTx/>
              <a:buFontTx/>
              <a:buNone/>
              <a:tabLst/>
            </a:pPr>
            <a:endParaRPr kumimoji="0" lang="he-IL" altLang="he-IL" sz="1800" b="0" i="0" u="none" strike="noStrike" cap="none" normalizeH="0" baseline="0">
              <a:ln>
                <a:noFill/>
              </a:ln>
              <a:solidFill>
                <a:srgbClr val="7030A0"/>
              </a:solidFill>
              <a:effectLst/>
              <a:latin typeface="Assistant" pitchFamily="2" charset="-79"/>
              <a:cs typeface="Assistant" pitchFamily="2" charset="-79"/>
            </a:endParaRPr>
          </a:p>
        </p:txBody>
      </p:sp>
    </p:spTree>
    <p:extLst>
      <p:ext uri="{BB962C8B-B14F-4D97-AF65-F5344CB8AC3E}">
        <p14:creationId xmlns:p14="http://schemas.microsoft.com/office/powerpoint/2010/main" val="3806134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C1A6-F560-370C-06C2-1199435419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5E62D-D6E5-5830-5765-6308BB25C0B4}"/>
              </a:ext>
            </a:extLst>
          </p:cNvPr>
          <p:cNvSpPr>
            <a:spLocks noGrp="1"/>
          </p:cNvSpPr>
          <p:nvPr>
            <p:ph type="title"/>
          </p:nvPr>
        </p:nvSpPr>
        <p:spPr/>
        <p:txBody>
          <a:bodyPr/>
          <a:lstStyle/>
          <a:p>
            <a:r>
              <a:rPr lang="en-US">
                <a:latin typeface="Assistant"/>
                <a:cs typeface="Assistant"/>
              </a:rPr>
              <a:t>2D array row major vs column major</a:t>
            </a:r>
          </a:p>
        </p:txBody>
      </p:sp>
      <p:sp>
        <p:nvSpPr>
          <p:cNvPr id="5" name="Content Placeholder 4">
            <a:extLst>
              <a:ext uri="{FF2B5EF4-FFF2-40B4-BE49-F238E27FC236}">
                <a16:creationId xmlns:a16="http://schemas.microsoft.com/office/drawing/2014/main" id="{CC80BC4E-2A2F-B665-A99E-9C873776635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43656763"/>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C8BB-0A26-0952-253C-6207A55B30ED}"/>
              </a:ext>
            </a:extLst>
          </p:cNvPr>
          <p:cNvSpPr>
            <a:spLocks noGrp="1"/>
          </p:cNvSpPr>
          <p:nvPr>
            <p:ph type="title"/>
          </p:nvPr>
        </p:nvSpPr>
        <p:spPr/>
        <p:txBody>
          <a:bodyPr/>
          <a:lstStyle/>
          <a:p>
            <a:r>
              <a:rPr lang="en-US">
                <a:latin typeface="Assistant"/>
                <a:cs typeface="Assistant"/>
              </a:rPr>
              <a:t>2D array row major vs column major</a:t>
            </a:r>
          </a:p>
        </p:txBody>
      </p:sp>
      <p:graphicFrame>
        <p:nvGraphicFramePr>
          <p:cNvPr id="4" name="Content Placeholder 3">
            <a:extLst>
              <a:ext uri="{FF2B5EF4-FFF2-40B4-BE49-F238E27FC236}">
                <a16:creationId xmlns:a16="http://schemas.microsoft.com/office/drawing/2014/main" id="{85BB6E55-F9D0-EAB1-1C44-EA63F40CEB62}"/>
              </a:ext>
            </a:extLst>
          </p:cNvPr>
          <p:cNvGraphicFramePr>
            <a:graphicFrameLocks noGrp="1"/>
          </p:cNvGraphicFramePr>
          <p:nvPr>
            <p:ph idx="1"/>
            <p:extLst>
              <p:ext uri="{D42A27DB-BD31-4B8C-83A1-F6EECF244321}">
                <p14:modId xmlns:p14="http://schemas.microsoft.com/office/powerpoint/2010/main" val="3996575193"/>
              </p:ext>
            </p:extLst>
          </p:nvPr>
        </p:nvGraphicFramePr>
        <p:xfrm>
          <a:off x="838200" y="1825625"/>
          <a:ext cx="10515600" cy="2225037"/>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17404856"/>
                    </a:ext>
                  </a:extLst>
                </a:gridCol>
                <a:gridCol w="3505200">
                  <a:extLst>
                    <a:ext uri="{9D8B030D-6E8A-4147-A177-3AD203B41FA5}">
                      <a16:colId xmlns:a16="http://schemas.microsoft.com/office/drawing/2014/main" val="3393806957"/>
                    </a:ext>
                  </a:extLst>
                </a:gridCol>
                <a:gridCol w="3505200">
                  <a:extLst>
                    <a:ext uri="{9D8B030D-6E8A-4147-A177-3AD203B41FA5}">
                      <a16:colId xmlns:a16="http://schemas.microsoft.com/office/drawing/2014/main" val="1350520931"/>
                    </a:ext>
                  </a:extLst>
                </a:gridCol>
              </a:tblGrid>
              <a:tr h="370840">
                <a:tc>
                  <a:txBody>
                    <a:bodyPr/>
                    <a:lstStyle/>
                    <a:p>
                      <a:r>
                        <a:rPr lang="en-US">
                          <a:latin typeface="Assistant"/>
                        </a:rPr>
                        <a:t>Metric</a:t>
                      </a:r>
                    </a:p>
                  </a:txBody>
                  <a:tcPr/>
                </a:tc>
                <a:tc>
                  <a:txBody>
                    <a:bodyPr/>
                    <a:lstStyle/>
                    <a:p>
                      <a:r>
                        <a:rPr lang="en-US">
                          <a:latin typeface="Assistant"/>
                        </a:rPr>
                        <a:t>Column major </a:t>
                      </a:r>
                    </a:p>
                  </a:txBody>
                  <a:tcPr/>
                </a:tc>
                <a:tc>
                  <a:txBody>
                    <a:bodyPr/>
                    <a:lstStyle/>
                    <a:p>
                      <a:r>
                        <a:rPr lang="en-US">
                          <a:latin typeface="Assistant"/>
                        </a:rPr>
                        <a:t>Row major</a:t>
                      </a:r>
                    </a:p>
                  </a:txBody>
                  <a:tcPr/>
                </a:tc>
                <a:extLst>
                  <a:ext uri="{0D108BD9-81ED-4DB2-BD59-A6C34878D82A}">
                    <a16:rowId xmlns:a16="http://schemas.microsoft.com/office/drawing/2014/main" val="3762152396"/>
                  </a:ext>
                </a:extLst>
              </a:tr>
              <a:tr h="370840">
                <a:tc>
                  <a:txBody>
                    <a:bodyPr/>
                    <a:lstStyle/>
                    <a:p>
                      <a:pPr lvl="0">
                        <a:buNone/>
                      </a:pPr>
                      <a:r>
                        <a:rPr lang="en-US" sz="1800" b="0" i="0" u="none" strike="noStrike" noProof="0">
                          <a:latin typeface="Assistant"/>
                        </a:rPr>
                        <a:t>Cycles</a:t>
                      </a:r>
                      <a:endParaRPr lang="en-US">
                        <a:latin typeface="Assistant"/>
                      </a:endParaRPr>
                    </a:p>
                  </a:txBody>
                  <a:tcPr/>
                </a:tc>
                <a:tc>
                  <a:txBody>
                    <a:bodyPr/>
                    <a:lstStyle/>
                    <a:p>
                      <a:pPr lvl="0">
                        <a:buNone/>
                      </a:pPr>
                      <a:r>
                        <a:rPr lang="en-US" sz="1800" b="0" i="0" u="none" strike="noStrike" noProof="0">
                          <a:latin typeface="Assistant"/>
                        </a:rPr>
                        <a:t>51.6 billion</a:t>
                      </a:r>
                      <a:endParaRPr lang="en-US">
                        <a:latin typeface="Assistant"/>
                      </a:endParaRPr>
                    </a:p>
                  </a:txBody>
                  <a:tcPr/>
                </a:tc>
                <a:tc>
                  <a:txBody>
                    <a:bodyPr/>
                    <a:lstStyle/>
                    <a:p>
                      <a:pPr marL="0" lvl="0" indent="0" algn="l">
                        <a:lnSpc>
                          <a:spcPct val="100000"/>
                        </a:lnSpc>
                        <a:spcBef>
                          <a:spcPts val="0"/>
                        </a:spcBef>
                        <a:spcAft>
                          <a:spcPts val="0"/>
                        </a:spcAft>
                        <a:buNone/>
                      </a:pPr>
                      <a:r>
                        <a:rPr lang="en-US" sz="1800" b="0" i="0" u="none" strike="noStrike" noProof="0">
                          <a:latin typeface="Assistant"/>
                        </a:rPr>
                        <a:t>20.5 b</a:t>
                      </a:r>
                      <a:endParaRPr lang="en-US">
                        <a:latin typeface="Assistant"/>
                      </a:endParaRPr>
                    </a:p>
                  </a:txBody>
                  <a:tcPr/>
                </a:tc>
                <a:extLst>
                  <a:ext uri="{0D108BD9-81ED-4DB2-BD59-A6C34878D82A}">
                    <a16:rowId xmlns:a16="http://schemas.microsoft.com/office/drawing/2014/main" val="2919455024"/>
                  </a:ext>
                </a:extLst>
              </a:tr>
              <a:tr h="370840">
                <a:tc>
                  <a:txBody>
                    <a:bodyPr/>
                    <a:lstStyle/>
                    <a:p>
                      <a:pPr lvl="0">
                        <a:buNone/>
                      </a:pPr>
                      <a:r>
                        <a:rPr lang="en-US" sz="1800" b="0" i="0" u="none" strike="noStrike" noProof="0">
                          <a:latin typeface="Assistant"/>
                        </a:rPr>
                        <a:t>Instructions</a:t>
                      </a:r>
                      <a:endParaRPr lang="en-US">
                        <a:latin typeface="Assistant"/>
                      </a:endParaRPr>
                    </a:p>
                  </a:txBody>
                  <a:tcPr/>
                </a:tc>
                <a:tc>
                  <a:txBody>
                    <a:bodyPr/>
                    <a:lstStyle/>
                    <a:p>
                      <a:pPr lvl="0">
                        <a:buNone/>
                      </a:pPr>
                      <a:r>
                        <a:rPr lang="en-US" sz="1800" b="0" i="0" u="none" strike="noStrike" noProof="0">
                          <a:latin typeface="Assistant"/>
                        </a:rPr>
                        <a:t>25.3 b</a:t>
                      </a:r>
                      <a:endParaRPr lang="en-US">
                        <a:latin typeface="Assistant"/>
                      </a:endParaRPr>
                    </a:p>
                  </a:txBody>
                  <a:tcPr/>
                </a:tc>
                <a:tc>
                  <a:txBody>
                    <a:bodyPr/>
                    <a:lstStyle/>
                    <a:p>
                      <a:pPr lvl="0">
                        <a:buNone/>
                      </a:pPr>
                      <a:r>
                        <a:rPr lang="en-US" sz="1800" b="0" i="0" u="none" strike="noStrike" noProof="0">
                          <a:latin typeface="Assistant"/>
                        </a:rPr>
                        <a:t>25.3 b</a:t>
                      </a:r>
                      <a:endParaRPr lang="en-US">
                        <a:latin typeface="Assistant"/>
                      </a:endParaRPr>
                    </a:p>
                  </a:txBody>
                  <a:tcPr/>
                </a:tc>
                <a:extLst>
                  <a:ext uri="{0D108BD9-81ED-4DB2-BD59-A6C34878D82A}">
                    <a16:rowId xmlns:a16="http://schemas.microsoft.com/office/drawing/2014/main" val="2703514784"/>
                  </a:ext>
                </a:extLst>
              </a:tr>
              <a:tr h="370840">
                <a:tc>
                  <a:txBody>
                    <a:bodyPr/>
                    <a:lstStyle/>
                    <a:p>
                      <a:pPr lvl="0">
                        <a:buNone/>
                      </a:pPr>
                      <a:r>
                        <a:rPr lang="en-US" sz="1800" b="0" i="0" u="none" strike="noStrike" noProof="0">
                          <a:latin typeface="Assistant"/>
                        </a:rPr>
                        <a:t>Cache References</a:t>
                      </a:r>
                      <a:endParaRPr lang="en-US">
                        <a:latin typeface="Assistant"/>
                      </a:endParaRPr>
                    </a:p>
                  </a:txBody>
                  <a:tcPr/>
                </a:tc>
                <a:tc>
                  <a:txBody>
                    <a:bodyPr/>
                    <a:lstStyle/>
                    <a:p>
                      <a:pPr lvl="0">
                        <a:buNone/>
                      </a:pPr>
                      <a:r>
                        <a:rPr lang="en-US" sz="1800" b="0" i="0" u="none" strike="noStrike" noProof="0">
                          <a:latin typeface="Assistant"/>
                        </a:rPr>
                        <a:t>3.08 b</a:t>
                      </a:r>
                      <a:endParaRPr lang="en-US">
                        <a:latin typeface="Assistant"/>
                      </a:endParaRPr>
                    </a:p>
                  </a:txBody>
                  <a:tcPr/>
                </a:tc>
                <a:tc>
                  <a:txBody>
                    <a:bodyPr/>
                    <a:lstStyle/>
                    <a:p>
                      <a:pPr lvl="0">
                        <a:buNone/>
                      </a:pPr>
                      <a:r>
                        <a:rPr lang="en-US" sz="1800" b="0" i="0" u="none" strike="noStrike" noProof="0">
                          <a:latin typeface="Assistant"/>
                        </a:rPr>
                        <a:t>120 m</a:t>
                      </a:r>
                      <a:endParaRPr lang="en-US">
                        <a:latin typeface="Assistant"/>
                      </a:endParaRPr>
                    </a:p>
                  </a:txBody>
                  <a:tcPr/>
                </a:tc>
                <a:extLst>
                  <a:ext uri="{0D108BD9-81ED-4DB2-BD59-A6C34878D82A}">
                    <a16:rowId xmlns:a16="http://schemas.microsoft.com/office/drawing/2014/main" val="1119774117"/>
                  </a:ext>
                </a:extLst>
              </a:tr>
              <a:tr h="370839">
                <a:tc>
                  <a:txBody>
                    <a:bodyPr/>
                    <a:lstStyle/>
                    <a:p>
                      <a:pPr lvl="0">
                        <a:buNone/>
                      </a:pPr>
                      <a:r>
                        <a:rPr lang="en-US" sz="1800" b="0" i="0" u="none" strike="noStrike" noProof="0">
                          <a:latin typeface="Assistant"/>
                        </a:rPr>
                        <a:t>Cache Misses</a:t>
                      </a:r>
                      <a:endParaRPr lang="en-US">
                        <a:latin typeface="Assistant"/>
                      </a:endParaRPr>
                    </a:p>
                  </a:txBody>
                  <a:tcPr/>
                </a:tc>
                <a:tc>
                  <a:txBody>
                    <a:bodyPr/>
                    <a:lstStyle/>
                    <a:p>
                      <a:pPr lvl="0">
                        <a:buNone/>
                      </a:pPr>
                      <a:r>
                        <a:rPr lang="en-US" sz="1800" b="0" i="0" u="none" strike="noStrike" noProof="0">
                          <a:latin typeface="Assistant"/>
                        </a:rPr>
                        <a:t>214.6 million (6.96%)</a:t>
                      </a:r>
                      <a:endParaRPr lang="en-US">
                        <a:latin typeface="Assistant"/>
                      </a:endParaRPr>
                    </a:p>
                  </a:txBody>
                  <a:tcPr/>
                </a:tc>
                <a:tc>
                  <a:txBody>
                    <a:bodyPr/>
                    <a:lstStyle/>
                    <a:p>
                      <a:pPr lvl="0">
                        <a:buNone/>
                      </a:pPr>
                      <a:r>
                        <a:rPr lang="en-US" sz="1800" b="0" i="0" u="none" strike="noStrike" noProof="0">
                          <a:latin typeface="Assistant"/>
                        </a:rPr>
                        <a:t>76.8 m (63.93%)</a:t>
                      </a:r>
                      <a:endParaRPr lang="en-US">
                        <a:latin typeface="Assistant"/>
                      </a:endParaRPr>
                    </a:p>
                  </a:txBody>
                  <a:tcPr/>
                </a:tc>
                <a:extLst>
                  <a:ext uri="{0D108BD9-81ED-4DB2-BD59-A6C34878D82A}">
                    <a16:rowId xmlns:a16="http://schemas.microsoft.com/office/drawing/2014/main" val="3614384050"/>
                  </a:ext>
                </a:extLst>
              </a:tr>
              <a:tr h="370838">
                <a:tc>
                  <a:txBody>
                    <a:bodyPr/>
                    <a:lstStyle/>
                    <a:p>
                      <a:pPr lvl="0">
                        <a:buNone/>
                      </a:pPr>
                      <a:r>
                        <a:rPr lang="en-US" sz="1800" b="0" i="0" u="none" strike="noStrike" noProof="0">
                          <a:latin typeface="Assistant"/>
                        </a:rPr>
                        <a:t>Time+-</a:t>
                      </a:r>
                    </a:p>
                  </a:txBody>
                  <a:tcPr/>
                </a:tc>
                <a:tc>
                  <a:txBody>
                    <a:bodyPr/>
                    <a:lstStyle/>
                    <a:p>
                      <a:pPr lvl="0">
                        <a:buNone/>
                      </a:pPr>
                      <a:r>
                        <a:rPr lang="en-US" sz="1800" b="0" i="0" u="none" strike="noStrike" noProof="0">
                          <a:latin typeface="Assistant"/>
                        </a:rPr>
                        <a:t>10.8 [sec]</a:t>
                      </a:r>
                      <a:endParaRPr lang="en-US">
                        <a:latin typeface="Assistant"/>
                      </a:endParaRPr>
                    </a:p>
                  </a:txBody>
                  <a:tcPr/>
                </a:tc>
                <a:tc>
                  <a:txBody>
                    <a:bodyPr/>
                    <a:lstStyle/>
                    <a:p>
                      <a:pPr lvl="0">
                        <a:buNone/>
                      </a:pPr>
                      <a:r>
                        <a:rPr lang="en-US" sz="1800" b="0" i="0" u="none" strike="noStrike" noProof="0">
                          <a:latin typeface="Assistant"/>
                        </a:rPr>
                        <a:t>3.81 [sec]</a:t>
                      </a:r>
                    </a:p>
                  </a:txBody>
                  <a:tcPr/>
                </a:tc>
                <a:extLst>
                  <a:ext uri="{0D108BD9-81ED-4DB2-BD59-A6C34878D82A}">
                    <a16:rowId xmlns:a16="http://schemas.microsoft.com/office/drawing/2014/main" val="3768924618"/>
                  </a:ext>
                </a:extLst>
              </a:tr>
            </a:tbl>
          </a:graphicData>
        </a:graphic>
      </p:graphicFrame>
    </p:spTree>
    <p:extLst>
      <p:ext uri="{BB962C8B-B14F-4D97-AF65-F5344CB8AC3E}">
        <p14:creationId xmlns:p14="http://schemas.microsoft.com/office/powerpoint/2010/main" val="509074974"/>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EBA8F-CED6-ABFC-1132-0E308CBEDCC0}"/>
              </a:ext>
            </a:extLst>
          </p:cNvPr>
          <p:cNvSpPr>
            <a:spLocks noGrp="1"/>
          </p:cNvSpPr>
          <p:nvPr>
            <p:ph type="title"/>
          </p:nvPr>
        </p:nvSpPr>
        <p:spPr/>
        <p:txBody>
          <a:bodyPr/>
          <a:lstStyle/>
          <a:p>
            <a:r>
              <a:rPr lang="en-US">
                <a:latin typeface="Assistant"/>
                <a:cs typeface="Assistant"/>
              </a:rPr>
              <a:t>What do we observe?</a:t>
            </a:r>
          </a:p>
        </p:txBody>
      </p:sp>
      <p:sp>
        <p:nvSpPr>
          <p:cNvPr id="3" name="Content Placeholder 2">
            <a:extLst>
              <a:ext uri="{FF2B5EF4-FFF2-40B4-BE49-F238E27FC236}">
                <a16:creationId xmlns:a16="http://schemas.microsoft.com/office/drawing/2014/main" id="{9FE76B47-A4E5-43C6-21F8-DCB134A31AA5}"/>
              </a:ext>
            </a:extLst>
          </p:cNvPr>
          <p:cNvSpPr>
            <a:spLocks noGrp="1"/>
          </p:cNvSpPr>
          <p:nvPr>
            <p:ph idx="1"/>
          </p:nvPr>
        </p:nvSpPr>
        <p:spPr/>
        <p:txBody>
          <a:bodyPr vert="horz" lIns="91440" tIns="45720" rIns="91440" bIns="45720" rtlCol="0" anchor="t">
            <a:normAutofit/>
          </a:bodyPr>
          <a:lstStyle/>
          <a:p>
            <a:r>
              <a:rPr lang="en-US" sz="2400">
                <a:latin typeface="Assistant"/>
                <a:ea typeface="+mn-lt"/>
                <a:cs typeface="Assistant"/>
              </a:rPr>
              <a:t>Same output :)</a:t>
            </a:r>
          </a:p>
          <a:p>
            <a:r>
              <a:rPr lang="en-US" sz="2400">
                <a:latin typeface="Assistant"/>
                <a:ea typeface="+mn-lt"/>
                <a:cs typeface="Assistant"/>
              </a:rPr>
              <a:t>Both versions execute roughly the same number of instructions, meaning the </a:t>
            </a:r>
            <a:r>
              <a:rPr lang="en-US" sz="2400" b="1">
                <a:latin typeface="Assistant"/>
                <a:ea typeface="+mn-lt"/>
                <a:cs typeface="Assistant"/>
              </a:rPr>
              <a:t>logical work</a:t>
            </a:r>
            <a:r>
              <a:rPr lang="en-US" sz="2400">
                <a:latin typeface="Assistant"/>
                <a:ea typeface="+mn-lt"/>
                <a:cs typeface="Assistant"/>
              </a:rPr>
              <a:t> done is identical.</a:t>
            </a:r>
          </a:p>
          <a:p>
            <a:r>
              <a:rPr lang="en-US" sz="2400">
                <a:latin typeface="Assistant"/>
                <a:ea typeface="+mn-lt"/>
                <a:cs typeface="Assistant"/>
              </a:rPr>
              <a:t>The optimized code runs in less than half the cycles of the non-optimized one.</a:t>
            </a:r>
            <a:endParaRPr lang="en-US" sz="2400">
              <a:latin typeface="Assistant"/>
              <a:cs typeface="Assistant"/>
            </a:endParaRPr>
          </a:p>
          <a:p>
            <a:r>
              <a:rPr lang="en-US" sz="2400">
                <a:latin typeface="Assistant"/>
                <a:ea typeface="+mn-lt"/>
                <a:cs typeface="Assistant"/>
              </a:rPr>
              <a:t>This indicates better CPU efficiency, mainly because memory accesses are faster and more predictable.</a:t>
            </a:r>
            <a:endParaRPr lang="en-US" sz="2400">
              <a:latin typeface="Assistant"/>
              <a:cs typeface="Assistant"/>
            </a:endParaRPr>
          </a:p>
        </p:txBody>
      </p:sp>
    </p:spTree>
    <p:extLst>
      <p:ext uri="{BB962C8B-B14F-4D97-AF65-F5344CB8AC3E}">
        <p14:creationId xmlns:p14="http://schemas.microsoft.com/office/powerpoint/2010/main" val="3346113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4CF0B6-1946-1D59-F580-ED3803A597B5}"/>
              </a:ext>
            </a:extLst>
          </p:cNvPr>
          <p:cNvSpPr>
            <a:spLocks noGrp="1"/>
          </p:cNvSpPr>
          <p:nvPr>
            <p:ph idx="1"/>
          </p:nvPr>
        </p:nvSpPr>
        <p:spPr>
          <a:xfrm>
            <a:off x="838200" y="466148"/>
            <a:ext cx="10515600" cy="5710815"/>
          </a:xfrm>
        </p:spPr>
        <p:txBody>
          <a:bodyPr vert="horz" lIns="91440" tIns="45720" rIns="91440" bIns="45720" rtlCol="0" anchor="t">
            <a:normAutofit/>
          </a:bodyPr>
          <a:lstStyle/>
          <a:p>
            <a:r>
              <a:rPr lang="en-US" sz="2400">
                <a:latin typeface="Assistant"/>
                <a:cs typeface="Assistant"/>
              </a:rPr>
              <a:t>Let’s conclude that:</a:t>
            </a:r>
            <a:r>
              <a:rPr lang="en-US" sz="2400">
                <a:latin typeface="Assistant"/>
                <a:ea typeface="+mn-lt"/>
                <a:cs typeface="+mn-lt"/>
              </a:rPr>
              <a:t> the difference in performance is entirely due to </a:t>
            </a:r>
            <a:r>
              <a:rPr lang="en-US" sz="2400" b="1">
                <a:latin typeface="Assistant"/>
                <a:ea typeface="+mn-lt"/>
                <a:cs typeface="+mn-lt"/>
              </a:rPr>
              <a:t>how memory is accessed</a:t>
            </a:r>
            <a:r>
              <a:rPr lang="en-US" sz="2400">
                <a:latin typeface="Assistant"/>
                <a:ea typeface="+mn-lt"/>
                <a:cs typeface="+mn-lt"/>
              </a:rPr>
              <a:t>.</a:t>
            </a:r>
          </a:p>
          <a:p>
            <a:endParaRPr lang="en-US" sz="2400">
              <a:latin typeface="Assistant"/>
              <a:cs typeface="Assistant"/>
            </a:endParaRPr>
          </a:p>
          <a:p>
            <a:r>
              <a:rPr lang="en-US" sz="2400">
                <a:latin typeface="Assistant"/>
                <a:ea typeface="+mn-lt"/>
                <a:cs typeface="+mn-lt"/>
              </a:rPr>
              <a:t>Using the </a:t>
            </a:r>
            <a:r>
              <a:rPr lang="en-US" sz="2400" err="1">
                <a:latin typeface="Assistant"/>
                <a:ea typeface="+mn-lt"/>
                <a:cs typeface="+mn-lt"/>
              </a:rPr>
              <a:t>memcpy</a:t>
            </a:r>
            <a:r>
              <a:rPr lang="en-US" sz="2400">
                <a:latin typeface="Assistant"/>
                <a:ea typeface="+mn-lt"/>
                <a:cs typeface="+mn-lt"/>
              </a:rPr>
              <a:t> version results in approximately </a:t>
            </a:r>
            <a:r>
              <a:rPr lang="en-US" sz="2400" b="1">
                <a:latin typeface="Assistant"/>
                <a:ea typeface="+mn-lt"/>
                <a:cs typeface="+mn-lt"/>
              </a:rPr>
              <a:t>25× fewer cache accesses</a:t>
            </a:r>
            <a:r>
              <a:rPr lang="en-US" sz="2400">
                <a:latin typeface="Assistant"/>
                <a:ea typeface="+mn-lt"/>
                <a:cs typeface="+mn-lt"/>
              </a:rPr>
              <a:t>.</a:t>
            </a:r>
          </a:p>
          <a:p>
            <a:r>
              <a:rPr lang="en-US" sz="2400">
                <a:latin typeface="Assistant"/>
                <a:ea typeface="+mn-lt"/>
                <a:cs typeface="+mn-lt"/>
              </a:rPr>
              <a:t>This shows that the CPU can make better use of each cache line: by accessing contiguous memory, one cache line brings many needed elements at once.</a:t>
            </a:r>
          </a:p>
          <a:p>
            <a:endParaRPr lang="en-US" sz="2400">
              <a:latin typeface="Assistant"/>
              <a:ea typeface="+mn-lt"/>
              <a:cs typeface="+mn-lt"/>
            </a:endParaRPr>
          </a:p>
        </p:txBody>
      </p:sp>
    </p:spTree>
    <p:extLst>
      <p:ext uri="{BB962C8B-B14F-4D97-AF65-F5344CB8AC3E}">
        <p14:creationId xmlns:p14="http://schemas.microsoft.com/office/powerpoint/2010/main" val="125283310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3F56C-B890-C6BE-0771-249919C20BC4}"/>
              </a:ext>
            </a:extLst>
          </p:cNvPr>
          <p:cNvSpPr>
            <a:spLocks noGrp="1"/>
          </p:cNvSpPr>
          <p:nvPr>
            <p:ph type="title"/>
          </p:nvPr>
        </p:nvSpPr>
        <p:spPr/>
        <p:txBody>
          <a:bodyPr/>
          <a:lstStyle/>
          <a:p>
            <a:r>
              <a:rPr lang="en-US">
                <a:latin typeface="Assistant"/>
                <a:cs typeface="Assistant"/>
              </a:rPr>
              <a:t>But the miss rate is bad... Is it?</a:t>
            </a:r>
          </a:p>
        </p:txBody>
      </p:sp>
      <p:sp>
        <p:nvSpPr>
          <p:cNvPr id="3" name="Content Placeholder 2">
            <a:extLst>
              <a:ext uri="{FF2B5EF4-FFF2-40B4-BE49-F238E27FC236}">
                <a16:creationId xmlns:a16="http://schemas.microsoft.com/office/drawing/2014/main" id="{FD794A28-1788-ACC0-3FF0-DC956CDC12C9}"/>
              </a:ext>
            </a:extLst>
          </p:cNvPr>
          <p:cNvSpPr>
            <a:spLocks noGrp="1"/>
          </p:cNvSpPr>
          <p:nvPr>
            <p:ph idx="1"/>
          </p:nvPr>
        </p:nvSpPr>
        <p:spPr/>
        <p:txBody>
          <a:bodyPr vert="horz" lIns="91440" tIns="45720" rIns="91440" bIns="45720" rtlCol="0" anchor="t">
            <a:normAutofit/>
          </a:bodyPr>
          <a:lstStyle/>
          <a:p>
            <a:r>
              <a:rPr lang="en-US" sz="2400">
                <a:latin typeface="Assistant"/>
                <a:ea typeface="+mn-lt"/>
                <a:cs typeface="Assistant"/>
              </a:rPr>
              <a:t>The optimized version has a </a:t>
            </a:r>
            <a:r>
              <a:rPr lang="en-US" sz="2400" b="1">
                <a:latin typeface="Assistant"/>
                <a:ea typeface="+mn-lt"/>
                <a:cs typeface="Assistant"/>
              </a:rPr>
              <a:t>higher cache miss percentage</a:t>
            </a:r>
            <a:r>
              <a:rPr lang="en-US" sz="2400">
                <a:latin typeface="Assistant"/>
                <a:ea typeface="+mn-lt"/>
                <a:cs typeface="Assistant"/>
              </a:rPr>
              <a:t> 63% vs 7%. </a:t>
            </a:r>
            <a:r>
              <a:rPr lang="en-US" sz="2400">
                <a:solidFill>
                  <a:srgbClr val="7030A0"/>
                </a:solidFill>
                <a:latin typeface="Assistant"/>
                <a:ea typeface="+mn-lt"/>
                <a:cs typeface="Assistant"/>
              </a:rPr>
              <a:t>Why?</a:t>
            </a:r>
          </a:p>
          <a:p>
            <a:endParaRPr lang="en-US" sz="2400">
              <a:latin typeface="Assistant"/>
              <a:cs typeface="Assistant"/>
            </a:endParaRPr>
          </a:p>
        </p:txBody>
      </p:sp>
    </p:spTree>
    <p:extLst>
      <p:ext uri="{BB962C8B-B14F-4D97-AF65-F5344CB8AC3E}">
        <p14:creationId xmlns:p14="http://schemas.microsoft.com/office/powerpoint/2010/main" val="213837108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0C9F-A0E4-F6FF-7936-E6189415E9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0D8EC-803A-BAC2-4C5F-D97994AA8286}"/>
              </a:ext>
            </a:extLst>
          </p:cNvPr>
          <p:cNvSpPr>
            <a:spLocks noGrp="1"/>
          </p:cNvSpPr>
          <p:nvPr>
            <p:ph type="title"/>
          </p:nvPr>
        </p:nvSpPr>
        <p:spPr/>
        <p:txBody>
          <a:bodyPr/>
          <a:lstStyle/>
          <a:p>
            <a:r>
              <a:rPr lang="en-US">
                <a:latin typeface="Assistant"/>
                <a:cs typeface="Assistant"/>
              </a:rPr>
              <a:t>But the miss rate is bad. </a:t>
            </a:r>
            <a:r>
              <a:rPr lang="en-US" b="1">
                <a:latin typeface="Assistant"/>
                <a:cs typeface="Assistant"/>
              </a:rPr>
              <a:t>Is it?</a:t>
            </a:r>
          </a:p>
        </p:txBody>
      </p:sp>
      <p:sp>
        <p:nvSpPr>
          <p:cNvPr id="3" name="Content Placeholder 2">
            <a:extLst>
              <a:ext uri="{FF2B5EF4-FFF2-40B4-BE49-F238E27FC236}">
                <a16:creationId xmlns:a16="http://schemas.microsoft.com/office/drawing/2014/main" id="{811991FC-E65D-622C-C139-EEF92DE90019}"/>
              </a:ext>
            </a:extLst>
          </p:cNvPr>
          <p:cNvSpPr>
            <a:spLocks noGrp="1"/>
          </p:cNvSpPr>
          <p:nvPr>
            <p:ph idx="1"/>
          </p:nvPr>
        </p:nvSpPr>
        <p:spPr/>
        <p:txBody>
          <a:bodyPr vert="horz" lIns="91440" tIns="45720" rIns="91440" bIns="45720" rtlCol="0" anchor="t">
            <a:normAutofit/>
          </a:bodyPr>
          <a:lstStyle/>
          <a:p>
            <a:r>
              <a:rPr lang="en-US" sz="2400">
                <a:latin typeface="Assistant"/>
                <a:ea typeface="+mn-lt"/>
                <a:cs typeface="+mn-lt"/>
              </a:rPr>
              <a:t>The optimized version has a </a:t>
            </a:r>
            <a:r>
              <a:rPr lang="en-US" sz="2400" b="1">
                <a:latin typeface="Assistant"/>
                <a:ea typeface="+mn-lt"/>
                <a:cs typeface="+mn-lt"/>
              </a:rPr>
              <a:t>higher cache miss percentage</a:t>
            </a:r>
            <a:r>
              <a:rPr lang="en-US" sz="2400">
                <a:latin typeface="Assistant"/>
                <a:ea typeface="+mn-lt"/>
                <a:cs typeface="+mn-lt"/>
              </a:rPr>
              <a:t> 63% vs 7%. </a:t>
            </a:r>
            <a:r>
              <a:rPr lang="en-US" sz="2400">
                <a:solidFill>
                  <a:srgbClr val="7030A0"/>
                </a:solidFill>
                <a:latin typeface="Assistant"/>
                <a:ea typeface="+mn-lt"/>
                <a:cs typeface="+mn-lt"/>
              </a:rPr>
              <a:t>Why?</a:t>
            </a:r>
          </a:p>
          <a:p>
            <a:r>
              <a:rPr lang="en-US" sz="2400">
                <a:latin typeface="Assistant"/>
                <a:cs typeface="Assistant"/>
              </a:rPr>
              <a:t>but </a:t>
            </a:r>
            <a:r>
              <a:rPr lang="en-US" sz="2400" b="1">
                <a:latin typeface="Assistant"/>
                <a:cs typeface="Assistant"/>
              </a:rPr>
              <a:t>a much lower total number</a:t>
            </a:r>
            <a:r>
              <a:rPr lang="en-US" sz="2400">
                <a:latin typeface="Assistant"/>
                <a:cs typeface="Assistant"/>
              </a:rPr>
              <a:t> of cache references and misses overall. Due to </a:t>
            </a:r>
            <a:r>
              <a:rPr lang="en-US" sz="2400">
                <a:solidFill>
                  <a:srgbClr val="000000"/>
                </a:solidFill>
                <a:latin typeface="Assistant"/>
                <a:cs typeface="Assistant"/>
              </a:rPr>
              <a:t>spatial locality.</a:t>
            </a:r>
            <a:endParaRPr lang="en-US" sz="2400">
              <a:latin typeface="Assistant"/>
              <a:cs typeface="Assistant"/>
            </a:endParaRPr>
          </a:p>
          <a:p>
            <a:r>
              <a:rPr lang="en-US" sz="2400">
                <a:latin typeface="Assistant"/>
                <a:ea typeface="+mn-lt"/>
                <a:cs typeface="+mn-lt"/>
              </a:rPr>
              <a:t>This might happen because the working set is large enough that cache lines get evicted quickly, but it doesn’t hurt overall performance since each memory fetch brings in more useful data at once.</a:t>
            </a:r>
          </a:p>
          <a:p>
            <a:r>
              <a:rPr lang="en-US" sz="2400">
                <a:latin typeface="Assistant"/>
                <a:ea typeface="+mn-lt"/>
                <a:cs typeface="+mn-lt"/>
              </a:rPr>
              <a:t>In row-major traversal, memory is accessed sequentially. A single cache line (typically 64 bytes) holds several adjacent integers (e.g., 16 </a:t>
            </a:r>
            <a:r>
              <a:rPr lang="en-US" sz="2400" err="1">
                <a:latin typeface="Assistant"/>
                <a:cs typeface="Assistant"/>
              </a:rPr>
              <a:t>int</a:t>
            </a:r>
            <a:r>
              <a:rPr lang="en-US" sz="2400" err="1">
                <a:latin typeface="Assistant"/>
                <a:ea typeface="+mn-lt"/>
                <a:cs typeface="+mn-lt"/>
              </a:rPr>
              <a:t>s</a:t>
            </a:r>
            <a:r>
              <a:rPr lang="en-US" sz="2400">
                <a:latin typeface="Assistant"/>
                <a:ea typeface="+mn-lt"/>
                <a:cs typeface="+mn-lt"/>
              </a:rPr>
              <a:t> at once), so each memory access loads useful data for several upcoming reads.</a:t>
            </a:r>
            <a:endParaRPr lang="en-US" sz="2400">
              <a:latin typeface="Assistant"/>
              <a:cs typeface="Assistant"/>
            </a:endParaRPr>
          </a:p>
        </p:txBody>
      </p:sp>
    </p:spTree>
    <p:extLst>
      <p:ext uri="{BB962C8B-B14F-4D97-AF65-F5344CB8AC3E}">
        <p14:creationId xmlns:p14="http://schemas.microsoft.com/office/powerpoint/2010/main" val="2736795030"/>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58D13-1D95-FE9C-E1E6-CA2B5FE5BD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C31EC0-39DC-DDEA-C87F-E68353B355CB}"/>
              </a:ext>
            </a:extLst>
          </p:cNvPr>
          <p:cNvSpPr>
            <a:spLocks noGrp="1"/>
          </p:cNvSpPr>
          <p:nvPr>
            <p:ph type="title"/>
          </p:nvPr>
        </p:nvSpPr>
        <p:spPr/>
        <p:txBody>
          <a:bodyPr/>
          <a:lstStyle/>
          <a:p>
            <a:r>
              <a:rPr lang="en-US">
                <a:latin typeface="Assistant"/>
                <a:cs typeface="Assistant"/>
              </a:rPr>
              <a:t>2D array better analysis on caches</a:t>
            </a:r>
          </a:p>
        </p:txBody>
      </p:sp>
      <p:graphicFrame>
        <p:nvGraphicFramePr>
          <p:cNvPr id="5" name="Table 4">
            <a:extLst>
              <a:ext uri="{FF2B5EF4-FFF2-40B4-BE49-F238E27FC236}">
                <a16:creationId xmlns:a16="http://schemas.microsoft.com/office/drawing/2014/main" id="{09CAA764-9249-C0D3-B0D9-B08D34CBDBC8}"/>
              </a:ext>
            </a:extLst>
          </p:cNvPr>
          <p:cNvGraphicFramePr>
            <a:graphicFrameLocks noGrp="1"/>
          </p:cNvGraphicFramePr>
          <p:nvPr>
            <p:extLst>
              <p:ext uri="{D42A27DB-BD31-4B8C-83A1-F6EECF244321}">
                <p14:modId xmlns:p14="http://schemas.microsoft.com/office/powerpoint/2010/main" val="3403131309"/>
              </p:ext>
            </p:extLst>
          </p:nvPr>
        </p:nvGraphicFramePr>
        <p:xfrm>
          <a:off x="1349828" y="2013857"/>
          <a:ext cx="9497265" cy="1821500"/>
        </p:xfrm>
        <a:graphic>
          <a:graphicData uri="http://schemas.openxmlformats.org/drawingml/2006/table">
            <a:tbl>
              <a:tblPr firstRow="1" bandRow="1">
                <a:tableStyleId>{5C22544A-7EE6-4342-B048-85BDC9FD1C3A}</a:tableStyleId>
              </a:tblPr>
              <a:tblGrid>
                <a:gridCol w="3165755">
                  <a:extLst>
                    <a:ext uri="{9D8B030D-6E8A-4147-A177-3AD203B41FA5}">
                      <a16:colId xmlns:a16="http://schemas.microsoft.com/office/drawing/2014/main" val="1384922815"/>
                    </a:ext>
                  </a:extLst>
                </a:gridCol>
                <a:gridCol w="3165755">
                  <a:extLst>
                    <a:ext uri="{9D8B030D-6E8A-4147-A177-3AD203B41FA5}">
                      <a16:colId xmlns:a16="http://schemas.microsoft.com/office/drawing/2014/main" val="1350190667"/>
                    </a:ext>
                  </a:extLst>
                </a:gridCol>
                <a:gridCol w="3165755">
                  <a:extLst>
                    <a:ext uri="{9D8B030D-6E8A-4147-A177-3AD203B41FA5}">
                      <a16:colId xmlns:a16="http://schemas.microsoft.com/office/drawing/2014/main" val="2635243320"/>
                    </a:ext>
                  </a:extLst>
                </a:gridCol>
              </a:tblGrid>
              <a:tr h="313157">
                <a:tc>
                  <a:txBody>
                    <a:bodyPr/>
                    <a:lstStyle/>
                    <a:p>
                      <a:pPr fontAlgn="base">
                        <a:lnSpc>
                          <a:spcPts val="2175"/>
                        </a:lnSpc>
                        <a:buNone/>
                      </a:pPr>
                      <a:r>
                        <a:rPr lang="en-US" sz="1800" b="1">
                          <a:solidFill>
                            <a:srgbClr val="FFFFFF"/>
                          </a:solidFill>
                          <a:effectLst/>
                          <a:latin typeface="Aptos"/>
                        </a:rPr>
                        <a:t>Metric</a:t>
                      </a:r>
                      <a:endParaRPr lang="en-US" b="1">
                        <a:solidFill>
                          <a:srgbClr val="FFFFFF"/>
                        </a:solidFill>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38576"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b="1">
                          <a:solidFill>
                            <a:srgbClr val="FFFFFF"/>
                          </a:solidFill>
                          <a:effectLst/>
                          <a:latin typeface="Aptos"/>
                        </a:rPr>
                        <a:t>Column based</a:t>
                      </a:r>
                      <a:endParaRPr lang="en-US" b="1">
                        <a:solidFill>
                          <a:srgbClr val="FFFFFF"/>
                        </a:solidFill>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38576"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b="1">
                          <a:solidFill>
                            <a:srgbClr val="FFFFFF"/>
                          </a:solidFill>
                          <a:effectLst/>
                          <a:latin typeface="Aptos"/>
                        </a:rPr>
                        <a:t>Row based</a:t>
                      </a:r>
                      <a:endParaRPr lang="en-US" b="1">
                        <a:solidFill>
                          <a:srgbClr val="FFFFFF"/>
                        </a:solidFill>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38576"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021714998"/>
                  </a:ext>
                </a:extLst>
              </a:tr>
              <a:tr h="313157">
                <a:tc>
                  <a:txBody>
                    <a:bodyPr/>
                    <a:lstStyle/>
                    <a:p>
                      <a:pPr fontAlgn="base">
                        <a:lnSpc>
                          <a:spcPts val="2175"/>
                        </a:lnSpc>
                        <a:buNone/>
                      </a:pPr>
                      <a:r>
                        <a:rPr lang="en-US" sz="1800">
                          <a:effectLst/>
                          <a:latin typeface="Aptos"/>
                        </a:rPr>
                        <a:t>L1-dcache-loads</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38576"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13.5 billion</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38576"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13.5 b</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38576"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879495372"/>
                  </a:ext>
                </a:extLst>
              </a:tr>
              <a:tr h="313157">
                <a:tc>
                  <a:txBody>
                    <a:bodyPr/>
                    <a:lstStyle/>
                    <a:p>
                      <a:pPr fontAlgn="base">
                        <a:lnSpc>
                          <a:spcPts val="2175"/>
                        </a:lnSpc>
                        <a:buNone/>
                      </a:pPr>
                      <a:r>
                        <a:rPr lang="en-US" sz="1800">
                          <a:effectLst/>
                          <a:latin typeface="Aptos"/>
                        </a:rPr>
                        <a:t>L1-dcache-load-misses</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1.8 b (13.8%)</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124 m (0.92%)</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78756108"/>
                  </a:ext>
                </a:extLst>
              </a:tr>
              <a:tr h="313157">
                <a:tc>
                  <a:txBody>
                    <a:bodyPr/>
                    <a:lstStyle/>
                    <a:p>
                      <a:pPr fontAlgn="base">
                        <a:lnSpc>
                          <a:spcPts val="2175"/>
                        </a:lnSpc>
                        <a:buNone/>
                      </a:pPr>
                      <a:r>
                        <a:rPr lang="en-US" sz="1800">
                          <a:effectLst/>
                          <a:latin typeface="Aptos"/>
                        </a:rPr>
                        <a:t>Cache References</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3.08 b</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120 m</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15960656"/>
                  </a:ext>
                </a:extLst>
              </a:tr>
              <a:tr h="313157">
                <a:tc>
                  <a:txBody>
                    <a:bodyPr/>
                    <a:lstStyle/>
                    <a:p>
                      <a:pPr fontAlgn="base">
                        <a:lnSpc>
                          <a:spcPts val="2175"/>
                        </a:lnSpc>
                        <a:buNone/>
                      </a:pPr>
                      <a:r>
                        <a:rPr lang="en-US" sz="1800">
                          <a:effectLst/>
                          <a:latin typeface="Aptos"/>
                        </a:rPr>
                        <a:t>Cache Misses</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214.6 million (6.96%)</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tc>
                  <a:txBody>
                    <a:bodyPr/>
                    <a:lstStyle/>
                    <a:p>
                      <a:pPr fontAlgn="base">
                        <a:lnSpc>
                          <a:spcPts val="2175"/>
                        </a:lnSpc>
                        <a:buNone/>
                      </a:pPr>
                      <a:r>
                        <a:rPr lang="en-US" sz="1800">
                          <a:effectLst/>
                          <a:latin typeface="Aptos"/>
                        </a:rPr>
                        <a:t>76.8 m (63.93%)</a:t>
                      </a:r>
                      <a:endParaRPr lang="en-US">
                        <a:effectLst/>
                        <a:latin typeface="Aptos"/>
                      </a:endParaRPr>
                    </a:p>
                  </a:txBody>
                  <a:tcPr>
                    <a:lnL w="12859" cap="flat" cmpd="sng" algn="ctr">
                      <a:solidFill>
                        <a:srgbClr val="FFFFFF"/>
                      </a:solidFill>
                      <a:prstDash val="solid"/>
                      <a:round/>
                      <a:headEnd type="none" w="med" len="med"/>
                      <a:tailEnd type="none" w="med" len="med"/>
                    </a:lnL>
                    <a:lnR w="12859" cap="flat" cmpd="sng" algn="ctr">
                      <a:solidFill>
                        <a:srgbClr val="FFFFFF"/>
                      </a:solidFill>
                      <a:prstDash val="solid"/>
                      <a:round/>
                      <a:headEnd type="none" w="med" len="med"/>
                      <a:tailEnd type="none" w="med" len="med"/>
                    </a:lnR>
                    <a:lnT w="12859" cap="flat" cmpd="sng" algn="ctr">
                      <a:solidFill>
                        <a:srgbClr val="FFFFFF"/>
                      </a:solidFill>
                      <a:prstDash val="solid"/>
                      <a:round/>
                      <a:headEnd type="none" w="med" len="med"/>
                      <a:tailEnd type="none" w="med" len="med"/>
                    </a:lnT>
                    <a:lnB w="128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971979891"/>
                  </a:ext>
                </a:extLst>
              </a:tr>
            </a:tbl>
          </a:graphicData>
        </a:graphic>
      </p:graphicFrame>
    </p:spTree>
    <p:extLst>
      <p:ext uri="{BB962C8B-B14F-4D97-AF65-F5344CB8AC3E}">
        <p14:creationId xmlns:p14="http://schemas.microsoft.com/office/powerpoint/2010/main" val="3802105160"/>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6C8D5-1F2D-825E-761E-50F0D90F238C}"/>
              </a:ext>
            </a:extLst>
          </p:cNvPr>
          <p:cNvSpPr>
            <a:spLocks noGrp="1"/>
          </p:cNvSpPr>
          <p:nvPr>
            <p:ph type="title"/>
          </p:nvPr>
        </p:nvSpPr>
        <p:spPr/>
        <p:txBody>
          <a:bodyPr/>
          <a:lstStyle/>
          <a:p>
            <a:r>
              <a:rPr lang="en-US">
                <a:latin typeface="Assistant"/>
                <a:cs typeface="Assistant"/>
              </a:rPr>
              <a:t>Copy Memory</a:t>
            </a:r>
          </a:p>
        </p:txBody>
      </p:sp>
      <p:sp>
        <p:nvSpPr>
          <p:cNvPr id="3" name="Content Placeholder 2">
            <a:extLst>
              <a:ext uri="{FF2B5EF4-FFF2-40B4-BE49-F238E27FC236}">
                <a16:creationId xmlns:a16="http://schemas.microsoft.com/office/drawing/2014/main" id="{4ABA49BE-F396-40D4-D765-2A17908F4A3F}"/>
              </a:ext>
            </a:extLst>
          </p:cNvPr>
          <p:cNvSpPr>
            <a:spLocks noGrp="1"/>
          </p:cNvSpPr>
          <p:nvPr>
            <p:ph idx="1"/>
          </p:nvPr>
        </p:nvSpPr>
        <p:spPr/>
        <p:txBody>
          <a:bodyPr vert="horz" lIns="91440" tIns="45720" rIns="91440" bIns="45720" rtlCol="0" anchor="t">
            <a:normAutofit/>
          </a:bodyPr>
          <a:lstStyle/>
          <a:p>
            <a:r>
              <a:rPr lang="en-US" sz="2400">
                <a:latin typeface="Assistant"/>
                <a:cs typeface="Assistant"/>
              </a:rPr>
              <a:t>Manual </a:t>
            </a:r>
            <a:r>
              <a:rPr lang="en-US" sz="2400" err="1">
                <a:latin typeface="Assistant"/>
                <a:cs typeface="Assistant"/>
              </a:rPr>
              <a:t>v.s</a:t>
            </a:r>
            <a:r>
              <a:rPr lang="en-US" sz="2400">
                <a:latin typeface="Assistant"/>
                <a:cs typeface="Assistant"/>
              </a:rPr>
              <a:t>. </a:t>
            </a:r>
            <a:r>
              <a:rPr lang="en-US" sz="2400" err="1">
                <a:latin typeface="Assistant"/>
                <a:cs typeface="Assistant"/>
              </a:rPr>
              <a:t>memcpy</a:t>
            </a:r>
            <a:r>
              <a:rPr lang="en-US" sz="2400">
                <a:latin typeface="Assistant"/>
                <a:cs typeface="Assistant"/>
              </a:rPr>
              <a:t>. </a:t>
            </a:r>
            <a:r>
              <a:rPr lang="en-US" sz="2400">
                <a:solidFill>
                  <a:srgbClr val="7030A0"/>
                </a:solidFill>
                <a:latin typeface="Assistant"/>
                <a:ea typeface="+mn-lt"/>
                <a:cs typeface="Assistant"/>
              </a:rPr>
              <a:t>Thoughts</a:t>
            </a:r>
            <a:r>
              <a:rPr lang="en-US" sz="2400">
                <a:latin typeface="Assistant"/>
                <a:cs typeface="Assistant"/>
              </a:rPr>
              <a:t>?</a:t>
            </a:r>
          </a:p>
          <a:p>
            <a:r>
              <a:rPr lang="en-US" sz="2400">
                <a:latin typeface="Assistant"/>
                <a:cs typeface="Assistant"/>
              </a:rPr>
              <a:t>If someone wrote it, maybe he knows better then you. </a:t>
            </a:r>
          </a:p>
          <a:p>
            <a:r>
              <a:rPr lang="en-US" sz="2400">
                <a:latin typeface="Assistant"/>
                <a:ea typeface="+mn-lt"/>
                <a:cs typeface="Assistant"/>
              </a:rPr>
              <a:t>Leverages hardware more efficiently</a:t>
            </a:r>
            <a:endParaRPr lang="en-US" sz="2400">
              <a:latin typeface="Assistant"/>
              <a:cs typeface="Assistant"/>
            </a:endParaRPr>
          </a:p>
        </p:txBody>
      </p:sp>
    </p:spTree>
    <p:extLst>
      <p:ext uri="{BB962C8B-B14F-4D97-AF65-F5344CB8AC3E}">
        <p14:creationId xmlns:p14="http://schemas.microsoft.com/office/powerpoint/2010/main" val="300173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56A62-BBEF-6015-BB25-A56D7194686B}"/>
              </a:ext>
            </a:extLst>
          </p:cNvPr>
          <p:cNvSpPr>
            <a:spLocks noGrp="1"/>
          </p:cNvSpPr>
          <p:nvPr>
            <p:ph type="title"/>
          </p:nvPr>
        </p:nvSpPr>
        <p:spPr/>
        <p:txBody>
          <a:bodyPr/>
          <a:lstStyle/>
          <a:p>
            <a:r>
              <a:rPr lang="en-US">
                <a:latin typeface="Assistant"/>
                <a:cs typeface="Assistant"/>
              </a:rPr>
              <a:t>Copy Memory</a:t>
            </a:r>
          </a:p>
        </p:txBody>
      </p:sp>
      <p:sp>
        <p:nvSpPr>
          <p:cNvPr id="3" name="Content Placeholder 2">
            <a:extLst>
              <a:ext uri="{FF2B5EF4-FFF2-40B4-BE49-F238E27FC236}">
                <a16:creationId xmlns:a16="http://schemas.microsoft.com/office/drawing/2014/main" id="{F7EF3B89-2703-8DF8-0986-1C75E273CA3C}"/>
              </a:ext>
            </a:extLst>
          </p:cNvPr>
          <p:cNvSpPr>
            <a:spLocks noGrp="1"/>
          </p:cNvSpPr>
          <p:nvPr>
            <p:ph idx="1"/>
          </p:nvPr>
        </p:nvSpPr>
        <p:spPr/>
        <p:txBody>
          <a:bodyPr/>
          <a:lstStyle/>
          <a:p>
            <a:endParaRPr lang="en-US">
              <a:latin typeface="Assistant"/>
              <a:cs typeface="Assistant"/>
            </a:endParaRPr>
          </a:p>
        </p:txBody>
      </p:sp>
      <p:graphicFrame>
        <p:nvGraphicFramePr>
          <p:cNvPr id="5" name="Content Placeholder 3">
            <a:extLst>
              <a:ext uri="{FF2B5EF4-FFF2-40B4-BE49-F238E27FC236}">
                <a16:creationId xmlns:a16="http://schemas.microsoft.com/office/drawing/2014/main" id="{176B20CB-DB39-D1E7-A769-4404671F771B}"/>
              </a:ext>
            </a:extLst>
          </p:cNvPr>
          <p:cNvGraphicFramePr>
            <a:graphicFrameLocks/>
          </p:cNvGraphicFramePr>
          <p:nvPr>
            <p:extLst>
              <p:ext uri="{D42A27DB-BD31-4B8C-83A1-F6EECF244321}">
                <p14:modId xmlns:p14="http://schemas.microsoft.com/office/powerpoint/2010/main" val="665854810"/>
              </p:ext>
            </p:extLst>
          </p:nvPr>
        </p:nvGraphicFramePr>
        <p:xfrm>
          <a:off x="838200" y="1825625"/>
          <a:ext cx="10515600" cy="2966713"/>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117404856"/>
                    </a:ext>
                  </a:extLst>
                </a:gridCol>
                <a:gridCol w="3505200">
                  <a:extLst>
                    <a:ext uri="{9D8B030D-6E8A-4147-A177-3AD203B41FA5}">
                      <a16:colId xmlns:a16="http://schemas.microsoft.com/office/drawing/2014/main" val="3393806957"/>
                    </a:ext>
                  </a:extLst>
                </a:gridCol>
                <a:gridCol w="3505200">
                  <a:extLst>
                    <a:ext uri="{9D8B030D-6E8A-4147-A177-3AD203B41FA5}">
                      <a16:colId xmlns:a16="http://schemas.microsoft.com/office/drawing/2014/main" val="1350520931"/>
                    </a:ext>
                  </a:extLst>
                </a:gridCol>
              </a:tblGrid>
              <a:tr h="370840">
                <a:tc>
                  <a:txBody>
                    <a:bodyPr/>
                    <a:lstStyle/>
                    <a:p>
                      <a:r>
                        <a:rPr lang="en-US">
                          <a:latin typeface="Assistant"/>
                        </a:rPr>
                        <a:t>metric</a:t>
                      </a:r>
                    </a:p>
                  </a:txBody>
                  <a:tcPr/>
                </a:tc>
                <a:tc>
                  <a:txBody>
                    <a:bodyPr/>
                    <a:lstStyle/>
                    <a:p>
                      <a:pPr lvl="0">
                        <a:buNone/>
                      </a:pPr>
                      <a:r>
                        <a:rPr lang="en-US" sz="1800" b="0" i="0" u="none" strike="noStrike" noProof="0">
                          <a:latin typeface="Assistant"/>
                        </a:rPr>
                        <a:t>Manual Copy</a:t>
                      </a:r>
                      <a:endParaRPr lang="en-US">
                        <a:latin typeface="Assistant"/>
                      </a:endParaRPr>
                    </a:p>
                  </a:txBody>
                  <a:tcPr/>
                </a:tc>
                <a:tc>
                  <a:txBody>
                    <a:bodyPr/>
                    <a:lstStyle/>
                    <a:p>
                      <a:pPr lvl="0">
                        <a:buNone/>
                      </a:pPr>
                      <a:r>
                        <a:rPr lang="en-US" sz="1800" b="0" i="0" u="none" strike="noStrike" noProof="0" err="1">
                          <a:latin typeface="Assistant"/>
                        </a:rPr>
                        <a:t>memcpy</a:t>
                      </a:r>
                      <a:endParaRPr lang="en-US">
                        <a:latin typeface="Assistant"/>
                      </a:endParaRPr>
                    </a:p>
                  </a:txBody>
                  <a:tcPr/>
                </a:tc>
                <a:extLst>
                  <a:ext uri="{0D108BD9-81ED-4DB2-BD59-A6C34878D82A}">
                    <a16:rowId xmlns:a16="http://schemas.microsoft.com/office/drawing/2014/main" val="3762152396"/>
                  </a:ext>
                </a:extLst>
              </a:tr>
              <a:tr h="370840">
                <a:tc>
                  <a:txBody>
                    <a:bodyPr/>
                    <a:lstStyle/>
                    <a:p>
                      <a:pPr lvl="0">
                        <a:buNone/>
                      </a:pPr>
                      <a:r>
                        <a:rPr lang="en-US" sz="1800" b="0" i="0" u="none" strike="noStrike" noProof="0">
                          <a:latin typeface="Assistant"/>
                        </a:rPr>
                        <a:t>Time Elapsed</a:t>
                      </a:r>
                      <a:endParaRPr lang="en-US">
                        <a:latin typeface="Assistant"/>
                      </a:endParaRPr>
                    </a:p>
                  </a:txBody>
                  <a:tcPr/>
                </a:tc>
                <a:tc>
                  <a:txBody>
                    <a:bodyPr/>
                    <a:lstStyle/>
                    <a:p>
                      <a:pPr lvl="0">
                        <a:buNone/>
                      </a:pPr>
                      <a:r>
                        <a:rPr lang="en-US" sz="1800" b="0" i="0" u="none" strike="noStrike" noProof="0">
                          <a:latin typeface="Assistant"/>
                        </a:rPr>
                        <a:t>7.24 [sec]</a:t>
                      </a:r>
                      <a:endParaRPr lang="en-US">
                        <a:latin typeface="Assistant"/>
                      </a:endParaRPr>
                    </a:p>
                  </a:txBody>
                  <a:tcPr/>
                </a:tc>
                <a:tc>
                  <a:txBody>
                    <a:bodyPr/>
                    <a:lstStyle/>
                    <a:p>
                      <a:pPr marL="0" lvl="0" indent="0" algn="l">
                        <a:lnSpc>
                          <a:spcPct val="100000"/>
                        </a:lnSpc>
                        <a:spcBef>
                          <a:spcPts val="0"/>
                        </a:spcBef>
                        <a:spcAft>
                          <a:spcPts val="0"/>
                        </a:spcAft>
                        <a:buNone/>
                      </a:pPr>
                      <a:r>
                        <a:rPr lang="en-US" sz="1800" b="0" i="0" u="none" strike="noStrike" noProof="0">
                          <a:latin typeface="Assistant"/>
                        </a:rPr>
                        <a:t>5.96 [sec]</a:t>
                      </a:r>
                      <a:endParaRPr lang="en-US">
                        <a:latin typeface="Assistant"/>
                      </a:endParaRPr>
                    </a:p>
                  </a:txBody>
                  <a:tcPr/>
                </a:tc>
                <a:extLst>
                  <a:ext uri="{0D108BD9-81ED-4DB2-BD59-A6C34878D82A}">
                    <a16:rowId xmlns:a16="http://schemas.microsoft.com/office/drawing/2014/main" val="2919455024"/>
                  </a:ext>
                </a:extLst>
              </a:tr>
              <a:tr h="370840">
                <a:tc>
                  <a:txBody>
                    <a:bodyPr/>
                    <a:lstStyle/>
                    <a:p>
                      <a:pPr lvl="0">
                        <a:buNone/>
                      </a:pPr>
                      <a:r>
                        <a:rPr lang="en-US" sz="1800" b="0" i="0" u="none" strike="noStrike" noProof="0">
                          <a:latin typeface="Assistant"/>
                        </a:rPr>
                        <a:t>CPU Cycles</a:t>
                      </a:r>
                      <a:endParaRPr lang="en-US">
                        <a:latin typeface="Assistant"/>
                      </a:endParaRPr>
                    </a:p>
                  </a:txBody>
                  <a:tcPr/>
                </a:tc>
                <a:tc>
                  <a:txBody>
                    <a:bodyPr/>
                    <a:lstStyle/>
                    <a:p>
                      <a:pPr lvl="0">
                        <a:buNone/>
                      </a:pPr>
                      <a:r>
                        <a:rPr lang="en-US" sz="1800" b="0" i="0" u="none" strike="noStrike" noProof="0">
                          <a:latin typeface="Assistant"/>
                        </a:rPr>
                        <a:t>32.76 billion</a:t>
                      </a:r>
                      <a:endParaRPr lang="en-US">
                        <a:latin typeface="Assistant"/>
                      </a:endParaRPr>
                    </a:p>
                  </a:txBody>
                  <a:tcPr/>
                </a:tc>
                <a:tc>
                  <a:txBody>
                    <a:bodyPr/>
                    <a:lstStyle/>
                    <a:p>
                      <a:pPr lvl="0">
                        <a:buNone/>
                      </a:pPr>
                      <a:r>
                        <a:rPr lang="en-US" sz="1800" b="0" i="0" u="none" strike="noStrike" noProof="0">
                          <a:latin typeface="Assistant"/>
                        </a:rPr>
                        <a:t>26.98 b</a:t>
                      </a:r>
                      <a:endParaRPr lang="en-US">
                        <a:latin typeface="Assistant"/>
                      </a:endParaRPr>
                    </a:p>
                  </a:txBody>
                  <a:tcPr/>
                </a:tc>
                <a:extLst>
                  <a:ext uri="{0D108BD9-81ED-4DB2-BD59-A6C34878D82A}">
                    <a16:rowId xmlns:a16="http://schemas.microsoft.com/office/drawing/2014/main" val="2703514784"/>
                  </a:ext>
                </a:extLst>
              </a:tr>
              <a:tr h="370840">
                <a:tc>
                  <a:txBody>
                    <a:bodyPr/>
                    <a:lstStyle/>
                    <a:p>
                      <a:pPr lvl="0">
                        <a:buNone/>
                      </a:pPr>
                      <a:r>
                        <a:rPr lang="en-US" sz="1800" b="0" i="0" u="none" strike="noStrike" noProof="0">
                          <a:latin typeface="Assistant"/>
                        </a:rPr>
                        <a:t>Instructions Retired</a:t>
                      </a:r>
                      <a:endParaRPr lang="en-US">
                        <a:latin typeface="Assistant"/>
                      </a:endParaRPr>
                    </a:p>
                  </a:txBody>
                  <a:tcPr/>
                </a:tc>
                <a:tc>
                  <a:txBody>
                    <a:bodyPr/>
                    <a:lstStyle/>
                    <a:p>
                      <a:pPr lvl="0">
                        <a:buNone/>
                      </a:pPr>
                      <a:r>
                        <a:rPr lang="en-US" sz="1800" b="0" i="0" u="none" strike="noStrike" noProof="0">
                          <a:latin typeface="Assistant"/>
                        </a:rPr>
                        <a:t>47.5 b</a:t>
                      </a:r>
                      <a:endParaRPr lang="en-US">
                        <a:latin typeface="Assistant"/>
                      </a:endParaRPr>
                    </a:p>
                  </a:txBody>
                  <a:tcPr/>
                </a:tc>
                <a:tc>
                  <a:txBody>
                    <a:bodyPr/>
                    <a:lstStyle/>
                    <a:p>
                      <a:pPr lvl="0">
                        <a:buNone/>
                      </a:pPr>
                      <a:r>
                        <a:rPr lang="en-US" sz="1800" b="0" i="0" u="none" strike="noStrike" noProof="0">
                          <a:latin typeface="Assistant"/>
                        </a:rPr>
                        <a:t>32.0 b</a:t>
                      </a:r>
                      <a:endParaRPr lang="en-US">
                        <a:latin typeface="Assistant"/>
                      </a:endParaRPr>
                    </a:p>
                  </a:txBody>
                  <a:tcPr/>
                </a:tc>
                <a:extLst>
                  <a:ext uri="{0D108BD9-81ED-4DB2-BD59-A6C34878D82A}">
                    <a16:rowId xmlns:a16="http://schemas.microsoft.com/office/drawing/2014/main" val="1119774117"/>
                  </a:ext>
                </a:extLst>
              </a:tr>
              <a:tr h="370839">
                <a:tc>
                  <a:txBody>
                    <a:bodyPr/>
                    <a:lstStyle/>
                    <a:p>
                      <a:pPr lvl="0">
                        <a:buNone/>
                      </a:pPr>
                      <a:r>
                        <a:rPr lang="en-US" sz="1800" b="0" i="0" u="none" strike="noStrike" noProof="0">
                          <a:latin typeface="Assistant"/>
                        </a:rPr>
                        <a:t>Instructions per Cycle (IPC)</a:t>
                      </a:r>
                      <a:endParaRPr lang="en-US">
                        <a:latin typeface="Assistant"/>
                      </a:endParaRPr>
                    </a:p>
                  </a:txBody>
                  <a:tcPr/>
                </a:tc>
                <a:tc>
                  <a:txBody>
                    <a:bodyPr/>
                    <a:lstStyle/>
                    <a:p>
                      <a:pPr lvl="0">
                        <a:buNone/>
                      </a:pPr>
                      <a:r>
                        <a:rPr lang="en-US" sz="1800" b="0" i="0" u="none" strike="noStrike" noProof="0">
                          <a:latin typeface="Assistant"/>
                        </a:rPr>
                        <a:t>1.45</a:t>
                      </a:r>
                    </a:p>
                  </a:txBody>
                  <a:tcPr/>
                </a:tc>
                <a:tc>
                  <a:txBody>
                    <a:bodyPr/>
                    <a:lstStyle/>
                    <a:p>
                      <a:pPr lvl="0">
                        <a:buNone/>
                      </a:pPr>
                      <a:r>
                        <a:rPr lang="en-US" sz="1800" b="0" i="0" u="none" strike="noStrike" noProof="0">
                          <a:latin typeface="Assistant"/>
                        </a:rPr>
                        <a:t>1.19</a:t>
                      </a:r>
                      <a:endParaRPr lang="en-US">
                        <a:latin typeface="Assistant"/>
                      </a:endParaRPr>
                    </a:p>
                  </a:txBody>
                  <a:tcPr/>
                </a:tc>
                <a:extLst>
                  <a:ext uri="{0D108BD9-81ED-4DB2-BD59-A6C34878D82A}">
                    <a16:rowId xmlns:a16="http://schemas.microsoft.com/office/drawing/2014/main" val="3614384050"/>
                  </a:ext>
                </a:extLst>
              </a:tr>
              <a:tr h="370838">
                <a:tc>
                  <a:txBody>
                    <a:bodyPr/>
                    <a:lstStyle/>
                    <a:p>
                      <a:pPr lvl="0">
                        <a:buNone/>
                      </a:pPr>
                      <a:r>
                        <a:rPr lang="en-US" sz="1800" b="0" i="0" u="none" strike="noStrike" noProof="0">
                          <a:latin typeface="Assistant"/>
                        </a:rPr>
                        <a:t>Branches</a:t>
                      </a:r>
                    </a:p>
                  </a:txBody>
                  <a:tcPr/>
                </a:tc>
                <a:tc>
                  <a:txBody>
                    <a:bodyPr/>
                    <a:lstStyle/>
                    <a:p>
                      <a:pPr lvl="0">
                        <a:buNone/>
                      </a:pPr>
                      <a:r>
                        <a:rPr lang="en-US" sz="1800" b="0" i="0" u="none" strike="noStrike" noProof="0">
                          <a:latin typeface="Assistant"/>
                        </a:rPr>
                        <a:t>7.49 b</a:t>
                      </a:r>
                      <a:endParaRPr lang="en-US">
                        <a:latin typeface="Assistant"/>
                      </a:endParaRPr>
                    </a:p>
                  </a:txBody>
                  <a:tcPr/>
                </a:tc>
                <a:tc>
                  <a:txBody>
                    <a:bodyPr/>
                    <a:lstStyle/>
                    <a:p>
                      <a:pPr lvl="0">
                        <a:buNone/>
                      </a:pPr>
                      <a:r>
                        <a:rPr lang="en-US" sz="1800" b="0" i="0" u="none" strike="noStrike" noProof="0">
                          <a:latin typeface="Assistant"/>
                        </a:rPr>
                        <a:t>5.52 b</a:t>
                      </a:r>
                    </a:p>
                  </a:txBody>
                  <a:tcPr/>
                </a:tc>
                <a:extLst>
                  <a:ext uri="{0D108BD9-81ED-4DB2-BD59-A6C34878D82A}">
                    <a16:rowId xmlns:a16="http://schemas.microsoft.com/office/drawing/2014/main" val="3768924618"/>
                  </a:ext>
                </a:extLst>
              </a:tr>
              <a:tr h="370838">
                <a:tc>
                  <a:txBody>
                    <a:bodyPr/>
                    <a:lstStyle/>
                    <a:p>
                      <a:pPr lvl="0">
                        <a:buNone/>
                      </a:pPr>
                      <a:r>
                        <a:rPr lang="en-US" sz="1800" b="0" i="0" u="none" strike="noStrike" noProof="0">
                          <a:latin typeface="Assistant"/>
                        </a:rPr>
                        <a:t>Backend Bound (stall time)</a:t>
                      </a:r>
                      <a:endParaRPr lang="en-US">
                        <a:latin typeface="Assistant"/>
                      </a:endParaRPr>
                    </a:p>
                  </a:txBody>
                  <a:tcPr/>
                </a:tc>
                <a:tc>
                  <a:txBody>
                    <a:bodyPr/>
                    <a:lstStyle/>
                    <a:p>
                      <a:pPr lvl="0">
                        <a:buNone/>
                      </a:pPr>
                      <a:r>
                        <a:rPr lang="en-US" sz="1800" b="0" i="0" u="none" strike="noStrike" noProof="0">
                          <a:latin typeface="Assistant"/>
                        </a:rPr>
                        <a:t>40.8%</a:t>
                      </a:r>
                      <a:endParaRPr lang="en-US">
                        <a:latin typeface="Assistant"/>
                      </a:endParaRPr>
                    </a:p>
                  </a:txBody>
                  <a:tcPr/>
                </a:tc>
                <a:tc>
                  <a:txBody>
                    <a:bodyPr/>
                    <a:lstStyle/>
                    <a:p>
                      <a:pPr lvl="0">
                        <a:buNone/>
                      </a:pPr>
                      <a:r>
                        <a:rPr lang="en-US" sz="1800" b="0" i="0" u="none" strike="noStrike" noProof="0">
                          <a:latin typeface="Assistant"/>
                        </a:rPr>
                        <a:t>45.3%</a:t>
                      </a:r>
                    </a:p>
                  </a:txBody>
                  <a:tcPr/>
                </a:tc>
                <a:extLst>
                  <a:ext uri="{0D108BD9-81ED-4DB2-BD59-A6C34878D82A}">
                    <a16:rowId xmlns:a16="http://schemas.microsoft.com/office/drawing/2014/main" val="1642102881"/>
                  </a:ext>
                </a:extLst>
              </a:tr>
              <a:tr h="370838">
                <a:tc>
                  <a:txBody>
                    <a:bodyPr/>
                    <a:lstStyle/>
                    <a:p>
                      <a:pPr lvl="0">
                        <a:buNone/>
                      </a:pPr>
                      <a:r>
                        <a:rPr lang="en-US" sz="1800" b="0" i="0" u="none" strike="noStrike" noProof="0">
                          <a:latin typeface="Assistant"/>
                        </a:rPr>
                        <a:t>Bad speculation</a:t>
                      </a:r>
                      <a:endParaRPr lang="en-US">
                        <a:latin typeface="Assistant"/>
                      </a:endParaRPr>
                    </a:p>
                  </a:txBody>
                  <a:tcPr/>
                </a:tc>
                <a:tc>
                  <a:txBody>
                    <a:bodyPr/>
                    <a:lstStyle/>
                    <a:p>
                      <a:pPr lvl="0">
                        <a:buNone/>
                      </a:pPr>
                      <a:r>
                        <a:rPr lang="en-US" sz="1800" b="0" i="0" u="none" strike="noStrike" noProof="0">
                          <a:latin typeface="Assistant"/>
                        </a:rPr>
                        <a:t>41%</a:t>
                      </a:r>
                    </a:p>
                  </a:txBody>
                  <a:tcPr/>
                </a:tc>
                <a:tc>
                  <a:txBody>
                    <a:bodyPr/>
                    <a:lstStyle/>
                    <a:p>
                      <a:pPr lvl="0">
                        <a:buNone/>
                      </a:pPr>
                      <a:r>
                        <a:rPr lang="en-US" sz="1800" b="0" i="0" u="none" strike="noStrike" noProof="0">
                          <a:latin typeface="Assistant"/>
                        </a:rPr>
                        <a:t>36%</a:t>
                      </a:r>
                    </a:p>
                  </a:txBody>
                  <a:tcPr/>
                </a:tc>
                <a:extLst>
                  <a:ext uri="{0D108BD9-81ED-4DB2-BD59-A6C34878D82A}">
                    <a16:rowId xmlns:a16="http://schemas.microsoft.com/office/drawing/2014/main" val="962846929"/>
                  </a:ext>
                </a:extLst>
              </a:tr>
            </a:tbl>
          </a:graphicData>
        </a:graphic>
      </p:graphicFrame>
      <p:sp>
        <p:nvSpPr>
          <p:cNvPr id="6" name="TextBox 5">
            <a:extLst>
              <a:ext uri="{FF2B5EF4-FFF2-40B4-BE49-F238E27FC236}">
                <a16:creationId xmlns:a16="http://schemas.microsoft.com/office/drawing/2014/main" id="{F1C85B48-1944-5D82-4F09-CC3A817D2468}"/>
              </a:ext>
            </a:extLst>
          </p:cNvPr>
          <p:cNvSpPr txBox="1"/>
          <p:nvPr/>
        </p:nvSpPr>
        <p:spPr>
          <a:xfrm>
            <a:off x="835492" y="6100479"/>
            <a:ext cx="73553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ssistant"/>
                <a:cs typeface="Assistant"/>
              </a:rPr>
              <a:t>Backend bound </a:t>
            </a:r>
            <a:r>
              <a:rPr lang="en-US">
                <a:latin typeface="Assistant"/>
                <a:cs typeface="Assistant"/>
              </a:rPr>
              <a:t>means that computation or memory access is the bottle neck. (was taken from man page)</a:t>
            </a:r>
          </a:p>
        </p:txBody>
      </p:sp>
      <p:cxnSp>
        <p:nvCxnSpPr>
          <p:cNvPr id="8" name="Straight Arrow Connector 7">
            <a:extLst>
              <a:ext uri="{FF2B5EF4-FFF2-40B4-BE49-F238E27FC236}">
                <a16:creationId xmlns:a16="http://schemas.microsoft.com/office/drawing/2014/main" id="{0F8BC31B-3234-9E97-550F-D47A66615FC4}"/>
              </a:ext>
            </a:extLst>
          </p:cNvPr>
          <p:cNvCxnSpPr/>
          <p:nvPr/>
        </p:nvCxnSpPr>
        <p:spPr>
          <a:xfrm flipH="1" flipV="1">
            <a:off x="3136544" y="4384885"/>
            <a:ext cx="1959299" cy="16814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1939426"/>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F590C-1CE2-1A8F-FD25-120E18C98F52}"/>
              </a:ext>
            </a:extLst>
          </p:cNvPr>
          <p:cNvSpPr>
            <a:spLocks noGrp="1"/>
          </p:cNvSpPr>
          <p:nvPr>
            <p:ph type="title"/>
          </p:nvPr>
        </p:nvSpPr>
        <p:spPr/>
        <p:txBody>
          <a:bodyPr/>
          <a:lstStyle/>
          <a:p>
            <a:r>
              <a:rPr lang="en-US">
                <a:latin typeface="Assistant"/>
                <a:cs typeface="Assistant"/>
              </a:rPr>
              <a:t>What do we observe?</a:t>
            </a:r>
          </a:p>
        </p:txBody>
      </p:sp>
      <p:sp>
        <p:nvSpPr>
          <p:cNvPr id="3" name="Content Placeholder 2">
            <a:extLst>
              <a:ext uri="{FF2B5EF4-FFF2-40B4-BE49-F238E27FC236}">
                <a16:creationId xmlns:a16="http://schemas.microsoft.com/office/drawing/2014/main" id="{91EA137E-1379-1955-5AB6-4F613ADB32E8}"/>
              </a:ext>
            </a:extLst>
          </p:cNvPr>
          <p:cNvSpPr>
            <a:spLocks noGrp="1"/>
          </p:cNvSpPr>
          <p:nvPr>
            <p:ph idx="1"/>
          </p:nvPr>
        </p:nvSpPr>
        <p:spPr/>
        <p:txBody>
          <a:bodyPr vert="horz" lIns="91440" tIns="45720" rIns="91440" bIns="45720" rtlCol="0" anchor="t">
            <a:normAutofit/>
          </a:bodyPr>
          <a:lstStyle/>
          <a:p>
            <a:r>
              <a:rPr lang="en-US" sz="2400">
                <a:latin typeface="Assistant"/>
                <a:ea typeface="+mn-lt"/>
                <a:cs typeface="Assistant"/>
              </a:rPr>
              <a:t>The optimized version (</a:t>
            </a:r>
            <a:r>
              <a:rPr lang="en-US" sz="2400" err="1">
                <a:latin typeface="Assistant"/>
                <a:cs typeface="Assistant"/>
              </a:rPr>
              <a:t>memcpy</a:t>
            </a:r>
            <a:r>
              <a:rPr lang="en-US" sz="2400">
                <a:latin typeface="Assistant"/>
                <a:ea typeface="+mn-lt"/>
                <a:cs typeface="Assistant"/>
              </a:rPr>
              <a:t>) completed </a:t>
            </a:r>
            <a:r>
              <a:rPr lang="en-US" sz="2400" b="1">
                <a:latin typeface="Assistant"/>
                <a:ea typeface="+mn-lt"/>
                <a:cs typeface="Assistant"/>
              </a:rPr>
              <a:t>~18% faster</a:t>
            </a:r>
            <a:r>
              <a:rPr lang="en-US" sz="2400">
                <a:latin typeface="Assistant"/>
                <a:ea typeface="+mn-lt"/>
                <a:cs typeface="Assistant"/>
              </a:rPr>
              <a:t> than the manual copy (5.96s vs 7.24s).</a:t>
            </a:r>
          </a:p>
          <a:p>
            <a:r>
              <a:rPr lang="en-US" sz="2400" err="1">
                <a:latin typeface="Assistant"/>
                <a:cs typeface="Assistant"/>
              </a:rPr>
              <a:t>memcpy</a:t>
            </a:r>
            <a:r>
              <a:rPr lang="en-US" sz="2400">
                <a:latin typeface="Assistant"/>
                <a:ea typeface="+mn-lt"/>
                <a:cs typeface="Assistant"/>
              </a:rPr>
              <a:t> needed </a:t>
            </a:r>
            <a:r>
              <a:rPr lang="en-US" sz="2400" b="1">
                <a:latin typeface="Assistant"/>
                <a:ea typeface="+mn-lt"/>
                <a:cs typeface="Assistant"/>
              </a:rPr>
              <a:t>15.5 billion fewer instructions</a:t>
            </a:r>
            <a:r>
              <a:rPr lang="en-US" sz="2400">
                <a:latin typeface="Assistant"/>
                <a:ea typeface="+mn-lt"/>
                <a:cs typeface="Assistant"/>
              </a:rPr>
              <a:t> than the manual copy.</a:t>
            </a:r>
          </a:p>
          <a:p>
            <a:r>
              <a:rPr lang="en-US" sz="2400">
                <a:latin typeface="Assistant"/>
                <a:ea typeface="+mn-lt"/>
                <a:cs typeface="Assistant"/>
              </a:rPr>
              <a:t>This demonstrates how </a:t>
            </a:r>
            <a:r>
              <a:rPr lang="en-US" sz="2400" err="1">
                <a:latin typeface="Assistant"/>
                <a:cs typeface="Assistant"/>
              </a:rPr>
              <a:t>memcpy</a:t>
            </a:r>
            <a:r>
              <a:rPr lang="en-US" sz="2400">
                <a:latin typeface="Assistant"/>
                <a:ea typeface="+mn-lt"/>
                <a:cs typeface="Assistant"/>
              </a:rPr>
              <a:t> internally takes advantage of wide memory transfers. When buffers are aligned to cache lines (typically 64 bytes), using the SIMD unit is optimal, as it can move 64 bytes at once efficiently.</a:t>
            </a:r>
            <a:endParaRPr lang="en-US" sz="2400">
              <a:solidFill>
                <a:srgbClr val="000000"/>
              </a:solidFill>
              <a:latin typeface="Assistant"/>
              <a:ea typeface="+mn-lt"/>
              <a:cs typeface="Assistant"/>
            </a:endParaRPr>
          </a:p>
          <a:p>
            <a:r>
              <a:rPr lang="en-US" sz="2400">
                <a:latin typeface="Assistant"/>
                <a:ea typeface="+mn-lt"/>
                <a:cs typeface="Assistant"/>
              </a:rPr>
              <a:t>Optimized code used </a:t>
            </a:r>
            <a:r>
              <a:rPr lang="en-US" sz="2400" b="1">
                <a:latin typeface="Assistant"/>
                <a:ea typeface="+mn-lt"/>
                <a:cs typeface="Assistant"/>
              </a:rPr>
              <a:t>5.8 billion fewer CPU cycles</a:t>
            </a:r>
            <a:r>
              <a:rPr lang="en-US" sz="2400">
                <a:latin typeface="Assistant"/>
                <a:ea typeface="+mn-lt"/>
                <a:cs typeface="Assistant"/>
              </a:rPr>
              <a:t>, making it more energy and performance efficient.</a:t>
            </a:r>
            <a:endParaRPr lang="en-US" sz="2400">
              <a:latin typeface="Assistant"/>
              <a:cs typeface="Assistant"/>
            </a:endParaRPr>
          </a:p>
        </p:txBody>
      </p:sp>
    </p:spTree>
    <p:extLst>
      <p:ext uri="{BB962C8B-B14F-4D97-AF65-F5344CB8AC3E}">
        <p14:creationId xmlns:p14="http://schemas.microsoft.com/office/powerpoint/2010/main" val="330021581"/>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BD1C008-4020-F1CB-1534-29A1DD3DAA26}"/>
              </a:ext>
            </a:extLst>
          </p:cNvPr>
          <p:cNvSpPr>
            <a:spLocks noGrp="1"/>
          </p:cNvSpPr>
          <p:nvPr>
            <p:ph idx="1"/>
          </p:nvPr>
        </p:nvSpPr>
        <p:spPr>
          <a:xfrm>
            <a:off x="838200" y="440171"/>
            <a:ext cx="10515600" cy="5736792"/>
          </a:xfrm>
        </p:spPr>
        <p:txBody>
          <a:bodyPr vert="horz" lIns="91440" tIns="45720" rIns="91440" bIns="45720" rtlCol="0" anchor="t">
            <a:normAutofit/>
          </a:bodyPr>
          <a:lstStyle/>
          <a:p>
            <a:r>
              <a:rPr lang="en-US" sz="2400">
                <a:ea typeface="+mn-lt"/>
                <a:cs typeface="+mn-lt"/>
              </a:rPr>
              <a:t>Both versions show high "backend bound" percentages (&gt;40%), meaning they spent a lot of time waiting for memory accesses.</a:t>
            </a:r>
            <a:br>
              <a:rPr lang="en-US" sz="2400">
                <a:ea typeface="+mn-lt"/>
                <a:cs typeface="+mn-lt"/>
              </a:rPr>
            </a:br>
            <a:r>
              <a:rPr lang="en-US" sz="2400">
                <a:ea typeface="+mn-lt"/>
                <a:cs typeface="+mn-lt"/>
              </a:rPr>
              <a:t>Even though </a:t>
            </a:r>
            <a:r>
              <a:rPr lang="en-US" sz="2400" err="1">
                <a:latin typeface="Consolas"/>
              </a:rPr>
              <a:t>memcpy</a:t>
            </a:r>
            <a:r>
              <a:rPr lang="en-US" sz="2400">
                <a:ea typeface="+mn-lt"/>
                <a:cs typeface="+mn-lt"/>
              </a:rPr>
              <a:t> is faster, both are ultimately </a:t>
            </a:r>
            <a:r>
              <a:rPr lang="en-US" sz="2400" b="1">
                <a:ea typeface="+mn-lt"/>
                <a:cs typeface="+mn-lt"/>
              </a:rPr>
              <a:t>memory bandwidth limited</a:t>
            </a:r>
            <a:r>
              <a:rPr lang="en-US" sz="2400">
                <a:ea typeface="+mn-lt"/>
                <a:cs typeface="+mn-lt"/>
              </a:rPr>
              <a:t>.</a:t>
            </a:r>
          </a:p>
          <a:p>
            <a:r>
              <a:rPr lang="en-US" sz="2400">
                <a:ea typeface="+mn-lt"/>
                <a:cs typeface="+mn-lt"/>
              </a:rPr>
              <a:t>The optimized code has slightly lower bad speculation (36% vs 41%), showing better branch prediction efficiency when not manually looping.</a:t>
            </a:r>
          </a:p>
        </p:txBody>
      </p:sp>
    </p:spTree>
    <p:extLst>
      <p:ext uri="{BB962C8B-B14F-4D97-AF65-F5344CB8AC3E}">
        <p14:creationId xmlns:p14="http://schemas.microsoft.com/office/powerpoint/2010/main" val="3469070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8DE0-5879-1A7F-40C9-3F7021121627}"/>
              </a:ext>
            </a:extLst>
          </p:cNvPr>
          <p:cNvSpPr>
            <a:spLocks noGrp="1"/>
          </p:cNvSpPr>
          <p:nvPr>
            <p:ph type="title"/>
          </p:nvPr>
        </p:nvSpPr>
        <p:spPr/>
        <p:txBody>
          <a:bodyPr/>
          <a:lstStyle/>
          <a:p>
            <a:r>
              <a:rPr lang="en-US">
                <a:latin typeface="Assistant"/>
                <a:ea typeface="+mj-lt"/>
                <a:cs typeface="Assistant"/>
              </a:rPr>
              <a:t>New Thread per Task vs Thread Pool</a:t>
            </a:r>
            <a:endParaRPr lang="en-US">
              <a:latin typeface="Assistant"/>
              <a:cs typeface="Assistant"/>
            </a:endParaRPr>
          </a:p>
        </p:txBody>
      </p:sp>
      <p:sp>
        <p:nvSpPr>
          <p:cNvPr id="7" name="TextBox 6">
            <a:extLst>
              <a:ext uri="{FF2B5EF4-FFF2-40B4-BE49-F238E27FC236}">
                <a16:creationId xmlns:a16="http://schemas.microsoft.com/office/drawing/2014/main" id="{31F55107-5248-AE1D-6CA7-4775CC87F7A2}"/>
              </a:ext>
            </a:extLst>
          </p:cNvPr>
          <p:cNvSpPr txBox="1"/>
          <p:nvPr/>
        </p:nvSpPr>
        <p:spPr>
          <a:xfrm>
            <a:off x="8156082" y="1453034"/>
            <a:ext cx="414646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ssistant"/>
                <a:ea typeface="+mn-lt"/>
                <a:cs typeface="Assistant"/>
              </a:rPr>
              <a:t>Disclaimer – this example is a bit too good to be true. I hope there is no mistake :) </a:t>
            </a:r>
            <a:endParaRPr lang="en-US">
              <a:latin typeface="Assistant"/>
              <a:cs typeface="Assistant"/>
            </a:endParaRPr>
          </a:p>
        </p:txBody>
      </p:sp>
      <p:pic>
        <p:nvPicPr>
          <p:cNvPr id="9" name="Picture 8" descr="Generated image">
            <a:extLst>
              <a:ext uri="{FF2B5EF4-FFF2-40B4-BE49-F238E27FC236}">
                <a16:creationId xmlns:a16="http://schemas.microsoft.com/office/drawing/2014/main" id="{A39EC54B-03AB-6B69-F428-A4DDCF8BE096}"/>
              </a:ext>
            </a:extLst>
          </p:cNvPr>
          <p:cNvPicPr>
            <a:picLocks noChangeAspect="1"/>
          </p:cNvPicPr>
          <p:nvPr/>
        </p:nvPicPr>
        <p:blipFill>
          <a:blip r:embed="rId2"/>
          <a:stretch>
            <a:fillRect/>
          </a:stretch>
        </p:blipFill>
        <p:spPr>
          <a:xfrm>
            <a:off x="8858498" y="2374231"/>
            <a:ext cx="2743200" cy="4114800"/>
          </a:xfrm>
          <a:prstGeom prst="rect">
            <a:avLst/>
          </a:prstGeom>
        </p:spPr>
      </p:pic>
      <p:sp>
        <p:nvSpPr>
          <p:cNvPr id="5" name="Content Placeholder 4">
            <a:extLst>
              <a:ext uri="{FF2B5EF4-FFF2-40B4-BE49-F238E27FC236}">
                <a16:creationId xmlns:a16="http://schemas.microsoft.com/office/drawing/2014/main" id="{0CEA06E8-DA7F-F87B-48A4-DC4B601BDA83}"/>
              </a:ext>
            </a:extLst>
          </p:cNvPr>
          <p:cNvSpPr>
            <a:spLocks noGrp="1"/>
          </p:cNvSpPr>
          <p:nvPr>
            <p:ph idx="1"/>
          </p:nvPr>
        </p:nvSpPr>
        <p:spPr/>
        <p:txBody>
          <a:bodyPr/>
          <a:lstStyle/>
          <a:p>
            <a:endParaRPr lang="en-US">
              <a:latin typeface="Assistant"/>
              <a:cs typeface="Assistant"/>
            </a:endParaRPr>
          </a:p>
        </p:txBody>
      </p:sp>
    </p:spTree>
    <p:extLst>
      <p:ext uri="{BB962C8B-B14F-4D97-AF65-F5344CB8AC3E}">
        <p14:creationId xmlns:p14="http://schemas.microsoft.com/office/powerpoint/2010/main" val="2736633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AB122-6A90-473C-D41A-8FCFF1B82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03C5-792F-4845-6ABB-7E0643E7BC48}"/>
              </a:ext>
            </a:extLst>
          </p:cNvPr>
          <p:cNvSpPr>
            <a:spLocks noGrp="1"/>
          </p:cNvSpPr>
          <p:nvPr>
            <p:ph type="title"/>
          </p:nvPr>
        </p:nvSpPr>
        <p:spPr/>
        <p:txBody>
          <a:bodyPr/>
          <a:lstStyle/>
          <a:p>
            <a:r>
              <a:rPr lang="en-US">
                <a:latin typeface="Assistant"/>
                <a:ea typeface="+mj-lt"/>
                <a:cs typeface="Assistant"/>
              </a:rPr>
              <a:t>New Thread per Task vs Thread Pool</a:t>
            </a:r>
            <a:endParaRPr lang="en-US">
              <a:latin typeface="Assistant"/>
              <a:cs typeface="Assistant"/>
            </a:endParaRPr>
          </a:p>
        </p:txBody>
      </p:sp>
      <p:graphicFrame>
        <p:nvGraphicFramePr>
          <p:cNvPr id="4" name="Content Placeholder 3">
            <a:extLst>
              <a:ext uri="{FF2B5EF4-FFF2-40B4-BE49-F238E27FC236}">
                <a16:creationId xmlns:a16="http://schemas.microsoft.com/office/drawing/2014/main" id="{240E5406-A14E-E526-2911-206514E5DF2A}"/>
              </a:ext>
            </a:extLst>
          </p:cNvPr>
          <p:cNvGraphicFramePr>
            <a:graphicFrameLocks noGrp="1"/>
          </p:cNvGraphicFramePr>
          <p:nvPr>
            <p:ph idx="1"/>
            <p:extLst>
              <p:ext uri="{D42A27DB-BD31-4B8C-83A1-F6EECF244321}">
                <p14:modId xmlns:p14="http://schemas.microsoft.com/office/powerpoint/2010/main" val="1860078431"/>
              </p:ext>
            </p:extLst>
          </p:nvPr>
        </p:nvGraphicFramePr>
        <p:xfrm>
          <a:off x="1243263" y="1844842"/>
          <a:ext cx="6821187" cy="3484986"/>
        </p:xfrm>
        <a:graphic>
          <a:graphicData uri="http://schemas.openxmlformats.org/drawingml/2006/table">
            <a:tbl>
              <a:tblPr firstRow="1" bandRow="1">
                <a:tableStyleId>{5C22544A-7EE6-4342-B048-85BDC9FD1C3A}</a:tableStyleId>
              </a:tblPr>
              <a:tblGrid>
                <a:gridCol w="2273729">
                  <a:extLst>
                    <a:ext uri="{9D8B030D-6E8A-4147-A177-3AD203B41FA5}">
                      <a16:colId xmlns:a16="http://schemas.microsoft.com/office/drawing/2014/main" val="1942345368"/>
                    </a:ext>
                  </a:extLst>
                </a:gridCol>
                <a:gridCol w="2273729">
                  <a:extLst>
                    <a:ext uri="{9D8B030D-6E8A-4147-A177-3AD203B41FA5}">
                      <a16:colId xmlns:a16="http://schemas.microsoft.com/office/drawing/2014/main" val="3864654888"/>
                    </a:ext>
                  </a:extLst>
                </a:gridCol>
                <a:gridCol w="2273729">
                  <a:extLst>
                    <a:ext uri="{9D8B030D-6E8A-4147-A177-3AD203B41FA5}">
                      <a16:colId xmlns:a16="http://schemas.microsoft.com/office/drawing/2014/main" val="1325919741"/>
                    </a:ext>
                  </a:extLst>
                </a:gridCol>
              </a:tblGrid>
              <a:tr h="322977">
                <a:tc>
                  <a:txBody>
                    <a:bodyPr/>
                    <a:lstStyle/>
                    <a:p>
                      <a:pPr lvl="0">
                        <a:buNone/>
                      </a:pPr>
                      <a:r>
                        <a:rPr lang="en-US" sz="1800" b="0" i="0" u="none" strike="noStrike" noProof="0">
                          <a:solidFill>
                            <a:srgbClr val="000000"/>
                          </a:solidFill>
                          <a:latin typeface="Assistant"/>
                        </a:rPr>
                        <a:t>Metric</a:t>
                      </a:r>
                      <a:endParaRPr lang="en-US">
                        <a:latin typeface="Assistant"/>
                      </a:endParaRPr>
                    </a:p>
                  </a:txBody>
                  <a:tcPr/>
                </a:tc>
                <a:tc>
                  <a:txBody>
                    <a:bodyPr/>
                    <a:lstStyle/>
                    <a:p>
                      <a:pPr lvl="0">
                        <a:buNone/>
                      </a:pPr>
                      <a:r>
                        <a:rPr lang="en-US" sz="1800" b="0" i="0" u="none" strike="noStrike" noProof="0">
                          <a:solidFill>
                            <a:srgbClr val="000000"/>
                          </a:solidFill>
                          <a:latin typeface="Assistant"/>
                        </a:rPr>
                        <a:t>New Thread per Task </a:t>
                      </a:r>
                      <a:endParaRPr lang="en-US">
                        <a:latin typeface="Assistant"/>
                      </a:endParaRPr>
                    </a:p>
                  </a:txBody>
                  <a:tcPr/>
                </a:tc>
                <a:tc>
                  <a:txBody>
                    <a:bodyPr/>
                    <a:lstStyle/>
                    <a:p>
                      <a:pPr lvl="0">
                        <a:buNone/>
                      </a:pPr>
                      <a:r>
                        <a:rPr lang="en-US" sz="1800" b="0" i="0" u="none" strike="noStrike" noProof="0">
                          <a:solidFill>
                            <a:srgbClr val="000000"/>
                          </a:solidFill>
                          <a:latin typeface="Assistant"/>
                        </a:rPr>
                        <a:t>Thread Pool </a:t>
                      </a:r>
                      <a:endParaRPr lang="en-US">
                        <a:latin typeface="Assistant"/>
                      </a:endParaRPr>
                    </a:p>
                  </a:txBody>
                  <a:tcPr/>
                </a:tc>
                <a:extLst>
                  <a:ext uri="{0D108BD9-81ED-4DB2-BD59-A6C34878D82A}">
                    <a16:rowId xmlns:a16="http://schemas.microsoft.com/office/drawing/2014/main" val="3165827899"/>
                  </a:ext>
                </a:extLst>
              </a:tr>
              <a:tr h="467466">
                <a:tc>
                  <a:txBody>
                    <a:bodyPr/>
                    <a:lstStyle/>
                    <a:p>
                      <a:pPr marL="0" lvl="0" algn="l" defTabSz="914400" rtl="0" eaLnBrk="1" latinLnBrk="0" hangingPunct="1">
                        <a:lnSpc>
                          <a:spcPct val="100000"/>
                        </a:lnSpc>
                        <a:spcBef>
                          <a:spcPts val="0"/>
                        </a:spcBef>
                        <a:spcAft>
                          <a:spcPts val="0"/>
                        </a:spcAft>
                        <a:buNone/>
                      </a:pPr>
                      <a:r>
                        <a:rPr lang="en-US" sz="1800" b="0" i="0" u="none" strike="noStrike" noProof="0">
                          <a:solidFill>
                            <a:srgbClr val="000000"/>
                          </a:solidFill>
                          <a:latin typeface="Assistant"/>
                        </a:rPr>
                        <a:t>Task Clock (CPU time)</a:t>
                      </a:r>
                    </a:p>
                  </a:txBody>
                  <a:tcPr/>
                </a:tc>
                <a:tc>
                  <a:txBody>
                    <a:bodyPr/>
                    <a:lstStyle/>
                    <a:p>
                      <a:pPr lvl="0">
                        <a:buNone/>
                      </a:pPr>
                      <a:r>
                        <a:rPr lang="en-US" sz="1800" b="0" i="0" u="none" strike="noStrike" noProof="0">
                          <a:solidFill>
                            <a:srgbClr val="000000"/>
                          </a:solidFill>
                          <a:latin typeface="Assistant"/>
                        </a:rPr>
                        <a:t>2,561 [</a:t>
                      </a:r>
                      <a:r>
                        <a:rPr lang="en-US" sz="1800" b="0" i="0" u="none" strike="noStrike" noProof="0" err="1">
                          <a:solidFill>
                            <a:srgbClr val="000000"/>
                          </a:solidFill>
                          <a:latin typeface="Assistant"/>
                        </a:rPr>
                        <a:t>ms</a:t>
                      </a:r>
                      <a:r>
                        <a:rPr lang="en-US" sz="1800" b="0" i="0" u="none" strike="noStrike" noProof="0">
                          <a:solidFill>
                            <a:srgbClr val="000000"/>
                          </a:solidFill>
                          <a:latin typeface="Assistant"/>
                        </a:rPr>
                        <a:t>]</a:t>
                      </a: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41 </a:t>
                      </a:r>
                      <a:r>
                        <a:rPr lang="en-US" sz="1800" b="0" i="0" u="none" strike="noStrike" noProof="0" err="1">
                          <a:solidFill>
                            <a:srgbClr val="000000"/>
                          </a:solidFill>
                          <a:latin typeface="Assistant"/>
                        </a:rPr>
                        <a:t>ms</a:t>
                      </a:r>
                    </a:p>
                  </a:txBody>
                  <a:tcPr/>
                </a:tc>
                <a:extLst>
                  <a:ext uri="{0D108BD9-81ED-4DB2-BD59-A6C34878D82A}">
                    <a16:rowId xmlns:a16="http://schemas.microsoft.com/office/drawing/2014/main" val="4079170182"/>
                  </a:ext>
                </a:extLst>
              </a:tr>
              <a:tr h="458967">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Context Switches</a:t>
                      </a:r>
                    </a:p>
                    <a:p>
                      <a:pPr lvl="0">
                        <a:buNone/>
                      </a:pPr>
                      <a:endParaRPr lang="en-US">
                        <a:latin typeface="Assistant"/>
                      </a:endParaRPr>
                    </a:p>
                  </a:txBody>
                  <a:tcPr/>
                </a:tc>
                <a:tc>
                  <a:txBody>
                    <a:bodyPr/>
                    <a:lstStyle/>
                    <a:p>
                      <a:pPr lvl="0" defTabSz="914400">
                        <a:buNone/>
                      </a:pPr>
                      <a:r>
                        <a:rPr lang="en-US" sz="1800" b="0" i="0" u="none" strike="noStrike" noProof="0">
                          <a:solidFill>
                            <a:srgbClr val="000000"/>
                          </a:solidFill>
                          <a:latin typeface="Assistant"/>
                        </a:rPr>
                        <a:t>3,881</a:t>
                      </a: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1,087</a:t>
                      </a:r>
                    </a:p>
                    <a:p>
                      <a:pPr lvl="0">
                        <a:buNone/>
                      </a:pPr>
                      <a:endParaRPr lang="en-US">
                        <a:latin typeface="Assistant"/>
                      </a:endParaRPr>
                    </a:p>
                  </a:txBody>
                  <a:tcPr/>
                </a:tc>
                <a:extLst>
                  <a:ext uri="{0D108BD9-81ED-4DB2-BD59-A6C34878D82A}">
                    <a16:rowId xmlns:a16="http://schemas.microsoft.com/office/drawing/2014/main" val="2266307196"/>
                  </a:ext>
                </a:extLst>
              </a:tr>
              <a:tr h="458967">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CPU Cycles</a:t>
                      </a:r>
                    </a:p>
                    <a:p>
                      <a:pPr lvl="0">
                        <a:buNone/>
                      </a:pP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10.2 billion</a:t>
                      </a:r>
                    </a:p>
                    <a:p>
                      <a:pPr lvl="0" defTabSz="914400">
                        <a:buNone/>
                      </a:pPr>
                      <a:endParaRPr lang="en-US">
                        <a:latin typeface="Assistant"/>
                      </a:endParaRPr>
                    </a:p>
                  </a:txBody>
                  <a:tcPr/>
                </a:tc>
                <a:tc>
                  <a:txBody>
                    <a:bodyPr/>
                    <a:lstStyle/>
                    <a:p>
                      <a:pPr lvl="0">
                        <a:buNone/>
                      </a:pPr>
                      <a:r>
                        <a:rPr lang="en-US" sz="1800" b="0" i="0" u="none" strike="noStrike" noProof="0">
                          <a:solidFill>
                            <a:srgbClr val="000000"/>
                          </a:solidFill>
                          <a:latin typeface="Assistant"/>
                        </a:rPr>
                        <a:t>35 million</a:t>
                      </a:r>
                      <a:endParaRPr lang="en-US">
                        <a:latin typeface="Assistant"/>
                      </a:endParaRPr>
                    </a:p>
                  </a:txBody>
                  <a:tcPr/>
                </a:tc>
                <a:extLst>
                  <a:ext uri="{0D108BD9-81ED-4DB2-BD59-A6C34878D82A}">
                    <a16:rowId xmlns:a16="http://schemas.microsoft.com/office/drawing/2014/main" val="2051073975"/>
                  </a:ext>
                </a:extLst>
              </a:tr>
              <a:tr h="322977">
                <a:tc>
                  <a:txBody>
                    <a:bodyPr/>
                    <a:lstStyle/>
                    <a:p>
                      <a:pPr lvl="0">
                        <a:buNone/>
                      </a:pPr>
                      <a:r>
                        <a:rPr lang="en-US" sz="1800" b="0" i="0" u="none" strike="noStrike" noProof="0">
                          <a:solidFill>
                            <a:srgbClr val="000000"/>
                          </a:solidFill>
                          <a:latin typeface="Assistant"/>
                        </a:rPr>
                        <a:t>Instructions Retired</a:t>
                      </a: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10.1 billion</a:t>
                      </a:r>
                    </a:p>
                  </a:txBody>
                  <a:tcPr/>
                </a:tc>
                <a:tc>
                  <a:txBody>
                    <a:bodyPr/>
                    <a:lstStyle/>
                    <a:p>
                      <a:pPr lvl="0">
                        <a:buNone/>
                      </a:pPr>
                      <a:r>
                        <a:rPr lang="en-US" sz="1800" b="0" i="0" u="none" strike="noStrike" noProof="0">
                          <a:solidFill>
                            <a:srgbClr val="000000"/>
                          </a:solidFill>
                          <a:latin typeface="Assistant"/>
                        </a:rPr>
                        <a:t>16 million</a:t>
                      </a:r>
                      <a:endParaRPr lang="en-US">
                        <a:latin typeface="Assistant"/>
                      </a:endParaRPr>
                    </a:p>
                  </a:txBody>
                  <a:tcPr/>
                </a:tc>
                <a:extLst>
                  <a:ext uri="{0D108BD9-81ED-4DB2-BD59-A6C34878D82A}">
                    <a16:rowId xmlns:a16="http://schemas.microsoft.com/office/drawing/2014/main" val="2963187581"/>
                  </a:ext>
                </a:extLst>
              </a:tr>
              <a:tr h="458967">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Elapsed Time</a:t>
                      </a:r>
                    </a:p>
                    <a:p>
                      <a:pPr lvl="0">
                        <a:buNone/>
                      </a:pP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0.19 [sec]</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1.27 [sec]</a:t>
                      </a:r>
                    </a:p>
                    <a:p>
                      <a:pPr lvl="0">
                        <a:buNone/>
                      </a:pPr>
                      <a:endParaRPr lang="en-US">
                        <a:latin typeface="Assistant"/>
                      </a:endParaRPr>
                    </a:p>
                  </a:txBody>
                  <a:tcPr/>
                </a:tc>
                <a:extLst>
                  <a:ext uri="{0D108BD9-81ED-4DB2-BD59-A6C34878D82A}">
                    <a16:rowId xmlns:a16="http://schemas.microsoft.com/office/drawing/2014/main" val="312287961"/>
                  </a:ext>
                </a:extLst>
              </a:tr>
              <a:tr h="322977">
                <a:tc>
                  <a:txBody>
                    <a:bodyPr/>
                    <a:lstStyle/>
                    <a:p>
                      <a:pPr lvl="0">
                        <a:buNone/>
                      </a:pPr>
                      <a:r>
                        <a:rPr lang="en-US" sz="1800" b="0" i="0" u="none" strike="noStrike" noProof="0">
                          <a:latin typeface="Assistant"/>
                        </a:rPr>
                        <a:t>Backend Bound</a:t>
                      </a:r>
                      <a:endParaRPr lang="en-US">
                        <a:latin typeface="Assistant"/>
                      </a:endParaRP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ssistant"/>
                        </a:rPr>
                        <a:t>34.5%</a:t>
                      </a:r>
                      <a:endParaRPr lang="en-US">
                        <a:latin typeface="Assistant"/>
                      </a:endParaRPr>
                    </a:p>
                  </a:txBody>
                  <a:tcPr/>
                </a:tc>
                <a:tc>
                  <a:txBody>
                    <a:bodyPr/>
                    <a:lstStyle/>
                    <a:p>
                      <a:pPr lvl="0">
                        <a:buNone/>
                      </a:pPr>
                      <a:r>
                        <a:rPr lang="en-US">
                          <a:latin typeface="Assistant"/>
                        </a:rPr>
                        <a:t>12.9%</a:t>
                      </a:r>
                    </a:p>
                  </a:txBody>
                  <a:tcPr/>
                </a:tc>
                <a:extLst>
                  <a:ext uri="{0D108BD9-81ED-4DB2-BD59-A6C34878D82A}">
                    <a16:rowId xmlns:a16="http://schemas.microsoft.com/office/drawing/2014/main" val="602486521"/>
                  </a:ext>
                </a:extLst>
              </a:tr>
            </a:tbl>
          </a:graphicData>
        </a:graphic>
      </p:graphicFrame>
      <p:sp>
        <p:nvSpPr>
          <p:cNvPr id="7" name="TextBox 6">
            <a:extLst>
              <a:ext uri="{FF2B5EF4-FFF2-40B4-BE49-F238E27FC236}">
                <a16:creationId xmlns:a16="http://schemas.microsoft.com/office/drawing/2014/main" id="{AC1D365F-109A-3B36-A438-C107B406133A}"/>
              </a:ext>
            </a:extLst>
          </p:cNvPr>
          <p:cNvSpPr txBox="1"/>
          <p:nvPr/>
        </p:nvSpPr>
        <p:spPr>
          <a:xfrm>
            <a:off x="8156082" y="1453034"/>
            <a:ext cx="4146467"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Assistant"/>
                <a:ea typeface="+mn-lt"/>
                <a:cs typeface="Assistant"/>
              </a:rPr>
              <a:t>Disclaimer – this example is a bit too good to be true. I hope there is no mistake :) </a:t>
            </a:r>
            <a:endParaRPr lang="en-US">
              <a:latin typeface="Assistant"/>
              <a:cs typeface="Assistant"/>
            </a:endParaRPr>
          </a:p>
        </p:txBody>
      </p:sp>
      <p:pic>
        <p:nvPicPr>
          <p:cNvPr id="9" name="Picture 8" descr="Generated image">
            <a:extLst>
              <a:ext uri="{FF2B5EF4-FFF2-40B4-BE49-F238E27FC236}">
                <a16:creationId xmlns:a16="http://schemas.microsoft.com/office/drawing/2014/main" id="{45DF9979-6AF3-0345-3D80-D1ED837A919E}"/>
              </a:ext>
            </a:extLst>
          </p:cNvPr>
          <p:cNvPicPr>
            <a:picLocks noChangeAspect="1"/>
          </p:cNvPicPr>
          <p:nvPr/>
        </p:nvPicPr>
        <p:blipFill>
          <a:blip r:embed="rId2"/>
          <a:stretch>
            <a:fillRect/>
          </a:stretch>
        </p:blipFill>
        <p:spPr>
          <a:xfrm>
            <a:off x="8858498" y="2374231"/>
            <a:ext cx="2743200" cy="4114800"/>
          </a:xfrm>
          <a:prstGeom prst="rect">
            <a:avLst/>
          </a:prstGeom>
        </p:spPr>
      </p:pic>
    </p:spTree>
    <p:extLst>
      <p:ext uri="{BB962C8B-B14F-4D97-AF65-F5344CB8AC3E}">
        <p14:creationId xmlns:p14="http://schemas.microsoft.com/office/powerpoint/2010/main" val="3534219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35955-8581-D083-416D-D0AC90EE8070}"/>
              </a:ext>
            </a:extLst>
          </p:cNvPr>
          <p:cNvSpPr>
            <a:spLocks noGrp="1"/>
          </p:cNvSpPr>
          <p:nvPr>
            <p:ph type="title"/>
          </p:nvPr>
        </p:nvSpPr>
        <p:spPr/>
        <p:txBody>
          <a:bodyPr/>
          <a:lstStyle/>
          <a:p>
            <a:r>
              <a:rPr lang="en-US">
                <a:latin typeface="Assistant"/>
                <a:cs typeface="Assistant"/>
              </a:rPr>
              <a:t>What do we see</a:t>
            </a:r>
          </a:p>
        </p:txBody>
      </p:sp>
      <p:sp>
        <p:nvSpPr>
          <p:cNvPr id="3" name="Content Placeholder 2">
            <a:extLst>
              <a:ext uri="{FF2B5EF4-FFF2-40B4-BE49-F238E27FC236}">
                <a16:creationId xmlns:a16="http://schemas.microsoft.com/office/drawing/2014/main" id="{D464293C-DADD-E806-8928-DBE0E811A025}"/>
              </a:ext>
            </a:extLst>
          </p:cNvPr>
          <p:cNvSpPr>
            <a:spLocks noGrp="1"/>
          </p:cNvSpPr>
          <p:nvPr>
            <p:ph idx="1"/>
          </p:nvPr>
        </p:nvSpPr>
        <p:spPr/>
        <p:txBody>
          <a:bodyPr vert="horz" lIns="91440" tIns="45720" rIns="91440" bIns="45720" rtlCol="0" anchor="t">
            <a:normAutofit/>
          </a:bodyPr>
          <a:lstStyle/>
          <a:p>
            <a:r>
              <a:rPr lang="en-US" sz="2400">
                <a:latin typeface="Assistant"/>
                <a:ea typeface="+mn-lt"/>
                <a:cs typeface="Assistant"/>
              </a:rPr>
              <a:t>The </a:t>
            </a:r>
            <a:r>
              <a:rPr lang="en-US" sz="2400" b="1">
                <a:latin typeface="Assistant"/>
                <a:ea typeface="+mn-lt"/>
                <a:cs typeface="Assistant"/>
              </a:rPr>
              <a:t>unoptimized</a:t>
            </a:r>
            <a:r>
              <a:rPr lang="en-US" sz="2400">
                <a:latin typeface="Assistant"/>
                <a:ea typeface="+mn-lt"/>
                <a:cs typeface="Assistant"/>
              </a:rPr>
              <a:t> version finished faster </a:t>
            </a:r>
            <a:r>
              <a:rPr lang="en-US" sz="2400" b="1">
                <a:latin typeface="Assistant"/>
                <a:ea typeface="+mn-lt"/>
                <a:cs typeface="Assistant"/>
              </a:rPr>
              <a:t>(lower wall time)</a:t>
            </a:r>
            <a:r>
              <a:rPr lang="en-US" sz="2400">
                <a:latin typeface="Assistant"/>
                <a:ea typeface="+mn-lt"/>
                <a:cs typeface="Assistant"/>
              </a:rPr>
              <a:t> because you exploded the system with 1000 threads. </a:t>
            </a:r>
            <a:endParaRPr lang="en-US" sz="2400">
              <a:latin typeface="Assistant"/>
              <a:cs typeface="Assistant"/>
            </a:endParaRPr>
          </a:p>
          <a:p>
            <a:r>
              <a:rPr lang="en-US" sz="2400" b="1">
                <a:solidFill>
                  <a:srgbClr val="7030A0"/>
                </a:solidFill>
                <a:latin typeface="Assistant"/>
                <a:ea typeface="+mn-lt"/>
                <a:cs typeface="Assistant"/>
              </a:rPr>
              <a:t>Is my example still useless?</a:t>
            </a:r>
            <a:endParaRPr lang="en-US" sz="2400" b="1">
              <a:latin typeface="Assistant"/>
              <a:cs typeface="Assistant"/>
            </a:endParaRPr>
          </a:p>
          <a:p>
            <a:endParaRPr lang="en-US" sz="2400">
              <a:latin typeface="Assistant"/>
              <a:ea typeface="+mn-lt"/>
              <a:cs typeface="Assistant"/>
            </a:endParaRPr>
          </a:p>
        </p:txBody>
      </p:sp>
    </p:spTree>
    <p:extLst>
      <p:ext uri="{BB962C8B-B14F-4D97-AF65-F5344CB8AC3E}">
        <p14:creationId xmlns:p14="http://schemas.microsoft.com/office/powerpoint/2010/main" val="368649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0D0ED-8279-52E9-1FB3-04C0DA23B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B427AF-F395-D382-D29F-35BFEA0A781E}"/>
              </a:ext>
            </a:extLst>
          </p:cNvPr>
          <p:cNvSpPr>
            <a:spLocks noGrp="1"/>
          </p:cNvSpPr>
          <p:nvPr>
            <p:ph type="title"/>
          </p:nvPr>
        </p:nvSpPr>
        <p:spPr/>
        <p:txBody>
          <a:bodyPr/>
          <a:lstStyle/>
          <a:p>
            <a:r>
              <a:rPr lang="en-US">
                <a:latin typeface="Assistant"/>
                <a:cs typeface="Assistant"/>
              </a:rPr>
              <a:t>What do we see</a:t>
            </a:r>
          </a:p>
        </p:txBody>
      </p:sp>
      <p:sp>
        <p:nvSpPr>
          <p:cNvPr id="3" name="Content Placeholder 2">
            <a:extLst>
              <a:ext uri="{FF2B5EF4-FFF2-40B4-BE49-F238E27FC236}">
                <a16:creationId xmlns:a16="http://schemas.microsoft.com/office/drawing/2014/main" id="{7655D276-374A-D022-4424-BE3025DEF6B5}"/>
              </a:ext>
            </a:extLst>
          </p:cNvPr>
          <p:cNvSpPr>
            <a:spLocks noGrp="1"/>
          </p:cNvSpPr>
          <p:nvPr>
            <p:ph idx="1"/>
          </p:nvPr>
        </p:nvSpPr>
        <p:spPr/>
        <p:txBody>
          <a:bodyPr vert="horz" lIns="91440" tIns="45720" rIns="91440" bIns="45720" rtlCol="0" anchor="t">
            <a:normAutofit/>
          </a:bodyPr>
          <a:lstStyle/>
          <a:p>
            <a:r>
              <a:rPr lang="en-US" sz="2400">
                <a:latin typeface="Assistant"/>
                <a:cs typeface="Assistant"/>
              </a:rPr>
              <a:t>The time difference is huge.</a:t>
            </a:r>
          </a:p>
          <a:p>
            <a:r>
              <a:rPr lang="en-US" sz="2400">
                <a:latin typeface="Assistant"/>
                <a:ea typeface="+mn-lt"/>
                <a:cs typeface="Assistant"/>
              </a:rPr>
              <a:t>Creating a new thread for every task causes </a:t>
            </a:r>
            <a:r>
              <a:rPr lang="en-US" sz="2400" b="1">
                <a:latin typeface="Assistant"/>
                <a:ea typeface="+mn-lt"/>
                <a:cs typeface="Assistant"/>
              </a:rPr>
              <a:t>many context switches.</a:t>
            </a:r>
            <a:r>
              <a:rPr lang="en-US" sz="2400">
                <a:latin typeface="Assistant"/>
                <a:ea typeface="+mn-lt"/>
                <a:cs typeface="Assistant"/>
              </a:rPr>
              <a:t> The CPU must keep saving/restoring thread states.</a:t>
            </a:r>
          </a:p>
          <a:p>
            <a:r>
              <a:rPr lang="en-US" sz="2400">
                <a:latin typeface="Assistant"/>
                <a:ea typeface="+mn-lt"/>
                <a:cs typeface="Assistant"/>
              </a:rPr>
              <a:t>Thread pool </a:t>
            </a:r>
            <a:r>
              <a:rPr lang="en-US" sz="2400" b="1">
                <a:latin typeface="Assistant"/>
                <a:ea typeface="+mn-lt"/>
                <a:cs typeface="Assistant"/>
              </a:rPr>
              <a:t>reduced context switches by ~3.5×</a:t>
            </a:r>
            <a:r>
              <a:rPr lang="en-US" sz="2400">
                <a:latin typeface="Assistant"/>
                <a:ea typeface="+mn-lt"/>
                <a:cs typeface="Assistant"/>
              </a:rPr>
              <a:t>.</a:t>
            </a:r>
          </a:p>
          <a:p>
            <a:r>
              <a:rPr lang="en-US" sz="2400">
                <a:latin typeface="Assistant"/>
                <a:ea typeface="+mn-lt"/>
                <a:cs typeface="Assistant"/>
              </a:rPr>
              <a:t>The output shows </a:t>
            </a:r>
            <a:r>
              <a:rPr lang="en-US" sz="2400" b="1">
                <a:latin typeface="Assistant"/>
                <a:ea typeface="+mn-lt"/>
                <a:cs typeface="Assistant"/>
              </a:rPr>
              <a:t>massive overhead</a:t>
            </a:r>
            <a:r>
              <a:rPr lang="en-US" sz="2400">
                <a:latin typeface="Assistant"/>
                <a:ea typeface="+mn-lt"/>
                <a:cs typeface="Assistant"/>
              </a:rPr>
              <a:t> was eliminated by using a thread pool.</a:t>
            </a:r>
          </a:p>
          <a:p>
            <a:r>
              <a:rPr lang="en-US" sz="2400">
                <a:latin typeface="Assistant"/>
                <a:ea typeface="+mn-lt"/>
                <a:cs typeface="Assistant"/>
              </a:rPr>
              <a:t>In the </a:t>
            </a:r>
            <a:r>
              <a:rPr lang="en-US" sz="2400" b="1">
                <a:latin typeface="Assistant"/>
                <a:ea typeface="+mn-lt"/>
                <a:cs typeface="Assistant"/>
              </a:rPr>
              <a:t>bad version</a:t>
            </a:r>
            <a:r>
              <a:rPr lang="en-US" sz="2400">
                <a:latin typeface="Assistant"/>
                <a:ea typeface="+mn-lt"/>
                <a:cs typeface="Assistant"/>
              </a:rPr>
              <a:t>, backend (memory, resources) stalls were high</a:t>
            </a:r>
          </a:p>
        </p:txBody>
      </p:sp>
    </p:spTree>
    <p:extLst>
      <p:ext uri="{BB962C8B-B14F-4D97-AF65-F5344CB8AC3E}">
        <p14:creationId xmlns:p14="http://schemas.microsoft.com/office/powerpoint/2010/main" val="1043594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E84F40-A014-AE59-908C-28DE4261F411}"/>
              </a:ext>
            </a:extLst>
          </p:cNvPr>
          <p:cNvSpPr>
            <a:spLocks noGrp="1"/>
          </p:cNvSpPr>
          <p:nvPr>
            <p:ph idx="1"/>
          </p:nvPr>
        </p:nvSpPr>
        <p:spPr>
          <a:xfrm>
            <a:off x="838200" y="565033"/>
            <a:ext cx="10515600" cy="5611930"/>
          </a:xfrm>
        </p:spPr>
        <p:txBody>
          <a:bodyPr vert="horz" lIns="91440" tIns="45720" rIns="91440" bIns="45720" rtlCol="0" anchor="t">
            <a:normAutofit/>
          </a:bodyPr>
          <a:lstStyle/>
          <a:p>
            <a:r>
              <a:rPr lang="en-US" sz="2400">
                <a:ea typeface="+mn-lt"/>
                <a:cs typeface="+mn-lt"/>
              </a:rPr>
              <a:t>The </a:t>
            </a:r>
            <a:r>
              <a:rPr lang="en-US" sz="2400" b="1">
                <a:ea typeface="+mn-lt"/>
                <a:cs typeface="+mn-lt"/>
              </a:rPr>
              <a:t>naive</a:t>
            </a:r>
            <a:r>
              <a:rPr lang="en-US" sz="2400">
                <a:ea typeface="+mn-lt"/>
                <a:cs typeface="+mn-lt"/>
              </a:rPr>
              <a:t> version finished faster </a:t>
            </a:r>
            <a:r>
              <a:rPr lang="en-US" sz="2400" b="1">
                <a:ea typeface="+mn-lt"/>
                <a:cs typeface="+mn-lt"/>
              </a:rPr>
              <a:t>(lower wall time)</a:t>
            </a:r>
            <a:r>
              <a:rPr lang="en-US" sz="2400">
                <a:ea typeface="+mn-lt"/>
                <a:cs typeface="+mn-lt"/>
              </a:rPr>
              <a:t> because you exploded the system with 1000 threads.</a:t>
            </a:r>
            <a:endParaRPr lang="en-US" sz="2400"/>
          </a:p>
          <a:p>
            <a:r>
              <a:rPr lang="en-US" sz="2400">
                <a:ea typeface="+mn-lt"/>
                <a:cs typeface="+mn-lt"/>
              </a:rPr>
              <a:t>The Linux kernel scheduled them aggressively.</a:t>
            </a:r>
            <a:endParaRPr lang="en-US" sz="2400"/>
          </a:p>
          <a:p>
            <a:r>
              <a:rPr lang="en-US" sz="2400">
                <a:ea typeface="+mn-lt"/>
                <a:cs typeface="+mn-lt"/>
              </a:rPr>
              <a:t>You wasted </a:t>
            </a:r>
            <a:r>
              <a:rPr lang="en-US" sz="2400" b="1">
                <a:ea typeface="+mn-lt"/>
                <a:cs typeface="+mn-lt"/>
              </a:rPr>
              <a:t>tons of CPU cycles</a:t>
            </a:r>
            <a:r>
              <a:rPr lang="en-US" sz="2400">
                <a:ea typeface="+mn-lt"/>
                <a:cs typeface="+mn-lt"/>
              </a:rPr>
              <a:t> (thread creation, scheduling, context switching).</a:t>
            </a:r>
            <a:endParaRPr lang="en-US" sz="2400"/>
          </a:p>
          <a:p>
            <a:r>
              <a:rPr lang="en-US" sz="2400">
                <a:ea typeface="+mn-lt"/>
                <a:cs typeface="+mn-lt"/>
              </a:rPr>
              <a:t>CPU was overloaded but finished "faster" by brute force.</a:t>
            </a:r>
            <a:endParaRPr lang="en-US" sz="2400"/>
          </a:p>
          <a:p>
            <a:endParaRPr lang="en-US" sz="2400"/>
          </a:p>
          <a:p>
            <a:endParaRPr lang="en-US" sz="2400"/>
          </a:p>
        </p:txBody>
      </p:sp>
    </p:spTree>
    <p:extLst>
      <p:ext uri="{BB962C8B-B14F-4D97-AF65-F5344CB8AC3E}">
        <p14:creationId xmlns:p14="http://schemas.microsoft.com/office/powerpoint/2010/main" val="1632974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36151-6135-3AD4-175D-F8876A7D2FD1}"/>
              </a:ext>
            </a:extLst>
          </p:cNvPr>
          <p:cNvSpPr>
            <a:spLocks noGrp="1"/>
          </p:cNvSpPr>
          <p:nvPr>
            <p:ph idx="1"/>
          </p:nvPr>
        </p:nvSpPr>
        <p:spPr>
          <a:xfrm>
            <a:off x="838200" y="442737"/>
            <a:ext cx="10515600" cy="5734226"/>
          </a:xfrm>
        </p:spPr>
        <p:txBody>
          <a:bodyPr vert="horz" lIns="91440" tIns="45720" rIns="91440" bIns="45720" rtlCol="0" anchor="t">
            <a:normAutofit/>
          </a:bodyPr>
          <a:lstStyle/>
          <a:p>
            <a:r>
              <a:rPr lang="en-US" sz="2400">
                <a:ea typeface="+mn-lt"/>
                <a:cs typeface="+mn-lt"/>
              </a:rPr>
              <a:t>The </a:t>
            </a:r>
            <a:r>
              <a:rPr lang="en-US" sz="2400" b="1">
                <a:ea typeface="+mn-lt"/>
                <a:cs typeface="+mn-lt"/>
              </a:rPr>
              <a:t>optimized</a:t>
            </a:r>
            <a:r>
              <a:rPr lang="en-US" sz="2400">
                <a:ea typeface="+mn-lt"/>
                <a:cs typeface="+mn-lt"/>
              </a:rPr>
              <a:t> (thread pool) version had </a:t>
            </a:r>
            <a:r>
              <a:rPr lang="en-US" sz="2400" b="1">
                <a:ea typeface="+mn-lt"/>
                <a:cs typeface="+mn-lt"/>
              </a:rPr>
              <a:t>longer wall time</a:t>
            </a:r>
            <a:r>
              <a:rPr lang="en-US" sz="2400">
                <a:ea typeface="+mn-lt"/>
                <a:cs typeface="+mn-lt"/>
              </a:rPr>
              <a:t>, because only 32 threads worked at the same time.</a:t>
            </a:r>
            <a:endParaRPr lang="en-US" sz="2400"/>
          </a:p>
          <a:p>
            <a:r>
              <a:rPr lang="en-US" sz="2400">
                <a:ea typeface="+mn-lt"/>
                <a:cs typeface="+mn-lt"/>
              </a:rPr>
              <a:t>Tasks were picked and executed </a:t>
            </a:r>
            <a:r>
              <a:rPr lang="en-US" sz="2400" b="1">
                <a:ea typeface="+mn-lt"/>
                <a:cs typeface="+mn-lt"/>
              </a:rPr>
              <a:t>calmly</a:t>
            </a:r>
            <a:r>
              <a:rPr lang="en-US" sz="2400">
                <a:ea typeface="+mn-lt"/>
                <a:cs typeface="+mn-lt"/>
              </a:rPr>
              <a:t>.</a:t>
            </a:r>
            <a:endParaRPr lang="en-US" sz="2400"/>
          </a:p>
          <a:p>
            <a:r>
              <a:rPr lang="en-US" sz="2400">
                <a:ea typeface="+mn-lt"/>
                <a:cs typeface="+mn-lt"/>
              </a:rPr>
              <a:t>CPU cycles were used </a:t>
            </a:r>
            <a:r>
              <a:rPr lang="en-US" sz="2400" b="1">
                <a:ea typeface="+mn-lt"/>
                <a:cs typeface="+mn-lt"/>
              </a:rPr>
              <a:t>efficiently</a:t>
            </a:r>
            <a:r>
              <a:rPr lang="en-US" sz="2400">
                <a:ea typeface="+mn-lt"/>
                <a:cs typeface="+mn-lt"/>
              </a:rPr>
              <a:t> for real work.</a:t>
            </a:r>
            <a:endParaRPr lang="en-US" sz="2400"/>
          </a:p>
          <a:p>
            <a:r>
              <a:rPr lang="en-US" sz="2400">
                <a:ea typeface="+mn-lt"/>
                <a:cs typeface="+mn-lt"/>
              </a:rPr>
              <a:t>No energy wasted on thread management.</a:t>
            </a:r>
            <a:endParaRPr lang="en-US" sz="2400"/>
          </a:p>
          <a:p>
            <a:endParaRPr lang="en-US" sz="2400"/>
          </a:p>
        </p:txBody>
      </p:sp>
    </p:spTree>
    <p:extLst>
      <p:ext uri="{BB962C8B-B14F-4D97-AF65-F5344CB8AC3E}">
        <p14:creationId xmlns:p14="http://schemas.microsoft.com/office/powerpoint/2010/main" val="1441830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9BFBB-16B8-7D1D-4E64-4FC83F065B78}"/>
              </a:ext>
            </a:extLst>
          </p:cNvPr>
          <p:cNvSpPr>
            <a:spLocks noGrp="1"/>
          </p:cNvSpPr>
          <p:nvPr>
            <p:ph type="title"/>
          </p:nvPr>
        </p:nvSpPr>
        <p:spPr/>
        <p:txBody>
          <a:bodyPr/>
          <a:lstStyle/>
          <a:p>
            <a:r>
              <a:rPr lang="en-US"/>
              <a:t>Flame Graph </a:t>
            </a:r>
          </a:p>
        </p:txBody>
      </p:sp>
      <p:sp>
        <p:nvSpPr>
          <p:cNvPr id="3" name="Content Placeholder 2">
            <a:extLst>
              <a:ext uri="{FF2B5EF4-FFF2-40B4-BE49-F238E27FC236}">
                <a16:creationId xmlns:a16="http://schemas.microsoft.com/office/drawing/2014/main" id="{49BC934B-80C6-6DED-AA38-25FA704E599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00474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74261-AE42-3205-7BC0-CCAB371CB06E}"/>
              </a:ext>
            </a:extLst>
          </p:cNvPr>
          <p:cNvSpPr>
            <a:spLocks noGrp="1"/>
          </p:cNvSpPr>
          <p:nvPr>
            <p:ph type="title"/>
          </p:nvPr>
        </p:nvSpPr>
        <p:spPr/>
        <p:txBody>
          <a:bodyPr/>
          <a:lstStyle/>
          <a:p>
            <a:r>
              <a:rPr lang="en-US"/>
              <a:t>Not optimized</a:t>
            </a:r>
          </a:p>
        </p:txBody>
      </p:sp>
      <p:pic>
        <p:nvPicPr>
          <p:cNvPr id="4" name="Content Placeholder 3">
            <a:extLst>
              <a:ext uri="{FF2B5EF4-FFF2-40B4-BE49-F238E27FC236}">
                <a16:creationId xmlns:a16="http://schemas.microsoft.com/office/drawing/2014/main" id="{71A6572C-99B0-AE2F-6F17-8D32E9D99380}"/>
              </a:ext>
            </a:extLst>
          </p:cNvPr>
          <p:cNvPicPr>
            <a:picLocks noGrp="1" noChangeAspect="1"/>
          </p:cNvPicPr>
          <p:nvPr>
            <p:ph idx="1"/>
          </p:nvPr>
        </p:nvPicPr>
        <p:blipFill>
          <a:blip r:embed="rId2"/>
          <a:srcRect l="12110" r="12359" b="-222"/>
          <a:stretch/>
        </p:blipFill>
        <p:spPr>
          <a:xfrm>
            <a:off x="2475700" y="1446652"/>
            <a:ext cx="7240599" cy="5316458"/>
          </a:xfrm>
        </p:spPr>
      </p:pic>
    </p:spTree>
    <p:extLst>
      <p:ext uri="{BB962C8B-B14F-4D97-AF65-F5344CB8AC3E}">
        <p14:creationId xmlns:p14="http://schemas.microsoft.com/office/powerpoint/2010/main" val="3599782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BB7BD-99D9-DD67-02CD-EC5E66C3F3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299CE-C5AD-2786-F848-36955BBEAD0C}"/>
              </a:ext>
            </a:extLst>
          </p:cNvPr>
          <p:cNvSpPr>
            <a:spLocks noGrp="1"/>
          </p:cNvSpPr>
          <p:nvPr>
            <p:ph type="title"/>
          </p:nvPr>
        </p:nvSpPr>
        <p:spPr/>
        <p:txBody>
          <a:bodyPr/>
          <a:lstStyle/>
          <a:p>
            <a:r>
              <a:rPr lang="en-US"/>
              <a:t>Optimized</a:t>
            </a:r>
          </a:p>
        </p:txBody>
      </p:sp>
      <p:pic>
        <p:nvPicPr>
          <p:cNvPr id="13" name="Content Placeholder 12">
            <a:extLst>
              <a:ext uri="{FF2B5EF4-FFF2-40B4-BE49-F238E27FC236}">
                <a16:creationId xmlns:a16="http://schemas.microsoft.com/office/drawing/2014/main" id="{C8CD54D4-B0ED-D960-CE01-89E1BCBF4CF1}"/>
              </a:ext>
            </a:extLst>
          </p:cNvPr>
          <p:cNvPicPr>
            <a:picLocks noGrp="1" noChangeAspect="1"/>
          </p:cNvPicPr>
          <p:nvPr>
            <p:ph idx="1"/>
          </p:nvPr>
        </p:nvPicPr>
        <p:blipFill>
          <a:blip r:embed="rId2"/>
          <a:srcRect l="10611" t="29490" r="10237" b="24612"/>
          <a:stretch/>
        </p:blipFill>
        <p:spPr>
          <a:xfrm>
            <a:off x="2276372" y="2172865"/>
            <a:ext cx="9161271" cy="3000322"/>
          </a:xfrm>
        </p:spPr>
      </p:pic>
    </p:spTree>
    <p:extLst>
      <p:ext uri="{BB962C8B-B14F-4D97-AF65-F5344CB8AC3E}">
        <p14:creationId xmlns:p14="http://schemas.microsoft.com/office/powerpoint/2010/main" val="1685174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ssistant">
      <a:majorFont>
        <a:latin typeface="Assistant"/>
        <a:ea typeface=""/>
        <a:cs typeface="Assistant"/>
      </a:majorFont>
      <a:minorFont>
        <a:latin typeface="Assistant"/>
        <a:ea typeface=""/>
        <a:cs typeface="Assistant"/>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21</Slides>
  <Notes>4</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נ.נ. בתכנון משולב חומרה/תוכנה  אביב – 00460882 תרגול  2 – מתלכלכים עם Perf  </vt:lpstr>
      <vt:lpstr>2D array row major vs column major</vt:lpstr>
      <vt:lpstr>2D array row major vs column major</vt:lpstr>
      <vt:lpstr>What do we observe?</vt:lpstr>
      <vt:lpstr>PowerPoint Presentation</vt:lpstr>
      <vt:lpstr>But the miss rate is bad... Is it?</vt:lpstr>
      <vt:lpstr>But the miss rate is bad. Is it?</vt:lpstr>
      <vt:lpstr>2D array better analysis on caches</vt:lpstr>
      <vt:lpstr>Copy Memory</vt:lpstr>
      <vt:lpstr>Copy Memory</vt:lpstr>
      <vt:lpstr>What do we observe?</vt:lpstr>
      <vt:lpstr>PowerPoint Presentation</vt:lpstr>
      <vt:lpstr>New Thread per Task vs Thread Pool</vt:lpstr>
      <vt:lpstr>New Thread per Task vs Thread Pool</vt:lpstr>
      <vt:lpstr>What do we see</vt:lpstr>
      <vt:lpstr>What do we see</vt:lpstr>
      <vt:lpstr>PowerPoint Presentation</vt:lpstr>
      <vt:lpstr>PowerPoint Presentation</vt:lpstr>
      <vt:lpstr>Flame Graph </vt:lpstr>
      <vt:lpstr>Not optimized</vt:lpstr>
      <vt:lpstr>Optimized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2025-04-29T16:41:40Z</dcterms:created>
  <dcterms:modified xsi:type="dcterms:W3CDTF">2026-04-09T06:13:45Z</dcterms:modified>
</cp:coreProperties>
</file>