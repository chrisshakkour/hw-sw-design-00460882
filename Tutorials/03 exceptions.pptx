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3" r:id="rId3"/>
    <p:sldId id="272" r:id="rId4"/>
    <p:sldId id="274" r:id="rId5"/>
    <p:sldId id="275" r:id="rId6"/>
    <p:sldId id="276" r:id="rId7"/>
    <p:sldId id="277" r:id="rId8"/>
    <p:sldId id="278" r:id="rId9"/>
    <p:sldId id="279" r:id="rId10"/>
    <p:sldId id="360" r:id="rId11"/>
    <p:sldId id="362" r:id="rId12"/>
    <p:sldId id="259" r:id="rId13"/>
    <p:sldId id="258" r:id="rId14"/>
    <p:sldId id="313" r:id="rId15"/>
    <p:sldId id="264" r:id="rId16"/>
    <p:sldId id="314" r:id="rId17"/>
    <p:sldId id="347" r:id="rId18"/>
    <p:sldId id="269" r:id="rId19"/>
    <p:sldId id="270" r:id="rId20"/>
    <p:sldId id="348" r:id="rId21"/>
    <p:sldId id="349" r:id="rId22"/>
    <p:sldId id="351" r:id="rId23"/>
    <p:sldId id="358" r:id="rId24"/>
    <p:sldId id="353" r:id="rId25"/>
    <p:sldId id="354" r:id="rId26"/>
    <p:sldId id="355" r:id="rId27"/>
    <p:sldId id="295" r:id="rId28"/>
    <p:sldId id="296" r:id="rId29"/>
    <p:sldId id="303" r:id="rId30"/>
    <p:sldId id="319" r:id="rId31"/>
    <p:sldId id="320" r:id="rId32"/>
    <p:sldId id="359" r:id="rId33"/>
    <p:sldId id="324" r:id="rId34"/>
    <p:sldId id="335" r:id="rId35"/>
    <p:sldId id="325" r:id="rId36"/>
    <p:sldId id="336" r:id="rId37"/>
    <p:sldId id="333" r:id="rId38"/>
    <p:sldId id="345" r:id="rId39"/>
    <p:sldId id="346" r:id="rId40"/>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86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E0977-4769-4E31-9AF0-71C712CF51F5}" v="27" dt="2026-04-10T09:49:53.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p:scale>
          <a:sx n="100" d="100"/>
          <a:sy n="100" d="100"/>
        </p:scale>
        <p:origin x="944" y="772"/>
      </p:cViewPr>
      <p:guideLst>
        <p:guide orient="horz" pos="2160"/>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43983193-A7F4-4448-89B2-7E30D4A145A5}" type="datetimeFigureOut">
              <a:rPr lang="he-IL" smtClean="0"/>
              <a:t>ט"ז/סיון/תשפ"ו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3298EABE-5574-4BD4-BE66-E670AD8DCA8E}" type="slidenum">
              <a:rPr lang="he-IL" smtClean="0"/>
              <a:t>‹#›</a:t>
            </a:fld>
            <a:endParaRPr lang="he-IL"/>
          </a:p>
        </p:txBody>
      </p:sp>
    </p:spTree>
    <p:extLst>
      <p:ext uri="{BB962C8B-B14F-4D97-AF65-F5344CB8AC3E}">
        <p14:creationId xmlns:p14="http://schemas.microsoft.com/office/powerpoint/2010/main" val="169483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It allows more flexibility and efficiency, but may introduce nondeterminism or weaker guarantees compared to strict </a:t>
            </a:r>
            <a:r>
              <a:rPr lang="en-US" dirty="0" err="1"/>
              <a:t>behaviour</a:t>
            </a:r>
            <a:r>
              <a:rPr lang="en-US" dirty="0"/>
              <a:t>.</a:t>
            </a:r>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9</a:t>
            </a:fld>
            <a:endParaRPr lang="he-IL"/>
          </a:p>
        </p:txBody>
      </p:sp>
    </p:spTree>
    <p:extLst>
      <p:ext uri="{BB962C8B-B14F-4D97-AF65-F5344CB8AC3E}">
        <p14:creationId xmlns:p14="http://schemas.microsoft.com/office/powerpoint/2010/main" val="246285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5"/>
          </p:nvPr>
        </p:nvSpPr>
        <p:spPr/>
        <p:txBody>
          <a:bodyPr/>
          <a:lstStyle/>
          <a:p>
            <a:fld id="{D1F5608F-E986-4B0C-BA57-35C8E37E5BCF}" type="slidenum">
              <a:rPr lang="he-IL" smtClean="0"/>
              <a:t>15</a:t>
            </a:fld>
            <a:endParaRPr lang="he-IL"/>
          </a:p>
        </p:txBody>
      </p:sp>
    </p:spTree>
    <p:extLst>
      <p:ext uri="{BB962C8B-B14F-4D97-AF65-F5344CB8AC3E}">
        <p14:creationId xmlns:p14="http://schemas.microsoft.com/office/powerpoint/2010/main" val="3478196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Haven't been studied before.</a:t>
            </a:r>
            <a:endParaRPr lang="he-IL" b="1" dirty="0"/>
          </a:p>
          <a:p>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16</a:t>
            </a:fld>
            <a:endParaRPr lang="he-IL"/>
          </a:p>
        </p:txBody>
      </p:sp>
    </p:spTree>
    <p:extLst>
      <p:ext uri="{BB962C8B-B14F-4D97-AF65-F5344CB8AC3E}">
        <p14:creationId xmlns:p14="http://schemas.microsoft.com/office/powerpoint/2010/main" val="2521746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17</a:t>
            </a:fld>
            <a:endParaRPr lang="he-IL"/>
          </a:p>
        </p:txBody>
      </p:sp>
    </p:spTree>
    <p:extLst>
      <p:ext uri="{BB962C8B-B14F-4D97-AF65-F5344CB8AC3E}">
        <p14:creationId xmlns:p14="http://schemas.microsoft.com/office/powerpoint/2010/main" val="2729629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לדוגמה, שגיאה בלתי ניתנת לתיקון ובלתי מדויקת. עשויה להיווצר עקב גילוי מאוחר של שגיאת תיקון שגיאות זיכרון בלתי ניתנת לתיקון.</a:t>
            </a:r>
          </a:p>
        </p:txBody>
      </p:sp>
      <p:sp>
        <p:nvSpPr>
          <p:cNvPr id="4" name="Slide Number Placeholder 3"/>
          <p:cNvSpPr>
            <a:spLocks noGrp="1"/>
          </p:cNvSpPr>
          <p:nvPr>
            <p:ph type="sldNum" sz="quarter" idx="5"/>
          </p:nvPr>
        </p:nvSpPr>
        <p:spPr/>
        <p:txBody>
          <a:bodyPr/>
          <a:lstStyle/>
          <a:p>
            <a:fld id="{D1F5608F-E986-4B0C-BA57-35C8E37E5BCF}" type="slidenum">
              <a:rPr lang="he-IL" smtClean="0"/>
              <a:t>18</a:t>
            </a:fld>
            <a:endParaRPr lang="he-IL"/>
          </a:p>
        </p:txBody>
      </p:sp>
    </p:spTree>
    <p:extLst>
      <p:ext uri="{BB962C8B-B14F-4D97-AF65-F5344CB8AC3E}">
        <p14:creationId xmlns:p14="http://schemas.microsoft.com/office/powerpoint/2010/main" val="3642696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20</a:t>
            </a:fld>
            <a:endParaRPr lang="he-IL"/>
          </a:p>
        </p:txBody>
      </p:sp>
    </p:spTree>
    <p:extLst>
      <p:ext uri="{BB962C8B-B14F-4D97-AF65-F5344CB8AC3E}">
        <p14:creationId xmlns:p14="http://schemas.microsoft.com/office/powerpoint/2010/main" val="2264366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doesn’t.</a:t>
            </a:r>
            <a:br>
              <a:rPr lang="en-US" dirty="0"/>
            </a:br>
            <a:r>
              <a:rPr lang="en-US" dirty="0"/>
              <a:t>Forwarding and reordering can still happen unless explicit barriers are inserted.</a:t>
            </a:r>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27</a:t>
            </a:fld>
            <a:endParaRPr lang="he-IL"/>
          </a:p>
        </p:txBody>
      </p:sp>
    </p:spTree>
    <p:extLst>
      <p:ext uri="{BB962C8B-B14F-4D97-AF65-F5344CB8AC3E}">
        <p14:creationId xmlns:p14="http://schemas.microsoft.com/office/powerpoint/2010/main" val="746383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1F5608F-E986-4B0C-BA57-35C8E37E5BCF}" type="slidenum">
              <a:rPr lang="he-IL" smtClean="0"/>
              <a:t>39</a:t>
            </a:fld>
            <a:endParaRPr lang="he-IL"/>
          </a:p>
        </p:txBody>
      </p:sp>
    </p:spTree>
    <p:extLst>
      <p:ext uri="{BB962C8B-B14F-4D97-AF65-F5344CB8AC3E}">
        <p14:creationId xmlns:p14="http://schemas.microsoft.com/office/powerpoint/2010/main" val="3013874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7C09C-322C-1056-BE88-302C58EE5D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F4EEA82B-BD8B-0F3A-C89F-D41042C90B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9D5B3E47-41E3-191A-BB23-7F78A54349B4}"/>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9E971EAD-09B0-BEC3-0F8A-07209120755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E7109D3-C574-02DB-7371-CB064BDA3018}"/>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284678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5859-16B2-8A1D-0EEB-A68DB08E7EC9}"/>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7FAAC54-57BC-399F-799F-71C2E305B1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72B5415-81B5-4A5C-C02F-4D71B3E8F754}"/>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0EDE9350-4D5E-AB67-B960-B13CFC07741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684A54E-FAAC-FDF3-7D5D-1614E7BB0625}"/>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3121158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EA598-D403-9169-59B5-7F51842769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4B1997AE-3387-0409-3DA0-2BD9B2171C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3402BA-65C5-7DCB-012A-1BE1FC2F27E5}"/>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D85A73AB-4213-4842-24DB-11D5A077AF0B}"/>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4FFC8AC-4183-1841-59CD-740854EA218C}"/>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2100639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3771F-1734-C660-7C1F-BE6CD59DDE3D}"/>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8C34CF82-4AB7-8E54-27A0-824A0AE287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634F6D70-D3F0-A88E-3BAF-D8C84D708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07EBC25A-7626-9E57-C083-90E31A684F79}"/>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6" name="Footer Placeholder 5">
            <a:extLst>
              <a:ext uri="{FF2B5EF4-FFF2-40B4-BE49-F238E27FC236}">
                <a16:creationId xmlns:a16="http://schemas.microsoft.com/office/drawing/2014/main" id="{F6A76225-17EA-F38A-7488-2A188336F79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E15FA9B4-B92F-BF6D-FFFA-D16EAA460EFD}"/>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1256770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7BC66-8C84-C1CC-BE2C-66199D222916}"/>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85AE9E0A-12B2-ACE8-FB17-C497BF3D92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6A2FE5-A371-BE44-67E9-6C880AAF0A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56DBE373-5C59-03E2-E12E-846A8DC438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C16963-503D-FA16-34B6-8A644C6196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681870E2-AE46-9EAD-825D-12354D9FCBA3}"/>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8" name="Footer Placeholder 7">
            <a:extLst>
              <a:ext uri="{FF2B5EF4-FFF2-40B4-BE49-F238E27FC236}">
                <a16:creationId xmlns:a16="http://schemas.microsoft.com/office/drawing/2014/main" id="{22AF35DD-6DD5-1E78-53D8-1C6908CC0557}"/>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61C278DA-AC4D-B3D8-0F9F-13C8454C022D}"/>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3035805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57B9A-F9CA-3E35-1BA0-2F081267C716}"/>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0902C286-1F2C-F3C6-53F1-35B3B65C43A2}"/>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4" name="Footer Placeholder 3">
            <a:extLst>
              <a:ext uri="{FF2B5EF4-FFF2-40B4-BE49-F238E27FC236}">
                <a16:creationId xmlns:a16="http://schemas.microsoft.com/office/drawing/2014/main" id="{DF48A473-BF3E-EE54-6417-F7F54C5B090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6DF5947B-0E3D-9C1B-6FDB-E8F670142810}"/>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2041095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6CCA03-C12F-3E57-1CFB-F1AD9C030B5C}"/>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3" name="Footer Placeholder 2">
            <a:extLst>
              <a:ext uri="{FF2B5EF4-FFF2-40B4-BE49-F238E27FC236}">
                <a16:creationId xmlns:a16="http://schemas.microsoft.com/office/drawing/2014/main" id="{85CC894A-A0F6-62FB-A9DC-0878AB41EA4C}"/>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0D49EAA0-2E2D-7B73-42EB-C9C6F0612391}"/>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1673980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DB8D3-931C-F616-72E0-946164985A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E3C39336-21FD-C1E4-9E79-F02B85069F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A74C55CC-BFB7-2449-F985-EED4F9647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8FE7E4-53E8-862E-2376-C03B0F0A20F6}"/>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6" name="Footer Placeholder 5">
            <a:extLst>
              <a:ext uri="{FF2B5EF4-FFF2-40B4-BE49-F238E27FC236}">
                <a16:creationId xmlns:a16="http://schemas.microsoft.com/office/drawing/2014/main" id="{99B3285A-0241-2124-59F3-FBAFD97A1797}"/>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FD4FF71A-E262-EC68-C0C9-350B73AAAF4C}"/>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3535712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3A8B-4B36-8A6B-95EF-365CB5FA8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1FECB3A-AF1A-5600-F67C-7B085F5E47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F6F479EE-2725-2F5C-1B8D-B2948FED3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54BC68-98B2-71E7-FFE6-954C02BB7CB7}"/>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6" name="Footer Placeholder 5">
            <a:extLst>
              <a:ext uri="{FF2B5EF4-FFF2-40B4-BE49-F238E27FC236}">
                <a16:creationId xmlns:a16="http://schemas.microsoft.com/office/drawing/2014/main" id="{93CB5DD2-3B2B-0BE4-30C8-AAC8EAE71ABE}"/>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7D928227-3B63-D4D9-B5C2-453B113B90F1}"/>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2510259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834E5-8FDA-2BD7-08E8-55534F57DF67}"/>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4A4E9A9-40EF-4F26-4B18-34B53DFA55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157213F-50E7-3D5B-E256-595EB1316DCB}"/>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94C14069-DEDA-04BF-E71E-22B567241456}"/>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95C4C7E-621E-C7F2-D70F-E0EBC3C38C4A}"/>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3181079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F1BA07-DC4C-B581-E60C-1B3099DCC3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2278A1AC-6334-AD6E-2854-1729FB8783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138D41A2-1D79-4314-8F10-D88CFD0EF971}"/>
              </a:ext>
            </a:extLst>
          </p:cNvPr>
          <p:cNvSpPr>
            <a:spLocks noGrp="1"/>
          </p:cNvSpPr>
          <p:nvPr>
            <p:ph type="dt" sz="half" idx="10"/>
          </p:nvPr>
        </p:nvSpPr>
        <p:spPr/>
        <p:txBody>
          <a:body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D7898177-2CDC-C3A2-4831-8C5DB55E02C7}"/>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FFAFC2D2-F68A-BECE-03A9-4B9172B3B01C}"/>
              </a:ext>
            </a:extLst>
          </p:cNvPr>
          <p:cNvSpPr>
            <a:spLocks noGrp="1"/>
          </p:cNvSpPr>
          <p:nvPr>
            <p:ph type="sldNum" sz="quarter" idx="12"/>
          </p:nvPr>
        </p:nvSpPr>
        <p:spPr/>
        <p:txBody>
          <a:bodyPr/>
          <a:lstStyle/>
          <a:p>
            <a:fld id="{97516C70-9891-455D-815A-4F2363DB235C}" type="slidenum">
              <a:rPr lang="he-IL" smtClean="0"/>
              <a:t>‹#›</a:t>
            </a:fld>
            <a:endParaRPr lang="he-IL"/>
          </a:p>
        </p:txBody>
      </p:sp>
    </p:spTree>
    <p:extLst>
      <p:ext uri="{BB962C8B-B14F-4D97-AF65-F5344CB8AC3E}">
        <p14:creationId xmlns:p14="http://schemas.microsoft.com/office/powerpoint/2010/main" val="3798457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547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0DEF8B-85CC-0DF6-EC0B-7F95E8D80D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4E8D933B-E9F7-8335-2BD9-60FB6EE76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005D713-D90C-FEA3-E5E8-29E2F31860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5132F1-9410-4840-957D-8680C6B0E9DC}" type="datetimeFigureOut">
              <a:rPr lang="he-IL" smtClean="0"/>
              <a:t>ט"ז/סיון/תשפ"ו</a:t>
            </a:fld>
            <a:endParaRPr lang="he-IL"/>
          </a:p>
        </p:txBody>
      </p:sp>
      <p:sp>
        <p:nvSpPr>
          <p:cNvPr id="5" name="Footer Placeholder 4">
            <a:extLst>
              <a:ext uri="{FF2B5EF4-FFF2-40B4-BE49-F238E27FC236}">
                <a16:creationId xmlns:a16="http://schemas.microsoft.com/office/drawing/2014/main" id="{47AF70D6-E41C-B38F-C872-708469CA2D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8B125472-C03B-E368-B896-6283728DBD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516C70-9891-455D-815A-4F2363DB235C}" type="slidenum">
              <a:rPr lang="he-IL" smtClean="0"/>
              <a:t>‹#›</a:t>
            </a:fld>
            <a:endParaRPr lang="he-IL"/>
          </a:p>
        </p:txBody>
      </p:sp>
    </p:spTree>
    <p:extLst>
      <p:ext uri="{BB962C8B-B14F-4D97-AF65-F5344CB8AC3E}">
        <p14:creationId xmlns:p14="http://schemas.microsoft.com/office/powerpoint/2010/main" val="3901957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CAE6690-A431-6CBC-F9D3-C8F109529F80}"/>
              </a:ext>
            </a:extLst>
          </p:cNvPr>
          <p:cNvSpPr>
            <a:spLocks noGrp="1"/>
          </p:cNvSpPr>
          <p:nvPr>
            <p:ph type="subTitle" idx="1"/>
          </p:nvPr>
        </p:nvSpPr>
        <p:spPr>
          <a:xfrm>
            <a:off x="1524000" y="4607878"/>
            <a:ext cx="9144000" cy="1655762"/>
          </a:xfrm>
        </p:spPr>
        <p:txBody>
          <a:bodyPr>
            <a:normAutofit lnSpcReduction="10000"/>
          </a:bodyPr>
          <a:lstStyle/>
          <a:p>
            <a:endParaRPr lang="en-US" dirty="0"/>
          </a:p>
          <a:p>
            <a:endParaRPr lang="en-US" dirty="0"/>
          </a:p>
          <a:p>
            <a:endParaRPr lang="en-US" dirty="0"/>
          </a:p>
          <a:p>
            <a:r>
              <a:rPr lang="he-IL" dirty="0"/>
              <a:t>אוהד איתן</a:t>
            </a:r>
          </a:p>
        </p:txBody>
      </p:sp>
      <p:sp>
        <p:nvSpPr>
          <p:cNvPr id="5" name="Rectangle 2">
            <a:extLst>
              <a:ext uri="{FF2B5EF4-FFF2-40B4-BE49-F238E27FC236}">
                <a16:creationId xmlns:a16="http://schemas.microsoft.com/office/drawing/2014/main" id="{F98EDDEE-620E-C6CB-D58F-342FB62E7ACB}"/>
              </a:ext>
            </a:extLst>
          </p:cNvPr>
          <p:cNvSpPr>
            <a:spLocks noGrp="1" noChangeArrowheads="1"/>
          </p:cNvSpPr>
          <p:nvPr>
            <p:ph type="ctrTitle"/>
          </p:nvPr>
        </p:nvSpPr>
        <p:spPr bwMode="auto">
          <a:xfrm>
            <a:off x="1369967" y="1831166"/>
            <a:ext cx="9307286" cy="2662267"/>
          </a:xfrm>
          <a:prstGeom prst="rect">
            <a:avLst/>
          </a:prstGeom>
          <a:no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rtl="1">
              <a:lnSpc>
                <a:spcPct val="100000"/>
              </a:lnSpc>
            </a:pP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נ.נ. בתכנון משולב חומרה/תוכנה</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אביב – 00460882</a:t>
            </a:r>
            <a:br>
              <a:rPr kumimoji="0" lang="en-US"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תרגול  </a:t>
            </a:r>
            <a:r>
              <a:rPr kumimoji="0" lang="en-US" altLang="he-IL" sz="4800" b="1" i="0" u="none" strike="noStrike" cap="none" normalizeH="0" baseline="0" dirty="0">
                <a:ln>
                  <a:noFill/>
                </a:ln>
                <a:solidFill>
                  <a:srgbClr val="7030A0"/>
                </a:solidFill>
                <a:effectLst/>
                <a:latin typeface="Assistant" pitchFamily="2" charset="-79"/>
                <a:cs typeface="Assistant" pitchFamily="2" charset="-79"/>
              </a:rPr>
              <a:t>3</a:t>
            </a: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a:t>
            </a:r>
            <a:br>
              <a:rPr kumimoji="0" lang="he-IL" altLang="he-IL" sz="1100" b="0" i="0" u="none" strike="noStrike" cap="none" normalizeH="0" baseline="0" dirty="0">
                <a:ln>
                  <a:noFill/>
                </a:ln>
                <a:solidFill>
                  <a:srgbClr val="7030A0"/>
                </a:solidFill>
                <a:effectLst/>
                <a:latin typeface="Assistant" pitchFamily="2" charset="-79"/>
                <a:cs typeface="Assistant" pitchFamily="2" charset="-79"/>
              </a:rPr>
            </a:br>
            <a:endParaRPr kumimoji="0" lang="he-IL" altLang="he-IL" sz="1100" b="0" i="0" u="none" strike="noStrike" cap="none" normalizeH="0" baseline="0" dirty="0">
              <a:ln>
                <a:noFill/>
              </a:ln>
              <a:solidFill>
                <a:srgbClr val="7030A0"/>
              </a:solidFill>
              <a:effectLst/>
              <a:latin typeface="Assistant" pitchFamily="2" charset="-79"/>
              <a:cs typeface="Assistant" pitchFamily="2" charset="-79"/>
            </a:endParaRPr>
          </a:p>
          <a:p>
            <a:pPr marL="0" marR="0" lvl="0" indent="0"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dirty="0">
              <a:ln>
                <a:noFill/>
              </a:ln>
              <a:solidFill>
                <a:srgbClr val="7030A0"/>
              </a:solidFill>
              <a:effectLst/>
              <a:latin typeface="Assistant" pitchFamily="2" charset="-79"/>
              <a:cs typeface="Assistant" pitchFamily="2" charset="-79"/>
            </a:endParaRPr>
          </a:p>
        </p:txBody>
      </p:sp>
    </p:spTree>
    <p:extLst>
      <p:ext uri="{BB962C8B-B14F-4D97-AF65-F5344CB8AC3E}">
        <p14:creationId xmlns:p14="http://schemas.microsoft.com/office/powerpoint/2010/main" val="3806134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01938-70B5-6A5D-E2BC-26D1BF5B12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2ADD5F4-B3FF-70FB-B06E-C1DB98BC2886}"/>
              </a:ext>
            </a:extLst>
          </p:cNvPr>
          <p:cNvSpPr>
            <a:spLocks noGrp="1"/>
          </p:cNvSpPr>
          <p:nvPr>
            <p:ph type="subTitle" idx="1"/>
          </p:nvPr>
        </p:nvSpPr>
        <p:spPr>
          <a:xfrm>
            <a:off x="1524000" y="4607878"/>
            <a:ext cx="9144000" cy="1655762"/>
          </a:xfrm>
        </p:spPr>
        <p:txBody>
          <a:bodyPr>
            <a:normAutofit lnSpcReduction="10000"/>
          </a:bodyPr>
          <a:lstStyle/>
          <a:p>
            <a:endParaRPr lang="en-US" dirty="0"/>
          </a:p>
          <a:p>
            <a:endParaRPr lang="en-US" dirty="0"/>
          </a:p>
          <a:p>
            <a:endParaRPr lang="en-US" dirty="0"/>
          </a:p>
          <a:p>
            <a:r>
              <a:rPr lang="he-IL" dirty="0"/>
              <a:t>אוהד איתן</a:t>
            </a:r>
          </a:p>
        </p:txBody>
      </p:sp>
      <p:sp>
        <p:nvSpPr>
          <p:cNvPr id="5" name="Rectangle 2">
            <a:extLst>
              <a:ext uri="{FF2B5EF4-FFF2-40B4-BE49-F238E27FC236}">
                <a16:creationId xmlns:a16="http://schemas.microsoft.com/office/drawing/2014/main" id="{7F8D6487-FA6B-DB00-7F83-C00291427BE6}"/>
              </a:ext>
            </a:extLst>
          </p:cNvPr>
          <p:cNvSpPr>
            <a:spLocks noGrp="1" noChangeArrowheads="1"/>
          </p:cNvSpPr>
          <p:nvPr>
            <p:ph type="ctrTitle"/>
          </p:nvPr>
        </p:nvSpPr>
        <p:spPr bwMode="auto">
          <a:xfrm>
            <a:off x="1369967" y="1007864"/>
            <a:ext cx="9307286" cy="4308872"/>
          </a:xfrm>
          <a:prstGeom prst="rect">
            <a:avLst/>
          </a:prstGeom>
          <a:no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rtl="1">
              <a:lnSpc>
                <a:spcPct val="100000"/>
              </a:lnSpc>
            </a:pP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נ.נ. בתכנון משולב חומרה/תוכנה</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אביב – 00460882</a:t>
            </a:r>
            <a:br>
              <a:rPr kumimoji="0" lang="en-US" altLang="he-IL" sz="4800" b="1" i="0" u="none" strike="noStrike" cap="none" normalizeH="0" baseline="0" dirty="0">
                <a:ln>
                  <a:noFill/>
                </a:ln>
                <a:solidFill>
                  <a:srgbClr val="7030A0"/>
                </a:solidFill>
                <a:effectLst/>
                <a:latin typeface="Assistant" pitchFamily="2" charset="-79"/>
                <a:cs typeface="Assistant" pitchFamily="2" charset="-79"/>
              </a:rPr>
            </a:b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תרגול  </a:t>
            </a:r>
            <a:r>
              <a:rPr kumimoji="0" lang="en-US" altLang="he-IL" sz="4800" b="1" i="0" u="none" strike="noStrike" cap="none" normalizeH="0" baseline="0" dirty="0">
                <a:ln>
                  <a:noFill/>
                </a:ln>
                <a:solidFill>
                  <a:srgbClr val="7030A0"/>
                </a:solidFill>
                <a:effectLst/>
                <a:latin typeface="Assistant" pitchFamily="2" charset="-79"/>
                <a:cs typeface="Assistant" pitchFamily="2" charset="-79"/>
              </a:rPr>
              <a:t>3</a:t>
            </a:r>
            <a:r>
              <a:rPr kumimoji="0" lang="he-IL" altLang="he-IL" sz="4800" b="1" i="0" u="none" strike="noStrike" cap="none" normalizeH="0" baseline="0" dirty="0">
                <a:ln>
                  <a:noFill/>
                </a:ln>
                <a:solidFill>
                  <a:srgbClr val="7030A0"/>
                </a:solidFill>
                <a:effectLst/>
                <a:latin typeface="Assistant" pitchFamily="2" charset="-79"/>
                <a:cs typeface="Assistant" pitchFamily="2" charset="-79"/>
              </a:rPr>
              <a:t> – </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r>
              <a:rPr lang="en-US" sz="4800" b="1" dirty="0">
                <a:solidFill>
                  <a:srgbClr val="7030A0"/>
                </a:solidFill>
                <a:latin typeface="Assistant" pitchFamily="2" charset="-79"/>
                <a:cs typeface="Assistant" pitchFamily="2" charset="-79"/>
              </a:rPr>
              <a:t>When hardware and software engineers refuse to collaborate…</a:t>
            </a:r>
            <a:br>
              <a:rPr kumimoji="0" lang="he-IL" altLang="he-IL" sz="4800" b="1" i="0" u="none" strike="noStrike" cap="none" normalizeH="0" baseline="0" dirty="0">
                <a:ln>
                  <a:noFill/>
                </a:ln>
                <a:solidFill>
                  <a:srgbClr val="7030A0"/>
                </a:solidFill>
                <a:effectLst/>
                <a:latin typeface="Assistant" pitchFamily="2" charset="-79"/>
                <a:cs typeface="Assistant" pitchFamily="2" charset="-79"/>
              </a:rPr>
            </a:br>
            <a:br>
              <a:rPr kumimoji="0" lang="he-IL" altLang="he-IL" sz="1100" b="0" i="0" u="none" strike="noStrike" cap="none" normalizeH="0" baseline="0" dirty="0">
                <a:ln>
                  <a:noFill/>
                </a:ln>
                <a:solidFill>
                  <a:srgbClr val="7030A0"/>
                </a:solidFill>
                <a:effectLst/>
                <a:latin typeface="Assistant" pitchFamily="2" charset="-79"/>
                <a:cs typeface="Assistant" pitchFamily="2" charset="-79"/>
              </a:rPr>
            </a:br>
            <a:endParaRPr kumimoji="0" lang="he-IL" altLang="he-IL" sz="1100" b="0" i="0" u="none" strike="noStrike" cap="none" normalizeH="0" baseline="0" dirty="0">
              <a:ln>
                <a:noFill/>
              </a:ln>
              <a:solidFill>
                <a:srgbClr val="7030A0"/>
              </a:solidFill>
              <a:effectLst/>
              <a:latin typeface="Assistant" pitchFamily="2" charset="-79"/>
              <a:cs typeface="Assistant" pitchFamily="2" charset="-79"/>
            </a:endParaRPr>
          </a:p>
          <a:p>
            <a:pPr marL="0" marR="0" lvl="0" indent="0"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dirty="0">
              <a:ln>
                <a:noFill/>
              </a:ln>
              <a:solidFill>
                <a:srgbClr val="7030A0"/>
              </a:solidFill>
              <a:effectLst/>
              <a:latin typeface="Assistant" pitchFamily="2" charset="-79"/>
              <a:cs typeface="Assistant" pitchFamily="2" charset="-79"/>
            </a:endParaRPr>
          </a:p>
        </p:txBody>
      </p:sp>
    </p:spTree>
    <p:extLst>
      <p:ext uri="{BB962C8B-B14F-4D97-AF65-F5344CB8AC3E}">
        <p14:creationId xmlns:p14="http://schemas.microsoft.com/office/powerpoint/2010/main" val="2607843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5839-60EE-7F28-DEC3-65C29E96BE60}"/>
              </a:ext>
            </a:extLst>
          </p:cNvPr>
          <p:cNvSpPr>
            <a:spLocks noGrp="1"/>
          </p:cNvSpPr>
          <p:nvPr>
            <p:ph type="title"/>
          </p:nvPr>
        </p:nvSpPr>
        <p:spPr/>
        <p:txBody>
          <a:bodyPr/>
          <a:lstStyle/>
          <a:p>
            <a:r>
              <a:rPr lang="en-US" dirty="0"/>
              <a:t>Precise exceptions in relaxed architectures</a:t>
            </a:r>
            <a:endParaRPr lang="he-IL" dirty="0"/>
          </a:p>
        </p:txBody>
      </p:sp>
      <p:pic>
        <p:nvPicPr>
          <p:cNvPr id="5" name="Content Placeholder 4">
            <a:extLst>
              <a:ext uri="{FF2B5EF4-FFF2-40B4-BE49-F238E27FC236}">
                <a16:creationId xmlns:a16="http://schemas.microsoft.com/office/drawing/2014/main" id="{ED815140-7D9E-FDA5-FAD9-CDB1B23256D1}"/>
              </a:ext>
            </a:extLst>
          </p:cNvPr>
          <p:cNvPicPr>
            <a:picLocks noGrp="1" noChangeAspect="1"/>
          </p:cNvPicPr>
          <p:nvPr>
            <p:ph idx="1"/>
          </p:nvPr>
        </p:nvPicPr>
        <p:blipFill>
          <a:blip r:embed="rId2"/>
          <a:stretch>
            <a:fillRect/>
          </a:stretch>
        </p:blipFill>
        <p:spPr>
          <a:xfrm>
            <a:off x="1525313" y="1579814"/>
            <a:ext cx="9333187" cy="3544513"/>
          </a:xfrm>
          <a:prstGeom prst="rect">
            <a:avLst/>
          </a:prstGeom>
        </p:spPr>
      </p:pic>
      <p:pic>
        <p:nvPicPr>
          <p:cNvPr id="6" name="Picture 5">
            <a:extLst>
              <a:ext uri="{FF2B5EF4-FFF2-40B4-BE49-F238E27FC236}">
                <a16:creationId xmlns:a16="http://schemas.microsoft.com/office/drawing/2014/main" id="{E9EDFC75-7652-1D11-2D0A-57EBD9C8ED30}"/>
              </a:ext>
            </a:extLst>
          </p:cNvPr>
          <p:cNvPicPr>
            <a:picLocks noChangeAspect="1"/>
          </p:cNvPicPr>
          <p:nvPr/>
        </p:nvPicPr>
        <p:blipFill>
          <a:blip r:embed="rId3"/>
          <a:srcRect l="15488" t="39216" r="20790" b="26170"/>
          <a:stretch>
            <a:fillRect/>
          </a:stretch>
        </p:blipFill>
        <p:spPr>
          <a:xfrm>
            <a:off x="4282712" y="5087490"/>
            <a:ext cx="3626576" cy="1313310"/>
          </a:xfrm>
          <a:prstGeom prst="rect">
            <a:avLst/>
          </a:prstGeom>
        </p:spPr>
      </p:pic>
    </p:spTree>
    <p:extLst>
      <p:ext uri="{BB962C8B-B14F-4D97-AF65-F5344CB8AC3E}">
        <p14:creationId xmlns:p14="http://schemas.microsoft.com/office/powerpoint/2010/main" val="4068417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563B-40B2-E059-C52E-62E7C40D0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1BC82-189A-FC6B-A0A0-878B1DE85F3A}"/>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347C955D-8EE3-B425-37B3-B9908680148A}"/>
              </a:ext>
            </a:extLst>
          </p:cNvPr>
          <p:cNvSpPr>
            <a:spLocks noGrp="1"/>
          </p:cNvSpPr>
          <p:nvPr>
            <p:ph idx="1"/>
          </p:nvPr>
        </p:nvSpPr>
        <p:spPr/>
        <p:txBody>
          <a:bodyPr/>
          <a:lstStyle/>
          <a:p>
            <a:endParaRPr lang="he-IL" dirty="0"/>
          </a:p>
        </p:txBody>
      </p:sp>
      <p:pic>
        <p:nvPicPr>
          <p:cNvPr id="1026" name="Picture 2" descr="undefined">
            <a:extLst>
              <a:ext uri="{FF2B5EF4-FFF2-40B4-BE49-F238E27FC236}">
                <a16:creationId xmlns:a16="http://schemas.microsoft.com/office/drawing/2014/main" id="{9964EE0B-56BC-908E-2265-BCF7C18F38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625"/>
          <a:stretch>
            <a:fillRect/>
          </a:stretch>
        </p:blipFill>
        <p:spPr bwMode="auto">
          <a:xfrm>
            <a:off x="0" y="0"/>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90175B5-FB79-E365-54FB-9FEC6F79BC7F}"/>
              </a:ext>
            </a:extLst>
          </p:cNvPr>
          <p:cNvSpPr txBox="1"/>
          <p:nvPr/>
        </p:nvSpPr>
        <p:spPr>
          <a:xfrm>
            <a:off x="11555852" y="6488668"/>
            <a:ext cx="1070042" cy="369332"/>
          </a:xfrm>
          <a:prstGeom prst="rect">
            <a:avLst/>
          </a:prstGeom>
          <a:noFill/>
        </p:spPr>
        <p:txBody>
          <a:bodyPr wrap="square" rtlCol="1">
            <a:spAutoFit/>
          </a:bodyPr>
          <a:lstStyle/>
          <a:p>
            <a:r>
              <a:rPr lang="en-US" dirty="0">
                <a:solidFill>
                  <a:schemeClr val="bg1"/>
                </a:solidFill>
              </a:rPr>
              <a:t>1963</a:t>
            </a:r>
            <a:endParaRPr lang="he-IL" dirty="0">
              <a:solidFill>
                <a:schemeClr val="bg1"/>
              </a:solidFill>
            </a:endParaRPr>
          </a:p>
        </p:txBody>
      </p:sp>
      <p:sp>
        <p:nvSpPr>
          <p:cNvPr id="8" name="TextBox 7">
            <a:extLst>
              <a:ext uri="{FF2B5EF4-FFF2-40B4-BE49-F238E27FC236}">
                <a16:creationId xmlns:a16="http://schemas.microsoft.com/office/drawing/2014/main" id="{7F6AE113-E64B-3D6A-400A-0D071F88204C}"/>
              </a:ext>
            </a:extLst>
          </p:cNvPr>
          <p:cNvSpPr txBox="1"/>
          <p:nvPr/>
        </p:nvSpPr>
        <p:spPr>
          <a:xfrm>
            <a:off x="5402702" y="3059668"/>
            <a:ext cx="1070042" cy="369332"/>
          </a:xfrm>
          <a:prstGeom prst="rect">
            <a:avLst/>
          </a:prstGeom>
          <a:noFill/>
        </p:spPr>
        <p:txBody>
          <a:bodyPr wrap="square" rtlCol="1">
            <a:spAutoFit/>
          </a:bodyPr>
          <a:lstStyle/>
          <a:p>
            <a:r>
              <a:rPr lang="en-US" dirty="0">
                <a:solidFill>
                  <a:schemeClr val="bg1"/>
                </a:solidFill>
              </a:rPr>
              <a:t>1964</a:t>
            </a:r>
            <a:endParaRPr lang="he-IL" dirty="0">
              <a:solidFill>
                <a:schemeClr val="bg1"/>
              </a:solidFill>
            </a:endParaRPr>
          </a:p>
        </p:txBody>
      </p:sp>
    </p:spTree>
    <p:extLst>
      <p:ext uri="{BB962C8B-B14F-4D97-AF65-F5344CB8AC3E}">
        <p14:creationId xmlns:p14="http://schemas.microsoft.com/office/powerpoint/2010/main" val="2361698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3CD6-796A-03FF-CBAA-136BF7B0789D}"/>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4AA5ACB4-F47B-D3B7-B41D-D981D408EC2B}"/>
              </a:ext>
            </a:extLst>
          </p:cNvPr>
          <p:cNvSpPr>
            <a:spLocks noGrp="1"/>
          </p:cNvSpPr>
          <p:nvPr>
            <p:ph idx="1"/>
          </p:nvPr>
        </p:nvSpPr>
        <p:spPr/>
        <p:txBody>
          <a:bodyPr/>
          <a:lstStyle/>
          <a:p>
            <a:endParaRPr lang="he-IL" dirty="0"/>
          </a:p>
        </p:txBody>
      </p:sp>
      <p:pic>
        <p:nvPicPr>
          <p:cNvPr id="1026" name="Picture 2" descr="undefined">
            <a:extLst>
              <a:ext uri="{FF2B5EF4-FFF2-40B4-BE49-F238E27FC236}">
                <a16:creationId xmlns:a16="http://schemas.microsoft.com/office/drawing/2014/main" id="{E9AE1985-30C1-2C07-CE93-8D73E4B114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625"/>
          <a:stretch>
            <a:fillRect/>
          </a:stretch>
        </p:blipFill>
        <p:spPr bwMode="auto">
          <a:xfrm>
            <a:off x="0" y="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pacewar! - Wikipedia">
            <a:extLst>
              <a:ext uri="{FF2B5EF4-FFF2-40B4-BE49-F238E27FC236}">
                <a16:creationId xmlns:a16="http://schemas.microsoft.com/office/drawing/2014/main" id="{423D6E77-2B42-3ACE-84B0-870FBE39E8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32" b="7376"/>
          <a:stretch>
            <a:fillRect/>
          </a:stretch>
        </p:blipFill>
        <p:spPr bwMode="auto">
          <a:xfrm>
            <a:off x="0" y="3429000"/>
            <a:ext cx="6096001" cy="346257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CA77A3C-2698-D52C-73D2-7D15BCB4CA6B}"/>
              </a:ext>
            </a:extLst>
          </p:cNvPr>
          <p:cNvSpPr txBox="1"/>
          <p:nvPr/>
        </p:nvSpPr>
        <p:spPr>
          <a:xfrm>
            <a:off x="5450327" y="6517243"/>
            <a:ext cx="1070042" cy="369332"/>
          </a:xfrm>
          <a:prstGeom prst="rect">
            <a:avLst/>
          </a:prstGeom>
          <a:noFill/>
        </p:spPr>
        <p:txBody>
          <a:bodyPr wrap="square" rtlCol="1">
            <a:spAutoFit/>
          </a:bodyPr>
          <a:lstStyle/>
          <a:p>
            <a:r>
              <a:rPr lang="en-US" dirty="0">
                <a:solidFill>
                  <a:schemeClr val="bg1"/>
                </a:solidFill>
              </a:rPr>
              <a:t>1962</a:t>
            </a:r>
            <a:endParaRPr lang="he-IL" dirty="0">
              <a:solidFill>
                <a:schemeClr val="bg1"/>
              </a:solidFill>
            </a:endParaRPr>
          </a:p>
        </p:txBody>
      </p:sp>
      <p:sp>
        <p:nvSpPr>
          <p:cNvPr id="8" name="TextBox 7">
            <a:extLst>
              <a:ext uri="{FF2B5EF4-FFF2-40B4-BE49-F238E27FC236}">
                <a16:creationId xmlns:a16="http://schemas.microsoft.com/office/drawing/2014/main" id="{AAC61266-2DB3-0A6D-2DFE-2321A06DA7A1}"/>
              </a:ext>
            </a:extLst>
          </p:cNvPr>
          <p:cNvSpPr txBox="1"/>
          <p:nvPr/>
        </p:nvSpPr>
        <p:spPr>
          <a:xfrm>
            <a:off x="5402702" y="3059668"/>
            <a:ext cx="1070042" cy="369332"/>
          </a:xfrm>
          <a:prstGeom prst="rect">
            <a:avLst/>
          </a:prstGeom>
          <a:noFill/>
        </p:spPr>
        <p:txBody>
          <a:bodyPr wrap="square" rtlCol="1">
            <a:spAutoFit/>
          </a:bodyPr>
          <a:lstStyle/>
          <a:p>
            <a:r>
              <a:rPr lang="en-US" dirty="0">
                <a:solidFill>
                  <a:schemeClr val="bg1"/>
                </a:solidFill>
              </a:rPr>
              <a:t>1964</a:t>
            </a:r>
            <a:endParaRPr lang="he-IL" dirty="0">
              <a:solidFill>
                <a:schemeClr val="bg1"/>
              </a:solidFill>
            </a:endParaRPr>
          </a:p>
        </p:txBody>
      </p:sp>
    </p:spTree>
    <p:extLst>
      <p:ext uri="{BB962C8B-B14F-4D97-AF65-F5344CB8AC3E}">
        <p14:creationId xmlns:p14="http://schemas.microsoft.com/office/powerpoint/2010/main" val="150005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4D4D0-9E44-1E69-2661-C8FDBF662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A8CE2-9D22-FF4E-7452-140E73BDB75B}"/>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8ACD8C5D-6BED-AAD5-CB09-F9740FF605AA}"/>
              </a:ext>
            </a:extLst>
          </p:cNvPr>
          <p:cNvSpPr>
            <a:spLocks noGrp="1"/>
          </p:cNvSpPr>
          <p:nvPr>
            <p:ph idx="1"/>
          </p:nvPr>
        </p:nvSpPr>
        <p:spPr/>
        <p:txBody>
          <a:bodyPr/>
          <a:lstStyle/>
          <a:p>
            <a:endParaRPr lang="he-IL" dirty="0"/>
          </a:p>
        </p:txBody>
      </p:sp>
      <p:pic>
        <p:nvPicPr>
          <p:cNvPr id="1026" name="Picture 2" descr="undefined">
            <a:extLst>
              <a:ext uri="{FF2B5EF4-FFF2-40B4-BE49-F238E27FC236}">
                <a16:creationId xmlns:a16="http://schemas.microsoft.com/office/drawing/2014/main" id="{01B8C404-AADF-D516-95B1-0CE8205222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625"/>
          <a:stretch>
            <a:fillRect/>
          </a:stretch>
        </p:blipFill>
        <p:spPr bwMode="auto">
          <a:xfrm>
            <a:off x="0" y="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pacewar! - Wikipedia">
            <a:extLst>
              <a:ext uri="{FF2B5EF4-FFF2-40B4-BE49-F238E27FC236}">
                <a16:creationId xmlns:a16="http://schemas.microsoft.com/office/drawing/2014/main" id="{CFE355C5-F491-74C5-CC88-23F561A190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32" b="7376"/>
          <a:stretch>
            <a:fillRect/>
          </a:stretch>
        </p:blipFill>
        <p:spPr bwMode="auto">
          <a:xfrm>
            <a:off x="0" y="3429000"/>
            <a:ext cx="6096001" cy="346257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D405117-CCBB-0E5F-7296-86C44AF64E84}"/>
              </a:ext>
            </a:extLst>
          </p:cNvPr>
          <p:cNvSpPr txBox="1"/>
          <p:nvPr/>
        </p:nvSpPr>
        <p:spPr>
          <a:xfrm>
            <a:off x="5450327" y="6517243"/>
            <a:ext cx="1070042" cy="369332"/>
          </a:xfrm>
          <a:prstGeom prst="rect">
            <a:avLst/>
          </a:prstGeom>
          <a:noFill/>
        </p:spPr>
        <p:txBody>
          <a:bodyPr wrap="square" rtlCol="1">
            <a:spAutoFit/>
          </a:bodyPr>
          <a:lstStyle/>
          <a:p>
            <a:r>
              <a:rPr lang="en-US" dirty="0">
                <a:solidFill>
                  <a:schemeClr val="bg1"/>
                </a:solidFill>
              </a:rPr>
              <a:t>1962</a:t>
            </a:r>
            <a:endParaRPr lang="he-IL" dirty="0">
              <a:solidFill>
                <a:schemeClr val="bg1"/>
              </a:solidFill>
            </a:endParaRPr>
          </a:p>
        </p:txBody>
      </p:sp>
      <p:sp>
        <p:nvSpPr>
          <p:cNvPr id="8" name="TextBox 7">
            <a:extLst>
              <a:ext uri="{FF2B5EF4-FFF2-40B4-BE49-F238E27FC236}">
                <a16:creationId xmlns:a16="http://schemas.microsoft.com/office/drawing/2014/main" id="{79D273A0-F12E-BEE5-27A3-19E9E4D0FBFC}"/>
              </a:ext>
            </a:extLst>
          </p:cNvPr>
          <p:cNvSpPr txBox="1"/>
          <p:nvPr/>
        </p:nvSpPr>
        <p:spPr>
          <a:xfrm>
            <a:off x="5402702" y="3059668"/>
            <a:ext cx="1070042" cy="369332"/>
          </a:xfrm>
          <a:prstGeom prst="rect">
            <a:avLst/>
          </a:prstGeom>
          <a:noFill/>
        </p:spPr>
        <p:txBody>
          <a:bodyPr wrap="square" rtlCol="1">
            <a:spAutoFit/>
          </a:bodyPr>
          <a:lstStyle/>
          <a:p>
            <a:r>
              <a:rPr lang="en-US" dirty="0">
                <a:solidFill>
                  <a:schemeClr val="bg1"/>
                </a:solidFill>
              </a:rPr>
              <a:t>1964</a:t>
            </a:r>
            <a:endParaRPr lang="he-IL" dirty="0">
              <a:solidFill>
                <a:schemeClr val="bg1"/>
              </a:solidFill>
            </a:endParaRPr>
          </a:p>
        </p:txBody>
      </p:sp>
      <p:pic>
        <p:nvPicPr>
          <p:cNvPr id="1040" name="Picture 16" descr="New Airplane Airbag Patent Will Keep Premium Class Passengers Safer –  FlyerTalk - The world's most popular frequent flyer community">
            <a:extLst>
              <a:ext uri="{FF2B5EF4-FFF2-40B4-BE49-F238E27FC236}">
                <a16:creationId xmlns:a16="http://schemas.microsoft.com/office/drawing/2014/main" id="{54CAE253-D460-2C03-2FF9-FD83F3DCD2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0"/>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98CC766-CFA8-E3D8-A7FE-04340ACACB64}"/>
              </a:ext>
            </a:extLst>
          </p:cNvPr>
          <p:cNvSpPr txBox="1"/>
          <p:nvPr/>
        </p:nvSpPr>
        <p:spPr>
          <a:xfrm>
            <a:off x="11584427" y="3078718"/>
            <a:ext cx="1070042" cy="369332"/>
          </a:xfrm>
          <a:prstGeom prst="rect">
            <a:avLst/>
          </a:prstGeom>
          <a:noFill/>
        </p:spPr>
        <p:txBody>
          <a:bodyPr wrap="square" rtlCol="1">
            <a:spAutoFit/>
          </a:bodyPr>
          <a:lstStyle/>
          <a:p>
            <a:r>
              <a:rPr lang="en-US" dirty="0"/>
              <a:t>1968</a:t>
            </a:r>
            <a:endParaRPr lang="he-IL" dirty="0"/>
          </a:p>
        </p:txBody>
      </p:sp>
    </p:spTree>
    <p:extLst>
      <p:ext uri="{BB962C8B-B14F-4D97-AF65-F5344CB8AC3E}">
        <p14:creationId xmlns:p14="http://schemas.microsoft.com/office/powerpoint/2010/main" val="1674291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54C6-44FE-CE8F-97F7-70AD4C6A2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B5DDE-B0A7-08D7-ADBF-27ED14A7CB39}"/>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0EBC50E4-D8E7-AC41-4C47-BA838BE876DE}"/>
              </a:ext>
            </a:extLst>
          </p:cNvPr>
          <p:cNvSpPr>
            <a:spLocks noGrp="1"/>
          </p:cNvSpPr>
          <p:nvPr>
            <p:ph idx="1"/>
          </p:nvPr>
        </p:nvSpPr>
        <p:spPr/>
        <p:txBody>
          <a:bodyPr/>
          <a:lstStyle/>
          <a:p>
            <a:endParaRPr lang="he-IL" dirty="0"/>
          </a:p>
        </p:txBody>
      </p:sp>
      <p:pic>
        <p:nvPicPr>
          <p:cNvPr id="1026" name="Picture 2" descr="undefined">
            <a:extLst>
              <a:ext uri="{FF2B5EF4-FFF2-40B4-BE49-F238E27FC236}">
                <a16:creationId xmlns:a16="http://schemas.microsoft.com/office/drawing/2014/main" id="{47BB8C2A-5678-80DE-EE66-EA7B8415E1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625"/>
          <a:stretch>
            <a:fillRect/>
          </a:stretch>
        </p:blipFill>
        <p:spPr bwMode="auto">
          <a:xfrm>
            <a:off x="0" y="0"/>
            <a:ext cx="60960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BB5E33E-28F6-E97D-A49B-25CCCAD5A9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411944"/>
            <a:ext cx="6096000" cy="344605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pacewar! - Wikipedia">
            <a:extLst>
              <a:ext uri="{FF2B5EF4-FFF2-40B4-BE49-F238E27FC236}">
                <a16:creationId xmlns:a16="http://schemas.microsoft.com/office/drawing/2014/main" id="{15BF8745-0198-A57B-C85C-8C6068FF1A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532" b="7376"/>
          <a:stretch>
            <a:fillRect/>
          </a:stretch>
        </p:blipFill>
        <p:spPr bwMode="auto">
          <a:xfrm>
            <a:off x="0" y="3429000"/>
            <a:ext cx="6096001" cy="34625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7226FE7-5C8B-2B85-FE5F-9BDD91ECA003}"/>
              </a:ext>
            </a:extLst>
          </p:cNvPr>
          <p:cNvSpPr txBox="1"/>
          <p:nvPr/>
        </p:nvSpPr>
        <p:spPr>
          <a:xfrm>
            <a:off x="11555852" y="6488668"/>
            <a:ext cx="1070042" cy="369332"/>
          </a:xfrm>
          <a:prstGeom prst="rect">
            <a:avLst/>
          </a:prstGeom>
          <a:noFill/>
        </p:spPr>
        <p:txBody>
          <a:bodyPr wrap="square" rtlCol="1">
            <a:spAutoFit/>
          </a:bodyPr>
          <a:lstStyle/>
          <a:p>
            <a:r>
              <a:rPr lang="en-US" dirty="0">
                <a:solidFill>
                  <a:schemeClr val="bg1"/>
                </a:solidFill>
              </a:rPr>
              <a:t>1963</a:t>
            </a:r>
            <a:endParaRPr lang="he-IL" dirty="0">
              <a:solidFill>
                <a:schemeClr val="bg1"/>
              </a:solidFill>
            </a:endParaRPr>
          </a:p>
        </p:txBody>
      </p:sp>
      <p:sp>
        <p:nvSpPr>
          <p:cNvPr id="7" name="TextBox 6">
            <a:extLst>
              <a:ext uri="{FF2B5EF4-FFF2-40B4-BE49-F238E27FC236}">
                <a16:creationId xmlns:a16="http://schemas.microsoft.com/office/drawing/2014/main" id="{8E6DBEE4-0E5B-2D14-15E6-0FEE32F72C91}"/>
              </a:ext>
            </a:extLst>
          </p:cNvPr>
          <p:cNvSpPr txBox="1"/>
          <p:nvPr/>
        </p:nvSpPr>
        <p:spPr>
          <a:xfrm>
            <a:off x="5450327" y="6517243"/>
            <a:ext cx="1070042" cy="369332"/>
          </a:xfrm>
          <a:prstGeom prst="rect">
            <a:avLst/>
          </a:prstGeom>
          <a:noFill/>
        </p:spPr>
        <p:txBody>
          <a:bodyPr wrap="square" rtlCol="1">
            <a:spAutoFit/>
          </a:bodyPr>
          <a:lstStyle/>
          <a:p>
            <a:r>
              <a:rPr lang="en-US" dirty="0">
                <a:solidFill>
                  <a:schemeClr val="bg1"/>
                </a:solidFill>
              </a:rPr>
              <a:t>1962</a:t>
            </a:r>
            <a:endParaRPr lang="he-IL" dirty="0">
              <a:solidFill>
                <a:schemeClr val="bg1"/>
              </a:solidFill>
            </a:endParaRPr>
          </a:p>
        </p:txBody>
      </p:sp>
      <p:sp>
        <p:nvSpPr>
          <p:cNvPr id="8" name="TextBox 7">
            <a:extLst>
              <a:ext uri="{FF2B5EF4-FFF2-40B4-BE49-F238E27FC236}">
                <a16:creationId xmlns:a16="http://schemas.microsoft.com/office/drawing/2014/main" id="{1AF0A2C8-E29F-4C61-D5AE-FB0BD85003E7}"/>
              </a:ext>
            </a:extLst>
          </p:cNvPr>
          <p:cNvSpPr txBox="1"/>
          <p:nvPr/>
        </p:nvSpPr>
        <p:spPr>
          <a:xfrm>
            <a:off x="5402702" y="3059668"/>
            <a:ext cx="1070042" cy="369332"/>
          </a:xfrm>
          <a:prstGeom prst="rect">
            <a:avLst/>
          </a:prstGeom>
          <a:noFill/>
        </p:spPr>
        <p:txBody>
          <a:bodyPr wrap="square" rtlCol="1">
            <a:spAutoFit/>
          </a:bodyPr>
          <a:lstStyle/>
          <a:p>
            <a:r>
              <a:rPr lang="en-US" dirty="0">
                <a:solidFill>
                  <a:schemeClr val="bg1"/>
                </a:solidFill>
              </a:rPr>
              <a:t>1964</a:t>
            </a:r>
            <a:endParaRPr lang="he-IL" dirty="0">
              <a:solidFill>
                <a:schemeClr val="bg1"/>
              </a:solidFill>
            </a:endParaRPr>
          </a:p>
        </p:txBody>
      </p:sp>
      <p:pic>
        <p:nvPicPr>
          <p:cNvPr id="1040" name="Picture 16" descr="New Airplane Airbag Patent Will Keep Premium Class Passengers Safer –  FlyerTalk - The world's most popular frequent flyer community">
            <a:extLst>
              <a:ext uri="{FF2B5EF4-FFF2-40B4-BE49-F238E27FC236}">
                <a16:creationId xmlns:a16="http://schemas.microsoft.com/office/drawing/2014/main" id="{FA2CE664-5AC0-AE82-089C-988303F77A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0"/>
            <a:ext cx="6096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2B1D1EC-9ABA-4D89-31F9-96C6CF79104E}"/>
              </a:ext>
            </a:extLst>
          </p:cNvPr>
          <p:cNvSpPr txBox="1"/>
          <p:nvPr/>
        </p:nvSpPr>
        <p:spPr>
          <a:xfrm>
            <a:off x="11584427" y="3078718"/>
            <a:ext cx="1070042" cy="369332"/>
          </a:xfrm>
          <a:prstGeom prst="rect">
            <a:avLst/>
          </a:prstGeom>
          <a:noFill/>
        </p:spPr>
        <p:txBody>
          <a:bodyPr wrap="square" rtlCol="1">
            <a:spAutoFit/>
          </a:bodyPr>
          <a:lstStyle/>
          <a:p>
            <a:r>
              <a:rPr lang="en-US" dirty="0"/>
              <a:t>1968</a:t>
            </a:r>
            <a:endParaRPr lang="he-IL" dirty="0"/>
          </a:p>
        </p:txBody>
      </p:sp>
    </p:spTree>
    <p:extLst>
      <p:ext uri="{BB962C8B-B14F-4D97-AF65-F5344CB8AC3E}">
        <p14:creationId xmlns:p14="http://schemas.microsoft.com/office/powerpoint/2010/main" val="162736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982A-798B-8E90-39D2-713D9582FEEF}"/>
              </a:ext>
            </a:extLst>
          </p:cNvPr>
          <p:cNvSpPr>
            <a:spLocks noGrp="1"/>
          </p:cNvSpPr>
          <p:nvPr>
            <p:ph type="title"/>
          </p:nvPr>
        </p:nvSpPr>
        <p:spPr/>
        <p:txBody>
          <a:bodyPr/>
          <a:lstStyle/>
          <a:p>
            <a:r>
              <a:rPr lang="en-US" dirty="0"/>
              <a:t>Defining Precise Exceptions</a:t>
            </a:r>
            <a:endParaRPr lang="he-IL" dirty="0"/>
          </a:p>
        </p:txBody>
      </p:sp>
      <p:sp>
        <p:nvSpPr>
          <p:cNvPr id="3" name="Content Placeholder 2">
            <a:extLst>
              <a:ext uri="{FF2B5EF4-FFF2-40B4-BE49-F238E27FC236}">
                <a16:creationId xmlns:a16="http://schemas.microsoft.com/office/drawing/2014/main" id="{0630FDDE-4145-1C77-747D-1425E6657DE2}"/>
              </a:ext>
            </a:extLst>
          </p:cNvPr>
          <p:cNvSpPr>
            <a:spLocks noGrp="1"/>
          </p:cNvSpPr>
          <p:nvPr>
            <p:ph idx="1"/>
          </p:nvPr>
        </p:nvSpPr>
        <p:spPr>
          <a:xfrm>
            <a:off x="838200" y="5699125"/>
            <a:ext cx="10515600" cy="981075"/>
          </a:xfrm>
        </p:spPr>
        <p:txBody>
          <a:bodyPr/>
          <a:lstStyle/>
          <a:p>
            <a:pPr marL="0" indent="0" algn="l">
              <a:buNone/>
            </a:pPr>
            <a:r>
              <a:rPr lang="en-US" dirty="0"/>
              <a:t>This definition shaped computer architecture for decades… but is it enough for today’s out-of-order, speculative processors?</a:t>
            </a:r>
            <a:endParaRPr lang="he-IL" dirty="0"/>
          </a:p>
        </p:txBody>
      </p:sp>
      <p:pic>
        <p:nvPicPr>
          <p:cNvPr id="4098" name="Picture 2" descr="What we can learn from the IBM System/360, the first modular,  general-purpose computer | by Beyang Liu | Plain Text — The Official  Sourcegraph Blog | Medium">
            <a:extLst>
              <a:ext uri="{FF2B5EF4-FFF2-40B4-BE49-F238E27FC236}">
                <a16:creationId xmlns:a16="http://schemas.microsoft.com/office/drawing/2014/main" id="{2761D567-C681-80B3-8ABF-AA7C1C6B5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9450" y="1505123"/>
            <a:ext cx="5530149" cy="3680063"/>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D75864CF-28E7-AB09-3234-FAE146EC3796}"/>
              </a:ext>
            </a:extLst>
          </p:cNvPr>
          <p:cNvSpPr txBox="1">
            <a:spLocks/>
          </p:cNvSpPr>
          <p:nvPr/>
        </p:nvSpPr>
        <p:spPr>
          <a:xfrm>
            <a:off x="838200" y="1520824"/>
            <a:ext cx="5676900" cy="4905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“An exception is imprecise if the processor state when an exception is raised does not look exactly as if the instructions were executed sequentially in strict program order”</a:t>
            </a:r>
          </a:p>
          <a:p>
            <a:pPr marL="0" indent="0">
              <a:buNone/>
            </a:pPr>
            <a:r>
              <a:rPr lang="en-US" dirty="0"/>
              <a:t>-IBM System/360-</a:t>
            </a:r>
            <a:endParaRPr lang="he-IL" dirty="0"/>
          </a:p>
          <a:p>
            <a:pPr>
              <a:buFontTx/>
              <a:buChar char="-"/>
            </a:pPr>
            <a:endParaRPr lang="en-US" dirty="0"/>
          </a:p>
          <a:p>
            <a:pPr>
              <a:buFontTx/>
              <a:buChar char="-"/>
            </a:pPr>
            <a:endParaRPr lang="he-IL" dirty="0"/>
          </a:p>
        </p:txBody>
      </p:sp>
    </p:spTree>
    <p:extLst>
      <p:ext uri="{BB962C8B-B14F-4D97-AF65-F5344CB8AC3E}">
        <p14:creationId xmlns:p14="http://schemas.microsoft.com/office/powerpoint/2010/main" val="3250987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E8740-9A0A-1626-8EB5-9FBA5EB63AE7}"/>
              </a:ext>
            </a:extLst>
          </p:cNvPr>
          <p:cNvSpPr>
            <a:spLocks noGrp="1"/>
          </p:cNvSpPr>
          <p:nvPr>
            <p:ph idx="1"/>
          </p:nvPr>
        </p:nvSpPr>
        <p:spPr>
          <a:xfrm>
            <a:off x="838200" y="381000"/>
            <a:ext cx="5372100" cy="5795963"/>
          </a:xfrm>
        </p:spPr>
        <p:txBody>
          <a:bodyPr>
            <a:normAutofit/>
          </a:bodyPr>
          <a:lstStyle/>
          <a:p>
            <a:pPr marL="0" indent="0">
              <a:buNone/>
            </a:pPr>
            <a:r>
              <a:rPr lang="en-US" u="sng" dirty="0"/>
              <a:t>Exceptions</a:t>
            </a:r>
            <a:r>
              <a:rPr lang="en-US" dirty="0"/>
              <a:t> special events, break normal flow, </a:t>
            </a:r>
            <a:r>
              <a:rPr lang="en-US" b="1" dirty="0"/>
              <a:t>an error or unexpected situation</a:t>
            </a: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u="sng" dirty="0"/>
          </a:p>
          <a:p>
            <a:pPr marL="0" indent="0">
              <a:buNone/>
            </a:pPr>
            <a:r>
              <a:rPr lang="en-US" u="sng" dirty="0"/>
              <a:t>Relaxed behavior</a:t>
            </a:r>
            <a:r>
              <a:rPr lang="en-US" dirty="0"/>
              <a:t>  weaker rules, looser guarantees, no memory consistency, synchronization</a:t>
            </a:r>
            <a:endParaRPr lang="he-IL" dirty="0"/>
          </a:p>
        </p:txBody>
      </p:sp>
      <p:pic>
        <p:nvPicPr>
          <p:cNvPr id="6146" name="Picture 2" descr="Critical Error Message Window, PC Popup Warning Stock Vector - Illustration  of website, error: 263255283">
            <a:extLst>
              <a:ext uri="{FF2B5EF4-FFF2-40B4-BE49-F238E27FC236}">
                <a16:creationId xmlns:a16="http://schemas.microsoft.com/office/drawing/2014/main" id="{DF72039B-2C6F-7967-77AC-6620B896F0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07" t="31482" r="14659" b="30184"/>
          <a:stretch>
            <a:fillRect/>
          </a:stretch>
        </p:blipFill>
        <p:spPr bwMode="auto">
          <a:xfrm>
            <a:off x="6488902" y="397978"/>
            <a:ext cx="4780110" cy="262462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Rubber Band Contest - Rubber Division ACS">
            <a:extLst>
              <a:ext uri="{FF2B5EF4-FFF2-40B4-BE49-F238E27FC236}">
                <a16:creationId xmlns:a16="http://schemas.microsoft.com/office/drawing/2014/main" id="{8AD61278-F30A-52F6-270D-3B635999F2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8913" y="3568700"/>
            <a:ext cx="4179887" cy="3130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804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0E2A-CF5F-C561-5E82-2AE05D4F6E3F}"/>
              </a:ext>
            </a:extLst>
          </p:cNvPr>
          <p:cNvSpPr>
            <a:spLocks noGrp="1"/>
          </p:cNvSpPr>
          <p:nvPr>
            <p:ph type="title"/>
          </p:nvPr>
        </p:nvSpPr>
        <p:spPr/>
        <p:txBody>
          <a:bodyPr/>
          <a:lstStyle/>
          <a:p>
            <a:r>
              <a:rPr lang="en-US" dirty="0"/>
              <a:t>Memory Consistency: Sequential vs. Weak. </a:t>
            </a:r>
            <a:endParaRPr lang="he-IL" dirty="0"/>
          </a:p>
        </p:txBody>
      </p:sp>
      <p:sp>
        <p:nvSpPr>
          <p:cNvPr id="3" name="Content Placeholder 2">
            <a:extLst>
              <a:ext uri="{FF2B5EF4-FFF2-40B4-BE49-F238E27FC236}">
                <a16:creationId xmlns:a16="http://schemas.microsoft.com/office/drawing/2014/main" id="{A5AD20B6-3279-BDB4-706C-0AE82CB4D708}"/>
              </a:ext>
            </a:extLst>
          </p:cNvPr>
          <p:cNvSpPr>
            <a:spLocks noGrp="1"/>
          </p:cNvSpPr>
          <p:nvPr>
            <p:ph idx="1"/>
          </p:nvPr>
        </p:nvSpPr>
        <p:spPr/>
        <p:txBody>
          <a:bodyPr/>
          <a:lstStyle/>
          <a:p>
            <a:pPr marL="0" indent="0">
              <a:buNone/>
            </a:pPr>
            <a:r>
              <a:rPr lang="en-US" dirty="0"/>
              <a:t>A memory consistency model defines the </a:t>
            </a:r>
            <a:r>
              <a:rPr lang="en-US" u="sng" dirty="0"/>
              <a:t>order in which memory operations</a:t>
            </a:r>
            <a:r>
              <a:rPr lang="en-US" dirty="0"/>
              <a:t> (reads and writes) from different processors </a:t>
            </a:r>
            <a:r>
              <a:rPr lang="en-US" u="sng" dirty="0"/>
              <a:t>appear to execute</a:t>
            </a:r>
            <a:r>
              <a:rPr lang="en-US" dirty="0"/>
              <a:t>.</a:t>
            </a:r>
          </a:p>
          <a:p>
            <a:pPr marL="0" indent="0">
              <a:buNone/>
            </a:pPr>
            <a:endParaRPr lang="en-US" dirty="0"/>
          </a:p>
          <a:p>
            <a:pPr marL="0" indent="0">
              <a:buNone/>
            </a:pPr>
            <a:endParaRPr lang="he-IL" dirty="0"/>
          </a:p>
        </p:txBody>
      </p:sp>
      <p:sp>
        <p:nvSpPr>
          <p:cNvPr id="14" name="Shape 2">
            <a:extLst>
              <a:ext uri="{FF2B5EF4-FFF2-40B4-BE49-F238E27FC236}">
                <a16:creationId xmlns:a16="http://schemas.microsoft.com/office/drawing/2014/main" id="{3A16726C-5A8B-24D7-5EF3-C77DCB01582C}"/>
              </a:ext>
            </a:extLst>
          </p:cNvPr>
          <p:cNvSpPr/>
          <p:nvPr/>
        </p:nvSpPr>
        <p:spPr>
          <a:xfrm>
            <a:off x="811286" y="3429000"/>
            <a:ext cx="4704296" cy="3103123"/>
          </a:xfrm>
          <a:prstGeom prst="rect">
            <a:avLst/>
          </a:prstGeom>
          <a:solidFill>
            <a:schemeClr val="bg2">
              <a:lumMod val="90000"/>
            </a:schemeClr>
          </a:solidFill>
          <a:ln/>
          <a:effectLst>
            <a:outerShdw blurRad="76200" dist="25400" dir="8100000" algn="bl" rotWithShape="0">
              <a:srgbClr val="000000">
                <a:alpha val="10000"/>
              </a:srgbClr>
            </a:outerShdw>
          </a:effectLst>
        </p:spPr>
        <p:txBody>
          <a:bodyPr/>
          <a:lstStyle/>
          <a:p>
            <a:endParaRPr lang="he-IL"/>
          </a:p>
        </p:txBody>
      </p:sp>
      <p:sp>
        <p:nvSpPr>
          <p:cNvPr id="15" name="Shape 3">
            <a:extLst>
              <a:ext uri="{FF2B5EF4-FFF2-40B4-BE49-F238E27FC236}">
                <a16:creationId xmlns:a16="http://schemas.microsoft.com/office/drawing/2014/main" id="{89D32826-799B-3C78-A11B-D1B486C901FC}"/>
              </a:ext>
            </a:extLst>
          </p:cNvPr>
          <p:cNvSpPr/>
          <p:nvPr/>
        </p:nvSpPr>
        <p:spPr>
          <a:xfrm>
            <a:off x="811286" y="3429000"/>
            <a:ext cx="89606" cy="3103123"/>
          </a:xfrm>
          <a:prstGeom prst="rect">
            <a:avLst/>
          </a:prstGeom>
          <a:solidFill>
            <a:srgbClr val="1E2761"/>
          </a:solidFill>
          <a:ln/>
        </p:spPr>
        <p:txBody>
          <a:bodyPr/>
          <a:lstStyle/>
          <a:p>
            <a:endParaRPr lang="he-IL"/>
          </a:p>
        </p:txBody>
      </p:sp>
      <p:sp>
        <p:nvSpPr>
          <p:cNvPr id="16" name="Text 4">
            <a:extLst>
              <a:ext uri="{FF2B5EF4-FFF2-40B4-BE49-F238E27FC236}">
                <a16:creationId xmlns:a16="http://schemas.microsoft.com/office/drawing/2014/main" id="{8771434C-CB2D-7DED-4018-052EE673EC84}"/>
              </a:ext>
            </a:extLst>
          </p:cNvPr>
          <p:cNvSpPr/>
          <p:nvPr/>
        </p:nvSpPr>
        <p:spPr>
          <a:xfrm>
            <a:off x="1085605" y="3611881"/>
            <a:ext cx="4144261" cy="596754"/>
          </a:xfrm>
          <a:prstGeom prst="rect">
            <a:avLst/>
          </a:prstGeom>
          <a:noFill/>
          <a:ln/>
        </p:spPr>
        <p:txBody>
          <a:bodyPr wrap="square" lIns="0" tIns="0" rIns="0" bIns="0" rtlCol="0" anchor="ctr"/>
          <a:lstStyle/>
          <a:p>
            <a:pPr marL="0" indent="0">
              <a:buNone/>
            </a:pPr>
            <a:r>
              <a:rPr lang="en-US" sz="2800" b="1" dirty="0">
                <a:solidFill>
                  <a:srgbClr val="1E2761"/>
                </a:solidFill>
                <a:latin typeface="+mj-lt"/>
                <a:ea typeface="Georgia" pitchFamily="34" charset="-122"/>
                <a:cs typeface="Georgia" pitchFamily="34" charset="-120"/>
              </a:rPr>
              <a:t>Sequential</a:t>
            </a:r>
            <a:r>
              <a:rPr lang="en-US" sz="2800" b="1" dirty="0">
                <a:solidFill>
                  <a:srgbClr val="1E2761"/>
                </a:solidFill>
                <a:latin typeface="Georgia" pitchFamily="34" charset="0"/>
                <a:ea typeface="Georgia" pitchFamily="34" charset="-122"/>
                <a:cs typeface="Georgia" pitchFamily="34" charset="-120"/>
              </a:rPr>
              <a:t> </a:t>
            </a:r>
            <a:r>
              <a:rPr lang="en-US" sz="2800" b="1" dirty="0">
                <a:solidFill>
                  <a:srgbClr val="1E2761"/>
                </a:solidFill>
                <a:latin typeface="+mj-lt"/>
                <a:ea typeface="Georgia" pitchFamily="34" charset="-122"/>
                <a:cs typeface="Georgia" pitchFamily="34" charset="-120"/>
              </a:rPr>
              <a:t>Consistency</a:t>
            </a:r>
            <a:endParaRPr lang="en-US" sz="2800" dirty="0">
              <a:latin typeface="+mj-lt"/>
            </a:endParaRPr>
          </a:p>
        </p:txBody>
      </p:sp>
      <p:sp>
        <p:nvSpPr>
          <p:cNvPr id="17" name="Text 5">
            <a:extLst>
              <a:ext uri="{FF2B5EF4-FFF2-40B4-BE49-F238E27FC236}">
                <a16:creationId xmlns:a16="http://schemas.microsoft.com/office/drawing/2014/main" id="{3A61A548-0948-5FF4-E365-5844C5F7DD63}"/>
              </a:ext>
            </a:extLst>
          </p:cNvPr>
          <p:cNvSpPr/>
          <p:nvPr/>
        </p:nvSpPr>
        <p:spPr>
          <a:xfrm>
            <a:off x="1085605" y="4160521"/>
            <a:ext cx="4144261" cy="1909614"/>
          </a:xfrm>
          <a:prstGeom prst="rect">
            <a:avLst/>
          </a:prstGeom>
          <a:noFill/>
          <a:ln/>
        </p:spPr>
        <p:txBody>
          <a:bodyPr wrap="square" rtlCol="0" anchor="ctr"/>
          <a:lstStyle/>
          <a:p>
            <a:pPr>
              <a:spcAft>
                <a:spcPts val="400"/>
              </a:spcAft>
              <a:buSzPct val="100000"/>
            </a:pPr>
            <a:r>
              <a:rPr lang="en-US" sz="2000" dirty="0">
                <a:latin typeface="+mj-lt"/>
                <a:ea typeface="Calibri" pitchFamily="34" charset="-122"/>
                <a:cs typeface="Calibri" pitchFamily="34" charset="-120"/>
              </a:rPr>
              <a:t>Strict ordering guarantee</a:t>
            </a:r>
            <a:endParaRPr lang="en-US" sz="2000" dirty="0">
              <a:latin typeface="+mj-lt"/>
            </a:endParaRPr>
          </a:p>
          <a:p>
            <a:pPr>
              <a:spcAft>
                <a:spcPts val="400"/>
              </a:spcAft>
              <a:buSzPct val="100000"/>
            </a:pPr>
            <a:r>
              <a:rPr lang="en-US" sz="2000" dirty="0">
                <a:latin typeface="+mj-lt"/>
                <a:ea typeface="Calibri" pitchFamily="34" charset="-122"/>
                <a:cs typeface="Calibri" pitchFamily="34" charset="-120"/>
              </a:rPr>
              <a:t>All processors see the same order</a:t>
            </a:r>
            <a:endParaRPr lang="en-US" sz="2000" dirty="0">
              <a:latin typeface="+mj-lt"/>
            </a:endParaRPr>
          </a:p>
          <a:p>
            <a:pPr>
              <a:spcAft>
                <a:spcPts val="400"/>
              </a:spcAft>
              <a:buSzPct val="100000"/>
            </a:pPr>
            <a:r>
              <a:rPr lang="en-US" sz="2000" dirty="0">
                <a:latin typeface="+mj-lt"/>
                <a:ea typeface="Calibri" pitchFamily="34" charset="-122"/>
                <a:cs typeface="Calibri" pitchFamily="34" charset="-120"/>
              </a:rPr>
              <a:t>Slower performance</a:t>
            </a:r>
            <a:endParaRPr lang="en-US" sz="2000" dirty="0">
              <a:latin typeface="+mj-lt"/>
            </a:endParaRPr>
          </a:p>
        </p:txBody>
      </p:sp>
      <p:sp>
        <p:nvSpPr>
          <p:cNvPr id="18" name="Shape 2">
            <a:extLst>
              <a:ext uri="{FF2B5EF4-FFF2-40B4-BE49-F238E27FC236}">
                <a16:creationId xmlns:a16="http://schemas.microsoft.com/office/drawing/2014/main" id="{32EB1969-AD92-C889-60C8-B849A45746D0}"/>
              </a:ext>
            </a:extLst>
          </p:cNvPr>
          <p:cNvSpPr/>
          <p:nvPr/>
        </p:nvSpPr>
        <p:spPr>
          <a:xfrm>
            <a:off x="6096000" y="3429000"/>
            <a:ext cx="4704296" cy="3103123"/>
          </a:xfrm>
          <a:prstGeom prst="rect">
            <a:avLst/>
          </a:prstGeom>
          <a:solidFill>
            <a:schemeClr val="bg2">
              <a:lumMod val="90000"/>
            </a:schemeClr>
          </a:solidFill>
          <a:ln/>
          <a:effectLst>
            <a:outerShdw blurRad="76200" dist="25400" dir="8100000" algn="bl" rotWithShape="0">
              <a:srgbClr val="000000">
                <a:alpha val="10000"/>
              </a:srgbClr>
            </a:outerShdw>
          </a:effectLst>
        </p:spPr>
        <p:txBody>
          <a:bodyPr/>
          <a:lstStyle/>
          <a:p>
            <a:endParaRPr lang="he-IL"/>
          </a:p>
        </p:txBody>
      </p:sp>
      <p:sp>
        <p:nvSpPr>
          <p:cNvPr id="19" name="Shape 3">
            <a:extLst>
              <a:ext uri="{FF2B5EF4-FFF2-40B4-BE49-F238E27FC236}">
                <a16:creationId xmlns:a16="http://schemas.microsoft.com/office/drawing/2014/main" id="{C7EE6A1B-575B-BD96-F829-4C1EAEF0E450}"/>
              </a:ext>
            </a:extLst>
          </p:cNvPr>
          <p:cNvSpPr/>
          <p:nvPr/>
        </p:nvSpPr>
        <p:spPr>
          <a:xfrm>
            <a:off x="6096000" y="3429000"/>
            <a:ext cx="89606" cy="3103123"/>
          </a:xfrm>
          <a:prstGeom prst="rect">
            <a:avLst/>
          </a:prstGeom>
          <a:solidFill>
            <a:srgbClr val="C00000"/>
          </a:solidFill>
          <a:ln/>
        </p:spPr>
        <p:txBody>
          <a:bodyPr/>
          <a:lstStyle/>
          <a:p>
            <a:endParaRPr lang="he-IL">
              <a:solidFill>
                <a:srgbClr val="C00000"/>
              </a:solidFill>
            </a:endParaRPr>
          </a:p>
        </p:txBody>
      </p:sp>
      <p:sp>
        <p:nvSpPr>
          <p:cNvPr id="20" name="Text 4">
            <a:extLst>
              <a:ext uri="{FF2B5EF4-FFF2-40B4-BE49-F238E27FC236}">
                <a16:creationId xmlns:a16="http://schemas.microsoft.com/office/drawing/2014/main" id="{4E51245E-D42C-E690-D9E4-17C98E881605}"/>
              </a:ext>
            </a:extLst>
          </p:cNvPr>
          <p:cNvSpPr/>
          <p:nvPr/>
        </p:nvSpPr>
        <p:spPr>
          <a:xfrm>
            <a:off x="6370319" y="3611881"/>
            <a:ext cx="4144261" cy="596754"/>
          </a:xfrm>
          <a:prstGeom prst="rect">
            <a:avLst/>
          </a:prstGeom>
          <a:noFill/>
          <a:ln/>
        </p:spPr>
        <p:txBody>
          <a:bodyPr wrap="square" lIns="0" tIns="0" rIns="0" bIns="0" rtlCol="0" anchor="ctr"/>
          <a:lstStyle/>
          <a:p>
            <a:r>
              <a:rPr lang="en-US" sz="2800" b="1" dirty="0">
                <a:solidFill>
                  <a:srgbClr val="C00000"/>
                </a:solidFill>
                <a:latin typeface="+mj-lt"/>
                <a:ea typeface="Georgia" pitchFamily="34" charset="-122"/>
                <a:cs typeface="Georgia" pitchFamily="34" charset="-120"/>
              </a:rPr>
              <a:t>Weak Consistency</a:t>
            </a:r>
            <a:endParaRPr lang="en-US" sz="2800" dirty="0">
              <a:solidFill>
                <a:srgbClr val="C00000"/>
              </a:solidFill>
              <a:latin typeface="+mj-lt"/>
            </a:endParaRPr>
          </a:p>
        </p:txBody>
      </p:sp>
      <p:sp>
        <p:nvSpPr>
          <p:cNvPr id="21" name="Text 5">
            <a:extLst>
              <a:ext uri="{FF2B5EF4-FFF2-40B4-BE49-F238E27FC236}">
                <a16:creationId xmlns:a16="http://schemas.microsoft.com/office/drawing/2014/main" id="{E9520719-EA59-36A5-E06D-7B666C1A3158}"/>
              </a:ext>
            </a:extLst>
          </p:cNvPr>
          <p:cNvSpPr/>
          <p:nvPr/>
        </p:nvSpPr>
        <p:spPr>
          <a:xfrm>
            <a:off x="6370319" y="4160521"/>
            <a:ext cx="4144261" cy="1909614"/>
          </a:xfrm>
          <a:prstGeom prst="rect">
            <a:avLst/>
          </a:prstGeom>
          <a:noFill/>
          <a:ln/>
        </p:spPr>
        <p:txBody>
          <a:bodyPr wrap="square" rtlCol="0" anchor="ctr"/>
          <a:lstStyle/>
          <a:p>
            <a:pPr>
              <a:spcAft>
                <a:spcPts val="400"/>
              </a:spcAft>
              <a:buSzPct val="100000"/>
            </a:pPr>
            <a:endParaRPr lang="en-US" sz="2000" dirty="0">
              <a:solidFill>
                <a:srgbClr val="64748B"/>
              </a:solidFill>
              <a:latin typeface="Calibri" pitchFamily="34" charset="0"/>
              <a:ea typeface="Calibri" pitchFamily="34" charset="-122"/>
              <a:cs typeface="Calibri" pitchFamily="34" charset="-120"/>
            </a:endParaRPr>
          </a:p>
          <a:p>
            <a:pPr>
              <a:spcAft>
                <a:spcPts val="400"/>
              </a:spcAft>
              <a:buSzPct val="100000"/>
            </a:pPr>
            <a:endParaRPr lang="en-US" sz="2000" dirty="0">
              <a:solidFill>
                <a:srgbClr val="64748B"/>
              </a:solidFill>
              <a:latin typeface="Calibri" pitchFamily="34" charset="0"/>
              <a:ea typeface="Calibri" pitchFamily="34" charset="-122"/>
              <a:cs typeface="Calibri" pitchFamily="34" charset="-120"/>
            </a:endParaRPr>
          </a:p>
          <a:p>
            <a:pPr>
              <a:spcAft>
                <a:spcPts val="400"/>
              </a:spcAft>
              <a:buSzPct val="100000"/>
            </a:pPr>
            <a:r>
              <a:rPr lang="en-US" sz="2000" dirty="0">
                <a:latin typeface="+mj-lt"/>
                <a:ea typeface="Calibri" pitchFamily="34" charset="-122"/>
                <a:cs typeface="Calibri" pitchFamily="34" charset="-120"/>
              </a:rPr>
              <a:t>Relaxed ordering rules</a:t>
            </a:r>
          </a:p>
          <a:p>
            <a:pPr>
              <a:spcAft>
                <a:spcPts val="400"/>
              </a:spcAft>
              <a:buSzPct val="100000"/>
            </a:pPr>
            <a:r>
              <a:rPr lang="en-US" sz="2000" dirty="0">
                <a:latin typeface="+mj-lt"/>
                <a:ea typeface="Calibri" pitchFamily="34" charset="-122"/>
                <a:cs typeface="Calibri" pitchFamily="34" charset="-120"/>
              </a:rPr>
              <a:t>Processors may see different orders</a:t>
            </a:r>
          </a:p>
          <a:p>
            <a:pPr>
              <a:spcAft>
                <a:spcPts val="400"/>
              </a:spcAft>
              <a:buSzPct val="100000"/>
            </a:pPr>
            <a:r>
              <a:rPr lang="en-US" sz="2000" dirty="0">
                <a:latin typeface="+mj-lt"/>
                <a:ea typeface="Calibri" pitchFamily="34" charset="-122"/>
                <a:cs typeface="Calibri" pitchFamily="34" charset="-120"/>
              </a:rPr>
              <a:t>Requires explicit synchronization</a:t>
            </a:r>
          </a:p>
          <a:p>
            <a:pPr>
              <a:spcAft>
                <a:spcPts val="400"/>
              </a:spcAft>
              <a:buSzPct val="100000"/>
            </a:pPr>
            <a:r>
              <a:rPr lang="en-US" sz="2000" dirty="0">
                <a:latin typeface="+mj-lt"/>
                <a:ea typeface="Calibri" pitchFamily="34" charset="-122"/>
                <a:cs typeface="Calibri" pitchFamily="34" charset="-120"/>
              </a:rPr>
              <a:t>Better performance</a:t>
            </a:r>
          </a:p>
          <a:p>
            <a:pPr>
              <a:spcAft>
                <a:spcPts val="400"/>
              </a:spcAft>
              <a:buSzPct val="100000"/>
            </a:pPr>
            <a:endParaRPr lang="en-US" sz="2000" dirty="0">
              <a:latin typeface="+mj-lt"/>
            </a:endParaRPr>
          </a:p>
        </p:txBody>
      </p:sp>
    </p:spTree>
    <p:extLst>
      <p:ext uri="{BB962C8B-B14F-4D97-AF65-F5344CB8AC3E}">
        <p14:creationId xmlns:p14="http://schemas.microsoft.com/office/powerpoint/2010/main" val="1256289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972800" cy="975360"/>
          </a:xfrm>
          <a:prstGeom prst="rect">
            <a:avLst/>
          </a:prstGeom>
          <a:noFill/>
          <a:ln/>
        </p:spPr>
        <p:txBody>
          <a:bodyPr wrap="square" lIns="0" tIns="0" rIns="0" bIns="0" rtlCol="0" anchor="ctr"/>
          <a:lstStyle/>
          <a:p>
            <a:r>
              <a:rPr lang="en-US" sz="4400" dirty="0">
                <a:latin typeface="+mj-lt"/>
                <a:ea typeface="+mj-ea"/>
                <a:cs typeface="+mj-cs"/>
              </a:rPr>
              <a:t>Sequential Consistency -  Example</a:t>
            </a:r>
          </a:p>
        </p:txBody>
      </p:sp>
      <p:sp>
        <p:nvSpPr>
          <p:cNvPr id="3" name="Shape 1"/>
          <p:cNvSpPr/>
          <p:nvPr/>
        </p:nvSpPr>
        <p:spPr>
          <a:xfrm>
            <a:off x="731520" y="1706880"/>
            <a:ext cx="5120640" cy="2926080"/>
          </a:xfrm>
          <a:prstGeom prst="rect">
            <a:avLst/>
          </a:prstGeom>
          <a:solidFill>
            <a:srgbClr val="1B2838"/>
          </a:solidFill>
          <a:ln/>
        </p:spPr>
        <p:txBody>
          <a:bodyPr/>
          <a:lstStyle/>
          <a:p>
            <a:endParaRPr lang="he-IL" sz="2400">
              <a:latin typeface="+mj-lt"/>
            </a:endParaRPr>
          </a:p>
        </p:txBody>
      </p:sp>
      <p:sp>
        <p:nvSpPr>
          <p:cNvPr id="4" name="Text 2"/>
          <p:cNvSpPr/>
          <p:nvPr/>
        </p:nvSpPr>
        <p:spPr>
          <a:xfrm>
            <a:off x="975360" y="1950720"/>
            <a:ext cx="4632960" cy="2194560"/>
          </a:xfrm>
          <a:prstGeom prst="rect">
            <a:avLst/>
          </a:prstGeom>
          <a:noFill/>
          <a:ln/>
        </p:spPr>
        <p:txBody>
          <a:bodyPr wrap="square" rtlCol="0" anchor="ctr"/>
          <a:lstStyle/>
          <a:p>
            <a:r>
              <a:rPr lang="en-US" sz="2000" b="1" dirty="0">
                <a:solidFill>
                  <a:srgbClr val="F96167"/>
                </a:solidFill>
                <a:latin typeface="+mj-lt"/>
                <a:ea typeface="Consolas" pitchFamily="34" charset="-122"/>
                <a:cs typeface="Consolas" pitchFamily="34" charset="-120"/>
              </a:rPr>
              <a:t>P1:</a:t>
            </a:r>
            <a:endParaRPr lang="en-US" sz="2000" dirty="0">
              <a:latin typeface="+mj-lt"/>
            </a:endParaRPr>
          </a:p>
          <a:p>
            <a:r>
              <a:rPr lang="en-US" sz="2000" dirty="0">
                <a:solidFill>
                  <a:srgbClr val="E2E8F0"/>
                </a:solidFill>
                <a:latin typeface="+mj-lt"/>
                <a:ea typeface="Consolas" pitchFamily="34" charset="-122"/>
                <a:cs typeface="Consolas" pitchFamily="34" charset="-120"/>
              </a:rPr>
              <a:t>  X = 1      // Write</a:t>
            </a:r>
            <a:endParaRPr lang="en-US" sz="2000" dirty="0">
              <a:latin typeface="+mj-lt"/>
            </a:endParaRPr>
          </a:p>
          <a:p>
            <a:r>
              <a:rPr lang="en-US" sz="2000" dirty="0">
                <a:solidFill>
                  <a:srgbClr val="E2E8F0"/>
                </a:solidFill>
                <a:latin typeface="+mj-lt"/>
                <a:ea typeface="Consolas" pitchFamily="34" charset="-122"/>
                <a:cs typeface="Consolas" pitchFamily="34" charset="-120"/>
              </a:rPr>
              <a:t>  print(Y)   // Read</a:t>
            </a:r>
            <a:endParaRPr lang="en-US" sz="2000" dirty="0">
              <a:latin typeface="+mj-lt"/>
            </a:endParaRPr>
          </a:p>
        </p:txBody>
      </p:sp>
      <p:sp>
        <p:nvSpPr>
          <p:cNvPr id="5" name="Shape 3"/>
          <p:cNvSpPr/>
          <p:nvPr/>
        </p:nvSpPr>
        <p:spPr>
          <a:xfrm>
            <a:off x="6339840" y="1706880"/>
            <a:ext cx="5120640" cy="2926080"/>
          </a:xfrm>
          <a:prstGeom prst="rect">
            <a:avLst/>
          </a:prstGeom>
          <a:solidFill>
            <a:srgbClr val="1B2838"/>
          </a:solidFill>
          <a:ln/>
        </p:spPr>
        <p:txBody>
          <a:bodyPr/>
          <a:lstStyle/>
          <a:p>
            <a:endParaRPr lang="he-IL" sz="2400">
              <a:latin typeface="+mj-lt"/>
            </a:endParaRPr>
          </a:p>
        </p:txBody>
      </p:sp>
      <p:sp>
        <p:nvSpPr>
          <p:cNvPr id="6" name="Text 4"/>
          <p:cNvSpPr/>
          <p:nvPr/>
        </p:nvSpPr>
        <p:spPr>
          <a:xfrm>
            <a:off x="6583680" y="1950720"/>
            <a:ext cx="4632960" cy="2194560"/>
          </a:xfrm>
          <a:prstGeom prst="rect">
            <a:avLst/>
          </a:prstGeom>
          <a:noFill/>
          <a:ln/>
        </p:spPr>
        <p:txBody>
          <a:bodyPr wrap="square" rtlCol="0" anchor="ctr"/>
          <a:lstStyle/>
          <a:p>
            <a:r>
              <a:rPr lang="en-US" sz="2000" b="1" dirty="0">
                <a:solidFill>
                  <a:srgbClr val="F96167"/>
                </a:solidFill>
                <a:latin typeface="+mj-lt"/>
                <a:ea typeface="Consolas" pitchFamily="34" charset="-122"/>
                <a:cs typeface="Consolas" pitchFamily="34" charset="-120"/>
              </a:rPr>
              <a:t>P2:</a:t>
            </a:r>
            <a:endParaRPr lang="en-US" sz="2000" dirty="0">
              <a:latin typeface="+mj-lt"/>
            </a:endParaRPr>
          </a:p>
          <a:p>
            <a:r>
              <a:rPr lang="en-US" sz="2000" dirty="0">
                <a:solidFill>
                  <a:srgbClr val="E2E8F0"/>
                </a:solidFill>
                <a:latin typeface="+mj-lt"/>
                <a:ea typeface="Consolas" pitchFamily="34" charset="-122"/>
                <a:cs typeface="Consolas" pitchFamily="34" charset="-120"/>
              </a:rPr>
              <a:t>  Y = 1      // Write</a:t>
            </a:r>
            <a:endParaRPr lang="en-US" sz="2000" dirty="0">
              <a:latin typeface="+mj-lt"/>
            </a:endParaRPr>
          </a:p>
          <a:p>
            <a:r>
              <a:rPr lang="en-US" sz="2000" dirty="0">
                <a:solidFill>
                  <a:srgbClr val="E2E8F0"/>
                </a:solidFill>
                <a:latin typeface="+mj-lt"/>
                <a:ea typeface="Consolas" pitchFamily="34" charset="-122"/>
                <a:cs typeface="Consolas" pitchFamily="34" charset="-120"/>
              </a:rPr>
              <a:t>  print(X)   // Read</a:t>
            </a:r>
            <a:endParaRPr lang="en-US" sz="2000" dirty="0">
              <a:latin typeface="+mj-lt"/>
            </a:endParaRPr>
          </a:p>
        </p:txBody>
      </p:sp>
      <p:sp>
        <p:nvSpPr>
          <p:cNvPr id="7" name="Text 5"/>
          <p:cNvSpPr/>
          <p:nvPr/>
        </p:nvSpPr>
        <p:spPr>
          <a:xfrm>
            <a:off x="731520" y="4998720"/>
            <a:ext cx="10728960" cy="609600"/>
          </a:xfrm>
          <a:prstGeom prst="rect">
            <a:avLst/>
          </a:prstGeom>
          <a:noFill/>
          <a:ln/>
        </p:spPr>
        <p:txBody>
          <a:bodyPr wrap="square" lIns="0" tIns="0" rIns="0" bIns="0" rtlCol="0" anchor="ctr"/>
          <a:lstStyle/>
          <a:p>
            <a:r>
              <a:rPr lang="en-US" sz="2400" b="1" dirty="0">
                <a:latin typeface="+mj-lt"/>
                <a:ea typeface="Georgia" pitchFamily="34" charset="-122"/>
                <a:cs typeface="Georgia" pitchFamily="34" charset="-120"/>
              </a:rPr>
              <a:t>Under Sequential Consistency:</a:t>
            </a:r>
            <a:endParaRPr lang="en-US" sz="2400" dirty="0">
              <a:latin typeface="+mj-lt"/>
            </a:endParaRPr>
          </a:p>
        </p:txBody>
      </p:sp>
      <p:sp>
        <p:nvSpPr>
          <p:cNvPr id="8" name="Text 6"/>
          <p:cNvSpPr/>
          <p:nvPr/>
        </p:nvSpPr>
        <p:spPr>
          <a:xfrm>
            <a:off x="731520" y="5608320"/>
            <a:ext cx="10728960" cy="1097280"/>
          </a:xfrm>
          <a:prstGeom prst="rect">
            <a:avLst/>
          </a:prstGeom>
          <a:noFill/>
          <a:ln/>
        </p:spPr>
        <p:txBody>
          <a:bodyPr wrap="square" rtlCol="0" anchor="ctr"/>
          <a:lstStyle/>
          <a:p>
            <a:r>
              <a:rPr lang="en-US" sz="1867" dirty="0">
                <a:latin typeface="+mj-lt"/>
                <a:ea typeface="Calibri" pitchFamily="34" charset="-122"/>
                <a:cs typeface="Calibri" pitchFamily="34" charset="-120"/>
              </a:rPr>
              <a:t>Both processors printing 0 is impossible.</a:t>
            </a:r>
            <a:endParaRPr lang="en-US" sz="1867" dirty="0">
              <a:latin typeface="+mj-lt"/>
            </a:endParaRPr>
          </a:p>
          <a:p>
            <a:r>
              <a:rPr lang="en-US" sz="1867" dirty="0">
                <a:latin typeface="+mj-lt"/>
                <a:ea typeface="Calibri" pitchFamily="34" charset="-122"/>
                <a:cs typeface="Calibri" pitchFamily="34" charset="-120"/>
              </a:rPr>
              <a:t>At least one write (X=1 or Y=1) must be visible to the other's read, so at least one processor must print 1.</a:t>
            </a:r>
            <a:endParaRPr lang="en-US" sz="1867"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65760"/>
            <a:ext cx="10972800" cy="975360"/>
          </a:xfrm>
          <a:prstGeom prst="rect">
            <a:avLst/>
          </a:prstGeom>
          <a:noFill/>
          <a:ln/>
        </p:spPr>
        <p:txBody>
          <a:bodyPr wrap="square" lIns="0" tIns="0" rIns="0" bIns="0" rtlCol="0" anchor="ctr"/>
          <a:lstStyle/>
          <a:p>
            <a:r>
              <a:rPr lang="en-US" sz="4400" dirty="0">
                <a:latin typeface="+mj-lt"/>
                <a:ea typeface="+mj-ea"/>
                <a:cs typeface="+mj-cs"/>
              </a:rPr>
              <a:t>Weak Consistency - Same Example</a:t>
            </a:r>
          </a:p>
        </p:txBody>
      </p:sp>
      <p:sp>
        <p:nvSpPr>
          <p:cNvPr id="3" name="Shape 1"/>
          <p:cNvSpPr/>
          <p:nvPr/>
        </p:nvSpPr>
        <p:spPr>
          <a:xfrm>
            <a:off x="731520" y="1706880"/>
            <a:ext cx="5120640" cy="2926080"/>
          </a:xfrm>
          <a:prstGeom prst="rect">
            <a:avLst/>
          </a:prstGeom>
          <a:solidFill>
            <a:srgbClr val="1B2838"/>
          </a:solidFill>
          <a:ln/>
        </p:spPr>
        <p:txBody>
          <a:bodyPr/>
          <a:lstStyle/>
          <a:p>
            <a:endParaRPr lang="he-IL" sz="2400">
              <a:latin typeface="+mj-lt"/>
            </a:endParaRPr>
          </a:p>
        </p:txBody>
      </p:sp>
      <p:sp>
        <p:nvSpPr>
          <p:cNvPr id="4" name="Text 2"/>
          <p:cNvSpPr/>
          <p:nvPr/>
        </p:nvSpPr>
        <p:spPr>
          <a:xfrm>
            <a:off x="975360" y="1950720"/>
            <a:ext cx="4632960" cy="2194560"/>
          </a:xfrm>
          <a:prstGeom prst="rect">
            <a:avLst/>
          </a:prstGeom>
          <a:noFill/>
          <a:ln/>
        </p:spPr>
        <p:txBody>
          <a:bodyPr wrap="square" rtlCol="0" anchor="ctr"/>
          <a:lstStyle/>
          <a:p>
            <a:r>
              <a:rPr lang="en-US" sz="2000" b="1" dirty="0">
                <a:solidFill>
                  <a:srgbClr val="F96167"/>
                </a:solidFill>
                <a:latin typeface="+mj-lt"/>
                <a:ea typeface="Consolas" pitchFamily="34" charset="-122"/>
                <a:cs typeface="Consolas" pitchFamily="34" charset="-120"/>
              </a:rPr>
              <a:t>P1:</a:t>
            </a:r>
            <a:endParaRPr lang="en-US" sz="2000" dirty="0">
              <a:latin typeface="+mj-lt"/>
            </a:endParaRPr>
          </a:p>
          <a:p>
            <a:r>
              <a:rPr lang="en-US" sz="2000" dirty="0">
                <a:solidFill>
                  <a:srgbClr val="E2E8F0"/>
                </a:solidFill>
                <a:latin typeface="+mj-lt"/>
                <a:ea typeface="Consolas" pitchFamily="34" charset="-122"/>
                <a:cs typeface="Consolas" pitchFamily="34" charset="-120"/>
              </a:rPr>
              <a:t>  X = 1      // Write</a:t>
            </a:r>
            <a:endParaRPr lang="en-US" sz="2000" dirty="0">
              <a:latin typeface="+mj-lt"/>
            </a:endParaRPr>
          </a:p>
          <a:p>
            <a:r>
              <a:rPr lang="en-US" sz="2000" dirty="0">
                <a:solidFill>
                  <a:srgbClr val="E2E8F0"/>
                </a:solidFill>
                <a:latin typeface="+mj-lt"/>
                <a:ea typeface="Consolas" pitchFamily="34" charset="-122"/>
                <a:cs typeface="Consolas" pitchFamily="34" charset="-120"/>
              </a:rPr>
              <a:t>  print(Y)   // Read</a:t>
            </a:r>
            <a:endParaRPr lang="en-US" sz="2000" dirty="0">
              <a:latin typeface="+mj-lt"/>
            </a:endParaRPr>
          </a:p>
        </p:txBody>
      </p:sp>
      <p:sp>
        <p:nvSpPr>
          <p:cNvPr id="5" name="Shape 3"/>
          <p:cNvSpPr/>
          <p:nvPr/>
        </p:nvSpPr>
        <p:spPr>
          <a:xfrm>
            <a:off x="6339840" y="1706880"/>
            <a:ext cx="5120640" cy="2926080"/>
          </a:xfrm>
          <a:prstGeom prst="rect">
            <a:avLst/>
          </a:prstGeom>
          <a:solidFill>
            <a:srgbClr val="1B2838"/>
          </a:solidFill>
          <a:ln/>
        </p:spPr>
        <p:txBody>
          <a:bodyPr/>
          <a:lstStyle/>
          <a:p>
            <a:endParaRPr lang="he-IL" sz="2400">
              <a:latin typeface="+mj-lt"/>
            </a:endParaRPr>
          </a:p>
        </p:txBody>
      </p:sp>
      <p:sp>
        <p:nvSpPr>
          <p:cNvPr id="6" name="Text 4"/>
          <p:cNvSpPr/>
          <p:nvPr/>
        </p:nvSpPr>
        <p:spPr>
          <a:xfrm>
            <a:off x="6583680" y="1950720"/>
            <a:ext cx="4632960" cy="2194560"/>
          </a:xfrm>
          <a:prstGeom prst="rect">
            <a:avLst/>
          </a:prstGeom>
          <a:noFill/>
          <a:ln/>
        </p:spPr>
        <p:txBody>
          <a:bodyPr wrap="square" rtlCol="0" anchor="ctr"/>
          <a:lstStyle/>
          <a:p>
            <a:r>
              <a:rPr lang="en-US" sz="2000" b="1" dirty="0">
                <a:solidFill>
                  <a:srgbClr val="F96167"/>
                </a:solidFill>
                <a:latin typeface="+mj-lt"/>
                <a:ea typeface="Consolas" pitchFamily="34" charset="-122"/>
                <a:cs typeface="Consolas" pitchFamily="34" charset="-120"/>
              </a:rPr>
              <a:t>P2:</a:t>
            </a:r>
            <a:endParaRPr lang="en-US" sz="2000" dirty="0">
              <a:latin typeface="+mj-lt"/>
            </a:endParaRPr>
          </a:p>
          <a:p>
            <a:r>
              <a:rPr lang="en-US" sz="2000" dirty="0">
                <a:solidFill>
                  <a:srgbClr val="E2E8F0"/>
                </a:solidFill>
                <a:latin typeface="+mj-lt"/>
                <a:ea typeface="Consolas" pitchFamily="34" charset="-122"/>
                <a:cs typeface="Consolas" pitchFamily="34" charset="-120"/>
              </a:rPr>
              <a:t>  Y = 1      // Write</a:t>
            </a:r>
            <a:endParaRPr lang="en-US" sz="2000" dirty="0">
              <a:latin typeface="+mj-lt"/>
            </a:endParaRPr>
          </a:p>
          <a:p>
            <a:r>
              <a:rPr lang="en-US" sz="2000" dirty="0">
                <a:solidFill>
                  <a:srgbClr val="E2E8F0"/>
                </a:solidFill>
                <a:latin typeface="+mj-lt"/>
                <a:ea typeface="Consolas" pitchFamily="34" charset="-122"/>
                <a:cs typeface="Consolas" pitchFamily="34" charset="-120"/>
              </a:rPr>
              <a:t>  print(X)   // Read</a:t>
            </a:r>
            <a:endParaRPr lang="en-US" sz="2000" dirty="0">
              <a:latin typeface="+mj-lt"/>
            </a:endParaRPr>
          </a:p>
        </p:txBody>
      </p:sp>
      <p:sp>
        <p:nvSpPr>
          <p:cNvPr id="7" name="Shape 5"/>
          <p:cNvSpPr/>
          <p:nvPr/>
        </p:nvSpPr>
        <p:spPr>
          <a:xfrm>
            <a:off x="731520" y="4998720"/>
            <a:ext cx="10728960" cy="1584960"/>
          </a:xfrm>
          <a:prstGeom prst="rect">
            <a:avLst/>
          </a:prstGeom>
          <a:solidFill>
            <a:srgbClr val="FA868C"/>
          </a:solidFill>
          <a:ln/>
          <a:effectLst>
            <a:outerShdw blurRad="50800" dist="25400" dir="8100000" algn="bl" rotWithShape="0">
              <a:srgbClr val="000000">
                <a:alpha val="10000"/>
              </a:srgbClr>
            </a:outerShdw>
          </a:effectLst>
        </p:spPr>
        <p:txBody>
          <a:bodyPr/>
          <a:lstStyle/>
          <a:p>
            <a:endParaRPr lang="he-IL" sz="2400">
              <a:latin typeface="+mj-lt"/>
            </a:endParaRPr>
          </a:p>
        </p:txBody>
      </p:sp>
      <p:sp>
        <p:nvSpPr>
          <p:cNvPr id="8" name="Text 6"/>
          <p:cNvSpPr/>
          <p:nvPr/>
        </p:nvSpPr>
        <p:spPr>
          <a:xfrm>
            <a:off x="975360" y="5059680"/>
            <a:ext cx="10241280" cy="609600"/>
          </a:xfrm>
          <a:prstGeom prst="rect">
            <a:avLst/>
          </a:prstGeom>
          <a:noFill/>
          <a:ln/>
        </p:spPr>
        <p:txBody>
          <a:bodyPr wrap="square" lIns="0" tIns="0" rIns="0" bIns="0" rtlCol="0" anchor="ctr"/>
          <a:lstStyle/>
          <a:p>
            <a:r>
              <a:rPr lang="en-US" sz="2667" b="1" dirty="0">
                <a:latin typeface="+mj-lt"/>
                <a:ea typeface="Georgia" pitchFamily="34" charset="-122"/>
                <a:cs typeface="Georgia" pitchFamily="34" charset="-120"/>
              </a:rPr>
              <a:t>Both can print 0!</a:t>
            </a:r>
            <a:endParaRPr lang="en-US" sz="2667" dirty="0">
              <a:latin typeface="+mj-lt"/>
            </a:endParaRPr>
          </a:p>
        </p:txBody>
      </p:sp>
      <p:sp>
        <p:nvSpPr>
          <p:cNvPr id="9" name="Text 7"/>
          <p:cNvSpPr/>
          <p:nvPr/>
        </p:nvSpPr>
        <p:spPr>
          <a:xfrm>
            <a:off x="975360" y="5669280"/>
            <a:ext cx="10241280" cy="853440"/>
          </a:xfrm>
          <a:prstGeom prst="rect">
            <a:avLst/>
          </a:prstGeom>
          <a:noFill/>
          <a:ln/>
        </p:spPr>
        <p:txBody>
          <a:bodyPr wrap="square" rtlCol="0" anchor="ctr"/>
          <a:lstStyle/>
          <a:p>
            <a:r>
              <a:rPr lang="en-US" sz="1867" dirty="0">
                <a:latin typeface="+mj-lt"/>
                <a:ea typeface="Calibri" pitchFamily="34" charset="-122"/>
                <a:cs typeface="Calibri" pitchFamily="34" charset="-120"/>
              </a:rPr>
              <a:t>The hardware may reorder the write and read on each processor.</a:t>
            </a:r>
            <a:endParaRPr lang="en-US" sz="1867" dirty="0">
              <a:latin typeface="+mj-lt"/>
            </a:endParaRPr>
          </a:p>
          <a:p>
            <a:r>
              <a:rPr lang="en-US" sz="1867" dirty="0">
                <a:latin typeface="+mj-lt"/>
                <a:ea typeface="Calibri" pitchFamily="34" charset="-122"/>
                <a:cs typeface="Calibri" pitchFamily="34" charset="-120"/>
              </a:rPr>
              <a:t>Each processor's read can execute before the other's write becomes visible.</a:t>
            </a:r>
            <a:endParaRPr lang="en-US" sz="1867"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0DD23-153E-DAC1-33B3-CD08F67B7A3F}"/>
              </a:ext>
            </a:extLst>
          </p:cNvPr>
          <p:cNvSpPr>
            <a:spLocks noGrp="1"/>
          </p:cNvSpPr>
          <p:nvPr>
            <p:ph type="title"/>
          </p:nvPr>
        </p:nvSpPr>
        <p:spPr/>
        <p:txBody>
          <a:bodyPr/>
          <a:lstStyle/>
          <a:p>
            <a:r>
              <a:rPr lang="en-US" dirty="0"/>
              <a:t>The Challenge</a:t>
            </a:r>
            <a:endParaRPr lang="he-IL" dirty="0"/>
          </a:p>
        </p:txBody>
      </p:sp>
      <p:sp>
        <p:nvSpPr>
          <p:cNvPr id="3" name="Content Placeholder 2">
            <a:extLst>
              <a:ext uri="{FF2B5EF4-FFF2-40B4-BE49-F238E27FC236}">
                <a16:creationId xmlns:a16="http://schemas.microsoft.com/office/drawing/2014/main" id="{0137B168-3D27-2D92-100B-6ABFF33EFAC8}"/>
              </a:ext>
            </a:extLst>
          </p:cNvPr>
          <p:cNvSpPr>
            <a:spLocks noGrp="1"/>
          </p:cNvSpPr>
          <p:nvPr>
            <p:ph idx="1"/>
          </p:nvPr>
        </p:nvSpPr>
        <p:spPr/>
        <p:txBody>
          <a:bodyPr/>
          <a:lstStyle/>
          <a:p>
            <a:pPr marL="0" indent="0">
              <a:buNone/>
            </a:pPr>
            <a:r>
              <a:rPr lang="en-US" dirty="0"/>
              <a:t>Exceptions should be precise → appear to occur between instructions.</a:t>
            </a:r>
          </a:p>
          <a:p>
            <a:pPr marL="0" indent="0">
              <a:buNone/>
            </a:pPr>
            <a:r>
              <a:rPr lang="en-US" dirty="0"/>
              <a:t>Modern CPUs allow relaxed/out-of-order execution → hard to define precision.</a:t>
            </a:r>
            <a:endParaRPr lang="he-IL" dirty="0"/>
          </a:p>
        </p:txBody>
      </p:sp>
      <p:sp>
        <p:nvSpPr>
          <p:cNvPr id="5" name="Isosceles Triangle 4">
            <a:extLst>
              <a:ext uri="{FF2B5EF4-FFF2-40B4-BE49-F238E27FC236}">
                <a16:creationId xmlns:a16="http://schemas.microsoft.com/office/drawing/2014/main" id="{47C6B80C-8ABC-5060-0241-CC419DB23BE0}"/>
              </a:ext>
            </a:extLst>
          </p:cNvPr>
          <p:cNvSpPr/>
          <p:nvPr/>
        </p:nvSpPr>
        <p:spPr>
          <a:xfrm>
            <a:off x="5429250" y="5473700"/>
            <a:ext cx="1333500" cy="1270000"/>
          </a:xfrm>
          <a:prstGeom prst="triangle">
            <a:avLst/>
          </a:prstGeom>
        </p:spPr>
        <p:style>
          <a:lnRef idx="1">
            <a:schemeClr val="accent5"/>
          </a:lnRef>
          <a:fillRef idx="2">
            <a:schemeClr val="accent5"/>
          </a:fillRef>
          <a:effectRef idx="1">
            <a:schemeClr val="accent5"/>
          </a:effectRef>
          <a:fontRef idx="minor">
            <a:schemeClr val="dk1"/>
          </a:fontRef>
        </p:style>
        <p:txBody>
          <a:bodyPr rtlCol="1" anchor="ctr"/>
          <a:lstStyle/>
          <a:p>
            <a:pPr algn="ctr"/>
            <a:endParaRPr lang="he-IL"/>
          </a:p>
        </p:txBody>
      </p:sp>
      <p:sp>
        <p:nvSpPr>
          <p:cNvPr id="6" name="Rectangle 5">
            <a:extLst>
              <a:ext uri="{FF2B5EF4-FFF2-40B4-BE49-F238E27FC236}">
                <a16:creationId xmlns:a16="http://schemas.microsoft.com/office/drawing/2014/main" id="{161198F3-53F4-DD9E-95F8-D69C2D1FB7ED}"/>
              </a:ext>
            </a:extLst>
          </p:cNvPr>
          <p:cNvSpPr/>
          <p:nvPr/>
        </p:nvSpPr>
        <p:spPr>
          <a:xfrm>
            <a:off x="1524000" y="5257800"/>
            <a:ext cx="9144000" cy="177800"/>
          </a:xfrm>
          <a:prstGeom prst="rect">
            <a:avLst/>
          </a:prstGeom>
        </p:spPr>
        <p:style>
          <a:lnRef idx="1">
            <a:schemeClr val="accent5"/>
          </a:lnRef>
          <a:fillRef idx="2">
            <a:schemeClr val="accent5"/>
          </a:fillRef>
          <a:effectRef idx="1">
            <a:schemeClr val="accent5"/>
          </a:effectRef>
          <a:fontRef idx="minor">
            <a:schemeClr val="dk1"/>
          </a:fontRef>
        </p:style>
        <p:txBody>
          <a:bodyPr rtlCol="1" anchor="ctr"/>
          <a:lstStyle/>
          <a:p>
            <a:pPr algn="ctr"/>
            <a:endParaRPr lang="he-IL"/>
          </a:p>
        </p:txBody>
      </p:sp>
      <p:sp>
        <p:nvSpPr>
          <p:cNvPr id="7" name="TextBox 6">
            <a:extLst>
              <a:ext uri="{FF2B5EF4-FFF2-40B4-BE49-F238E27FC236}">
                <a16:creationId xmlns:a16="http://schemas.microsoft.com/office/drawing/2014/main" id="{9878B0A9-ACEB-4ABF-A1D4-317D9D67EB1A}"/>
              </a:ext>
            </a:extLst>
          </p:cNvPr>
          <p:cNvSpPr txBox="1"/>
          <p:nvPr/>
        </p:nvSpPr>
        <p:spPr>
          <a:xfrm>
            <a:off x="1562100" y="3822700"/>
            <a:ext cx="1917700" cy="1384995"/>
          </a:xfrm>
          <a:prstGeom prst="rect">
            <a:avLst/>
          </a:prstGeom>
          <a:noFill/>
          <a:ln>
            <a:solidFill>
              <a:schemeClr val="tx1"/>
            </a:solidFill>
          </a:ln>
        </p:spPr>
        <p:txBody>
          <a:bodyPr wrap="square" rtlCol="1">
            <a:spAutoFit/>
          </a:bodyPr>
          <a:lstStyle/>
          <a:p>
            <a:pPr algn="ctr"/>
            <a:r>
              <a:rPr lang="en-US" sz="2800" dirty="0"/>
              <a:t>Sequential execution model</a:t>
            </a:r>
            <a:endParaRPr lang="he-IL" sz="2800" dirty="0"/>
          </a:p>
        </p:txBody>
      </p:sp>
      <p:sp>
        <p:nvSpPr>
          <p:cNvPr id="8" name="TextBox 7">
            <a:extLst>
              <a:ext uri="{FF2B5EF4-FFF2-40B4-BE49-F238E27FC236}">
                <a16:creationId xmlns:a16="http://schemas.microsoft.com/office/drawing/2014/main" id="{F709D4AB-16A1-7E0E-149D-B6178B839BA5}"/>
              </a:ext>
            </a:extLst>
          </p:cNvPr>
          <p:cNvSpPr txBox="1"/>
          <p:nvPr/>
        </p:nvSpPr>
        <p:spPr>
          <a:xfrm>
            <a:off x="8420100" y="3797300"/>
            <a:ext cx="2235200" cy="1384995"/>
          </a:xfrm>
          <a:prstGeom prst="rect">
            <a:avLst/>
          </a:prstGeom>
          <a:noFill/>
          <a:ln>
            <a:solidFill>
              <a:schemeClr val="tx1"/>
            </a:solidFill>
          </a:ln>
        </p:spPr>
        <p:txBody>
          <a:bodyPr wrap="square" rtlCol="1">
            <a:spAutoFit/>
          </a:bodyPr>
          <a:lstStyle/>
          <a:p>
            <a:pPr algn="ctr"/>
            <a:r>
              <a:rPr lang="en-US" sz="2800" dirty="0"/>
              <a:t>Out-of-order + relaxed memory</a:t>
            </a:r>
            <a:endParaRPr lang="he-IL" sz="2800" dirty="0"/>
          </a:p>
        </p:txBody>
      </p:sp>
    </p:spTree>
    <p:extLst>
      <p:ext uri="{BB962C8B-B14F-4D97-AF65-F5344CB8AC3E}">
        <p14:creationId xmlns:p14="http://schemas.microsoft.com/office/powerpoint/2010/main" val="3836764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ACBB-31B5-1DCF-B624-5C185EEF02A3}"/>
              </a:ext>
            </a:extLst>
          </p:cNvPr>
          <p:cNvSpPr>
            <a:spLocks noGrp="1"/>
          </p:cNvSpPr>
          <p:nvPr>
            <p:ph type="title"/>
          </p:nvPr>
        </p:nvSpPr>
        <p:spPr/>
        <p:txBody>
          <a:bodyPr/>
          <a:lstStyle/>
          <a:p>
            <a:r>
              <a:rPr lang="en-US" dirty="0"/>
              <a:t>Hardware Exceptions</a:t>
            </a:r>
            <a:endParaRPr lang="he-IL" dirty="0"/>
          </a:p>
        </p:txBody>
      </p:sp>
      <p:sp>
        <p:nvSpPr>
          <p:cNvPr id="3" name="Content Placeholder 2">
            <a:extLst>
              <a:ext uri="{FF2B5EF4-FFF2-40B4-BE49-F238E27FC236}">
                <a16:creationId xmlns:a16="http://schemas.microsoft.com/office/drawing/2014/main" id="{08A3A00B-57A2-B154-553D-7CC929259BF8}"/>
              </a:ext>
            </a:extLst>
          </p:cNvPr>
          <p:cNvSpPr>
            <a:spLocks noGrp="1"/>
          </p:cNvSpPr>
          <p:nvPr>
            <p:ph idx="1"/>
          </p:nvPr>
        </p:nvSpPr>
        <p:spPr/>
        <p:txBody>
          <a:bodyPr/>
          <a:lstStyle/>
          <a:p>
            <a:pPr marL="0" indent="0">
              <a:buNone/>
            </a:pPr>
            <a:r>
              <a:rPr lang="he-IL" dirty="0"/>
              <a:t>⚡</a:t>
            </a:r>
            <a:r>
              <a:rPr lang="en-US" dirty="0"/>
              <a:t>Interrupts → External events (devices)</a:t>
            </a:r>
          </a:p>
          <a:p>
            <a:pPr marL="0" indent="0">
              <a:buNone/>
            </a:pPr>
            <a:r>
              <a:rPr lang="he-IL" dirty="0"/>
              <a:t>🧩</a:t>
            </a:r>
            <a:r>
              <a:rPr lang="en-US" dirty="0"/>
              <a:t>Traps → Intentional (system call)</a:t>
            </a:r>
          </a:p>
          <a:p>
            <a:pPr marL="0" indent="0">
              <a:buNone/>
            </a:pPr>
            <a:r>
              <a:rPr lang="he-IL" dirty="0"/>
              <a:t>🧱</a:t>
            </a:r>
            <a:r>
              <a:rPr lang="en-US" dirty="0"/>
              <a:t>Faults → Correctable errors (page fault)</a:t>
            </a:r>
          </a:p>
          <a:p>
            <a:pPr marL="0" indent="0">
              <a:buNone/>
            </a:pPr>
            <a:r>
              <a:rPr lang="he-IL" dirty="0"/>
              <a:t>❌</a:t>
            </a:r>
            <a:r>
              <a:rPr lang="en-US" dirty="0"/>
              <a:t>Aborts → Unrecoverable errors (memory corruption)</a:t>
            </a:r>
          </a:p>
          <a:p>
            <a:endParaRPr lang="he-IL" dirty="0"/>
          </a:p>
        </p:txBody>
      </p:sp>
    </p:spTree>
    <p:extLst>
      <p:ext uri="{BB962C8B-B14F-4D97-AF65-F5344CB8AC3E}">
        <p14:creationId xmlns:p14="http://schemas.microsoft.com/office/powerpoint/2010/main" val="2856465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914080-2E29-C2FD-E57E-DE3D4F784608}"/>
              </a:ext>
            </a:extLst>
          </p:cNvPr>
          <p:cNvSpPr>
            <a:spLocks noGrp="1"/>
          </p:cNvSpPr>
          <p:nvPr>
            <p:ph idx="1"/>
          </p:nvPr>
        </p:nvSpPr>
        <p:spPr>
          <a:xfrm>
            <a:off x="838200" y="736600"/>
            <a:ext cx="10287000" cy="5440363"/>
          </a:xfrm>
        </p:spPr>
        <p:txBody>
          <a:bodyPr>
            <a:normAutofit/>
          </a:bodyPr>
          <a:lstStyle/>
          <a:p>
            <a:pPr marL="0" indent="0">
              <a:buNone/>
            </a:pPr>
            <a:r>
              <a:rPr lang="he-IL" dirty="0"/>
              <a:t>🔒</a:t>
            </a:r>
            <a:r>
              <a:rPr lang="en-US" u="sng" dirty="0"/>
              <a:t>Privilege transitions </a:t>
            </a:r>
            <a:r>
              <a:rPr lang="en-US" dirty="0"/>
              <a:t> user ↔ kernel mode switch</a:t>
            </a:r>
            <a:endParaRPr lang="en-US" u="sng" dirty="0"/>
          </a:p>
          <a:p>
            <a:pPr marL="0" indent="0">
              <a:buNone/>
            </a:pPr>
            <a:r>
              <a:rPr lang="he-IL" dirty="0"/>
              <a:t>🟢</a:t>
            </a:r>
            <a:r>
              <a:rPr lang="en-US" u="sng" dirty="0"/>
              <a:t>Recoverable faults</a:t>
            </a:r>
            <a:r>
              <a:rPr lang="en-US" dirty="0"/>
              <a:t> detect and correct</a:t>
            </a:r>
            <a:endParaRPr lang="en-US" u="sng" dirty="0"/>
          </a:p>
          <a:p>
            <a:pPr marL="0" indent="0">
              <a:buNone/>
            </a:pPr>
            <a:r>
              <a:rPr lang="he-IL" dirty="0"/>
              <a:t>🔴</a:t>
            </a:r>
            <a:r>
              <a:rPr lang="en-US" u="sng" dirty="0"/>
              <a:t>Non-recoverable faults </a:t>
            </a:r>
          </a:p>
          <a:p>
            <a:endParaRPr lang="he-IL" dirty="0"/>
          </a:p>
        </p:txBody>
      </p:sp>
      <p:pic>
        <p:nvPicPr>
          <p:cNvPr id="8196" name="Picture 4" descr="The fast, fancy, and futuristic cars from the 2018 Geneva Motor Show">
            <a:extLst>
              <a:ext uri="{FF2B5EF4-FFF2-40B4-BE49-F238E27FC236}">
                <a16:creationId xmlns:a16="http://schemas.microsoft.com/office/drawing/2014/main" id="{46EA1A74-98F0-2B2C-F60B-F7BFE7475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6500" y="2625051"/>
            <a:ext cx="7416800" cy="4082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818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6C70-6E00-5121-6162-C93F15292C16}"/>
              </a:ext>
            </a:extLst>
          </p:cNvPr>
          <p:cNvSpPr>
            <a:spLocks noGrp="1"/>
          </p:cNvSpPr>
          <p:nvPr>
            <p:ph type="title"/>
          </p:nvPr>
        </p:nvSpPr>
        <p:spPr/>
        <p:txBody>
          <a:bodyPr/>
          <a:lstStyle/>
          <a:p>
            <a:r>
              <a:rPr lang="en-US" dirty="0"/>
              <a:t>The Challenge in Modern CPUs</a:t>
            </a:r>
            <a:endParaRPr lang="he-IL" dirty="0"/>
          </a:p>
        </p:txBody>
      </p:sp>
      <p:sp>
        <p:nvSpPr>
          <p:cNvPr id="3" name="Content Placeholder 2">
            <a:extLst>
              <a:ext uri="{FF2B5EF4-FFF2-40B4-BE49-F238E27FC236}">
                <a16:creationId xmlns:a16="http://schemas.microsoft.com/office/drawing/2014/main" id="{76D357C1-FA76-6953-EA9C-4B6B38107043}"/>
              </a:ext>
            </a:extLst>
          </p:cNvPr>
          <p:cNvSpPr>
            <a:spLocks noGrp="1"/>
          </p:cNvSpPr>
          <p:nvPr>
            <p:ph idx="1"/>
          </p:nvPr>
        </p:nvSpPr>
        <p:spPr/>
        <p:txBody>
          <a:bodyPr/>
          <a:lstStyle/>
          <a:p>
            <a:pPr marL="0" indent="0">
              <a:buNone/>
            </a:pPr>
            <a:r>
              <a:rPr lang="en-US" dirty="0"/>
              <a:t>Programmers need clear semantics</a:t>
            </a:r>
          </a:p>
          <a:p>
            <a:pPr marL="0" indent="0">
              <a:buNone/>
            </a:pPr>
            <a:r>
              <a:rPr lang="en-US" b="1" dirty="0"/>
              <a:t>Exceptions + relaxed memory</a:t>
            </a:r>
            <a:r>
              <a:rPr lang="en-US" dirty="0"/>
              <a:t> </a:t>
            </a:r>
            <a:r>
              <a:rPr lang="en-US" dirty="0">
                <a:sym typeface="Wingdings" panose="05000000000000000000" pitchFamily="2" charset="2"/>
              </a:rPr>
              <a:t></a:t>
            </a:r>
            <a:r>
              <a:rPr lang="en-US" dirty="0"/>
              <a:t>been explored.</a:t>
            </a:r>
          </a:p>
          <a:p>
            <a:pPr marL="0" indent="0">
              <a:buNone/>
            </a:pPr>
            <a:r>
              <a:rPr lang="en-US" dirty="0"/>
              <a:t>Achieving precision on modern CPUs is nearly </a:t>
            </a:r>
            <a:r>
              <a:rPr lang="en-US" dirty="0">
                <a:solidFill>
                  <a:srgbClr val="C00000"/>
                </a:solidFill>
              </a:rPr>
              <a:t>impossible</a:t>
            </a:r>
            <a:r>
              <a:rPr lang="en-US" dirty="0"/>
              <a:t>.</a:t>
            </a:r>
          </a:p>
        </p:txBody>
      </p:sp>
    </p:spTree>
    <p:extLst>
      <p:ext uri="{BB962C8B-B14F-4D97-AF65-F5344CB8AC3E}">
        <p14:creationId xmlns:p14="http://schemas.microsoft.com/office/powerpoint/2010/main" val="2722155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4FEA-36D4-7D5F-886A-D094B3983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57E23-0FFE-880F-CBDE-3805B54A855E}"/>
              </a:ext>
            </a:extLst>
          </p:cNvPr>
          <p:cNvSpPr>
            <a:spLocks noGrp="1"/>
          </p:cNvSpPr>
          <p:nvPr>
            <p:ph type="title"/>
          </p:nvPr>
        </p:nvSpPr>
        <p:spPr/>
        <p:txBody>
          <a:bodyPr/>
          <a:lstStyle/>
          <a:p>
            <a:r>
              <a:rPr lang="en-US" dirty="0"/>
              <a:t>Interrupts</a:t>
            </a:r>
            <a:endParaRPr lang="he-IL" dirty="0"/>
          </a:p>
        </p:txBody>
      </p:sp>
      <p:sp>
        <p:nvSpPr>
          <p:cNvPr id="3" name="Content Placeholder 2">
            <a:extLst>
              <a:ext uri="{FF2B5EF4-FFF2-40B4-BE49-F238E27FC236}">
                <a16:creationId xmlns:a16="http://schemas.microsoft.com/office/drawing/2014/main" id="{EA05E76B-AB2F-590A-A6CD-239A4ED716A3}"/>
              </a:ext>
            </a:extLst>
          </p:cNvPr>
          <p:cNvSpPr>
            <a:spLocks noGrp="1"/>
          </p:cNvSpPr>
          <p:nvPr>
            <p:ph idx="1"/>
          </p:nvPr>
        </p:nvSpPr>
        <p:spPr/>
        <p:txBody>
          <a:bodyPr>
            <a:normAutofit/>
          </a:bodyPr>
          <a:lstStyle/>
          <a:p>
            <a:pPr marL="0" indent="0">
              <a:buNone/>
            </a:pPr>
            <a:r>
              <a:rPr lang="en-US" dirty="0"/>
              <a:t>Signals that come from outside the current program, telling the processor that something needs attention.</a:t>
            </a:r>
            <a:br>
              <a:rPr lang="en-US" dirty="0"/>
            </a:br>
            <a:r>
              <a:rPr lang="en-US" dirty="0"/>
              <a:t>	</a:t>
            </a:r>
            <a:r>
              <a:rPr lang="he-IL" dirty="0"/>
              <a:t> 🖱️ </a:t>
            </a:r>
            <a:r>
              <a:rPr lang="en-US" dirty="0"/>
              <a:t>Peripherals (keyboard, NIC)</a:t>
            </a:r>
          </a:p>
          <a:p>
            <a:pPr marL="0" indent="0">
              <a:buNone/>
            </a:pPr>
            <a:r>
              <a:rPr lang="en-US" dirty="0"/>
              <a:t>	 ⏰ Timers</a:t>
            </a:r>
          </a:p>
          <a:p>
            <a:pPr marL="0" indent="0">
              <a:buNone/>
            </a:pPr>
            <a:r>
              <a:rPr lang="en-US" dirty="0"/>
              <a:t>	</a:t>
            </a:r>
            <a:r>
              <a:rPr lang="he-IL" dirty="0"/>
              <a:t> 🖥️ </a:t>
            </a:r>
            <a:r>
              <a:rPr lang="en-US" dirty="0"/>
              <a:t>Other processors (multiprocessor systems)</a:t>
            </a:r>
          </a:p>
          <a:p>
            <a:pPr marL="0" indent="0">
              <a:buNone/>
            </a:pPr>
            <a:r>
              <a:rPr lang="en-US" dirty="0"/>
              <a:t>	</a:t>
            </a:r>
            <a:r>
              <a:rPr lang="he-IL" dirty="0"/>
              <a:t> ⚠️ </a:t>
            </a:r>
            <a:r>
              <a:rPr lang="en-US" dirty="0"/>
              <a:t>System errors (report faults that require handling)</a:t>
            </a:r>
          </a:p>
          <a:p>
            <a:pPr marL="0" indent="0">
              <a:buNone/>
            </a:pPr>
            <a:endParaRPr lang="en-US" i="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93505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95E5-FE85-EEC8-EC88-592AE220ED99}"/>
              </a:ext>
            </a:extLst>
          </p:cNvPr>
          <p:cNvSpPr>
            <a:spLocks noGrp="1"/>
          </p:cNvSpPr>
          <p:nvPr>
            <p:ph type="title"/>
          </p:nvPr>
        </p:nvSpPr>
        <p:spPr/>
        <p:txBody>
          <a:bodyPr/>
          <a:lstStyle/>
          <a:p>
            <a:r>
              <a:rPr lang="en-US" dirty="0"/>
              <a:t>Precision </a:t>
            </a:r>
            <a:endParaRPr lang="he-IL" dirty="0"/>
          </a:p>
        </p:txBody>
      </p:sp>
      <p:sp>
        <p:nvSpPr>
          <p:cNvPr id="3" name="Content Placeholder 2">
            <a:extLst>
              <a:ext uri="{FF2B5EF4-FFF2-40B4-BE49-F238E27FC236}">
                <a16:creationId xmlns:a16="http://schemas.microsoft.com/office/drawing/2014/main" id="{0C503ADF-238D-8130-2A4B-237F7D79DF7B}"/>
              </a:ext>
            </a:extLst>
          </p:cNvPr>
          <p:cNvSpPr>
            <a:spLocks noGrp="1"/>
          </p:cNvSpPr>
          <p:nvPr>
            <p:ph idx="1"/>
          </p:nvPr>
        </p:nvSpPr>
        <p:spPr>
          <a:xfrm>
            <a:off x="484094" y="1825625"/>
            <a:ext cx="11456894" cy="4351338"/>
          </a:xfrm>
        </p:spPr>
        <p:txBody>
          <a:bodyPr>
            <a:normAutofit/>
          </a:bodyPr>
          <a:lstStyle/>
          <a:p>
            <a:pPr marL="0" indent="0">
              <a:buNone/>
            </a:pPr>
            <a:r>
              <a:rPr lang="he-IL" dirty="0"/>
              <a:t>⚙️</a:t>
            </a:r>
            <a:r>
              <a:rPr lang="en-US" b="1" dirty="0"/>
              <a:t>Precise Exception</a:t>
            </a:r>
            <a:r>
              <a:rPr lang="en-US" dirty="0"/>
              <a:t> occurs when the CPU can exactly identify </a:t>
            </a:r>
            <a:r>
              <a:rPr lang="en-US" u="sng" dirty="0"/>
              <a:t>which</a:t>
            </a:r>
            <a:r>
              <a:rPr lang="en-US" dirty="0"/>
              <a:t>  instruction caused the fault and </a:t>
            </a:r>
            <a:r>
              <a:rPr lang="en-US" u="sng" dirty="0"/>
              <a:t>where</a:t>
            </a:r>
            <a:r>
              <a:rPr lang="en-US" dirty="0"/>
              <a:t> to resume after handling it.</a:t>
            </a:r>
            <a:r>
              <a:rPr lang="he-IL" dirty="0"/>
              <a:t> </a:t>
            </a:r>
            <a:r>
              <a:rPr lang="en-US" dirty="0"/>
              <a:t>Observed at specific instruction points.</a:t>
            </a:r>
          </a:p>
          <a:p>
            <a:pPr marL="0" indent="0">
              <a:buNone/>
            </a:pPr>
            <a:r>
              <a:rPr lang="en-US" dirty="0"/>
              <a:t>🔁 Can resume using saved address (after handling the exception).</a:t>
            </a:r>
          </a:p>
          <a:p>
            <a:pPr marL="0" indent="0">
              <a:buNone/>
            </a:pPr>
            <a:r>
              <a:rPr lang="he-IL" dirty="0"/>
              <a:t>🧩</a:t>
            </a:r>
            <a:r>
              <a:rPr lang="en-US" dirty="0"/>
              <a:t>All interrupts are precise, except external aborts </a:t>
            </a:r>
          </a:p>
          <a:p>
            <a:pPr marL="0" indent="0">
              <a:buNone/>
            </a:pPr>
            <a:r>
              <a:rPr lang="he-IL" dirty="0"/>
              <a:t>🧯</a:t>
            </a:r>
            <a:r>
              <a:rPr lang="en-US" dirty="0"/>
              <a:t>Recovery depends on the type of fault</a:t>
            </a:r>
          </a:p>
        </p:txBody>
      </p:sp>
    </p:spTree>
    <p:extLst>
      <p:ext uri="{BB962C8B-B14F-4D97-AF65-F5344CB8AC3E}">
        <p14:creationId xmlns:p14="http://schemas.microsoft.com/office/powerpoint/2010/main" val="2361289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0A70-EC33-3BD3-7B43-A34C77B09E49}"/>
              </a:ext>
            </a:extLst>
          </p:cNvPr>
          <p:cNvSpPr>
            <a:spLocks noGrp="1"/>
          </p:cNvSpPr>
          <p:nvPr>
            <p:ph type="title"/>
          </p:nvPr>
        </p:nvSpPr>
        <p:spPr/>
        <p:txBody>
          <a:bodyPr/>
          <a:lstStyle/>
          <a:p>
            <a:r>
              <a:rPr lang="en-US" dirty="0"/>
              <a:t>Exception Entry Flow (ARM)</a:t>
            </a:r>
            <a:endParaRPr lang="he-IL" dirty="0"/>
          </a:p>
        </p:txBody>
      </p:sp>
      <p:sp>
        <p:nvSpPr>
          <p:cNvPr id="3" name="Content Placeholder 2">
            <a:extLst>
              <a:ext uri="{FF2B5EF4-FFF2-40B4-BE49-F238E27FC236}">
                <a16:creationId xmlns:a16="http://schemas.microsoft.com/office/drawing/2014/main" id="{588A9ED6-AB6B-E688-966A-194F8CFBD79F}"/>
              </a:ext>
            </a:extLst>
          </p:cNvPr>
          <p:cNvSpPr>
            <a:spLocks noGrp="1"/>
          </p:cNvSpPr>
          <p:nvPr>
            <p:ph idx="1"/>
          </p:nvPr>
        </p:nvSpPr>
        <p:spPr/>
        <p:txBody>
          <a:bodyPr/>
          <a:lstStyle/>
          <a:p>
            <a:r>
              <a:rPr lang="en-US" dirty="0"/>
              <a:t>When an exception is taken, execution jumps to the exception vector, an offset from the appropriate </a:t>
            </a:r>
            <a:r>
              <a:rPr lang="en-US" b="1" dirty="0"/>
              <a:t>vector base address register</a:t>
            </a:r>
            <a:r>
              <a:rPr lang="en-US" dirty="0"/>
              <a:t> (VBAR) value depending on the kind of exception.</a:t>
            </a:r>
          </a:p>
          <a:p>
            <a:r>
              <a:rPr lang="en-US" dirty="0"/>
              <a:t>Registers such as ESR, FAR, ELR, and EL are updated with exception-related values.</a:t>
            </a:r>
            <a:endParaRPr lang="he-IL" dirty="0"/>
          </a:p>
        </p:txBody>
      </p:sp>
      <p:pic>
        <p:nvPicPr>
          <p:cNvPr id="2050" name="Picture 2" descr="42+ Thousand Mother Taking Care Child Royalty-Free Images, Stock Photos &amp;  Pictures | Shutterstock">
            <a:extLst>
              <a:ext uri="{FF2B5EF4-FFF2-40B4-BE49-F238E27FC236}">
                <a16:creationId xmlns:a16="http://schemas.microsoft.com/office/drawing/2014/main" id="{ACDE153E-3CD0-AAA6-D878-34CA8661A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25" y="4107180"/>
            <a:ext cx="37147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629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C83FD-BC89-FBF9-7E64-3C68A7CC45ED}"/>
              </a:ext>
            </a:extLst>
          </p:cNvPr>
          <p:cNvSpPr>
            <a:spLocks noGrp="1"/>
          </p:cNvSpPr>
          <p:nvPr>
            <p:ph type="title"/>
          </p:nvPr>
        </p:nvSpPr>
        <p:spPr/>
        <p:txBody>
          <a:bodyPr/>
          <a:lstStyle/>
          <a:p>
            <a:r>
              <a:rPr lang="en-US" dirty="0"/>
              <a:t>What Held True 60 Years Ago Does Not Necessarily Apply Today</a:t>
            </a:r>
            <a:endParaRPr lang="he-IL" dirty="0"/>
          </a:p>
        </p:txBody>
      </p:sp>
      <p:sp>
        <p:nvSpPr>
          <p:cNvPr id="3" name="Content Placeholder 2">
            <a:extLst>
              <a:ext uri="{FF2B5EF4-FFF2-40B4-BE49-F238E27FC236}">
                <a16:creationId xmlns:a16="http://schemas.microsoft.com/office/drawing/2014/main" id="{534A1883-0F7C-5811-AE57-88DEA530E041}"/>
              </a:ext>
            </a:extLst>
          </p:cNvPr>
          <p:cNvSpPr>
            <a:spLocks noGrp="1"/>
          </p:cNvSpPr>
          <p:nvPr>
            <p:ph idx="1"/>
          </p:nvPr>
        </p:nvSpPr>
        <p:spPr/>
        <p:txBody>
          <a:bodyPr/>
          <a:lstStyle/>
          <a:p>
            <a:pPr marL="0" indent="0">
              <a:buNone/>
            </a:pPr>
            <a:r>
              <a:rPr lang="en-US" dirty="0"/>
              <a:t>We were taught that: processors execute instructions sequentially.</a:t>
            </a:r>
          </a:p>
          <a:p>
            <a:pPr marL="0" indent="0">
              <a:buNone/>
            </a:pPr>
            <a:r>
              <a:rPr lang="en-US" dirty="0"/>
              <a:t>According to Arm’s manual, it has around 60 instances of instruction stream or execution stream.</a:t>
            </a:r>
          </a:p>
          <a:p>
            <a:pPr marL="0" indent="0">
              <a:buNone/>
            </a:pPr>
            <a:r>
              <a:rPr lang="he-IL" dirty="0"/>
              <a:t>⚙️ </a:t>
            </a:r>
            <a:r>
              <a:rPr lang="en-US" dirty="0"/>
              <a:t>From instructions to </a:t>
            </a:r>
            <a:r>
              <a:rPr lang="en-US" b="1" dirty="0"/>
              <a:t>fetch-decode-execute instances (FDX).</a:t>
            </a:r>
          </a:p>
          <a:p>
            <a:pPr marL="0" indent="0">
              <a:buNone/>
            </a:pPr>
            <a:r>
              <a:rPr lang="he-IL" dirty="0"/>
              <a:t>⚡ </a:t>
            </a:r>
            <a:r>
              <a:rPr lang="en-US" b="1" dirty="0"/>
              <a:t>Exceptions can arise at multiple points within the FDX, even within the fetch-decode, when there is no ‘instruction’</a:t>
            </a:r>
          </a:p>
          <a:p>
            <a:endParaRPr lang="he-IL" b="1" dirty="0"/>
          </a:p>
        </p:txBody>
      </p:sp>
      <p:cxnSp>
        <p:nvCxnSpPr>
          <p:cNvPr id="5" name="Straight Connector 4">
            <a:extLst>
              <a:ext uri="{FF2B5EF4-FFF2-40B4-BE49-F238E27FC236}">
                <a16:creationId xmlns:a16="http://schemas.microsoft.com/office/drawing/2014/main" id="{364D9731-A940-B295-B766-42C55FE589DC}"/>
              </a:ext>
            </a:extLst>
          </p:cNvPr>
          <p:cNvCxnSpPr>
            <a:cxnSpLocks/>
          </p:cNvCxnSpPr>
          <p:nvPr/>
        </p:nvCxnSpPr>
        <p:spPr>
          <a:xfrm>
            <a:off x="387350" y="5572461"/>
            <a:ext cx="9724838"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6218C02-0307-93AB-AB9F-570CFE1F98AB}"/>
              </a:ext>
            </a:extLst>
          </p:cNvPr>
          <p:cNvCxnSpPr/>
          <p:nvPr/>
        </p:nvCxnSpPr>
        <p:spPr>
          <a:xfrm>
            <a:off x="4410638" y="5260489"/>
            <a:ext cx="0" cy="849855"/>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CAC7CE6-8445-19F4-9648-EDB0C5C662D9}"/>
              </a:ext>
            </a:extLst>
          </p:cNvPr>
          <p:cNvCxnSpPr/>
          <p:nvPr/>
        </p:nvCxnSpPr>
        <p:spPr>
          <a:xfrm>
            <a:off x="8091531" y="5262283"/>
            <a:ext cx="0" cy="849855"/>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DA06FD6-3D28-B36A-9E1C-E1A00C6DABD2}"/>
              </a:ext>
            </a:extLst>
          </p:cNvPr>
          <p:cNvSpPr txBox="1"/>
          <p:nvPr/>
        </p:nvSpPr>
        <p:spPr>
          <a:xfrm>
            <a:off x="3151992" y="6037760"/>
            <a:ext cx="2796988" cy="461665"/>
          </a:xfrm>
          <a:prstGeom prst="rect">
            <a:avLst/>
          </a:prstGeom>
          <a:noFill/>
        </p:spPr>
        <p:txBody>
          <a:bodyPr wrap="square" rtlCol="1">
            <a:spAutoFit/>
          </a:bodyPr>
          <a:lstStyle/>
          <a:p>
            <a:r>
              <a:rPr lang="en-US" sz="2400" dirty="0"/>
              <a:t>1960s Sequential </a:t>
            </a:r>
            <a:endParaRPr lang="he-IL" sz="2400" dirty="0"/>
          </a:p>
        </p:txBody>
      </p:sp>
      <p:sp>
        <p:nvSpPr>
          <p:cNvPr id="10" name="TextBox 9">
            <a:extLst>
              <a:ext uri="{FF2B5EF4-FFF2-40B4-BE49-F238E27FC236}">
                <a16:creationId xmlns:a16="http://schemas.microsoft.com/office/drawing/2014/main" id="{AE6B34D3-CE03-567A-BB80-D2F5109CD000}"/>
              </a:ext>
            </a:extLst>
          </p:cNvPr>
          <p:cNvSpPr txBox="1"/>
          <p:nvPr/>
        </p:nvSpPr>
        <p:spPr>
          <a:xfrm>
            <a:off x="6467139" y="5996523"/>
            <a:ext cx="3322320" cy="461665"/>
          </a:xfrm>
          <a:prstGeom prst="rect">
            <a:avLst/>
          </a:prstGeom>
          <a:noFill/>
        </p:spPr>
        <p:txBody>
          <a:bodyPr wrap="square" rtlCol="1">
            <a:spAutoFit/>
          </a:bodyPr>
          <a:lstStyle/>
          <a:p>
            <a:r>
              <a:rPr lang="en-US" sz="2400" dirty="0"/>
              <a:t>Today’s relaxed CPUs</a:t>
            </a:r>
            <a:endParaRPr lang="he-IL" sz="2400" dirty="0"/>
          </a:p>
        </p:txBody>
      </p:sp>
      <p:cxnSp>
        <p:nvCxnSpPr>
          <p:cNvPr id="12" name="Straight Arrow Connector 11">
            <a:extLst>
              <a:ext uri="{FF2B5EF4-FFF2-40B4-BE49-F238E27FC236}">
                <a16:creationId xmlns:a16="http://schemas.microsoft.com/office/drawing/2014/main" id="{2D694748-081E-B31A-C560-753CFA434008}"/>
              </a:ext>
            </a:extLst>
          </p:cNvPr>
          <p:cNvCxnSpPr/>
          <p:nvPr/>
        </p:nvCxnSpPr>
        <p:spPr>
          <a:xfrm>
            <a:off x="9359153" y="5572462"/>
            <a:ext cx="806823"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F91EFED-B983-AF5E-F88F-6C32DFCF02DB}"/>
              </a:ext>
            </a:extLst>
          </p:cNvPr>
          <p:cNvSpPr txBox="1"/>
          <p:nvPr/>
        </p:nvSpPr>
        <p:spPr>
          <a:xfrm>
            <a:off x="10122946" y="5411097"/>
            <a:ext cx="935916" cy="369332"/>
          </a:xfrm>
          <a:prstGeom prst="rect">
            <a:avLst/>
          </a:prstGeom>
          <a:noFill/>
        </p:spPr>
        <p:txBody>
          <a:bodyPr wrap="square" rtlCol="1">
            <a:spAutoFit/>
          </a:bodyPr>
          <a:lstStyle/>
          <a:p>
            <a:r>
              <a:rPr lang="en-US" dirty="0"/>
              <a:t>Time </a:t>
            </a:r>
            <a:endParaRPr lang="he-IL" dirty="0"/>
          </a:p>
        </p:txBody>
      </p:sp>
      <p:cxnSp>
        <p:nvCxnSpPr>
          <p:cNvPr id="18" name="Straight Connector 17">
            <a:extLst>
              <a:ext uri="{FF2B5EF4-FFF2-40B4-BE49-F238E27FC236}">
                <a16:creationId xmlns:a16="http://schemas.microsoft.com/office/drawing/2014/main" id="{7FF6490D-564D-57BF-424B-2D8A542CDA6E}"/>
              </a:ext>
            </a:extLst>
          </p:cNvPr>
          <p:cNvCxnSpPr/>
          <p:nvPr/>
        </p:nvCxnSpPr>
        <p:spPr>
          <a:xfrm>
            <a:off x="1590004" y="5262281"/>
            <a:ext cx="0" cy="849855"/>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15CCFF62-2DEE-8464-5235-686682BDE305}"/>
              </a:ext>
            </a:extLst>
          </p:cNvPr>
          <p:cNvSpPr txBox="1"/>
          <p:nvPr/>
        </p:nvSpPr>
        <p:spPr>
          <a:xfrm>
            <a:off x="133350" y="6027003"/>
            <a:ext cx="2924175" cy="830997"/>
          </a:xfrm>
          <a:prstGeom prst="rect">
            <a:avLst/>
          </a:prstGeom>
          <a:noFill/>
        </p:spPr>
        <p:txBody>
          <a:bodyPr wrap="square" rtlCol="1">
            <a:spAutoFit/>
          </a:bodyPr>
          <a:lstStyle/>
          <a:p>
            <a:pPr algn="ctr"/>
            <a:r>
              <a:rPr lang="en-US" sz="2400" dirty="0"/>
              <a:t>4 BC –</a:t>
            </a:r>
          </a:p>
          <a:p>
            <a:pPr algn="ctr"/>
            <a:r>
              <a:rPr lang="en-US" sz="2400" dirty="0"/>
              <a:t> Birth of Jesus Christ</a:t>
            </a:r>
            <a:endParaRPr lang="he-IL" sz="2400" dirty="0"/>
          </a:p>
        </p:txBody>
      </p:sp>
    </p:spTree>
    <p:extLst>
      <p:ext uri="{BB962C8B-B14F-4D97-AF65-F5344CB8AC3E}">
        <p14:creationId xmlns:p14="http://schemas.microsoft.com/office/powerpoint/2010/main" val="1542967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5A56A-8EEE-5577-9EDE-4B512F2028BA}"/>
              </a:ext>
            </a:extLst>
          </p:cNvPr>
          <p:cNvSpPr>
            <a:spLocks noGrp="1"/>
          </p:cNvSpPr>
          <p:nvPr>
            <p:ph type="title"/>
          </p:nvPr>
        </p:nvSpPr>
        <p:spPr/>
        <p:txBody>
          <a:bodyPr/>
          <a:lstStyle/>
          <a:p>
            <a:r>
              <a:rPr lang="en-US" dirty="0"/>
              <a:t>Program-Order-Before/After </a:t>
            </a:r>
            <a:endParaRPr lang="he-IL" dirty="0"/>
          </a:p>
        </p:txBody>
      </p:sp>
      <p:sp>
        <p:nvSpPr>
          <p:cNvPr id="3" name="Content Placeholder 2">
            <a:extLst>
              <a:ext uri="{FF2B5EF4-FFF2-40B4-BE49-F238E27FC236}">
                <a16:creationId xmlns:a16="http://schemas.microsoft.com/office/drawing/2014/main" id="{278138E0-17DC-5D4B-9AC9-2B262D9AF87B}"/>
              </a:ext>
            </a:extLst>
          </p:cNvPr>
          <p:cNvSpPr>
            <a:spLocks noGrp="1"/>
          </p:cNvSpPr>
          <p:nvPr>
            <p:ph idx="1"/>
          </p:nvPr>
        </p:nvSpPr>
        <p:spPr>
          <a:xfrm>
            <a:off x="838200" y="1825624"/>
            <a:ext cx="10515600" cy="4918075"/>
          </a:xfrm>
        </p:spPr>
        <p:txBody>
          <a:bodyPr/>
          <a:lstStyle/>
          <a:p>
            <a:pPr marL="0" indent="0">
              <a:buNone/>
            </a:pPr>
            <a:r>
              <a:rPr lang="en-US" dirty="0"/>
              <a:t>🧭</a:t>
            </a:r>
            <a:r>
              <a:rPr lang="en-US" u="sng" dirty="0"/>
              <a:t>program order</a:t>
            </a:r>
            <a:r>
              <a:rPr lang="en-US" dirty="0"/>
              <a:t> the Instructions a </a:t>
            </a:r>
            <a:r>
              <a:rPr lang="en-US" b="1" dirty="0"/>
              <a:t>logical order</a:t>
            </a:r>
            <a:r>
              <a:rPr lang="en-US" dirty="0"/>
              <a:t> given by the program listing (assembly).</a:t>
            </a:r>
          </a:p>
          <a:p>
            <a:pPr marL="0" indent="0">
              <a:buNone/>
            </a:pPr>
            <a:endParaRPr lang="en-US" dirty="0"/>
          </a:p>
          <a:p>
            <a:pPr marL="0" indent="0">
              <a:buNone/>
            </a:pPr>
            <a:endParaRPr lang="en-US" dirty="0"/>
          </a:p>
          <a:p>
            <a:pPr marL="0" indent="0">
              <a:buNone/>
            </a:pPr>
            <a:endParaRPr lang="en-US" dirty="0"/>
          </a:p>
          <a:p>
            <a:pPr marL="0" indent="0">
              <a:buNone/>
            </a:pPr>
            <a:r>
              <a:rPr lang="en-US" dirty="0"/>
              <a:t>The store is program-order-before the load</a:t>
            </a:r>
          </a:p>
          <a:p>
            <a:pPr marL="0" indent="0">
              <a:buNone/>
            </a:pPr>
            <a:r>
              <a:rPr lang="en-US" dirty="0"/>
              <a:t>The load is program-order-after the store.</a:t>
            </a:r>
          </a:p>
          <a:p>
            <a:pPr marL="0" indent="0">
              <a:buNone/>
            </a:pPr>
            <a:endParaRPr lang="en-US" dirty="0"/>
          </a:p>
          <a:p>
            <a:pPr marL="0" indent="0">
              <a:buNone/>
            </a:pPr>
            <a:r>
              <a:rPr lang="en-US" dirty="0"/>
              <a:t>Reads may be satisfied speculatively.</a:t>
            </a:r>
            <a:br>
              <a:rPr lang="en-US" dirty="0"/>
            </a:br>
            <a:r>
              <a:rPr lang="en-US" dirty="0"/>
              <a:t>Writes cannot be propagated speculatively.</a:t>
            </a:r>
          </a:p>
          <a:p>
            <a:pPr marL="0" indent="0">
              <a:buNone/>
            </a:pPr>
            <a:endParaRPr lang="he-IL" dirty="0"/>
          </a:p>
        </p:txBody>
      </p:sp>
      <p:sp>
        <p:nvSpPr>
          <p:cNvPr id="5" name="TextBox 4">
            <a:extLst>
              <a:ext uri="{FF2B5EF4-FFF2-40B4-BE49-F238E27FC236}">
                <a16:creationId xmlns:a16="http://schemas.microsoft.com/office/drawing/2014/main" id="{34E48743-C94A-3A7D-B928-C7B10E6114BB}"/>
              </a:ext>
            </a:extLst>
          </p:cNvPr>
          <p:cNvSpPr txBox="1"/>
          <p:nvPr/>
        </p:nvSpPr>
        <p:spPr>
          <a:xfrm>
            <a:off x="4330700" y="2951946"/>
            <a:ext cx="4724400" cy="954107"/>
          </a:xfrm>
          <a:prstGeom prst="rect">
            <a:avLst/>
          </a:prstGeom>
          <a:noFill/>
        </p:spPr>
        <p:txBody>
          <a:bodyPr wrap="square" rtlCol="1">
            <a:spAutoFit/>
          </a:bodyPr>
          <a:lstStyle/>
          <a:p>
            <a:r>
              <a:rPr lang="en-US" sz="2800" dirty="0"/>
              <a:t>STR X0, [X1]   // store</a:t>
            </a:r>
          </a:p>
          <a:p>
            <a:r>
              <a:rPr lang="en-US" sz="2800" dirty="0"/>
              <a:t>LDR X2, [X3]   // load</a:t>
            </a:r>
            <a:endParaRPr lang="he-IL" sz="2800" dirty="0"/>
          </a:p>
        </p:txBody>
      </p:sp>
    </p:spTree>
    <p:extLst>
      <p:ext uri="{BB962C8B-B14F-4D97-AF65-F5344CB8AC3E}">
        <p14:creationId xmlns:p14="http://schemas.microsoft.com/office/powerpoint/2010/main" val="2697580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C169-5EDE-FD3C-3F5C-BC5D2BE599DF}"/>
              </a:ext>
            </a:extLst>
          </p:cNvPr>
          <p:cNvSpPr>
            <a:spLocks noGrp="1"/>
          </p:cNvSpPr>
          <p:nvPr>
            <p:ph type="title"/>
          </p:nvPr>
        </p:nvSpPr>
        <p:spPr/>
        <p:txBody>
          <a:bodyPr/>
          <a:lstStyle/>
          <a:p>
            <a:r>
              <a:rPr lang="en-US" dirty="0"/>
              <a:t>Tree of </a:t>
            </a:r>
            <a:r>
              <a:rPr lang="en-US" b="1" dirty="0"/>
              <a:t>Partially</a:t>
            </a:r>
            <a:r>
              <a:rPr lang="en-US" dirty="0"/>
              <a:t> and </a:t>
            </a:r>
            <a:r>
              <a:rPr lang="en-US" b="1" dirty="0"/>
              <a:t>Completely</a:t>
            </a:r>
            <a:r>
              <a:rPr lang="en-US" dirty="0"/>
              <a:t> Executed Instances</a:t>
            </a:r>
            <a:endParaRPr lang="he-IL" dirty="0"/>
          </a:p>
        </p:txBody>
      </p:sp>
      <p:sp>
        <p:nvSpPr>
          <p:cNvPr id="3" name="Content Placeholder 2">
            <a:extLst>
              <a:ext uri="{FF2B5EF4-FFF2-40B4-BE49-F238E27FC236}">
                <a16:creationId xmlns:a16="http://schemas.microsoft.com/office/drawing/2014/main" id="{7FB7AEDF-4399-9FC2-74AE-C01A54DAB0AE}"/>
              </a:ext>
            </a:extLst>
          </p:cNvPr>
          <p:cNvSpPr>
            <a:spLocks noGrp="1"/>
          </p:cNvSpPr>
          <p:nvPr>
            <p:ph idx="1"/>
          </p:nvPr>
        </p:nvSpPr>
        <p:spPr>
          <a:xfrm>
            <a:off x="838200" y="1825625"/>
            <a:ext cx="5257800" cy="4351338"/>
          </a:xfrm>
        </p:spPr>
        <p:txBody>
          <a:bodyPr/>
          <a:lstStyle/>
          <a:p>
            <a:pPr marL="0" indent="0">
              <a:buNone/>
            </a:pPr>
            <a:r>
              <a:rPr lang="en-US" u="sng" dirty="0"/>
              <a:t>Committed instances </a:t>
            </a:r>
            <a:r>
              <a:rPr lang="en-US" dirty="0"/>
              <a:t>can be program-order after in-flight instances.</a:t>
            </a:r>
          </a:p>
          <a:p>
            <a:pPr marL="0" indent="0">
              <a:buNone/>
            </a:pPr>
            <a:r>
              <a:rPr lang="en-US" dirty="0"/>
              <a:t>Non-committed instances may need to be restarted.</a:t>
            </a:r>
            <a:endParaRPr lang="he-IL" dirty="0"/>
          </a:p>
          <a:p>
            <a:pPr marL="0" indent="0">
              <a:buNone/>
            </a:pPr>
            <a:r>
              <a:rPr lang="en-US" dirty="0"/>
              <a:t>dark blue - committed FDXs</a:t>
            </a:r>
          </a:p>
          <a:p>
            <a:pPr marL="0" indent="0">
              <a:buNone/>
            </a:pPr>
            <a:r>
              <a:rPr lang="en-US" dirty="0"/>
              <a:t>light blue – in flight (partially/tentatively executed) FDXs.</a:t>
            </a:r>
          </a:p>
          <a:p>
            <a:endParaRPr lang="he-IL" dirty="0"/>
          </a:p>
        </p:txBody>
      </p:sp>
      <p:pic>
        <p:nvPicPr>
          <p:cNvPr id="4" name="Picture 3">
            <a:extLst>
              <a:ext uri="{FF2B5EF4-FFF2-40B4-BE49-F238E27FC236}">
                <a16:creationId xmlns:a16="http://schemas.microsoft.com/office/drawing/2014/main" id="{4C1D9B96-7912-9910-7C7A-E7968B09BB94}"/>
              </a:ext>
            </a:extLst>
          </p:cNvPr>
          <p:cNvPicPr>
            <a:picLocks noChangeAspect="1"/>
          </p:cNvPicPr>
          <p:nvPr/>
        </p:nvPicPr>
        <p:blipFill>
          <a:blip r:embed="rId2"/>
          <a:stretch>
            <a:fillRect/>
          </a:stretch>
        </p:blipFill>
        <p:spPr>
          <a:xfrm>
            <a:off x="6210300" y="1504866"/>
            <a:ext cx="4699995" cy="2254334"/>
          </a:xfrm>
          <a:prstGeom prst="rect">
            <a:avLst/>
          </a:prstGeom>
        </p:spPr>
      </p:pic>
      <p:cxnSp>
        <p:nvCxnSpPr>
          <p:cNvPr id="5" name="Straight Arrow Connector 4">
            <a:extLst>
              <a:ext uri="{FF2B5EF4-FFF2-40B4-BE49-F238E27FC236}">
                <a16:creationId xmlns:a16="http://schemas.microsoft.com/office/drawing/2014/main" id="{346A67DD-97C8-640C-BC0F-42B193605FF9}"/>
              </a:ext>
            </a:extLst>
          </p:cNvPr>
          <p:cNvCxnSpPr>
            <a:cxnSpLocks/>
          </p:cNvCxnSpPr>
          <p:nvPr/>
        </p:nvCxnSpPr>
        <p:spPr>
          <a:xfrm flipH="1">
            <a:off x="10627107" y="1943100"/>
            <a:ext cx="434593"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6" name="Straight Arrow Connector 5">
            <a:extLst>
              <a:ext uri="{FF2B5EF4-FFF2-40B4-BE49-F238E27FC236}">
                <a16:creationId xmlns:a16="http://schemas.microsoft.com/office/drawing/2014/main" id="{AB8325FE-D953-0043-3486-8108A8BA5019}"/>
              </a:ext>
            </a:extLst>
          </p:cNvPr>
          <p:cNvCxnSpPr>
            <a:cxnSpLocks/>
          </p:cNvCxnSpPr>
          <p:nvPr/>
        </p:nvCxnSpPr>
        <p:spPr>
          <a:xfrm flipH="1" flipV="1">
            <a:off x="10703307" y="3200400"/>
            <a:ext cx="523493" cy="192088"/>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7" name="TextBox 6">
            <a:extLst>
              <a:ext uri="{FF2B5EF4-FFF2-40B4-BE49-F238E27FC236}">
                <a16:creationId xmlns:a16="http://schemas.microsoft.com/office/drawing/2014/main" id="{EECCC134-D39F-AE62-8EE1-2857F4FD7308}"/>
              </a:ext>
            </a:extLst>
          </p:cNvPr>
          <p:cNvSpPr txBox="1"/>
          <p:nvPr/>
        </p:nvSpPr>
        <p:spPr>
          <a:xfrm>
            <a:off x="10897985" y="3343276"/>
            <a:ext cx="1167015" cy="584775"/>
          </a:xfrm>
          <a:prstGeom prst="rect">
            <a:avLst/>
          </a:prstGeom>
          <a:noFill/>
        </p:spPr>
        <p:txBody>
          <a:bodyPr wrap="square" rtlCol="1">
            <a:spAutoFit/>
          </a:bodyPr>
          <a:lstStyle/>
          <a:p>
            <a:r>
              <a:rPr lang="en-US" sz="1600" dirty="0"/>
              <a:t>completed execution</a:t>
            </a:r>
            <a:endParaRPr lang="he-IL" sz="1600" dirty="0"/>
          </a:p>
        </p:txBody>
      </p:sp>
      <p:sp>
        <p:nvSpPr>
          <p:cNvPr id="8" name="TextBox 7">
            <a:extLst>
              <a:ext uri="{FF2B5EF4-FFF2-40B4-BE49-F238E27FC236}">
                <a16:creationId xmlns:a16="http://schemas.microsoft.com/office/drawing/2014/main" id="{7E891928-509D-2C19-C2E3-3FD48D0DB144}"/>
              </a:ext>
            </a:extLst>
          </p:cNvPr>
          <p:cNvSpPr txBox="1"/>
          <p:nvPr/>
        </p:nvSpPr>
        <p:spPr>
          <a:xfrm>
            <a:off x="11000594" y="1447800"/>
            <a:ext cx="1483506" cy="954107"/>
          </a:xfrm>
          <a:prstGeom prst="rect">
            <a:avLst/>
          </a:prstGeom>
          <a:noFill/>
        </p:spPr>
        <p:txBody>
          <a:bodyPr wrap="square" rtlCol="1">
            <a:spAutoFit/>
          </a:bodyPr>
          <a:lstStyle/>
          <a:p>
            <a:r>
              <a:rPr lang="en-US" sz="1400" dirty="0"/>
              <a:t>The tree of (partially) executed FDX instances</a:t>
            </a:r>
            <a:endParaRPr lang="he-IL" sz="1400" dirty="0"/>
          </a:p>
        </p:txBody>
      </p:sp>
    </p:spTree>
    <p:extLst>
      <p:ext uri="{BB962C8B-B14F-4D97-AF65-F5344CB8AC3E}">
        <p14:creationId xmlns:p14="http://schemas.microsoft.com/office/powerpoint/2010/main" val="396699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B6B9-3E6C-03C4-4A42-393CD915A339}"/>
              </a:ext>
            </a:extLst>
          </p:cNvPr>
          <p:cNvSpPr>
            <a:spLocks noGrp="1"/>
          </p:cNvSpPr>
          <p:nvPr>
            <p:ph type="title"/>
          </p:nvPr>
        </p:nvSpPr>
        <p:spPr/>
        <p:txBody>
          <a:bodyPr/>
          <a:lstStyle/>
          <a:p>
            <a:endParaRPr lang="he-IL" dirty="0"/>
          </a:p>
        </p:txBody>
      </p:sp>
      <p:sp>
        <p:nvSpPr>
          <p:cNvPr id="3" name="Content Placeholder 2">
            <a:extLst>
              <a:ext uri="{FF2B5EF4-FFF2-40B4-BE49-F238E27FC236}">
                <a16:creationId xmlns:a16="http://schemas.microsoft.com/office/drawing/2014/main" id="{E308F942-AA4D-2822-6B34-46415F7CF662}"/>
              </a:ext>
            </a:extLst>
          </p:cNvPr>
          <p:cNvSpPr>
            <a:spLocks noGrp="1"/>
          </p:cNvSpPr>
          <p:nvPr>
            <p:ph idx="1"/>
          </p:nvPr>
        </p:nvSpPr>
        <p:spPr/>
        <p:txBody>
          <a:bodyPr>
            <a:normAutofit/>
          </a:bodyPr>
          <a:lstStyle/>
          <a:p>
            <a:endParaRPr lang="he-IL" sz="3600" b="1" dirty="0">
              <a:solidFill>
                <a:schemeClr val="bg1"/>
              </a:solidFill>
            </a:endParaRPr>
          </a:p>
        </p:txBody>
      </p:sp>
      <p:pic>
        <p:nvPicPr>
          <p:cNvPr id="6" name="Picture 5">
            <a:extLst>
              <a:ext uri="{FF2B5EF4-FFF2-40B4-BE49-F238E27FC236}">
                <a16:creationId xmlns:a16="http://schemas.microsoft.com/office/drawing/2014/main" id="{C9847298-A351-F19F-72B0-7091FE44EA6F}"/>
              </a:ext>
            </a:extLst>
          </p:cNvPr>
          <p:cNvPicPr>
            <a:picLocks noChangeAspect="1"/>
          </p:cNvPicPr>
          <p:nvPr/>
        </p:nvPicPr>
        <p:blipFill>
          <a:blip r:embed="rId2"/>
          <a:stretch>
            <a:fillRect/>
          </a:stretch>
        </p:blipFill>
        <p:spPr>
          <a:xfrm>
            <a:off x="2667000" y="0"/>
            <a:ext cx="6858000" cy="6858000"/>
          </a:xfrm>
          <a:prstGeom prst="rect">
            <a:avLst/>
          </a:prstGeom>
        </p:spPr>
      </p:pic>
      <p:sp>
        <p:nvSpPr>
          <p:cNvPr id="8" name="TextBox 7">
            <a:extLst>
              <a:ext uri="{FF2B5EF4-FFF2-40B4-BE49-F238E27FC236}">
                <a16:creationId xmlns:a16="http://schemas.microsoft.com/office/drawing/2014/main" id="{6E3C15BF-2638-74F4-423B-39F0F1FC4C63}"/>
              </a:ext>
            </a:extLst>
          </p:cNvPr>
          <p:cNvSpPr txBox="1"/>
          <p:nvPr/>
        </p:nvSpPr>
        <p:spPr>
          <a:xfrm>
            <a:off x="4241800" y="585788"/>
            <a:ext cx="4343400" cy="1015663"/>
          </a:xfrm>
          <a:prstGeom prst="rect">
            <a:avLst/>
          </a:prstGeom>
          <a:solidFill>
            <a:schemeClr val="tx1"/>
          </a:solidFill>
        </p:spPr>
        <p:txBody>
          <a:bodyPr wrap="square" rtlCol="1">
            <a:spAutoFit/>
          </a:bodyPr>
          <a:lstStyle/>
          <a:p>
            <a:r>
              <a:rPr lang="en-US" sz="6000" b="1" dirty="0">
                <a:solidFill>
                  <a:schemeClr val="bg1"/>
                </a:solidFill>
              </a:rPr>
              <a:t>Instruction</a:t>
            </a:r>
            <a:endParaRPr lang="he-IL" sz="6000" dirty="0">
              <a:solidFill>
                <a:schemeClr val="bg1"/>
              </a:solidFill>
            </a:endParaRPr>
          </a:p>
        </p:txBody>
      </p:sp>
      <p:sp>
        <p:nvSpPr>
          <p:cNvPr id="9" name="TextBox 8">
            <a:extLst>
              <a:ext uri="{FF2B5EF4-FFF2-40B4-BE49-F238E27FC236}">
                <a16:creationId xmlns:a16="http://schemas.microsoft.com/office/drawing/2014/main" id="{4375EE9A-11BF-24F5-4C02-0329A2F297CF}"/>
              </a:ext>
            </a:extLst>
          </p:cNvPr>
          <p:cNvSpPr txBox="1"/>
          <p:nvPr/>
        </p:nvSpPr>
        <p:spPr>
          <a:xfrm>
            <a:off x="4356100" y="2122488"/>
            <a:ext cx="4343400" cy="1015663"/>
          </a:xfrm>
          <a:prstGeom prst="rect">
            <a:avLst/>
          </a:prstGeom>
          <a:solidFill>
            <a:schemeClr val="tx1"/>
          </a:solidFill>
        </p:spPr>
        <p:txBody>
          <a:bodyPr wrap="square" rtlCol="1">
            <a:spAutoFit/>
          </a:bodyPr>
          <a:lstStyle/>
          <a:p>
            <a:r>
              <a:rPr lang="en-US" sz="6000" b="1" dirty="0">
                <a:solidFill>
                  <a:schemeClr val="bg1"/>
                </a:solidFill>
              </a:rPr>
              <a:t>Exception</a:t>
            </a:r>
            <a:endParaRPr lang="he-IL" sz="6000" dirty="0">
              <a:solidFill>
                <a:schemeClr val="bg1"/>
              </a:solidFill>
            </a:endParaRPr>
          </a:p>
        </p:txBody>
      </p:sp>
      <p:sp>
        <p:nvSpPr>
          <p:cNvPr id="10" name="TextBox 9">
            <a:extLst>
              <a:ext uri="{FF2B5EF4-FFF2-40B4-BE49-F238E27FC236}">
                <a16:creationId xmlns:a16="http://schemas.microsoft.com/office/drawing/2014/main" id="{2F6A0A47-360A-A5FB-88C2-D9D4CC6B5C60}"/>
              </a:ext>
            </a:extLst>
          </p:cNvPr>
          <p:cNvSpPr txBox="1"/>
          <p:nvPr/>
        </p:nvSpPr>
        <p:spPr>
          <a:xfrm>
            <a:off x="4318000" y="3646488"/>
            <a:ext cx="4343400" cy="1015663"/>
          </a:xfrm>
          <a:prstGeom prst="rect">
            <a:avLst/>
          </a:prstGeom>
          <a:solidFill>
            <a:schemeClr val="tx1"/>
          </a:solidFill>
        </p:spPr>
        <p:txBody>
          <a:bodyPr wrap="square" rtlCol="1">
            <a:spAutoFit/>
          </a:bodyPr>
          <a:lstStyle/>
          <a:p>
            <a:r>
              <a:rPr lang="en-US" sz="6000" b="1" dirty="0">
                <a:solidFill>
                  <a:schemeClr val="bg1"/>
                </a:solidFill>
              </a:rPr>
              <a:t>Handler</a:t>
            </a:r>
            <a:endParaRPr lang="he-IL" sz="6000" dirty="0">
              <a:solidFill>
                <a:schemeClr val="bg1"/>
              </a:solidFill>
            </a:endParaRPr>
          </a:p>
        </p:txBody>
      </p:sp>
      <p:sp>
        <p:nvSpPr>
          <p:cNvPr id="11" name="TextBox 10">
            <a:extLst>
              <a:ext uri="{FF2B5EF4-FFF2-40B4-BE49-F238E27FC236}">
                <a16:creationId xmlns:a16="http://schemas.microsoft.com/office/drawing/2014/main" id="{2DBE2413-D67D-5037-E844-C69FFBB6C423}"/>
              </a:ext>
            </a:extLst>
          </p:cNvPr>
          <p:cNvSpPr txBox="1"/>
          <p:nvPr/>
        </p:nvSpPr>
        <p:spPr>
          <a:xfrm>
            <a:off x="4356100" y="5183188"/>
            <a:ext cx="4343400" cy="1015663"/>
          </a:xfrm>
          <a:prstGeom prst="rect">
            <a:avLst/>
          </a:prstGeom>
          <a:solidFill>
            <a:schemeClr val="tx1"/>
          </a:solidFill>
        </p:spPr>
        <p:txBody>
          <a:bodyPr wrap="square" rtlCol="1">
            <a:spAutoFit/>
          </a:bodyPr>
          <a:lstStyle/>
          <a:p>
            <a:r>
              <a:rPr lang="en-US" sz="6000" b="1" dirty="0">
                <a:solidFill>
                  <a:schemeClr val="bg1"/>
                </a:solidFill>
              </a:rPr>
              <a:t>Resume</a:t>
            </a:r>
            <a:endParaRPr lang="he-IL" sz="6000" dirty="0">
              <a:solidFill>
                <a:schemeClr val="bg1"/>
              </a:solidFill>
            </a:endParaRPr>
          </a:p>
        </p:txBody>
      </p:sp>
    </p:spTree>
    <p:extLst>
      <p:ext uri="{BB962C8B-B14F-4D97-AF65-F5344CB8AC3E}">
        <p14:creationId xmlns:p14="http://schemas.microsoft.com/office/powerpoint/2010/main" val="236451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animBg="1"/>
      <p:bldP spid="9" grpId="0" build="allAtOnce" animBg="1"/>
      <p:bldP spid="10" grpId="0" animBg="1"/>
      <p:bldP spid="11" grpId="0" build="allAtOnce"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89DC3-6E08-440C-E34E-5DF46BB4A45D}"/>
              </a:ext>
            </a:extLst>
          </p:cNvPr>
          <p:cNvSpPr>
            <a:spLocks noGrp="1"/>
          </p:cNvSpPr>
          <p:nvPr>
            <p:ph type="title"/>
          </p:nvPr>
        </p:nvSpPr>
        <p:spPr/>
        <p:txBody>
          <a:bodyPr/>
          <a:lstStyle/>
          <a:p>
            <a:r>
              <a:rPr lang="en-US" dirty="0"/>
              <a:t>Exception Handling and Precision</a:t>
            </a:r>
            <a:endParaRPr lang="he-IL" dirty="0"/>
          </a:p>
        </p:txBody>
      </p:sp>
      <p:sp>
        <p:nvSpPr>
          <p:cNvPr id="3" name="Content Placeholder 2">
            <a:extLst>
              <a:ext uri="{FF2B5EF4-FFF2-40B4-BE49-F238E27FC236}">
                <a16:creationId xmlns:a16="http://schemas.microsoft.com/office/drawing/2014/main" id="{4E6A4648-380E-CF9A-DE82-0469E91D7D89}"/>
              </a:ext>
            </a:extLst>
          </p:cNvPr>
          <p:cNvSpPr>
            <a:spLocks noGrp="1"/>
          </p:cNvSpPr>
          <p:nvPr>
            <p:ph idx="1"/>
          </p:nvPr>
        </p:nvSpPr>
        <p:spPr/>
        <p:txBody>
          <a:bodyPr/>
          <a:lstStyle/>
          <a:p>
            <a:pPr marL="0" indent="0">
              <a:buNone/>
            </a:pPr>
            <a:r>
              <a:rPr lang="en-US" dirty="0"/>
              <a:t>Exception entry (svc)</a:t>
            </a:r>
          </a:p>
          <a:p>
            <a:pPr marL="0" indent="0">
              <a:buNone/>
            </a:pPr>
            <a:r>
              <a:rPr lang="en-US" dirty="0"/>
              <a:t>Exception return (</a:t>
            </a:r>
            <a:r>
              <a:rPr lang="en-US" dirty="0" err="1"/>
              <a:t>eret</a:t>
            </a:r>
            <a:r>
              <a:rPr lang="en-US" dirty="0"/>
              <a:t>).</a:t>
            </a:r>
          </a:p>
          <a:p>
            <a:pPr marL="0" indent="0">
              <a:buNone/>
            </a:pPr>
            <a:r>
              <a:rPr lang="en-US" dirty="0"/>
              <a:t>The hardware may handle an exception, even before program-order-before instructions have fully completed. </a:t>
            </a:r>
          </a:p>
          <a:p>
            <a:pPr marL="0" indent="0">
              <a:buNone/>
            </a:pPr>
            <a:r>
              <a:rPr lang="en-US" dirty="0"/>
              <a:t>Instructions may execute OOO across exception boundaries, requiring a modern definition for </a:t>
            </a:r>
            <a:r>
              <a:rPr lang="en-US" b="1" dirty="0"/>
              <a:t>precision</a:t>
            </a:r>
            <a:r>
              <a:rPr lang="en-US" dirty="0"/>
              <a:t>.</a:t>
            </a:r>
          </a:p>
          <a:p>
            <a:endParaRPr lang="en-US" dirty="0"/>
          </a:p>
          <a:p>
            <a:endParaRPr lang="he-IL" dirty="0"/>
          </a:p>
        </p:txBody>
      </p:sp>
      <p:pic>
        <p:nvPicPr>
          <p:cNvPr id="4" name="Picture 3">
            <a:extLst>
              <a:ext uri="{FF2B5EF4-FFF2-40B4-BE49-F238E27FC236}">
                <a16:creationId xmlns:a16="http://schemas.microsoft.com/office/drawing/2014/main" id="{CEE1C28A-2158-EE86-B892-203A5F35BB8D}"/>
              </a:ext>
            </a:extLst>
          </p:cNvPr>
          <p:cNvPicPr>
            <a:picLocks noChangeAspect="1"/>
          </p:cNvPicPr>
          <p:nvPr/>
        </p:nvPicPr>
        <p:blipFill>
          <a:blip r:embed="rId2"/>
          <a:stretch>
            <a:fillRect/>
          </a:stretch>
        </p:blipFill>
        <p:spPr>
          <a:xfrm>
            <a:off x="1748985" y="4521201"/>
            <a:ext cx="8914928" cy="1925732"/>
          </a:xfrm>
          <a:prstGeom prst="rect">
            <a:avLst/>
          </a:prstGeom>
        </p:spPr>
      </p:pic>
    </p:spTree>
    <p:extLst>
      <p:ext uri="{BB962C8B-B14F-4D97-AF65-F5344CB8AC3E}">
        <p14:creationId xmlns:p14="http://schemas.microsoft.com/office/powerpoint/2010/main" val="1634107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4D93E-8D1F-AE84-8008-41243A89A18A}"/>
              </a:ext>
            </a:extLst>
          </p:cNvPr>
          <p:cNvSpPr>
            <a:spLocks noGrp="1"/>
          </p:cNvSpPr>
          <p:nvPr>
            <p:ph type="title"/>
          </p:nvPr>
        </p:nvSpPr>
        <p:spPr/>
        <p:txBody>
          <a:bodyPr/>
          <a:lstStyle/>
          <a:p>
            <a:r>
              <a:rPr lang="en-US" dirty="0"/>
              <a:t>Exceptions and Context Synchronization</a:t>
            </a:r>
            <a:endParaRPr lang="he-IL" dirty="0"/>
          </a:p>
        </p:txBody>
      </p:sp>
      <p:sp>
        <p:nvSpPr>
          <p:cNvPr id="3" name="Content Placeholder 2">
            <a:extLst>
              <a:ext uri="{FF2B5EF4-FFF2-40B4-BE49-F238E27FC236}">
                <a16:creationId xmlns:a16="http://schemas.microsoft.com/office/drawing/2014/main" id="{552B4F8B-8698-AFAA-D4F7-8E9957FB5F20}"/>
              </a:ext>
            </a:extLst>
          </p:cNvPr>
          <p:cNvSpPr>
            <a:spLocks noGrp="1"/>
          </p:cNvSpPr>
          <p:nvPr>
            <p:ph idx="1"/>
          </p:nvPr>
        </p:nvSpPr>
        <p:spPr/>
        <p:txBody>
          <a:bodyPr>
            <a:normAutofit/>
          </a:bodyPr>
          <a:lstStyle/>
          <a:p>
            <a:pPr marL="0" indent="0">
              <a:buNone/>
            </a:pPr>
            <a:r>
              <a:rPr lang="en-US" dirty="0"/>
              <a:t>Exceptions change the control flow and processor context.</a:t>
            </a:r>
          </a:p>
          <a:p>
            <a:pPr marL="0" indent="0">
              <a:buNone/>
            </a:pPr>
            <a:r>
              <a:rPr lang="en-US" dirty="0"/>
              <a:t>Context includes:</a:t>
            </a:r>
          </a:p>
          <a:p>
            <a:pPr marL="0" indent="0">
              <a:buNone/>
            </a:pPr>
            <a:r>
              <a:rPr lang="en-US" dirty="0"/>
              <a:t>  - Current exception level</a:t>
            </a:r>
          </a:p>
          <a:p>
            <a:pPr marL="0" indent="0">
              <a:buNone/>
            </a:pPr>
            <a:r>
              <a:rPr lang="en-US" dirty="0"/>
              <a:t>  - Interrupt masking</a:t>
            </a:r>
          </a:p>
          <a:p>
            <a:pPr marL="0" indent="0">
              <a:buNone/>
            </a:pPr>
            <a:r>
              <a:rPr lang="en-US" dirty="0"/>
              <a:t>  - Processor flags &amp; special registers </a:t>
            </a:r>
          </a:p>
          <a:p>
            <a:pPr marL="0" indent="0">
              <a:buNone/>
            </a:pPr>
            <a:r>
              <a:rPr lang="en-US" b="1" dirty="0"/>
              <a:t>Changes may not take effect immediately.</a:t>
            </a:r>
          </a:p>
          <a:p>
            <a:pPr marL="0" indent="0">
              <a:buNone/>
            </a:pPr>
            <a:r>
              <a:rPr lang="en-US" dirty="0"/>
              <a:t>Program-order-later instructions must observe updated context.</a:t>
            </a:r>
          </a:p>
          <a:p>
            <a:pPr marL="0" indent="0">
              <a:buNone/>
            </a:pPr>
            <a:endParaRPr lang="he-IL" dirty="0"/>
          </a:p>
        </p:txBody>
      </p:sp>
      <p:pic>
        <p:nvPicPr>
          <p:cNvPr id="3074" name="Picture 2" descr="The Ten Reasons Not To Change | Ellenhorn">
            <a:extLst>
              <a:ext uri="{FF2B5EF4-FFF2-40B4-BE49-F238E27FC236}">
                <a16:creationId xmlns:a16="http://schemas.microsoft.com/office/drawing/2014/main" id="{88F524DD-5C3B-4A97-C938-DDFDAEF4D8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6900"/>
          <a:stretch>
            <a:fillRect/>
          </a:stretch>
        </p:blipFill>
        <p:spPr bwMode="auto">
          <a:xfrm>
            <a:off x="10085389" y="0"/>
            <a:ext cx="2106611" cy="2226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686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67C20-3C3C-4873-977C-BFA39D1DB81D}"/>
              </a:ext>
            </a:extLst>
          </p:cNvPr>
          <p:cNvSpPr>
            <a:spLocks noGrp="1"/>
          </p:cNvSpPr>
          <p:nvPr>
            <p:ph type="title"/>
          </p:nvPr>
        </p:nvSpPr>
        <p:spPr/>
        <p:txBody>
          <a:bodyPr/>
          <a:lstStyle/>
          <a:p>
            <a:r>
              <a:rPr lang="en-US" dirty="0"/>
              <a:t>Exceptions: Sources and Their Impact</a:t>
            </a:r>
            <a:endParaRPr lang="he-IL" dirty="0"/>
          </a:p>
        </p:txBody>
      </p:sp>
      <p:sp>
        <p:nvSpPr>
          <p:cNvPr id="3" name="Content Placeholder 2">
            <a:extLst>
              <a:ext uri="{FF2B5EF4-FFF2-40B4-BE49-F238E27FC236}">
                <a16:creationId xmlns:a16="http://schemas.microsoft.com/office/drawing/2014/main" id="{98D2B37C-9B28-E7CC-EB88-773F8675DABC}"/>
              </a:ext>
            </a:extLst>
          </p:cNvPr>
          <p:cNvSpPr>
            <a:spLocks noGrp="1"/>
          </p:cNvSpPr>
          <p:nvPr>
            <p:ph idx="1"/>
          </p:nvPr>
        </p:nvSpPr>
        <p:spPr/>
        <p:txBody>
          <a:bodyPr>
            <a:normAutofit/>
          </a:bodyPr>
          <a:lstStyle/>
          <a:p>
            <a:pPr marL="0" indent="0">
              <a:buNone/>
            </a:pPr>
            <a:r>
              <a:rPr lang="en-US" dirty="0"/>
              <a:t>An interrupt is the most common type of exception.</a:t>
            </a:r>
          </a:p>
          <a:p>
            <a:pPr marL="0" indent="0">
              <a:buNone/>
            </a:pPr>
            <a:r>
              <a:rPr lang="en-US" dirty="0"/>
              <a:t>A page fault is the most common fault-type exception.</a:t>
            </a:r>
          </a:p>
          <a:p>
            <a:pPr marL="0" indent="0">
              <a:buNone/>
            </a:pPr>
            <a:r>
              <a:rPr lang="en-US" dirty="0"/>
              <a:t>Exception may come with </a:t>
            </a:r>
            <a:r>
              <a:rPr lang="en-US" b="1" dirty="0"/>
              <a:t>extra synchronization </a:t>
            </a:r>
            <a:r>
              <a:rPr lang="en-US" dirty="0"/>
              <a:t>(memory barriers)</a:t>
            </a:r>
            <a:r>
              <a:rPr lang="en-US" b="1" dirty="0"/>
              <a:t> </a:t>
            </a:r>
            <a:r>
              <a:rPr lang="en-US" dirty="0"/>
              <a:t>and/or </a:t>
            </a:r>
            <a:r>
              <a:rPr lang="en-US" b="1" dirty="0"/>
              <a:t>non-determinism (</a:t>
            </a:r>
            <a:r>
              <a:rPr lang="en-US" dirty="0"/>
              <a:t>timing of interrupts).</a:t>
            </a:r>
          </a:p>
          <a:p>
            <a:pPr marL="0" indent="0">
              <a:buNone/>
            </a:pPr>
            <a:endParaRPr lang="en-US" b="1" dirty="0"/>
          </a:p>
          <a:p>
            <a:pPr marL="0" indent="0">
              <a:buNone/>
            </a:pPr>
            <a:r>
              <a:rPr lang="en-US" b="1" dirty="0"/>
              <a:t>System calls</a:t>
            </a:r>
            <a:r>
              <a:rPr lang="en-US" dirty="0"/>
              <a:t> are useful for exploring these effects.</a:t>
            </a:r>
          </a:p>
          <a:p>
            <a:pPr marL="0" indent="0">
              <a:buNone/>
            </a:pPr>
            <a:r>
              <a:rPr lang="en-US" dirty="0"/>
              <a:t>	-act as </a:t>
            </a:r>
            <a:r>
              <a:rPr lang="en-US" i="1" dirty="0"/>
              <a:t>exception-generating instructions</a:t>
            </a:r>
            <a:r>
              <a:rPr lang="en-US" dirty="0"/>
              <a:t>.</a:t>
            </a:r>
          </a:p>
          <a:p>
            <a:pPr marL="0" indent="0">
              <a:buNone/>
            </a:pPr>
            <a:r>
              <a:rPr lang="en-US" dirty="0"/>
              <a:t>	-a baseline for studying </a:t>
            </a:r>
            <a:r>
              <a:rPr lang="en-US" b="1" dirty="0"/>
              <a:t>precision</a:t>
            </a:r>
            <a:r>
              <a:rPr lang="en-US" dirty="0"/>
              <a:t> in relaxed memory models.</a:t>
            </a:r>
          </a:p>
          <a:p>
            <a:pPr marL="0" indent="0">
              <a:buNone/>
            </a:pPr>
            <a:endParaRPr lang="he-IL" dirty="0"/>
          </a:p>
        </p:txBody>
      </p:sp>
    </p:spTree>
    <p:extLst>
      <p:ext uri="{BB962C8B-B14F-4D97-AF65-F5344CB8AC3E}">
        <p14:creationId xmlns:p14="http://schemas.microsoft.com/office/powerpoint/2010/main" val="3149450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0BDB-BD86-829D-E71B-AD3D3BBA458E}"/>
              </a:ext>
            </a:extLst>
          </p:cNvPr>
          <p:cNvSpPr>
            <a:spLocks noGrp="1"/>
          </p:cNvSpPr>
          <p:nvPr>
            <p:ph type="title"/>
          </p:nvPr>
        </p:nvSpPr>
        <p:spPr/>
        <p:txBody>
          <a:bodyPr/>
          <a:lstStyle/>
          <a:p>
            <a:r>
              <a:rPr lang="en-US" dirty="0"/>
              <a:t>Ordering Remains Relaxed Across Exception Boundaries</a:t>
            </a:r>
            <a:endParaRPr lang="he-IL" dirty="0"/>
          </a:p>
        </p:txBody>
      </p:sp>
      <p:sp>
        <p:nvSpPr>
          <p:cNvPr id="3" name="Content Placeholder 2">
            <a:extLst>
              <a:ext uri="{FF2B5EF4-FFF2-40B4-BE49-F238E27FC236}">
                <a16:creationId xmlns:a16="http://schemas.microsoft.com/office/drawing/2014/main" id="{C84A1CBE-82AA-1CA1-7D34-24D06D9C4B45}"/>
              </a:ext>
            </a:extLst>
          </p:cNvPr>
          <p:cNvSpPr>
            <a:spLocks noGrp="1"/>
          </p:cNvSpPr>
          <p:nvPr>
            <p:ph idx="1"/>
          </p:nvPr>
        </p:nvSpPr>
        <p:spPr/>
        <p:txBody>
          <a:bodyPr>
            <a:normAutofit/>
          </a:bodyPr>
          <a:lstStyle/>
          <a:p>
            <a:pPr marL="0" indent="0">
              <a:buNone/>
            </a:pPr>
            <a:r>
              <a:rPr lang="en-US" dirty="0"/>
              <a:t>Even though an </a:t>
            </a:r>
            <a:r>
              <a:rPr lang="en-US" b="1" dirty="0"/>
              <a:t>exception is taken</a:t>
            </a:r>
            <a:r>
              <a:rPr lang="en-US" dirty="0"/>
              <a:t>, the architecture allows </a:t>
            </a:r>
            <a:r>
              <a:rPr lang="en-US" b="1" dirty="0"/>
              <a:t>reads/writes to forward values</a:t>
            </a:r>
            <a:r>
              <a:rPr lang="en-US" dirty="0"/>
              <a:t> across the boundary.</a:t>
            </a:r>
          </a:p>
          <a:p>
            <a:pPr marL="0" indent="0">
              <a:buNone/>
            </a:pPr>
            <a:endParaRPr lang="en-US" dirty="0"/>
          </a:p>
          <a:p>
            <a:pPr marL="0" indent="0">
              <a:buNone/>
            </a:pPr>
            <a:r>
              <a:rPr lang="en-US" b="1" dirty="0"/>
              <a:t>Forwarding and reordering </a:t>
            </a:r>
            <a:r>
              <a:rPr lang="en-US" dirty="0"/>
              <a:t>can still happen unless explicit barriers are inserted.</a:t>
            </a:r>
            <a:endParaRPr lang="he-IL" dirty="0"/>
          </a:p>
          <a:p>
            <a:pPr marL="0" indent="0">
              <a:buNone/>
            </a:pPr>
            <a:endParaRPr lang="en-US" dirty="0"/>
          </a:p>
          <a:p>
            <a:pPr marL="0" indent="0">
              <a:buNone/>
            </a:pPr>
            <a:r>
              <a:rPr lang="en-US" dirty="0"/>
              <a:t>The exception </a:t>
            </a:r>
            <a:r>
              <a:rPr lang="en-US" b="1" dirty="0"/>
              <a:t>handler itself runs non-speculatively</a:t>
            </a:r>
            <a:r>
              <a:rPr lang="en-US" dirty="0"/>
              <a:t> (it doesn’t execute before the exception is confirmed),</a:t>
            </a:r>
            <a:br>
              <a:rPr lang="en-US" dirty="0"/>
            </a:br>
            <a:endParaRPr lang="he-IL" dirty="0"/>
          </a:p>
        </p:txBody>
      </p:sp>
    </p:spTree>
    <p:extLst>
      <p:ext uri="{BB962C8B-B14F-4D97-AF65-F5344CB8AC3E}">
        <p14:creationId xmlns:p14="http://schemas.microsoft.com/office/powerpoint/2010/main" val="2764248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9617F-79BC-9C3A-4DFE-FB9DF0F486FF}"/>
              </a:ext>
            </a:extLst>
          </p:cNvPr>
          <p:cNvSpPr>
            <a:spLocks noGrp="1"/>
          </p:cNvSpPr>
          <p:nvPr>
            <p:ph type="title"/>
          </p:nvPr>
        </p:nvSpPr>
        <p:spPr/>
        <p:txBody>
          <a:bodyPr/>
          <a:lstStyle/>
          <a:p>
            <a:r>
              <a:rPr lang="en-US" dirty="0"/>
              <a:t>Exception Metadata Can Enforce Ordering</a:t>
            </a:r>
            <a:endParaRPr lang="he-IL" dirty="0"/>
          </a:p>
        </p:txBody>
      </p:sp>
      <p:sp>
        <p:nvSpPr>
          <p:cNvPr id="3" name="Content Placeholder 2">
            <a:extLst>
              <a:ext uri="{FF2B5EF4-FFF2-40B4-BE49-F238E27FC236}">
                <a16:creationId xmlns:a16="http://schemas.microsoft.com/office/drawing/2014/main" id="{A66CBD33-AB60-5974-5F90-D8B74467C563}"/>
              </a:ext>
            </a:extLst>
          </p:cNvPr>
          <p:cNvSpPr>
            <a:spLocks noGrp="1"/>
          </p:cNvSpPr>
          <p:nvPr>
            <p:ph idx="1"/>
          </p:nvPr>
        </p:nvSpPr>
        <p:spPr/>
        <p:txBody>
          <a:bodyPr>
            <a:normAutofit/>
          </a:bodyPr>
          <a:lstStyle/>
          <a:p>
            <a:pPr marL="0" indent="0">
              <a:buNone/>
            </a:pPr>
            <a:r>
              <a:rPr lang="en-US" dirty="0"/>
              <a:t>When an exception is taken or returned from, system registers are read as part of context.</a:t>
            </a:r>
          </a:p>
          <a:p>
            <a:pPr marL="0" indent="0">
              <a:buNone/>
            </a:pPr>
            <a:r>
              <a:rPr lang="en-US" dirty="0"/>
              <a:t>These reads can participate in </a:t>
            </a:r>
            <a:r>
              <a:rPr lang="en-US" b="1" dirty="0"/>
              <a:t>register dependency chains</a:t>
            </a:r>
            <a:r>
              <a:rPr lang="en-US" dirty="0"/>
              <a:t>, even if the exception logic itself is unaffected.</a:t>
            </a:r>
          </a:p>
          <a:p>
            <a:pPr marL="0" indent="0">
              <a:buNone/>
            </a:pPr>
            <a:r>
              <a:rPr lang="en-US" dirty="0"/>
              <a:t>Such dependencies compose with context synchronization and may enforce ordering to program-order-after instructions.</a:t>
            </a:r>
          </a:p>
        </p:txBody>
      </p:sp>
    </p:spTree>
    <p:extLst>
      <p:ext uri="{BB962C8B-B14F-4D97-AF65-F5344CB8AC3E}">
        <p14:creationId xmlns:p14="http://schemas.microsoft.com/office/powerpoint/2010/main" val="2933699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7F3F-D506-CF90-E5A2-F22F98FB1DE2}"/>
              </a:ext>
            </a:extLst>
          </p:cNvPr>
          <p:cNvSpPr>
            <a:spLocks noGrp="1"/>
          </p:cNvSpPr>
          <p:nvPr>
            <p:ph type="title"/>
          </p:nvPr>
        </p:nvSpPr>
        <p:spPr/>
        <p:txBody>
          <a:bodyPr/>
          <a:lstStyle/>
          <a:p>
            <a:r>
              <a:rPr lang="en-US" dirty="0"/>
              <a:t>Not All Exception Kinds Are Equal</a:t>
            </a:r>
            <a:endParaRPr lang="he-IL" dirty="0"/>
          </a:p>
        </p:txBody>
      </p:sp>
      <p:sp>
        <p:nvSpPr>
          <p:cNvPr id="3" name="Content Placeholder 2">
            <a:extLst>
              <a:ext uri="{FF2B5EF4-FFF2-40B4-BE49-F238E27FC236}">
                <a16:creationId xmlns:a16="http://schemas.microsoft.com/office/drawing/2014/main" id="{D8142FD8-B759-F028-9D35-7D73E974792E}"/>
              </a:ext>
            </a:extLst>
          </p:cNvPr>
          <p:cNvSpPr>
            <a:spLocks noGrp="1"/>
          </p:cNvSpPr>
          <p:nvPr>
            <p:ph idx="1"/>
          </p:nvPr>
        </p:nvSpPr>
        <p:spPr>
          <a:xfrm>
            <a:off x="838200" y="1835150"/>
            <a:ext cx="10515600" cy="4351338"/>
          </a:xfrm>
        </p:spPr>
        <p:txBody>
          <a:bodyPr/>
          <a:lstStyle/>
          <a:p>
            <a:pPr marL="0" indent="0">
              <a:buNone/>
            </a:pPr>
            <a:r>
              <a:rPr lang="en-US" dirty="0"/>
              <a:t>Page faults gain additional ordering from program-order-before.</a:t>
            </a:r>
          </a:p>
          <a:p>
            <a:pPr marL="0" indent="0">
              <a:buNone/>
            </a:pPr>
            <a:r>
              <a:rPr lang="en-US" dirty="0"/>
              <a:t>Interrupts and other asynchronous events </a:t>
            </a:r>
            <a:r>
              <a:rPr lang="en-US" b="1" dirty="0"/>
              <a:t>do not</a:t>
            </a:r>
            <a:r>
              <a:rPr lang="en-US" dirty="0"/>
              <a:t> guarantee such ordering.</a:t>
            </a:r>
          </a:p>
          <a:p>
            <a:pPr marL="0" indent="0">
              <a:buNone/>
            </a:pPr>
            <a:r>
              <a:rPr lang="en-US" dirty="0"/>
              <a:t>⚠️ Interaction between page faults and asynchronous interrupts is subtle and may require domain-specific clarification.</a:t>
            </a:r>
          </a:p>
        </p:txBody>
      </p:sp>
    </p:spTree>
    <p:extLst>
      <p:ext uri="{BB962C8B-B14F-4D97-AF65-F5344CB8AC3E}">
        <p14:creationId xmlns:p14="http://schemas.microsoft.com/office/powerpoint/2010/main" val="198365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8561-F058-38AB-C3A5-EB6EB816107E}"/>
              </a:ext>
            </a:extLst>
          </p:cNvPr>
          <p:cNvSpPr>
            <a:spLocks noGrp="1"/>
          </p:cNvSpPr>
          <p:nvPr>
            <p:ph type="title"/>
          </p:nvPr>
        </p:nvSpPr>
        <p:spPr/>
        <p:txBody>
          <a:bodyPr/>
          <a:lstStyle/>
          <a:p>
            <a:r>
              <a:rPr lang="en-US" dirty="0"/>
              <a:t>Challenges in Defining Precision</a:t>
            </a:r>
            <a:endParaRPr lang="he-IL" dirty="0"/>
          </a:p>
        </p:txBody>
      </p:sp>
      <p:sp>
        <p:nvSpPr>
          <p:cNvPr id="3" name="Content Placeholder 2">
            <a:extLst>
              <a:ext uri="{FF2B5EF4-FFF2-40B4-BE49-F238E27FC236}">
                <a16:creationId xmlns:a16="http://schemas.microsoft.com/office/drawing/2014/main" id="{26AF7165-5590-2A13-1D6E-539ECDF53A8D}"/>
              </a:ext>
            </a:extLst>
          </p:cNvPr>
          <p:cNvSpPr>
            <a:spLocks noGrp="1"/>
          </p:cNvSpPr>
          <p:nvPr>
            <p:ph idx="1"/>
          </p:nvPr>
        </p:nvSpPr>
        <p:spPr/>
        <p:txBody>
          <a:bodyPr>
            <a:normAutofit/>
          </a:bodyPr>
          <a:lstStyle/>
          <a:p>
            <a:pPr marL="0" indent="0">
              <a:buNone/>
            </a:pPr>
            <a:r>
              <a:rPr lang="en-US" dirty="0"/>
              <a:t>Arm reference defines precision as:</a:t>
            </a:r>
          </a:p>
          <a:p>
            <a:pPr marL="0" indent="0">
              <a:buNone/>
            </a:pPr>
            <a:r>
              <a:rPr lang="en-US" dirty="0"/>
              <a:t>An exception is </a:t>
            </a:r>
            <a:r>
              <a:rPr lang="en-US" b="1" dirty="0"/>
              <a:t>precise</a:t>
            </a:r>
            <a:r>
              <a:rPr lang="en-US" dirty="0"/>
              <a:t> if, on taking the exception, the hardware thread state and the memory system state are consistent, with the processing element having executed all of the instructions up to, but not including, the point in the instruction stream where the exception was taken from, and none afterwards.</a:t>
            </a:r>
            <a:endParaRPr lang="he-IL" dirty="0"/>
          </a:p>
        </p:txBody>
      </p:sp>
    </p:spTree>
    <p:extLst>
      <p:ext uri="{BB962C8B-B14F-4D97-AF65-F5344CB8AC3E}">
        <p14:creationId xmlns:p14="http://schemas.microsoft.com/office/powerpoint/2010/main" val="2469571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305A5-57B9-13DA-B93F-79689A74830C}"/>
              </a:ext>
            </a:extLst>
          </p:cNvPr>
          <p:cNvSpPr>
            <a:spLocks noGrp="1"/>
          </p:cNvSpPr>
          <p:nvPr>
            <p:ph type="title"/>
          </p:nvPr>
        </p:nvSpPr>
        <p:spPr/>
        <p:txBody>
          <a:bodyPr/>
          <a:lstStyle/>
          <a:p>
            <a:r>
              <a:rPr lang="en-US" dirty="0"/>
              <a:t>Exceptions and Side Effects Under Relaxed Memory</a:t>
            </a:r>
            <a:endParaRPr lang="he-IL" dirty="0"/>
          </a:p>
        </p:txBody>
      </p:sp>
      <p:sp>
        <p:nvSpPr>
          <p:cNvPr id="3" name="Content Placeholder 2">
            <a:extLst>
              <a:ext uri="{FF2B5EF4-FFF2-40B4-BE49-F238E27FC236}">
                <a16:creationId xmlns:a16="http://schemas.microsoft.com/office/drawing/2014/main" id="{048153E6-B385-D6B0-8F12-45025421FA33}"/>
              </a:ext>
            </a:extLst>
          </p:cNvPr>
          <p:cNvSpPr>
            <a:spLocks noGrp="1"/>
          </p:cNvSpPr>
          <p:nvPr>
            <p:ph idx="1"/>
          </p:nvPr>
        </p:nvSpPr>
        <p:spPr/>
        <p:txBody>
          <a:bodyPr>
            <a:normAutofit/>
          </a:bodyPr>
          <a:lstStyle/>
          <a:p>
            <a:pPr marL="0" indent="0">
              <a:buNone/>
            </a:pPr>
            <a:r>
              <a:rPr lang="en-US" dirty="0"/>
              <a:t>This definition allows some side effects of faulting instructions to be visible: </a:t>
            </a:r>
          </a:p>
          <a:p>
            <a:pPr marL="0" indent="0">
              <a:buNone/>
            </a:pPr>
            <a:r>
              <a:rPr lang="en-US" dirty="0"/>
              <a:t>	Unused registers values: </a:t>
            </a:r>
            <a:r>
              <a:rPr lang="en-US" b="1" dirty="0"/>
              <a:t>UNKNOWN</a:t>
            </a:r>
          </a:p>
          <a:p>
            <a:pPr marL="0" indent="0">
              <a:buNone/>
            </a:pPr>
            <a:r>
              <a:rPr lang="en-US" dirty="0"/>
              <a:t>	Writes not causing exceptions may also become </a:t>
            </a:r>
            <a:r>
              <a:rPr lang="en-US" b="1" dirty="0"/>
              <a:t>UNKNOWN</a:t>
            </a:r>
          </a:p>
          <a:p>
            <a:pPr marL="0" indent="0">
              <a:buNone/>
            </a:pPr>
            <a:r>
              <a:rPr lang="en-US" dirty="0"/>
              <a:t>Both can be </a:t>
            </a:r>
            <a:r>
              <a:rPr lang="en-US" b="1" dirty="0"/>
              <a:t>observable</a:t>
            </a:r>
            <a:r>
              <a:rPr lang="en-US" dirty="0"/>
              <a:t> by handler or other threads.</a:t>
            </a:r>
          </a:p>
          <a:p>
            <a:pPr marL="0" indent="0">
              <a:buNone/>
            </a:pPr>
            <a:r>
              <a:rPr lang="en-US" dirty="0"/>
              <a:t>This means instruction streams don’t capture </a:t>
            </a:r>
            <a:r>
              <a:rPr lang="en-US" b="1" dirty="0"/>
              <a:t>relaxed-memory </a:t>
            </a:r>
            <a:r>
              <a:rPr lang="en-US" dirty="0"/>
              <a:t>effects.</a:t>
            </a:r>
            <a:br>
              <a:rPr lang="en-US" dirty="0"/>
            </a:br>
            <a:r>
              <a:rPr lang="en-US" dirty="0"/>
              <a:t>While Arm classifies exceptions as</a:t>
            </a:r>
            <a:r>
              <a:rPr lang="en-US" b="1" dirty="0"/>
              <a:t> precise </a:t>
            </a:r>
            <a:r>
              <a:rPr lang="en-US" dirty="0"/>
              <a:t>or</a:t>
            </a:r>
            <a:r>
              <a:rPr lang="en-US" b="1" dirty="0"/>
              <a:t> imprecise</a:t>
            </a:r>
            <a:r>
              <a:rPr lang="en-US" dirty="0"/>
              <a:t>, defining </a:t>
            </a:r>
            <a:r>
              <a:rPr lang="en-US" b="1" dirty="0"/>
              <a:t>precision </a:t>
            </a:r>
            <a:r>
              <a:rPr lang="en-US" dirty="0"/>
              <a:t>under</a:t>
            </a:r>
            <a:r>
              <a:rPr lang="en-US" b="1" dirty="0"/>
              <a:t> relaxed memory </a:t>
            </a:r>
            <a:r>
              <a:rPr lang="en-US" dirty="0"/>
              <a:t>is inherently</a:t>
            </a:r>
            <a:r>
              <a:rPr lang="en-US" b="1" dirty="0"/>
              <a:t> difficult</a:t>
            </a:r>
            <a:r>
              <a:rPr lang="en-US" dirty="0"/>
              <a:t>.</a:t>
            </a:r>
            <a:endParaRPr lang="he-IL" dirty="0"/>
          </a:p>
          <a:p>
            <a:endParaRPr lang="en-US" dirty="0"/>
          </a:p>
          <a:p>
            <a:endParaRPr lang="he-IL" dirty="0"/>
          </a:p>
        </p:txBody>
      </p:sp>
    </p:spTree>
    <p:extLst>
      <p:ext uri="{BB962C8B-B14F-4D97-AF65-F5344CB8AC3E}">
        <p14:creationId xmlns:p14="http://schemas.microsoft.com/office/powerpoint/2010/main" val="1868910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2238-6814-B18C-D3FF-A76264E4273E}"/>
              </a:ext>
            </a:extLst>
          </p:cNvPr>
          <p:cNvSpPr>
            <a:spLocks noGrp="1"/>
          </p:cNvSpPr>
          <p:nvPr>
            <p:ph type="title"/>
          </p:nvPr>
        </p:nvSpPr>
        <p:spPr/>
        <p:txBody>
          <a:bodyPr/>
          <a:lstStyle/>
          <a:p>
            <a:r>
              <a:rPr lang="en-US" dirty="0"/>
              <a:t>Generic Interrupt Controller (GIC)</a:t>
            </a:r>
            <a:endParaRPr lang="he-IL" dirty="0"/>
          </a:p>
        </p:txBody>
      </p:sp>
      <p:sp>
        <p:nvSpPr>
          <p:cNvPr id="3" name="Content Placeholder 2">
            <a:extLst>
              <a:ext uri="{FF2B5EF4-FFF2-40B4-BE49-F238E27FC236}">
                <a16:creationId xmlns:a16="http://schemas.microsoft.com/office/drawing/2014/main" id="{8BB0348B-FAC8-E56D-4E44-BDCDC0BE8CCB}"/>
              </a:ext>
            </a:extLst>
          </p:cNvPr>
          <p:cNvSpPr>
            <a:spLocks noGrp="1"/>
          </p:cNvSpPr>
          <p:nvPr>
            <p:ph idx="1"/>
          </p:nvPr>
        </p:nvSpPr>
        <p:spPr/>
        <p:txBody>
          <a:bodyPr/>
          <a:lstStyle/>
          <a:p>
            <a:pPr marL="0" indent="0">
              <a:buNone/>
            </a:pPr>
            <a:r>
              <a:rPr lang="en-US" dirty="0"/>
              <a:t>A complex </a:t>
            </a:r>
            <a:r>
              <a:rPr lang="en-US" b="1" dirty="0"/>
              <a:t>hardware</a:t>
            </a:r>
            <a:r>
              <a:rPr lang="en-US" dirty="0"/>
              <a:t> component, with a 950-page specification.</a:t>
            </a:r>
          </a:p>
          <a:p>
            <a:pPr marL="0" indent="0">
              <a:buNone/>
            </a:pPr>
            <a:r>
              <a:rPr lang="en-US" dirty="0"/>
              <a:t>Modeling it fully would be a major project.</a:t>
            </a:r>
            <a:endParaRPr lang="he-IL" dirty="0"/>
          </a:p>
        </p:txBody>
      </p:sp>
      <p:sp>
        <p:nvSpPr>
          <p:cNvPr id="4" name="Rectangle 3">
            <a:extLst>
              <a:ext uri="{FF2B5EF4-FFF2-40B4-BE49-F238E27FC236}">
                <a16:creationId xmlns:a16="http://schemas.microsoft.com/office/drawing/2014/main" id="{8C19315E-7528-BB91-3C0F-4613F81E2D14}"/>
              </a:ext>
            </a:extLst>
          </p:cNvPr>
          <p:cNvSpPr/>
          <p:nvPr/>
        </p:nvSpPr>
        <p:spPr>
          <a:xfrm>
            <a:off x="354740" y="4773378"/>
            <a:ext cx="2631688" cy="1326995"/>
          </a:xfrm>
          <a:prstGeom prst="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800" dirty="0"/>
              <a:t>Devices</a:t>
            </a:r>
            <a:endParaRPr lang="he-IL" dirty="0"/>
          </a:p>
        </p:txBody>
      </p:sp>
      <p:sp>
        <p:nvSpPr>
          <p:cNvPr id="5" name="Rectangle 4">
            <a:extLst>
              <a:ext uri="{FF2B5EF4-FFF2-40B4-BE49-F238E27FC236}">
                <a16:creationId xmlns:a16="http://schemas.microsoft.com/office/drawing/2014/main" id="{66F5FECD-2B41-885F-6213-28E42B8213BC}"/>
              </a:ext>
            </a:extLst>
          </p:cNvPr>
          <p:cNvSpPr/>
          <p:nvPr/>
        </p:nvSpPr>
        <p:spPr>
          <a:xfrm>
            <a:off x="3960346" y="3183038"/>
            <a:ext cx="2631688" cy="1326995"/>
          </a:xfrm>
          <a:prstGeom prst="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800" dirty="0"/>
              <a:t>GIC</a:t>
            </a:r>
            <a:endParaRPr lang="he-IL" dirty="0"/>
          </a:p>
        </p:txBody>
      </p:sp>
      <p:sp>
        <p:nvSpPr>
          <p:cNvPr id="6" name="Rectangle 5">
            <a:extLst>
              <a:ext uri="{FF2B5EF4-FFF2-40B4-BE49-F238E27FC236}">
                <a16:creationId xmlns:a16="http://schemas.microsoft.com/office/drawing/2014/main" id="{EABEE11C-713A-3070-D2FF-E22355E4DC1E}"/>
              </a:ext>
            </a:extLst>
          </p:cNvPr>
          <p:cNvSpPr/>
          <p:nvPr/>
        </p:nvSpPr>
        <p:spPr>
          <a:xfrm>
            <a:off x="8586135" y="4592290"/>
            <a:ext cx="2631688" cy="1326995"/>
          </a:xfrm>
          <a:prstGeom prst="rect">
            <a:avLst/>
          </a:prstGeom>
          <a:solidFill>
            <a:schemeClr val="accent5">
              <a:lumMod val="60000"/>
              <a:lumOff val="40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2800" dirty="0"/>
              <a:t>CPU</a:t>
            </a:r>
            <a:r>
              <a:rPr lang="he-IL" sz="2800" dirty="0"/>
              <a:t> </a:t>
            </a:r>
            <a:r>
              <a:rPr lang="en-US" sz="2800" dirty="0"/>
              <a:t>Cores</a:t>
            </a:r>
            <a:endParaRPr lang="he-IL" sz="2800" dirty="0"/>
          </a:p>
        </p:txBody>
      </p:sp>
      <p:cxnSp>
        <p:nvCxnSpPr>
          <p:cNvPr id="8" name="Straight Arrow Connector 7">
            <a:extLst>
              <a:ext uri="{FF2B5EF4-FFF2-40B4-BE49-F238E27FC236}">
                <a16:creationId xmlns:a16="http://schemas.microsoft.com/office/drawing/2014/main" id="{F7AD1230-5ADE-34B2-DDDC-FC885FFE5AEF}"/>
              </a:ext>
            </a:extLst>
          </p:cNvPr>
          <p:cNvCxnSpPr>
            <a:cxnSpLocks/>
            <a:stCxn id="4" idx="3"/>
            <a:endCxn id="5" idx="1"/>
          </p:cNvCxnSpPr>
          <p:nvPr/>
        </p:nvCxnSpPr>
        <p:spPr>
          <a:xfrm flipV="1">
            <a:off x="2986428" y="3846536"/>
            <a:ext cx="973918" cy="159034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291ECE8-4ACC-549B-3A4B-170033AD7677}"/>
              </a:ext>
            </a:extLst>
          </p:cNvPr>
          <p:cNvCxnSpPr>
            <a:cxnSpLocks/>
            <a:stCxn id="5" idx="3"/>
            <a:endCxn id="6" idx="1"/>
          </p:cNvCxnSpPr>
          <p:nvPr/>
        </p:nvCxnSpPr>
        <p:spPr>
          <a:xfrm>
            <a:off x="6592034" y="3846536"/>
            <a:ext cx="1994101" cy="140925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5908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6D54-2A3A-F89E-5A89-D6AFE21363DB}"/>
              </a:ext>
            </a:extLst>
          </p:cNvPr>
          <p:cNvSpPr>
            <a:spLocks noGrp="1"/>
          </p:cNvSpPr>
          <p:nvPr>
            <p:ph type="title"/>
          </p:nvPr>
        </p:nvSpPr>
        <p:spPr/>
        <p:txBody>
          <a:bodyPr/>
          <a:lstStyle/>
          <a:p>
            <a:r>
              <a:rPr lang="en-US" dirty="0"/>
              <a:t>IPI, SGI, and GIC: Coordinating Cores</a:t>
            </a:r>
            <a:endParaRPr lang="he-IL" dirty="0"/>
          </a:p>
        </p:txBody>
      </p:sp>
      <p:sp>
        <p:nvSpPr>
          <p:cNvPr id="3" name="Content Placeholder 2">
            <a:extLst>
              <a:ext uri="{FF2B5EF4-FFF2-40B4-BE49-F238E27FC236}">
                <a16:creationId xmlns:a16="http://schemas.microsoft.com/office/drawing/2014/main" id="{CCDA2DB6-C08F-5E68-B3BD-38683F31ED39}"/>
              </a:ext>
            </a:extLst>
          </p:cNvPr>
          <p:cNvSpPr>
            <a:spLocks noGrp="1"/>
          </p:cNvSpPr>
          <p:nvPr>
            <p:ph idx="1"/>
          </p:nvPr>
        </p:nvSpPr>
        <p:spPr/>
        <p:txBody>
          <a:bodyPr>
            <a:normAutofit/>
          </a:bodyPr>
          <a:lstStyle/>
          <a:p>
            <a:pPr marL="0" indent="0">
              <a:buNone/>
            </a:pPr>
            <a:r>
              <a:rPr lang="he-IL" dirty="0"/>
              <a:t>🧠</a:t>
            </a:r>
            <a:r>
              <a:rPr lang="en-US" dirty="0"/>
              <a:t>IPI – inter processor interrupt. An interrupt one CPU core sends to another in a multiprocessor system.</a:t>
            </a:r>
          </a:p>
          <a:p>
            <a:pPr marL="0" indent="0">
              <a:buNone/>
            </a:pPr>
            <a:r>
              <a:rPr lang="he-IL" dirty="0"/>
              <a:t>💻</a:t>
            </a:r>
            <a:r>
              <a:rPr lang="en-US" dirty="0"/>
              <a:t>SGI – Software generated interrupt. A software-triggered interrupt used to signal another core- the Arm equivalent of an IPI.</a:t>
            </a:r>
          </a:p>
          <a:p>
            <a:pPr marL="0" indent="0">
              <a:buNone/>
            </a:pPr>
            <a:r>
              <a:rPr lang="he-IL" dirty="0"/>
              <a:t>⚙️</a:t>
            </a:r>
            <a:r>
              <a:rPr lang="en-US" dirty="0"/>
              <a:t>GIC – Generic Interrupt Controller, Arm’s hardware block for managing interrupts across cores, providing a uniform API for sending and routing them.</a:t>
            </a:r>
          </a:p>
          <a:p>
            <a:pPr marL="0" indent="0">
              <a:buNone/>
            </a:pPr>
            <a:r>
              <a:rPr lang="en-US" dirty="0"/>
              <a:t>Use of SGIs depends on understanding how exceptions interact with relaxed-memory behavior.</a:t>
            </a:r>
            <a:endParaRPr lang="he-IL" dirty="0"/>
          </a:p>
        </p:txBody>
      </p:sp>
    </p:spTree>
    <p:extLst>
      <p:ext uri="{BB962C8B-B14F-4D97-AF65-F5344CB8AC3E}">
        <p14:creationId xmlns:p14="http://schemas.microsoft.com/office/powerpoint/2010/main" val="4093457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7FA7E-CDBA-97C9-1A46-1B59B39B0876}"/>
              </a:ext>
            </a:extLst>
          </p:cNvPr>
          <p:cNvSpPr>
            <a:spLocks noGrp="1"/>
          </p:cNvSpPr>
          <p:nvPr>
            <p:ph type="title"/>
          </p:nvPr>
        </p:nvSpPr>
        <p:spPr/>
        <p:txBody>
          <a:bodyPr/>
          <a:lstStyle/>
          <a:p>
            <a:r>
              <a:rPr lang="en-US" dirty="0"/>
              <a:t>Interrupt Ordering and Delivery Guarantees</a:t>
            </a:r>
            <a:endParaRPr lang="he-IL" dirty="0"/>
          </a:p>
        </p:txBody>
      </p:sp>
      <p:sp>
        <p:nvSpPr>
          <p:cNvPr id="3" name="Content Placeholder 2">
            <a:extLst>
              <a:ext uri="{FF2B5EF4-FFF2-40B4-BE49-F238E27FC236}">
                <a16:creationId xmlns:a16="http://schemas.microsoft.com/office/drawing/2014/main" id="{8BBE2C70-6172-D4AE-B609-50659C0661CB}"/>
              </a:ext>
            </a:extLst>
          </p:cNvPr>
          <p:cNvSpPr>
            <a:spLocks noGrp="1"/>
          </p:cNvSpPr>
          <p:nvPr>
            <p:ph idx="1"/>
          </p:nvPr>
        </p:nvSpPr>
        <p:spPr/>
        <p:txBody>
          <a:bodyPr>
            <a:normAutofit/>
          </a:bodyPr>
          <a:lstStyle/>
          <a:p>
            <a:pPr marL="0" indent="0">
              <a:buNone/>
            </a:pPr>
            <a:r>
              <a:rPr lang="he-IL" dirty="0"/>
              <a:t>⚠️ </a:t>
            </a:r>
            <a:r>
              <a:rPr lang="en-US" dirty="0"/>
              <a:t>There are few guarantees on the order of SGI or interrupt delivery.</a:t>
            </a:r>
          </a:p>
          <a:p>
            <a:pPr marL="0" indent="0">
              <a:buNone/>
            </a:pPr>
            <a:r>
              <a:rPr lang="he-IL" dirty="0"/>
              <a:t>🧩</a:t>
            </a:r>
            <a:r>
              <a:rPr lang="en-US" dirty="0"/>
              <a:t>Interrupts can reach a core at any time, and multiple pending ones may arrive in any order.</a:t>
            </a:r>
          </a:p>
          <a:p>
            <a:pPr marL="0" indent="0">
              <a:buNone/>
            </a:pPr>
            <a:r>
              <a:rPr lang="he-IL" dirty="0"/>
              <a:t>🔀 </a:t>
            </a:r>
            <a:r>
              <a:rPr lang="en-US" dirty="0"/>
              <a:t>Unlike memory operations, interrupts lack coherence or atomicity guarantees, they may be reordered or delivered differently across cores.</a:t>
            </a:r>
          </a:p>
          <a:p>
            <a:pPr marL="0" indent="0">
              <a:buNone/>
            </a:pPr>
            <a:r>
              <a:rPr lang="he-IL" dirty="0"/>
              <a:t>🚫</a:t>
            </a:r>
            <a:r>
              <a:rPr lang="en-US" dirty="0"/>
              <a:t>However, interrupts can’t be speculated, so they’re never delivered before being generated.</a:t>
            </a:r>
            <a:endParaRPr lang="he-IL" dirty="0"/>
          </a:p>
        </p:txBody>
      </p:sp>
    </p:spTree>
    <p:extLst>
      <p:ext uri="{BB962C8B-B14F-4D97-AF65-F5344CB8AC3E}">
        <p14:creationId xmlns:p14="http://schemas.microsoft.com/office/powerpoint/2010/main" val="30058852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74FA7-4948-C1BB-7DED-1273647A387B}"/>
              </a:ext>
            </a:extLst>
          </p:cNvPr>
          <p:cNvSpPr>
            <a:spLocks noGrp="1"/>
          </p:cNvSpPr>
          <p:nvPr>
            <p:ph type="title"/>
          </p:nvPr>
        </p:nvSpPr>
        <p:spPr/>
        <p:txBody>
          <a:bodyPr/>
          <a:lstStyle/>
          <a:p>
            <a:r>
              <a:rPr lang="en-US" dirty="0"/>
              <a:t>Interrupt Flow in the GIC</a:t>
            </a:r>
            <a:endParaRPr lang="he-IL" dirty="0"/>
          </a:p>
        </p:txBody>
      </p:sp>
      <p:sp>
        <p:nvSpPr>
          <p:cNvPr id="3" name="Content Placeholder 2">
            <a:extLst>
              <a:ext uri="{FF2B5EF4-FFF2-40B4-BE49-F238E27FC236}">
                <a16:creationId xmlns:a16="http://schemas.microsoft.com/office/drawing/2014/main" id="{E34129A1-3CBC-5447-F5D6-E74261395926}"/>
              </a:ext>
            </a:extLst>
          </p:cNvPr>
          <p:cNvSpPr>
            <a:spLocks noGrp="1"/>
          </p:cNvSpPr>
          <p:nvPr>
            <p:ph idx="1"/>
          </p:nvPr>
        </p:nvSpPr>
        <p:spPr/>
        <p:txBody>
          <a:bodyPr>
            <a:normAutofit/>
          </a:bodyPr>
          <a:lstStyle/>
          <a:p>
            <a:pPr marL="0" indent="0">
              <a:buNone/>
            </a:pPr>
            <a:r>
              <a:rPr lang="he-IL" dirty="0"/>
              <a:t>✳️</a:t>
            </a:r>
            <a:r>
              <a:rPr lang="en-US" dirty="0"/>
              <a:t>An interrupt originates from a hardware thread or peripheral and is </a:t>
            </a:r>
            <a:r>
              <a:rPr lang="en-US" u="sng" dirty="0"/>
              <a:t>sent to the interrupt controller</a:t>
            </a:r>
            <a:r>
              <a:rPr lang="en-US" dirty="0"/>
              <a:t>, which includes a </a:t>
            </a:r>
            <a:r>
              <a:rPr lang="en-US" b="1" dirty="0"/>
              <a:t>distributor</a:t>
            </a:r>
            <a:r>
              <a:rPr lang="en-US" dirty="0"/>
              <a:t> (routes interrupts to cores) and </a:t>
            </a:r>
            <a:r>
              <a:rPr lang="en-US" b="1" dirty="0"/>
              <a:t>redistributors</a:t>
            </a:r>
            <a:r>
              <a:rPr lang="en-US" dirty="0"/>
              <a:t> (manage per-core state).</a:t>
            </a:r>
          </a:p>
          <a:p>
            <a:pPr marL="0" indent="0">
              <a:buNone/>
            </a:pPr>
            <a:r>
              <a:rPr lang="he-IL" dirty="0"/>
              <a:t>🆔</a:t>
            </a:r>
            <a:r>
              <a:rPr lang="en-US" dirty="0"/>
              <a:t>Each interrupt has an </a:t>
            </a:r>
            <a:r>
              <a:rPr lang="en-US" b="1" dirty="0"/>
              <a:t>INTID</a:t>
            </a:r>
            <a:r>
              <a:rPr lang="en-US" dirty="0"/>
              <a:t> assigned by software or hardware, identifying it to the receiving core via a register.</a:t>
            </a:r>
            <a:endParaRPr lang="he-IL" dirty="0"/>
          </a:p>
        </p:txBody>
      </p:sp>
      <p:sp>
        <p:nvSpPr>
          <p:cNvPr id="4" name="Rectangle 3">
            <a:extLst>
              <a:ext uri="{FF2B5EF4-FFF2-40B4-BE49-F238E27FC236}">
                <a16:creationId xmlns:a16="http://schemas.microsoft.com/office/drawing/2014/main" id="{AA7EE130-C590-334E-9C9E-777AE9B7D1CA}"/>
              </a:ext>
            </a:extLst>
          </p:cNvPr>
          <p:cNvSpPr/>
          <p:nvPr/>
        </p:nvSpPr>
        <p:spPr>
          <a:xfrm>
            <a:off x="379142" y="5497552"/>
            <a:ext cx="1449658" cy="7025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CPU</a:t>
            </a:r>
            <a:endParaRPr lang="he-IL" dirty="0"/>
          </a:p>
        </p:txBody>
      </p:sp>
      <p:sp>
        <p:nvSpPr>
          <p:cNvPr id="5" name="Rectangle 4">
            <a:extLst>
              <a:ext uri="{FF2B5EF4-FFF2-40B4-BE49-F238E27FC236}">
                <a16:creationId xmlns:a16="http://schemas.microsoft.com/office/drawing/2014/main" id="{216EC8F7-2BCB-DF7D-D313-7208C495CEDF}"/>
              </a:ext>
            </a:extLst>
          </p:cNvPr>
          <p:cNvSpPr/>
          <p:nvPr/>
        </p:nvSpPr>
        <p:spPr>
          <a:xfrm>
            <a:off x="3241598" y="4627137"/>
            <a:ext cx="1449658" cy="7025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GIC Distributor</a:t>
            </a:r>
            <a:endParaRPr lang="he-IL" dirty="0"/>
          </a:p>
        </p:txBody>
      </p:sp>
      <p:sp>
        <p:nvSpPr>
          <p:cNvPr id="6" name="Rectangle 5">
            <a:extLst>
              <a:ext uri="{FF2B5EF4-FFF2-40B4-BE49-F238E27FC236}">
                <a16:creationId xmlns:a16="http://schemas.microsoft.com/office/drawing/2014/main" id="{7E02836A-E218-7020-C8E0-BEC1A9CA7EC7}"/>
              </a:ext>
            </a:extLst>
          </p:cNvPr>
          <p:cNvSpPr/>
          <p:nvPr/>
        </p:nvSpPr>
        <p:spPr>
          <a:xfrm>
            <a:off x="5545873" y="5991924"/>
            <a:ext cx="1524000" cy="7025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Redistributor </a:t>
            </a:r>
            <a:endParaRPr lang="he-IL" dirty="0"/>
          </a:p>
        </p:txBody>
      </p:sp>
      <p:sp>
        <p:nvSpPr>
          <p:cNvPr id="7" name="Rectangle 6">
            <a:extLst>
              <a:ext uri="{FF2B5EF4-FFF2-40B4-BE49-F238E27FC236}">
                <a16:creationId xmlns:a16="http://schemas.microsoft.com/office/drawing/2014/main" id="{8CA650C0-E8CB-5238-94F5-3D3ACDF6C7E3}"/>
              </a:ext>
            </a:extLst>
          </p:cNvPr>
          <p:cNvSpPr/>
          <p:nvPr/>
        </p:nvSpPr>
        <p:spPr>
          <a:xfrm>
            <a:off x="9314986" y="4118517"/>
            <a:ext cx="1449658" cy="7025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Core</a:t>
            </a:r>
            <a:endParaRPr lang="he-IL" dirty="0"/>
          </a:p>
        </p:txBody>
      </p:sp>
      <p:cxnSp>
        <p:nvCxnSpPr>
          <p:cNvPr id="9" name="Straight Arrow Connector 8">
            <a:extLst>
              <a:ext uri="{FF2B5EF4-FFF2-40B4-BE49-F238E27FC236}">
                <a16:creationId xmlns:a16="http://schemas.microsoft.com/office/drawing/2014/main" id="{45F33D24-61EA-433A-1E86-48B2AA4E22E3}"/>
              </a:ext>
            </a:extLst>
          </p:cNvPr>
          <p:cNvCxnSpPr>
            <a:stCxn id="4" idx="3"/>
            <a:endCxn id="5" idx="1"/>
          </p:cNvCxnSpPr>
          <p:nvPr/>
        </p:nvCxnSpPr>
        <p:spPr>
          <a:xfrm flipV="1">
            <a:off x="1828800" y="4978401"/>
            <a:ext cx="1412798" cy="870415"/>
          </a:xfrm>
          <a:prstGeom prst="straightConnector1">
            <a:avLst/>
          </a:prstGeom>
          <a:ln w="38100">
            <a:solidFill>
              <a:schemeClr val="bg2">
                <a:lumMod val="1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4A72A48-0BA7-0B69-736C-D0A685A69091}"/>
              </a:ext>
            </a:extLst>
          </p:cNvPr>
          <p:cNvCxnSpPr>
            <a:cxnSpLocks/>
            <a:stCxn id="5" idx="3"/>
            <a:endCxn id="6" idx="1"/>
          </p:cNvCxnSpPr>
          <p:nvPr/>
        </p:nvCxnSpPr>
        <p:spPr>
          <a:xfrm>
            <a:off x="4691256" y="4978401"/>
            <a:ext cx="854617" cy="1364787"/>
          </a:xfrm>
          <a:prstGeom prst="straightConnector1">
            <a:avLst/>
          </a:prstGeom>
          <a:ln w="38100">
            <a:solidFill>
              <a:schemeClr val="bg2">
                <a:lumMod val="1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AE1AAAB-3401-D5D3-6567-9152B8C0127B}"/>
              </a:ext>
            </a:extLst>
          </p:cNvPr>
          <p:cNvCxnSpPr>
            <a:cxnSpLocks/>
            <a:stCxn id="6" idx="3"/>
            <a:endCxn id="7" idx="1"/>
          </p:cNvCxnSpPr>
          <p:nvPr/>
        </p:nvCxnSpPr>
        <p:spPr>
          <a:xfrm flipV="1">
            <a:off x="7069873" y="4469781"/>
            <a:ext cx="2245113" cy="1873407"/>
          </a:xfrm>
          <a:prstGeom prst="straightConnector1">
            <a:avLst/>
          </a:prstGeom>
          <a:ln w="38100">
            <a:solidFill>
              <a:schemeClr val="bg2">
                <a:lumMod val="1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006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080F-CAD9-BD36-3817-D0B0DDDB76A8}"/>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70B53C80-D085-6B2E-9F94-8AEA2B49EEEF}"/>
              </a:ext>
            </a:extLst>
          </p:cNvPr>
          <p:cNvSpPr>
            <a:spLocks noGrp="1"/>
          </p:cNvSpPr>
          <p:nvPr>
            <p:ph idx="1"/>
          </p:nvPr>
        </p:nvSpPr>
        <p:spPr/>
        <p:txBody>
          <a:bodyPr/>
          <a:lstStyle/>
          <a:p>
            <a:endParaRPr lang="he-IL"/>
          </a:p>
        </p:txBody>
      </p:sp>
      <p:pic>
        <p:nvPicPr>
          <p:cNvPr id="7" name="Picture 6">
            <a:extLst>
              <a:ext uri="{FF2B5EF4-FFF2-40B4-BE49-F238E27FC236}">
                <a16:creationId xmlns:a16="http://schemas.microsoft.com/office/drawing/2014/main" id="{883F210E-04BD-4D4A-6160-33DEDB172449}"/>
              </a:ext>
            </a:extLst>
          </p:cNvPr>
          <p:cNvPicPr>
            <a:picLocks noChangeAspect="1"/>
          </p:cNvPicPr>
          <p:nvPr/>
        </p:nvPicPr>
        <p:blipFill>
          <a:blip r:embed="rId2"/>
          <a:stretch>
            <a:fillRect/>
          </a:stretch>
        </p:blipFill>
        <p:spPr>
          <a:xfrm>
            <a:off x="24680" y="210414"/>
            <a:ext cx="12142639" cy="6364148"/>
          </a:xfrm>
          <a:prstGeom prst="rect">
            <a:avLst/>
          </a:prstGeom>
        </p:spPr>
      </p:pic>
    </p:spTree>
    <p:extLst>
      <p:ext uri="{BB962C8B-B14F-4D97-AF65-F5344CB8AC3E}">
        <p14:creationId xmlns:p14="http://schemas.microsoft.com/office/powerpoint/2010/main" val="40964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9031E-6A1A-BAAD-7F90-EFCA11E01DB2}"/>
              </a:ext>
            </a:extLst>
          </p:cNvPr>
          <p:cNvSpPr>
            <a:spLocks noGrp="1"/>
          </p:cNvSpPr>
          <p:nvPr>
            <p:ph type="title"/>
          </p:nvPr>
        </p:nvSpPr>
        <p:spPr/>
        <p:txBody>
          <a:bodyPr/>
          <a:lstStyle/>
          <a:p>
            <a:r>
              <a:rPr lang="en-US" dirty="0"/>
              <a:t>How does Software Handle Interrupts?</a:t>
            </a:r>
            <a:endParaRPr lang="he-IL" dirty="0"/>
          </a:p>
        </p:txBody>
      </p:sp>
      <p:sp>
        <p:nvSpPr>
          <p:cNvPr id="3" name="Content Placeholder 2">
            <a:extLst>
              <a:ext uri="{FF2B5EF4-FFF2-40B4-BE49-F238E27FC236}">
                <a16:creationId xmlns:a16="http://schemas.microsoft.com/office/drawing/2014/main" id="{5EFA7A15-EB88-C243-DA62-815A67E82A6C}"/>
              </a:ext>
            </a:extLst>
          </p:cNvPr>
          <p:cNvSpPr>
            <a:spLocks noGrp="1"/>
          </p:cNvSpPr>
          <p:nvPr>
            <p:ph idx="1"/>
          </p:nvPr>
        </p:nvSpPr>
        <p:spPr/>
        <p:txBody>
          <a:bodyPr>
            <a:normAutofit/>
          </a:bodyPr>
          <a:lstStyle/>
          <a:p>
            <a:pPr marL="0" indent="0">
              <a:buNone/>
            </a:pPr>
            <a:r>
              <a:rPr lang="en-US" b="1" dirty="0"/>
              <a:t>Nested servicing:</a:t>
            </a:r>
            <a:r>
              <a:rPr lang="en-US" dirty="0"/>
              <a:t> handle immediately using priorities (common in real-time OSs).</a:t>
            </a:r>
          </a:p>
          <a:p>
            <a:pPr marL="0" indent="0">
              <a:buNone/>
            </a:pPr>
            <a:r>
              <a:rPr lang="en-US" b="1" dirty="0"/>
              <a:t>Deferred handling:</a:t>
            </a:r>
            <a:r>
              <a:rPr lang="en-US" dirty="0"/>
              <a:t> acknowledge now, process later.</a:t>
            </a:r>
          </a:p>
          <a:p>
            <a:pPr marL="0" indent="0">
              <a:buNone/>
            </a:pPr>
            <a:r>
              <a:rPr lang="en-US" dirty="0"/>
              <a:t>When taken, the core acknowledges the interrupt, checks the INTID, lowers priority, and unmasks interrupts.</a:t>
            </a:r>
          </a:p>
        </p:txBody>
      </p:sp>
    </p:spTree>
    <p:extLst>
      <p:ext uri="{BB962C8B-B14F-4D97-AF65-F5344CB8AC3E}">
        <p14:creationId xmlns:p14="http://schemas.microsoft.com/office/powerpoint/2010/main" val="567681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48A04-B54F-ABD6-4BC8-E17C090D7FC6}"/>
              </a:ext>
            </a:extLst>
          </p:cNvPr>
          <p:cNvSpPr>
            <a:spLocks noGrp="1"/>
          </p:cNvSpPr>
          <p:nvPr>
            <p:ph type="title"/>
          </p:nvPr>
        </p:nvSpPr>
        <p:spPr/>
        <p:txBody>
          <a:bodyPr/>
          <a:lstStyle/>
          <a:p>
            <a:r>
              <a:rPr lang="en-US" dirty="0"/>
              <a:t>Summary of Our Discussion</a:t>
            </a:r>
            <a:endParaRPr lang="he-IL" dirty="0"/>
          </a:p>
        </p:txBody>
      </p:sp>
      <p:sp>
        <p:nvSpPr>
          <p:cNvPr id="3" name="Content Placeholder 2">
            <a:extLst>
              <a:ext uri="{FF2B5EF4-FFF2-40B4-BE49-F238E27FC236}">
                <a16:creationId xmlns:a16="http://schemas.microsoft.com/office/drawing/2014/main" id="{A893DFAF-C7A0-29AF-28DE-586E229DE49D}"/>
              </a:ext>
            </a:extLst>
          </p:cNvPr>
          <p:cNvSpPr>
            <a:spLocks noGrp="1"/>
          </p:cNvSpPr>
          <p:nvPr>
            <p:ph idx="1"/>
          </p:nvPr>
        </p:nvSpPr>
        <p:spPr/>
        <p:txBody>
          <a:bodyPr>
            <a:normAutofit/>
          </a:bodyPr>
          <a:lstStyle/>
          <a:p>
            <a:pPr marL="0" indent="0">
              <a:buNone/>
            </a:pPr>
            <a:r>
              <a:rPr lang="en-US" dirty="0"/>
              <a:t>We address the open problem of defining </a:t>
            </a:r>
            <a:r>
              <a:rPr lang="en-US" b="1" dirty="0"/>
              <a:t>precision</a:t>
            </a:r>
            <a:r>
              <a:rPr lang="en-US" dirty="0"/>
              <a:t> in relaxed architectures.</a:t>
            </a:r>
          </a:p>
          <a:p>
            <a:pPr marL="0" indent="0">
              <a:buNone/>
            </a:pPr>
            <a:r>
              <a:rPr lang="en-US" dirty="0"/>
              <a:t>We outline simple guarantees of precision that help apply the same reasoning methods used for </a:t>
            </a:r>
            <a:r>
              <a:rPr lang="en-US" b="1" dirty="0"/>
              <a:t>nested interrupts</a:t>
            </a:r>
            <a:r>
              <a:rPr lang="en-US" dirty="0"/>
              <a:t>.</a:t>
            </a:r>
          </a:p>
          <a:p>
            <a:pPr marL="0" indent="0">
              <a:buNone/>
            </a:pPr>
            <a:r>
              <a:rPr lang="en-US" dirty="0"/>
              <a:t>We extend the </a:t>
            </a:r>
            <a:r>
              <a:rPr lang="en-US" b="1" dirty="0"/>
              <a:t>Arm-A memory model</a:t>
            </a:r>
            <a:r>
              <a:rPr lang="en-US" dirty="0"/>
              <a:t> to include </a:t>
            </a:r>
            <a:r>
              <a:rPr lang="en-US" b="1" dirty="0"/>
              <a:t>exceptions</a:t>
            </a:r>
            <a:r>
              <a:rPr lang="en-US" dirty="0"/>
              <a:t>, aiming to.</a:t>
            </a:r>
          </a:p>
          <a:p>
            <a:pPr marL="0" indent="0">
              <a:buNone/>
            </a:pPr>
            <a:endParaRPr lang="he-IL" dirty="0"/>
          </a:p>
        </p:txBody>
      </p:sp>
    </p:spTree>
    <p:extLst>
      <p:ext uri="{BB962C8B-B14F-4D97-AF65-F5344CB8AC3E}">
        <p14:creationId xmlns:p14="http://schemas.microsoft.com/office/powerpoint/2010/main" val="3584703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CD908-E260-B7B1-1DA9-C49D8F49869A}"/>
              </a:ext>
            </a:extLst>
          </p:cNvPr>
          <p:cNvSpPr>
            <a:spLocks noGrp="1"/>
          </p:cNvSpPr>
          <p:nvPr>
            <p:ph type="title"/>
          </p:nvPr>
        </p:nvSpPr>
        <p:spPr/>
        <p:txBody>
          <a:bodyPr/>
          <a:lstStyle/>
          <a:p>
            <a:r>
              <a:rPr lang="en-US" dirty="0"/>
              <a:t>Summary of Our Discussion</a:t>
            </a:r>
            <a:endParaRPr lang="he-IL" dirty="0"/>
          </a:p>
        </p:txBody>
      </p:sp>
      <p:sp>
        <p:nvSpPr>
          <p:cNvPr id="3" name="Content Placeholder 2">
            <a:extLst>
              <a:ext uri="{FF2B5EF4-FFF2-40B4-BE49-F238E27FC236}">
                <a16:creationId xmlns:a16="http://schemas.microsoft.com/office/drawing/2014/main" id="{F85D3D8E-76FE-3888-F650-F8250BED2441}"/>
              </a:ext>
            </a:extLst>
          </p:cNvPr>
          <p:cNvSpPr>
            <a:spLocks noGrp="1"/>
          </p:cNvSpPr>
          <p:nvPr>
            <p:ph idx="1"/>
          </p:nvPr>
        </p:nvSpPr>
        <p:spPr/>
        <p:txBody>
          <a:bodyPr/>
          <a:lstStyle/>
          <a:p>
            <a:pPr marL="0" indent="0">
              <a:buNone/>
            </a:pPr>
            <a:r>
              <a:rPr lang="en-US" dirty="0"/>
              <a:t>We start modeling </a:t>
            </a:r>
            <a:r>
              <a:rPr lang="en-US" b="1" dirty="0"/>
              <a:t>software-generated interrupts</a:t>
            </a:r>
            <a:r>
              <a:rPr lang="en-US" dirty="0"/>
              <a:t> and the key parts of the interrupt system used by most platforms. </a:t>
            </a:r>
          </a:p>
          <a:p>
            <a:pPr marL="0" indent="0">
              <a:buNone/>
            </a:pPr>
            <a:r>
              <a:rPr lang="en-US" dirty="0"/>
              <a:t>While more work remains on exceptions and interrupts, this forms a </a:t>
            </a:r>
            <a:r>
              <a:rPr lang="en-US" b="1" dirty="0"/>
              <a:t>solid foundation</a:t>
            </a:r>
            <a:r>
              <a:rPr lang="en-US" dirty="0"/>
              <a:t> for future development.</a:t>
            </a:r>
            <a:endParaRPr lang="he-IL" dirty="0"/>
          </a:p>
        </p:txBody>
      </p:sp>
    </p:spTree>
    <p:extLst>
      <p:ext uri="{BB962C8B-B14F-4D97-AF65-F5344CB8AC3E}">
        <p14:creationId xmlns:p14="http://schemas.microsoft.com/office/powerpoint/2010/main" val="1135285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8f6f869-1ed0-46b3-a227-1d3e52347e28}" enabled="1" method="Standard" siteId="{98e9ba89-e1a1-4e38-9007-8bdabc25de1d}" contentBits="0" removed="0"/>
</clbl:labelList>
</file>

<file path=docProps/app.xml><?xml version="1.0" encoding="utf-8"?>
<Properties xmlns="http://schemas.openxmlformats.org/officeDocument/2006/extended-properties" xmlns:vt="http://schemas.openxmlformats.org/officeDocument/2006/docPropsVTypes">
  <TotalTime>390</TotalTime>
  <Words>1756</Words>
  <Application>Microsoft Office PowerPoint</Application>
  <PresentationFormat>Widescreen</PresentationFormat>
  <Paragraphs>220</Paragraphs>
  <Slides>39</Slides>
  <Notes>10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Aptos</vt:lpstr>
      <vt:lpstr>Aptos Display</vt:lpstr>
      <vt:lpstr>Arial</vt:lpstr>
      <vt:lpstr>Assistant</vt:lpstr>
      <vt:lpstr>Calibri</vt:lpstr>
      <vt:lpstr>Georgia</vt:lpstr>
      <vt:lpstr>Wingdings</vt:lpstr>
      <vt:lpstr>Office Theme</vt:lpstr>
      <vt:lpstr>נ.נ. בתכנון משולב חומרה/תוכנה  אביב – 00460882 תרגול  3   </vt:lpstr>
      <vt:lpstr>נ.נ. בתכנון משולב חומרה/תוכנה  אביב – 00460882 תרגול  3 –  When hardware and software engineers refuse to collaborate…   </vt:lpstr>
      <vt:lpstr>Precise exceptions in relaxed architectures</vt:lpstr>
      <vt:lpstr>PowerPoint Presentation</vt:lpstr>
      <vt:lpstr>PowerPoint Presentation</vt:lpstr>
      <vt:lpstr>PowerPoint Presentation</vt:lpstr>
      <vt:lpstr>PowerPoint Presentation</vt:lpstr>
      <vt:lpstr>Defining Precise Exceptions</vt:lpstr>
      <vt:lpstr>PowerPoint Presentation</vt:lpstr>
      <vt:lpstr>Memory Consistency: Sequential vs. Weak. </vt:lpstr>
      <vt:lpstr>PowerPoint Presentation</vt:lpstr>
      <vt:lpstr>PowerPoint Presentation</vt:lpstr>
      <vt:lpstr>The Challenge</vt:lpstr>
      <vt:lpstr>Hardware Exceptions</vt:lpstr>
      <vt:lpstr>PowerPoint Presentation</vt:lpstr>
      <vt:lpstr>The Challenge in Modern CPUs</vt:lpstr>
      <vt:lpstr>Interrupts</vt:lpstr>
      <vt:lpstr>Precision </vt:lpstr>
      <vt:lpstr>Exception Entry Flow (ARM)</vt:lpstr>
      <vt:lpstr>What Held True 60 Years Ago Does Not Necessarily Apply Today</vt:lpstr>
      <vt:lpstr>Program-Order-Before/After </vt:lpstr>
      <vt:lpstr>Tree of Partially and Completely Executed Instances</vt:lpstr>
      <vt:lpstr>PowerPoint Presentation</vt:lpstr>
      <vt:lpstr>Exception Handling and Precision</vt:lpstr>
      <vt:lpstr>Exceptions and Context Synchronization</vt:lpstr>
      <vt:lpstr>Exceptions: Sources and Their Impact</vt:lpstr>
      <vt:lpstr>Ordering Remains Relaxed Across Exception Boundaries</vt:lpstr>
      <vt:lpstr>Exception Metadata Can Enforce Ordering</vt:lpstr>
      <vt:lpstr>Not All Exception Kinds Are Equal</vt:lpstr>
      <vt:lpstr>Challenges in Defining Precision</vt:lpstr>
      <vt:lpstr>Exceptions and Side Effects Under Relaxed Memory</vt:lpstr>
      <vt:lpstr>Generic Interrupt Controller (GIC)</vt:lpstr>
      <vt:lpstr>IPI, SGI, and GIC: Coordinating Cores</vt:lpstr>
      <vt:lpstr>Interrupt Ordering and Delivery Guarantees</vt:lpstr>
      <vt:lpstr>Interrupt Flow in the GIC</vt:lpstr>
      <vt:lpstr>PowerPoint Presentation</vt:lpstr>
      <vt:lpstr>How does Software Handle Interrupts?</vt:lpstr>
      <vt:lpstr>Summary of Our Discussion</vt:lpstr>
      <vt:lpstr>Summary of Our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Ohad Eitan</dc:creator>
  <cp:lastModifiedBy>Ohad Eitan</cp:lastModifiedBy>
  <cp:revision>5</cp:revision>
  <dcterms:created xsi:type="dcterms:W3CDTF">2026-02-20T14:52:46Z</dcterms:created>
  <dcterms:modified xsi:type="dcterms:W3CDTF">2026-06-01T13:04:03Z</dcterms:modified>
</cp:coreProperties>
</file>