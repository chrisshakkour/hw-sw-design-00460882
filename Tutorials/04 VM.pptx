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256" r:id="rId3"/>
    <p:sldId id="259" r:id="rId4"/>
    <p:sldId id="361" r:id="rId5"/>
    <p:sldId id="262" r:id="rId6"/>
    <p:sldId id="264" r:id="rId7"/>
    <p:sldId id="266" r:id="rId8"/>
    <p:sldId id="366" r:id="rId9"/>
    <p:sldId id="369" r:id="rId10"/>
    <p:sldId id="371" r:id="rId11"/>
    <p:sldId id="372" r:id="rId12"/>
    <p:sldId id="373" r:id="rId13"/>
    <p:sldId id="268" r:id="rId14"/>
    <p:sldId id="279" r:id="rId15"/>
    <p:sldId id="374" r:id="rId16"/>
    <p:sldId id="375" r:id="rId17"/>
    <p:sldId id="376" r:id="rId18"/>
    <p:sldId id="283" r:id="rId19"/>
    <p:sldId id="291" r:id="rId20"/>
    <p:sldId id="270" r:id="rId21"/>
    <p:sldId id="391" r:id="rId22"/>
    <p:sldId id="379" r:id="rId23"/>
    <p:sldId id="273" r:id="rId24"/>
    <p:sldId id="380" r:id="rId25"/>
    <p:sldId id="298" r:id="rId26"/>
    <p:sldId id="307" r:id="rId27"/>
    <p:sldId id="381" r:id="rId28"/>
    <p:sldId id="382" r:id="rId29"/>
    <p:sldId id="313" r:id="rId30"/>
    <p:sldId id="315" r:id="rId31"/>
    <p:sldId id="358" r:id="rId32"/>
    <p:sldId id="319" r:id="rId33"/>
    <p:sldId id="337" r:id="rId34"/>
    <p:sldId id="339" r:id="rId35"/>
    <p:sldId id="343" r:id="rId36"/>
    <p:sldId id="349" r:id="rId37"/>
    <p:sldId id="342" r:id="rId38"/>
    <p:sldId id="278" r:id="rId39"/>
    <p:sldId id="390" r:id="rId40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EEFB"/>
    <a:srgbClr val="F8F392"/>
    <a:srgbClr val="008000"/>
    <a:srgbClr val="0000FF"/>
    <a:srgbClr val="FFFFFF"/>
    <a:srgbClr val="E2EEFC"/>
    <a:srgbClr val="FF8585"/>
    <a:srgbClr val="FFBA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F776B-0F85-468D-8CBC-EF832AAE52AB}" v="4" dt="2026-04-10T09:53:27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86199" autoAdjust="0"/>
  </p:normalViewPr>
  <p:slideViewPr>
    <p:cSldViewPr snapToGrid="0" showGuides="1">
      <p:cViewPr varScale="1">
        <p:scale>
          <a:sx n="92" d="100"/>
          <a:sy n="92" d="100"/>
        </p:scale>
        <p:origin x="342" y="78"/>
      </p:cViewPr>
      <p:guideLst>
        <p:guide orient="horz" pos="2160"/>
        <p:guide pos="3772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had Eitan" userId="716374f3-60b9-4c87-b257-64bda1c08bcd" providerId="ADAL" clId="{C1006F5B-54CA-4EC1-B3AF-25E6B237354D}"/>
    <pc:docChg chg="undo redo custSel addSld delSld modSld sldOrd modMainMaster">
      <pc:chgData name="Ohad Eitan" userId="716374f3-60b9-4c87-b257-64bda1c08bcd" providerId="ADAL" clId="{C1006F5B-54CA-4EC1-B3AF-25E6B237354D}" dt="2026-04-10T09:56:17.583" v="16836" actId="1076"/>
      <pc:docMkLst>
        <pc:docMk/>
      </pc:docMkLst>
      <pc:sldChg chg="addSp delSp modSp mod setBg delAnim modAnim">
        <pc:chgData name="Ohad Eitan" userId="716374f3-60b9-4c87-b257-64bda1c08bcd" providerId="ADAL" clId="{C1006F5B-54CA-4EC1-B3AF-25E6B237354D}" dt="2026-04-10T09:56:17.583" v="16836" actId="1076"/>
        <pc:sldMkLst>
          <pc:docMk/>
          <pc:sldMk cId="3259926395" sldId="256"/>
        </pc:sldMkLst>
        <pc:spChg chg="add">
          <ac:chgData name="Ohad Eitan" userId="716374f3-60b9-4c87-b257-64bda1c08bcd" providerId="ADAL" clId="{C1006F5B-54CA-4EC1-B3AF-25E6B237354D}" dt="2026-04-10T09:53:26.065" v="16816"/>
          <ac:spMkLst>
            <pc:docMk/>
            <pc:sldMk cId="3259926395" sldId="256"/>
            <ac:spMk id="3" creationId="{75161543-8795-183D-0C28-A75B94627A6C}"/>
          </ac:spMkLst>
        </pc:spChg>
        <pc:spChg chg="add del mod">
          <ac:chgData name="Ohad Eitan" userId="716374f3-60b9-4c87-b257-64bda1c08bcd" providerId="ADAL" clId="{C1006F5B-54CA-4EC1-B3AF-25E6B237354D}" dt="2026-04-10T09:55:40.564" v="16823" actId="478"/>
          <ac:spMkLst>
            <pc:docMk/>
            <pc:sldMk cId="3259926395" sldId="256"/>
            <ac:spMk id="5" creationId="{5128EA30-AA39-CC6B-3380-23D4A99D2DA3}"/>
          </ac:spMkLst>
        </pc:spChg>
        <pc:spChg chg="add mod">
          <ac:chgData name="Ohad Eitan" userId="716374f3-60b9-4c87-b257-64bda1c08bcd" providerId="ADAL" clId="{C1006F5B-54CA-4EC1-B3AF-25E6B237354D}" dt="2026-04-10T09:56:17.583" v="16836" actId="1076"/>
          <ac:spMkLst>
            <pc:docMk/>
            <pc:sldMk cId="3259926395" sldId="256"/>
            <ac:spMk id="7" creationId="{B915B656-BB2F-2FEE-740C-05623F6D87A4}"/>
          </ac:spMkLst>
        </pc:spChg>
        <pc:picChg chg="del mod">
          <ac:chgData name="Ohad Eitan" userId="716374f3-60b9-4c87-b257-64bda1c08bcd" providerId="ADAL" clId="{C1006F5B-54CA-4EC1-B3AF-25E6B237354D}" dt="2026-04-10T09:55:40.564" v="16823" actId="478"/>
          <ac:picMkLst>
            <pc:docMk/>
            <pc:sldMk cId="3259926395" sldId="256"/>
            <ac:picMk id="9" creationId="{26E012C8-17E5-0582-2540-6EFCA5F962D2}"/>
          </ac:picMkLst>
        </pc:picChg>
      </pc:sldChg>
      <pc:sldMasterChg chg="setBg modSldLayout">
        <pc:chgData name="Ohad Eitan" userId="716374f3-60b9-4c87-b257-64bda1c08bcd" providerId="ADAL" clId="{C1006F5B-54CA-4EC1-B3AF-25E6B237354D}" dt="2026-04-10T09:52:47.881" v="16814"/>
        <pc:sldMasterMkLst>
          <pc:docMk/>
          <pc:sldMasterMk cId="2363222267" sldId="2147483648"/>
        </pc:sldMasterMkLst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3119192109" sldId="2147483649"/>
          </pc:sldLayoutMkLst>
        </pc:sldLayoutChg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3030349769" sldId="2147483650"/>
          </pc:sldLayoutMkLst>
        </pc:sldLayoutChg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2206017087" sldId="2147483651"/>
          </pc:sldLayoutMkLst>
        </pc:sldLayoutChg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547522805" sldId="2147483652"/>
          </pc:sldLayoutMkLst>
        </pc:sldLayoutChg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335201390" sldId="2147483653"/>
          </pc:sldLayoutMkLst>
        </pc:sldLayoutChg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774727012" sldId="2147483654"/>
          </pc:sldLayoutMkLst>
        </pc:sldLayoutChg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1626267962" sldId="2147483655"/>
          </pc:sldLayoutMkLst>
        </pc:sldLayoutChg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2504923240" sldId="2147483656"/>
          </pc:sldLayoutMkLst>
        </pc:sldLayoutChg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3457640503" sldId="2147483657"/>
          </pc:sldLayoutMkLst>
        </pc:sldLayoutChg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632536953" sldId="2147483658"/>
          </pc:sldLayoutMkLst>
        </pc:sldLayoutChg>
        <pc:sldLayoutChg chg="setBg">
          <pc:chgData name="Ohad Eitan" userId="716374f3-60b9-4c87-b257-64bda1c08bcd" providerId="ADAL" clId="{C1006F5B-54CA-4EC1-B3AF-25E6B237354D}" dt="2026-04-10T09:52:47.881" v="16814"/>
          <pc:sldLayoutMkLst>
            <pc:docMk/>
            <pc:sldMasterMk cId="2363222267" sldId="2147483648"/>
            <pc:sldLayoutMk cId="2122536399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697A0990-F51F-4CC3-AC80-4CC8BF8F0018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44D98D4-FAA8-4A4E-98CB-56B065BA52D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4002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6104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655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request’s KV cache is stored in </a:t>
            </a:r>
            <a:r>
              <a:rPr lang="en-US" b="1" dirty="0"/>
              <a:t>one contiguous memory block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KV caches are </a:t>
            </a:r>
            <a:r>
              <a:rPr lang="en-US" b="1" dirty="0"/>
              <a:t>unpredictable</a:t>
            </a:r>
          </a:p>
          <a:p>
            <a:pPr marL="457200" lvl="1" indent="0">
              <a:buNone/>
            </a:pPr>
            <a:r>
              <a:rPr lang="en-US" dirty="0"/>
              <a:t>Grow and shrink dynamically</a:t>
            </a:r>
          </a:p>
          <a:p>
            <a:pPr marL="457200" lvl="1" indent="0">
              <a:buNone/>
            </a:pPr>
            <a:r>
              <a:rPr lang="en-US" dirty="0"/>
              <a:t>Lifetime unknown</a:t>
            </a:r>
          </a:p>
          <a:p>
            <a:pPr marL="457200" lvl="1" indent="0">
              <a:buNone/>
            </a:pPr>
            <a:r>
              <a:rPr lang="en-US" dirty="0"/>
              <a:t>Length unknown </a:t>
            </a:r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1921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request’s KV cache is stored in </a:t>
            </a:r>
            <a:r>
              <a:rPr lang="en-US" b="1" dirty="0"/>
              <a:t>one contiguous memory block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KV caches are </a:t>
            </a:r>
            <a:r>
              <a:rPr lang="en-US" b="1" dirty="0"/>
              <a:t>unpredictable</a:t>
            </a:r>
          </a:p>
          <a:p>
            <a:pPr marL="457200" lvl="1" indent="0">
              <a:buNone/>
            </a:pPr>
            <a:r>
              <a:rPr lang="en-US" dirty="0"/>
              <a:t>Grow and shrink dynamically</a:t>
            </a:r>
          </a:p>
          <a:p>
            <a:pPr marL="457200" lvl="1" indent="0">
              <a:buNone/>
            </a:pPr>
            <a:r>
              <a:rPr lang="en-US" dirty="0"/>
              <a:t>Lifetime unknown</a:t>
            </a:r>
          </a:p>
          <a:p>
            <a:pPr marL="457200" lvl="1" indent="0">
              <a:buNone/>
            </a:pPr>
            <a:r>
              <a:rPr lang="en-US" dirty="0"/>
              <a:t>Length unknown </a:t>
            </a:r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863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request’s KV cache is stored in </a:t>
            </a:r>
            <a:r>
              <a:rPr lang="en-US" b="1" dirty="0"/>
              <a:t>one contiguous memory block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KV caches are </a:t>
            </a:r>
            <a:r>
              <a:rPr lang="en-US" b="1" dirty="0"/>
              <a:t>unpredictable</a:t>
            </a:r>
          </a:p>
          <a:p>
            <a:pPr marL="457200" lvl="1" indent="0">
              <a:buNone/>
            </a:pPr>
            <a:r>
              <a:rPr lang="en-US" dirty="0"/>
              <a:t>Grow and shrink dynamically</a:t>
            </a:r>
          </a:p>
          <a:p>
            <a:pPr marL="457200" lvl="1" indent="0">
              <a:buNone/>
            </a:pPr>
            <a:r>
              <a:rPr lang="en-US" dirty="0"/>
              <a:t>Lifetime unknown</a:t>
            </a:r>
          </a:p>
          <a:p>
            <a:pPr marL="457200" lvl="1" indent="0">
              <a:buNone/>
            </a:pPr>
            <a:r>
              <a:rPr lang="en-US" dirty="0"/>
              <a:t>Length unknown </a:t>
            </a: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3505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request’s KV cache is stored in </a:t>
            </a:r>
            <a:r>
              <a:rPr lang="en-US" b="1" dirty="0"/>
              <a:t>one contiguous memory block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KV caches are </a:t>
            </a:r>
            <a:r>
              <a:rPr lang="en-US" b="1" dirty="0"/>
              <a:t>unpredictable</a:t>
            </a:r>
          </a:p>
          <a:p>
            <a:pPr marL="457200" lvl="1" indent="0">
              <a:buNone/>
            </a:pPr>
            <a:r>
              <a:rPr lang="en-US" dirty="0"/>
              <a:t>Grow and shrink dynamically</a:t>
            </a:r>
          </a:p>
          <a:p>
            <a:pPr marL="457200" lvl="1" indent="0">
              <a:buNone/>
            </a:pPr>
            <a:r>
              <a:rPr lang="en-US" dirty="0"/>
              <a:t>Lifetime unknown</a:t>
            </a:r>
          </a:p>
          <a:p>
            <a:pPr marL="457200" lvl="1" indent="0">
              <a:buNone/>
            </a:pPr>
            <a:r>
              <a:rPr lang="en-US" dirty="0"/>
              <a:t>Length unknown </a:t>
            </a:r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9165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request’s KV cache is stored in </a:t>
            </a:r>
            <a:r>
              <a:rPr lang="en-US" b="1" dirty="0"/>
              <a:t>one contiguous memory block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KV caches are </a:t>
            </a:r>
            <a:r>
              <a:rPr lang="en-US" b="1" dirty="0"/>
              <a:t>unpredictable</a:t>
            </a:r>
          </a:p>
          <a:p>
            <a:pPr marL="457200" lvl="1" indent="0">
              <a:buNone/>
            </a:pPr>
            <a:r>
              <a:rPr lang="en-US" dirty="0"/>
              <a:t>Grow and shrink dynamically</a:t>
            </a:r>
          </a:p>
          <a:p>
            <a:pPr marL="457200" lvl="1" indent="0">
              <a:buNone/>
            </a:pPr>
            <a:r>
              <a:rPr lang="en-US" dirty="0"/>
              <a:t>Lifetime unknown</a:t>
            </a:r>
          </a:p>
          <a:p>
            <a:pPr marL="457200" lvl="1" indent="0">
              <a:buNone/>
            </a:pPr>
            <a:r>
              <a:rPr lang="en-US" dirty="0"/>
              <a:t>Length unknown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Write actual</a:t>
            </a:r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8527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core is an </a:t>
            </a:r>
            <a:r>
              <a:rPr lang="en-US" b="1" dirty="0"/>
              <a:t>autoregressive Transformer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generates one token at a time using</a:t>
            </a:r>
          </a:p>
          <a:p>
            <a:pPr marL="457200" lvl="1" indent="0">
              <a:buNone/>
            </a:pPr>
            <a:r>
              <a:rPr lang="en-US" dirty="0"/>
              <a:t>The input (prompt)</a:t>
            </a:r>
          </a:p>
          <a:p>
            <a:pPr marL="457200" lvl="1" indent="0">
              <a:buNone/>
            </a:pPr>
            <a:r>
              <a:rPr lang="en-US" dirty="0"/>
              <a:t>Previous generated tokens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Repeated until the termination token.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🔄 Sequential by nature → </a:t>
            </a:r>
            <a:r>
              <a:rPr lang="en-US" b="1" dirty="0"/>
              <a:t>memory-bound</a:t>
            </a:r>
          </a:p>
          <a:p>
            <a:pPr marL="0" indent="0">
              <a:buNone/>
            </a:pPr>
            <a:r>
              <a:rPr lang="en-US" dirty="0"/>
              <a:t>underutilizes GPUs, and </a:t>
            </a:r>
            <a:r>
              <a:rPr lang="en-US" b="1" dirty="0"/>
              <a:t>limits throughput</a:t>
            </a:r>
            <a:r>
              <a:rPr lang="en-US" dirty="0"/>
              <a:t>.</a:t>
            </a: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43812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2D2C5-CEA8-F4AA-FC0B-47A5E721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8640A-C32B-CDE9-5EB5-CDCA6FB63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542CB-89E9-77D6-30B3-EE556337D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core is an </a:t>
            </a:r>
            <a:r>
              <a:rPr lang="en-US" b="1" dirty="0"/>
              <a:t>autoregressive Transformer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generates one token at a time using</a:t>
            </a:r>
          </a:p>
          <a:p>
            <a:pPr marL="457200" lvl="1" indent="0">
              <a:buNone/>
            </a:pPr>
            <a:r>
              <a:rPr lang="en-US" dirty="0"/>
              <a:t>The input (prompt)</a:t>
            </a:r>
          </a:p>
          <a:p>
            <a:pPr marL="457200" lvl="1" indent="0">
              <a:buNone/>
            </a:pPr>
            <a:r>
              <a:rPr lang="en-US" dirty="0"/>
              <a:t>Previous generated tokens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Repeated until the termination token.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🔄 Sequential by nature → </a:t>
            </a:r>
            <a:r>
              <a:rPr lang="en-US" b="1" dirty="0"/>
              <a:t>memory-bound</a:t>
            </a:r>
          </a:p>
          <a:p>
            <a:pPr marL="0" indent="0">
              <a:buNone/>
            </a:pPr>
            <a:r>
              <a:rPr lang="en-US" dirty="0"/>
              <a:t>underutilizes GPUs, and </a:t>
            </a:r>
            <a:r>
              <a:rPr lang="en-US" b="1" dirty="0"/>
              <a:t>limits throughput</a:t>
            </a:r>
            <a:r>
              <a:rPr lang="en-US" dirty="0"/>
              <a:t>.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C198C-F8BF-9055-75B9-7D04013B1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20915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D3DC2-CCFB-39FC-DAD3-F01400F2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9D9C3-91ED-ADCD-EE54-3E05605DE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2E2B4-13B8-8456-96FC-AC0C1DA8B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core is an </a:t>
            </a:r>
            <a:r>
              <a:rPr lang="en-US" b="1" dirty="0"/>
              <a:t>autoregressive Transformer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generates one token at a time using</a:t>
            </a:r>
          </a:p>
          <a:p>
            <a:pPr marL="457200" lvl="1" indent="0">
              <a:buNone/>
            </a:pPr>
            <a:r>
              <a:rPr lang="en-US" dirty="0"/>
              <a:t>The input (prompt)</a:t>
            </a:r>
          </a:p>
          <a:p>
            <a:pPr marL="457200" lvl="1" indent="0">
              <a:buNone/>
            </a:pPr>
            <a:r>
              <a:rPr lang="en-US" dirty="0"/>
              <a:t>Previous generated tokens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Repeated until the termination token.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🔄 Sequential by nature → </a:t>
            </a:r>
            <a:r>
              <a:rPr lang="en-US" b="1" dirty="0"/>
              <a:t>memory-bound</a:t>
            </a:r>
          </a:p>
          <a:p>
            <a:pPr marL="0" indent="0">
              <a:buNone/>
            </a:pPr>
            <a:r>
              <a:rPr lang="en-US" dirty="0"/>
              <a:t>underutilizes GPUs, and </a:t>
            </a:r>
            <a:r>
              <a:rPr lang="en-US" b="1" dirty="0"/>
              <a:t>limits throughput</a:t>
            </a:r>
            <a:r>
              <a:rPr lang="en-US" dirty="0"/>
              <a:t>.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225FE-42C3-FDBD-6079-97999C6B7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5814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Because sequence lengths are unpredictable, systems pre-allocate memory for the maximum possible length.</a:t>
            </a: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0638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u remember VM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83135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8587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BFA5D-DDA5-5E0E-6B31-F21375CF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082B6-3573-AB99-1AB9-41DBAC7A6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F8695-78F5-6B7C-A7DF-2AB7695DF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30629-515B-96D0-446B-5F4D838A2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6532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24085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34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7210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98D4-FAA8-4A4E-98CB-56B065BA52D2}" type="slidenum">
              <a:rPr lang="he-IL" smtClean="0"/>
              <a:t>38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0467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EBD7-65C2-212F-F3FE-CAF384713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3DAB9-48AF-C1D0-DCF1-C33025F49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C7A65-0FBE-0524-83D1-21053613D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9E83-616E-D65B-FF5A-9115DC8A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8FA18-35AA-48A1-3E03-9DB40384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19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6899-7679-C2BE-558D-37646AE9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5AF20-39ED-A921-3FE8-9D88318F3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E6968-297A-0C57-5065-5BCCDBC72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6FF28-FF45-0811-2BCA-DF30A7E38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DA89F-1A4E-0C48-996A-DB33F489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034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0D5D-7F2A-75D9-D525-214DF133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CBC93-9991-FF20-77C7-E207279A2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61310-CCC3-09CA-A33B-32302D04C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37448-85B9-428B-D296-183A2C2C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AFA32-C7E3-97AB-B1E6-37A71F7D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601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5255-9AA0-694C-513E-5EA64C48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99D19-D6F5-64C7-F9AF-CCBC56B00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6A7FE-91C0-1613-5F0D-E20F6190B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4ADA6-DFE8-761E-61C1-C60C36F4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7B74C-4356-4F5E-71D4-CA80671F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EA92B-CC0B-E182-B834-0D50914C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752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B0C8-2477-4C00-C66D-75CC3CE9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776F1-2D18-0649-624A-AEDAA36A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DF344-9304-1676-31ED-F6A43E0DD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8ADD4E-EDC8-62F9-8200-8859400C7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BD7885-B505-11A1-2B16-0F6752B71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FD13F-1251-EC00-17AF-CAAD95926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B2BAE-AEE9-92E7-27BB-F31B2A92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35D8E6-6584-D8F9-374D-5C4880E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20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7513-8F7C-86C7-97DC-F3ABFFA3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09BC33-0140-C554-1BCB-FCA66B8BF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B6221A-09AA-FD75-4FB1-2124A4616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CBED3-EDF6-AA61-3585-EE7C354E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472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2D2E0B-90F1-534E-FD4A-A0648A415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4076D0-9CBD-56BF-E8C0-92381CA0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6CEA5-BB20-6BED-DCB3-06FC5B3C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6267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59FBC-CFAE-51E3-5EB4-A8381C4E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8AB05-B964-D853-49FF-D6DC89C4D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85733-067B-D46F-AE1D-E72192F46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23E2E-0B22-65B4-85D5-3F2E34537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F47C3-272E-824F-5A20-1838B385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E7D73-8F91-EB7B-C336-C1A706CF2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4923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538E-7F40-8A7A-7D6C-84A7633DB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51FE54-9CAE-AFBF-0C48-C40438837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2CBAF-491A-824A-2EA2-20D0F92B7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477B6-F2AC-475E-15F6-3B13478A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FB052-B9E8-1589-3AE1-BF9803EC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0A8D6-9050-1C0D-4AF4-A2E02B2E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7640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C9C15-A2C9-9C74-C695-6E622802D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CEC80-32FF-8750-7A4D-1AC05DDDD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DCC73-8FBA-EA0B-C23E-F2FE7AC3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C2D0C-E2E1-0041-3878-F6C46C797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1AD70-2707-FB18-0F9F-5F501F0F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2536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BAA392-1A8B-987A-B425-7BCBE5C40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3834F-FBC2-0E38-9BC8-489D70782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65654-76C0-8C68-4068-5EE64B5A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4A1CD-0873-0905-2B42-7586D9BF1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B2B99-0FAA-BECE-1D2F-9473F6D7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253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87A4F9-D5A7-096D-63D6-100182103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9B8FF-7EDC-8922-29C7-6D490B94B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68F-BCC8-AF8A-1562-FDD7C0BF7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2AAB3-F572-421B-BBA5-380B7B0F8266}" type="datetimeFigureOut">
              <a:rPr lang="he-IL" smtClean="0"/>
              <a:t>כ"ג/ניסן/תשפ"ו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D6089-43D2-6AA7-7B65-5086D9BCB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E86DD-437E-8B39-E963-08BA71700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70543-CA90-4ACF-B81C-61401051C4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322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0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E6690-A431-6CBC-F9D3-C8F109529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7878"/>
            <a:ext cx="9144000" cy="1655762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he-IL" dirty="0"/>
              <a:t>אוהד איתן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98EDDEE-620E-C6CB-D58F-342FB62E7A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369967" y="1831166"/>
            <a:ext cx="9307286" cy="266226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rtl="1">
              <a:lnSpc>
                <a:spcPct val="100000"/>
              </a:lnSpc>
            </a:pPr>
            <a:r>
              <a:rPr kumimoji="0" lang="he-IL" altLang="he-IL" sz="4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ssistant" pitchFamily="2" charset="-79"/>
                <a:cs typeface="Assistant" pitchFamily="2" charset="-79"/>
              </a:rPr>
              <a:t>נ.נ. בתכנון משולב חומרה/תוכנה</a:t>
            </a:r>
            <a:br>
              <a:rPr kumimoji="0" lang="he-IL" altLang="he-IL" sz="4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ssistant" pitchFamily="2" charset="-79"/>
                <a:cs typeface="Assistant" pitchFamily="2" charset="-79"/>
              </a:rPr>
            </a:br>
            <a:r>
              <a:rPr kumimoji="0" lang="he-IL" altLang="he-IL" sz="4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ssistant" pitchFamily="2" charset="-79"/>
                <a:cs typeface="Assistant" pitchFamily="2" charset="-79"/>
              </a:rPr>
              <a:t> אביב – 00460882</a:t>
            </a:r>
            <a:br>
              <a:rPr kumimoji="0" lang="en-US" altLang="he-IL" sz="4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ssistant" pitchFamily="2" charset="-79"/>
                <a:cs typeface="Assistant" pitchFamily="2" charset="-79"/>
              </a:rPr>
            </a:br>
            <a:r>
              <a:rPr kumimoji="0" lang="he-IL" altLang="he-IL" sz="4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ssistant" pitchFamily="2" charset="-79"/>
                <a:cs typeface="Assistant" pitchFamily="2" charset="-79"/>
              </a:rPr>
              <a:t>תרגול  4 – זיכרון וירטואלי</a:t>
            </a:r>
            <a:b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ssistant" pitchFamily="2" charset="-79"/>
                <a:cs typeface="Assistant" pitchFamily="2" charset="-79"/>
              </a:rPr>
            </a:br>
            <a:endParaRPr kumimoji="0" lang="he-IL" altLang="he-IL" sz="11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ssistant" pitchFamily="2" charset="-79"/>
              <a:cs typeface="Assistant" pitchFamily="2" charset="-79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06134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FD40-A961-C6A7-55F8-370EE0FED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50" y="92891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Efficient Memory Management for Large Language Model Serving with </a:t>
            </a:r>
            <a:r>
              <a:rPr lang="en-US" dirty="0" err="1"/>
              <a:t>PagedAttention</a:t>
            </a: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5B656-BB2F-2FEE-740C-05623F6D87A4}"/>
              </a:ext>
            </a:extLst>
          </p:cNvPr>
          <p:cNvSpPr txBox="1"/>
          <p:nvPr/>
        </p:nvSpPr>
        <p:spPr>
          <a:xfrm>
            <a:off x="1" y="4373663"/>
            <a:ext cx="12192000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 err="1"/>
              <a:t>Woosuk</a:t>
            </a:r>
            <a:r>
              <a:rPr lang="en-US" sz="2400" dirty="0"/>
              <a:t> Kwon, </a:t>
            </a:r>
            <a:r>
              <a:rPr lang="en-US" sz="2400" dirty="0" err="1"/>
              <a:t>Zhuohan</a:t>
            </a:r>
            <a:r>
              <a:rPr lang="en-US" sz="2400" dirty="0"/>
              <a:t> Li, Siyuan Zhuang, Ying Sheng, </a:t>
            </a:r>
            <a:r>
              <a:rPr lang="en-US" sz="2400" dirty="0" err="1"/>
              <a:t>Lianmin</a:t>
            </a:r>
            <a:r>
              <a:rPr lang="en-US" sz="2400" dirty="0"/>
              <a:t> Zheng, Cody Hao Yu, Joseph E. Gonzalez, Hao Zhang, and Ion Stoica. 2023. </a:t>
            </a:r>
            <a:r>
              <a:rPr lang="en-US" sz="2400" i="1" dirty="0"/>
              <a:t>Efficient Memory Management for Large Language Model Serving with </a:t>
            </a:r>
            <a:r>
              <a:rPr lang="en-US" sz="2400" i="1" dirty="0" err="1"/>
              <a:t>PagedAttention</a:t>
            </a:r>
            <a:r>
              <a:rPr lang="en-US" sz="2400" dirty="0"/>
              <a:t>. arXiv:2309.06180.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259926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E865-7138-94C1-35AC-59A9AF80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he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694F2E-1F01-C370-79B0-3E8C934BB516}"/>
              </a:ext>
            </a:extLst>
          </p:cNvPr>
          <p:cNvSpPr/>
          <p:nvPr/>
        </p:nvSpPr>
        <p:spPr>
          <a:xfrm>
            <a:off x="933449" y="1697355"/>
            <a:ext cx="1369076" cy="627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Problem</a:t>
            </a:r>
            <a:endParaRPr lang="he-IL" sz="2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CCF889-9503-CDE0-4945-B519DE3291AF}"/>
              </a:ext>
            </a:extLst>
          </p:cNvPr>
          <p:cNvSpPr/>
          <p:nvPr/>
        </p:nvSpPr>
        <p:spPr>
          <a:xfrm>
            <a:off x="932972" y="2316251"/>
            <a:ext cx="1810228" cy="570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Background</a:t>
            </a:r>
            <a:endParaRPr lang="he-IL" sz="24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0A23C9-5CC3-A3F4-886D-D833B12B6B48}"/>
              </a:ext>
            </a:extLst>
          </p:cNvPr>
          <p:cNvSpPr/>
          <p:nvPr/>
        </p:nvSpPr>
        <p:spPr>
          <a:xfrm>
            <a:off x="932974" y="2836431"/>
            <a:ext cx="1314467" cy="5925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Solution</a:t>
            </a:r>
            <a:endParaRPr lang="he-IL" sz="2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4533-C05A-B75D-5E0D-6F97D8B559D7}"/>
              </a:ext>
            </a:extLst>
          </p:cNvPr>
          <p:cNvSpPr/>
          <p:nvPr/>
        </p:nvSpPr>
        <p:spPr>
          <a:xfrm>
            <a:off x="933450" y="3429000"/>
            <a:ext cx="1589414" cy="664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Evaluation</a:t>
            </a:r>
            <a:endParaRPr lang="he-IL" sz="2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BDD34B-84FE-85F2-791D-DD3EBB18849D}"/>
              </a:ext>
            </a:extLst>
          </p:cNvPr>
          <p:cNvSpPr/>
          <p:nvPr/>
        </p:nvSpPr>
        <p:spPr>
          <a:xfrm>
            <a:off x="933925" y="4083976"/>
            <a:ext cx="1500803" cy="653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Summary</a:t>
            </a:r>
            <a:endParaRPr lang="he-I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575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FC1F4-65A1-B394-F037-1CD1417F3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D61FA-4356-A97E-481E-B1100CC94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Evolution of Large Language Models</a:t>
            </a:r>
            <a:endParaRPr lang="he-IL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3AE1C56-4FCB-A0E4-153D-0359DF30C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608"/>
            <a:ext cx="51498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Each increase in model size means billions more parameters to store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Modern LLMs require hundreds of GBs of GPU memory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D49CD4-51C3-C390-ACA6-380EB88B4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321" y="1510221"/>
            <a:ext cx="4962663" cy="481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67BFE52-D28B-FF53-95BD-1D63139FB481}"/>
              </a:ext>
            </a:extLst>
          </p:cNvPr>
          <p:cNvSpPr/>
          <p:nvPr/>
        </p:nvSpPr>
        <p:spPr>
          <a:xfrm>
            <a:off x="6281962" y="5070663"/>
            <a:ext cx="1343470" cy="1018064"/>
          </a:xfrm>
          <a:prstGeom prst="ellipse">
            <a:avLst/>
          </a:prstGeom>
          <a:noFill/>
          <a:ln>
            <a:solidFill>
              <a:srgbClr val="FF85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>
                <a:solidFill>
                  <a:srgbClr val="F8F392"/>
                </a:solidFill>
              </a:ln>
              <a:noFill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9C1BFF-BA7E-E2E7-0EA8-191B759F890D}"/>
              </a:ext>
            </a:extLst>
          </p:cNvPr>
          <p:cNvSpPr/>
          <p:nvPr/>
        </p:nvSpPr>
        <p:spPr>
          <a:xfrm>
            <a:off x="8568335" y="2281521"/>
            <a:ext cx="2443751" cy="2294957"/>
          </a:xfrm>
          <a:prstGeom prst="ellipse">
            <a:avLst/>
          </a:prstGeom>
          <a:noFill/>
          <a:ln>
            <a:solidFill>
              <a:srgbClr val="FF85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>
                <a:solidFill>
                  <a:srgbClr val="F8F392"/>
                </a:solidFill>
              </a:ln>
              <a:noFill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A98DC6-D82D-1ADC-9FBD-667A6DC3AD7D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AF0968-4EBD-B8A6-02FC-59E1213EAD14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AD9BC7-5787-A3F4-3E1A-0C6D360921C8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0BDF4E-46B9-96EF-59BC-1A7CE8194459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0B1E70-9802-3123-3952-12B1D5B8A939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10265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A8DD-5509-1767-CA5D-43C1010E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Solution</a:t>
            </a:r>
            <a:endParaRPr lang="he-IL" dirty="0"/>
          </a:p>
        </p:txBody>
      </p:sp>
      <p:pic>
        <p:nvPicPr>
          <p:cNvPr id="2050" name="Picture 2" descr="Gpu Doodle Illustration Simple Line Illustration Stock Vector (Royalty  Free) 2330596079 | Shutterstock">
            <a:extLst>
              <a:ext uri="{FF2B5EF4-FFF2-40B4-BE49-F238E27FC236}">
                <a16:creationId xmlns:a16="http://schemas.microsoft.com/office/drawing/2014/main" id="{8D228E23-FD18-E88A-4B54-BE05AB7B3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7" t="24286" r="3846" b="32857"/>
          <a:stretch>
            <a:fillRect/>
          </a:stretch>
        </p:blipFill>
        <p:spPr bwMode="auto">
          <a:xfrm>
            <a:off x="3819524" y="2666999"/>
            <a:ext cx="4089797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7D945F8-CDBB-E939-36CE-73E7EF266C20}"/>
              </a:ext>
            </a:extLst>
          </p:cNvPr>
          <p:cNvSpPr/>
          <p:nvPr/>
        </p:nvSpPr>
        <p:spPr>
          <a:xfrm>
            <a:off x="1228725" y="3533626"/>
            <a:ext cx="2152650" cy="266849"/>
          </a:xfrm>
          <a:custGeom>
            <a:avLst/>
            <a:gdLst>
              <a:gd name="connsiteX0" fmla="*/ 0 w 2924175"/>
              <a:gd name="connsiteY0" fmla="*/ 1333649 h 1333649"/>
              <a:gd name="connsiteX1" fmla="*/ 619125 w 2924175"/>
              <a:gd name="connsiteY1" fmla="*/ 149 h 1333649"/>
              <a:gd name="connsiteX2" fmla="*/ 933450 w 2924175"/>
              <a:gd name="connsiteY2" fmla="*/ 1238399 h 1333649"/>
              <a:gd name="connsiteX3" fmla="*/ 1381125 w 2924175"/>
              <a:gd name="connsiteY3" fmla="*/ 9674 h 1333649"/>
              <a:gd name="connsiteX4" fmla="*/ 1647825 w 2924175"/>
              <a:gd name="connsiteY4" fmla="*/ 1209824 h 1333649"/>
              <a:gd name="connsiteX5" fmla="*/ 2162175 w 2924175"/>
              <a:gd name="connsiteY5" fmla="*/ 38249 h 1333649"/>
              <a:gd name="connsiteX6" fmla="*/ 2428875 w 2924175"/>
              <a:gd name="connsiteY6" fmla="*/ 1171724 h 1333649"/>
              <a:gd name="connsiteX7" fmla="*/ 2924175 w 2924175"/>
              <a:gd name="connsiteY7" fmla="*/ 133499 h 133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1333649">
                <a:moveTo>
                  <a:pt x="0" y="1333649"/>
                </a:moveTo>
                <a:cubicBezTo>
                  <a:pt x="231775" y="674836"/>
                  <a:pt x="463550" y="16024"/>
                  <a:pt x="619125" y="149"/>
                </a:cubicBezTo>
                <a:cubicBezTo>
                  <a:pt x="774700" y="-15726"/>
                  <a:pt x="806450" y="1236812"/>
                  <a:pt x="933450" y="1238399"/>
                </a:cubicBezTo>
                <a:cubicBezTo>
                  <a:pt x="1060450" y="1239986"/>
                  <a:pt x="1262063" y="14436"/>
                  <a:pt x="1381125" y="9674"/>
                </a:cubicBezTo>
                <a:cubicBezTo>
                  <a:pt x="1500187" y="4912"/>
                  <a:pt x="1517650" y="1205061"/>
                  <a:pt x="1647825" y="1209824"/>
                </a:cubicBezTo>
                <a:cubicBezTo>
                  <a:pt x="1778000" y="1214586"/>
                  <a:pt x="2032000" y="44599"/>
                  <a:pt x="2162175" y="38249"/>
                </a:cubicBezTo>
                <a:cubicBezTo>
                  <a:pt x="2292350" y="31899"/>
                  <a:pt x="2301875" y="1155849"/>
                  <a:pt x="2428875" y="1171724"/>
                </a:cubicBezTo>
                <a:cubicBezTo>
                  <a:pt x="2555875" y="1187599"/>
                  <a:pt x="2740025" y="660549"/>
                  <a:pt x="2924175" y="133499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E774EF-16ED-AFC4-70E7-FB442BCF504D}"/>
              </a:ext>
            </a:extLst>
          </p:cNvPr>
          <p:cNvSpPr txBox="1"/>
          <p:nvPr/>
        </p:nvSpPr>
        <p:spPr>
          <a:xfrm>
            <a:off x="1714500" y="2590800"/>
            <a:ext cx="140017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Request</a:t>
            </a:r>
            <a:endParaRPr lang="he-IL" sz="2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D95DC94-4556-A186-164C-5CBF7F669A95}"/>
              </a:ext>
            </a:extLst>
          </p:cNvPr>
          <p:cNvSpPr/>
          <p:nvPr/>
        </p:nvSpPr>
        <p:spPr>
          <a:xfrm>
            <a:off x="8148488" y="3476135"/>
            <a:ext cx="2152650" cy="266849"/>
          </a:xfrm>
          <a:custGeom>
            <a:avLst/>
            <a:gdLst>
              <a:gd name="connsiteX0" fmla="*/ 0 w 2924175"/>
              <a:gd name="connsiteY0" fmla="*/ 1333649 h 1333649"/>
              <a:gd name="connsiteX1" fmla="*/ 619125 w 2924175"/>
              <a:gd name="connsiteY1" fmla="*/ 149 h 1333649"/>
              <a:gd name="connsiteX2" fmla="*/ 933450 w 2924175"/>
              <a:gd name="connsiteY2" fmla="*/ 1238399 h 1333649"/>
              <a:gd name="connsiteX3" fmla="*/ 1381125 w 2924175"/>
              <a:gd name="connsiteY3" fmla="*/ 9674 h 1333649"/>
              <a:gd name="connsiteX4" fmla="*/ 1647825 w 2924175"/>
              <a:gd name="connsiteY4" fmla="*/ 1209824 h 1333649"/>
              <a:gd name="connsiteX5" fmla="*/ 2162175 w 2924175"/>
              <a:gd name="connsiteY5" fmla="*/ 38249 h 1333649"/>
              <a:gd name="connsiteX6" fmla="*/ 2428875 w 2924175"/>
              <a:gd name="connsiteY6" fmla="*/ 1171724 h 1333649"/>
              <a:gd name="connsiteX7" fmla="*/ 2924175 w 2924175"/>
              <a:gd name="connsiteY7" fmla="*/ 133499 h 133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1333649">
                <a:moveTo>
                  <a:pt x="0" y="1333649"/>
                </a:moveTo>
                <a:cubicBezTo>
                  <a:pt x="231775" y="674836"/>
                  <a:pt x="463550" y="16024"/>
                  <a:pt x="619125" y="149"/>
                </a:cubicBezTo>
                <a:cubicBezTo>
                  <a:pt x="774700" y="-15726"/>
                  <a:pt x="806450" y="1236812"/>
                  <a:pt x="933450" y="1238399"/>
                </a:cubicBezTo>
                <a:cubicBezTo>
                  <a:pt x="1060450" y="1239986"/>
                  <a:pt x="1262063" y="14436"/>
                  <a:pt x="1381125" y="9674"/>
                </a:cubicBezTo>
                <a:cubicBezTo>
                  <a:pt x="1500187" y="4912"/>
                  <a:pt x="1517650" y="1205061"/>
                  <a:pt x="1647825" y="1209824"/>
                </a:cubicBezTo>
                <a:cubicBezTo>
                  <a:pt x="1778000" y="1214586"/>
                  <a:pt x="2032000" y="44599"/>
                  <a:pt x="2162175" y="38249"/>
                </a:cubicBezTo>
                <a:cubicBezTo>
                  <a:pt x="2292350" y="31899"/>
                  <a:pt x="2301875" y="1155849"/>
                  <a:pt x="2428875" y="1171724"/>
                </a:cubicBezTo>
                <a:cubicBezTo>
                  <a:pt x="2555875" y="1187599"/>
                  <a:pt x="2740025" y="660549"/>
                  <a:pt x="2924175" y="13349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1DAF3-9085-E6BF-8071-7E60B6EDB71A}"/>
              </a:ext>
            </a:extLst>
          </p:cNvPr>
          <p:cNvSpPr txBox="1"/>
          <p:nvPr/>
        </p:nvSpPr>
        <p:spPr>
          <a:xfrm>
            <a:off x="8264833" y="2587954"/>
            <a:ext cx="212978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LLM’s output</a:t>
            </a:r>
            <a:endParaRPr lang="he-IL" sz="24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ED32A6E-B54A-1258-32E1-8541831BC466}"/>
              </a:ext>
            </a:extLst>
          </p:cNvPr>
          <p:cNvSpPr/>
          <p:nvPr/>
        </p:nvSpPr>
        <p:spPr>
          <a:xfrm>
            <a:off x="1219200" y="4629001"/>
            <a:ext cx="2152650" cy="266849"/>
          </a:xfrm>
          <a:custGeom>
            <a:avLst/>
            <a:gdLst>
              <a:gd name="connsiteX0" fmla="*/ 0 w 2924175"/>
              <a:gd name="connsiteY0" fmla="*/ 1333649 h 1333649"/>
              <a:gd name="connsiteX1" fmla="*/ 619125 w 2924175"/>
              <a:gd name="connsiteY1" fmla="*/ 149 h 1333649"/>
              <a:gd name="connsiteX2" fmla="*/ 933450 w 2924175"/>
              <a:gd name="connsiteY2" fmla="*/ 1238399 h 1333649"/>
              <a:gd name="connsiteX3" fmla="*/ 1381125 w 2924175"/>
              <a:gd name="connsiteY3" fmla="*/ 9674 h 1333649"/>
              <a:gd name="connsiteX4" fmla="*/ 1647825 w 2924175"/>
              <a:gd name="connsiteY4" fmla="*/ 1209824 h 1333649"/>
              <a:gd name="connsiteX5" fmla="*/ 2162175 w 2924175"/>
              <a:gd name="connsiteY5" fmla="*/ 38249 h 1333649"/>
              <a:gd name="connsiteX6" fmla="*/ 2428875 w 2924175"/>
              <a:gd name="connsiteY6" fmla="*/ 1171724 h 1333649"/>
              <a:gd name="connsiteX7" fmla="*/ 2924175 w 2924175"/>
              <a:gd name="connsiteY7" fmla="*/ 133499 h 133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1333649">
                <a:moveTo>
                  <a:pt x="0" y="1333649"/>
                </a:moveTo>
                <a:cubicBezTo>
                  <a:pt x="231775" y="674836"/>
                  <a:pt x="463550" y="16024"/>
                  <a:pt x="619125" y="149"/>
                </a:cubicBezTo>
                <a:cubicBezTo>
                  <a:pt x="774700" y="-15726"/>
                  <a:pt x="806450" y="1236812"/>
                  <a:pt x="933450" y="1238399"/>
                </a:cubicBezTo>
                <a:cubicBezTo>
                  <a:pt x="1060450" y="1239986"/>
                  <a:pt x="1262063" y="14436"/>
                  <a:pt x="1381125" y="9674"/>
                </a:cubicBezTo>
                <a:cubicBezTo>
                  <a:pt x="1500187" y="4912"/>
                  <a:pt x="1517650" y="1205061"/>
                  <a:pt x="1647825" y="1209824"/>
                </a:cubicBezTo>
                <a:cubicBezTo>
                  <a:pt x="1778000" y="1214586"/>
                  <a:pt x="2032000" y="44599"/>
                  <a:pt x="2162175" y="38249"/>
                </a:cubicBezTo>
                <a:cubicBezTo>
                  <a:pt x="2292350" y="31899"/>
                  <a:pt x="2301875" y="1155849"/>
                  <a:pt x="2428875" y="1171724"/>
                </a:cubicBezTo>
                <a:cubicBezTo>
                  <a:pt x="2555875" y="1187599"/>
                  <a:pt x="2740025" y="660549"/>
                  <a:pt x="2924175" y="133499"/>
                </a:cubicBezTo>
              </a:path>
            </a:pathLst>
          </a:cu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167B38A-3083-A99F-862E-B400B5E33906}"/>
              </a:ext>
            </a:extLst>
          </p:cNvPr>
          <p:cNvSpPr/>
          <p:nvPr/>
        </p:nvSpPr>
        <p:spPr>
          <a:xfrm>
            <a:off x="8138963" y="4533410"/>
            <a:ext cx="2152650" cy="266849"/>
          </a:xfrm>
          <a:custGeom>
            <a:avLst/>
            <a:gdLst>
              <a:gd name="connsiteX0" fmla="*/ 0 w 2924175"/>
              <a:gd name="connsiteY0" fmla="*/ 1333649 h 1333649"/>
              <a:gd name="connsiteX1" fmla="*/ 619125 w 2924175"/>
              <a:gd name="connsiteY1" fmla="*/ 149 h 1333649"/>
              <a:gd name="connsiteX2" fmla="*/ 933450 w 2924175"/>
              <a:gd name="connsiteY2" fmla="*/ 1238399 h 1333649"/>
              <a:gd name="connsiteX3" fmla="*/ 1381125 w 2924175"/>
              <a:gd name="connsiteY3" fmla="*/ 9674 h 1333649"/>
              <a:gd name="connsiteX4" fmla="*/ 1647825 w 2924175"/>
              <a:gd name="connsiteY4" fmla="*/ 1209824 h 1333649"/>
              <a:gd name="connsiteX5" fmla="*/ 2162175 w 2924175"/>
              <a:gd name="connsiteY5" fmla="*/ 38249 h 1333649"/>
              <a:gd name="connsiteX6" fmla="*/ 2428875 w 2924175"/>
              <a:gd name="connsiteY6" fmla="*/ 1171724 h 1333649"/>
              <a:gd name="connsiteX7" fmla="*/ 2924175 w 2924175"/>
              <a:gd name="connsiteY7" fmla="*/ 133499 h 133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1333649">
                <a:moveTo>
                  <a:pt x="0" y="1333649"/>
                </a:moveTo>
                <a:cubicBezTo>
                  <a:pt x="231775" y="674836"/>
                  <a:pt x="463550" y="16024"/>
                  <a:pt x="619125" y="149"/>
                </a:cubicBezTo>
                <a:cubicBezTo>
                  <a:pt x="774700" y="-15726"/>
                  <a:pt x="806450" y="1236812"/>
                  <a:pt x="933450" y="1238399"/>
                </a:cubicBezTo>
                <a:cubicBezTo>
                  <a:pt x="1060450" y="1239986"/>
                  <a:pt x="1262063" y="14436"/>
                  <a:pt x="1381125" y="9674"/>
                </a:cubicBezTo>
                <a:cubicBezTo>
                  <a:pt x="1500187" y="4912"/>
                  <a:pt x="1517650" y="1205061"/>
                  <a:pt x="1647825" y="1209824"/>
                </a:cubicBezTo>
                <a:cubicBezTo>
                  <a:pt x="1778000" y="1214586"/>
                  <a:pt x="2032000" y="44599"/>
                  <a:pt x="2162175" y="38249"/>
                </a:cubicBezTo>
                <a:cubicBezTo>
                  <a:pt x="2292350" y="31899"/>
                  <a:pt x="2301875" y="1155849"/>
                  <a:pt x="2428875" y="1171724"/>
                </a:cubicBezTo>
                <a:cubicBezTo>
                  <a:pt x="2555875" y="1187599"/>
                  <a:pt x="2740025" y="660549"/>
                  <a:pt x="2924175" y="133499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A8499B-8DB8-AC20-359A-5A0382A9346E}"/>
              </a:ext>
            </a:extLst>
          </p:cNvPr>
          <p:cNvSpPr txBox="1"/>
          <p:nvPr/>
        </p:nvSpPr>
        <p:spPr>
          <a:xfrm>
            <a:off x="1714500" y="2590800"/>
            <a:ext cx="17602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Requests</a:t>
            </a:r>
            <a:endParaRPr lang="he-IL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44E541-C644-F1D7-A0FC-2C5D9AB8DE80}"/>
              </a:ext>
            </a:extLst>
          </p:cNvPr>
          <p:cNvSpPr txBox="1"/>
          <p:nvPr/>
        </p:nvSpPr>
        <p:spPr>
          <a:xfrm>
            <a:off x="8264832" y="2587955"/>
            <a:ext cx="240411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LLM’s outputs</a:t>
            </a:r>
            <a:endParaRPr lang="he-IL" sz="240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4625FDE-6321-F2E9-127D-12DE482265D2}"/>
              </a:ext>
            </a:extLst>
          </p:cNvPr>
          <p:cNvSpPr/>
          <p:nvPr/>
        </p:nvSpPr>
        <p:spPr>
          <a:xfrm>
            <a:off x="1123950" y="4228951"/>
            <a:ext cx="2152650" cy="266849"/>
          </a:xfrm>
          <a:custGeom>
            <a:avLst/>
            <a:gdLst>
              <a:gd name="connsiteX0" fmla="*/ 0 w 2924175"/>
              <a:gd name="connsiteY0" fmla="*/ 1333649 h 1333649"/>
              <a:gd name="connsiteX1" fmla="*/ 619125 w 2924175"/>
              <a:gd name="connsiteY1" fmla="*/ 149 h 1333649"/>
              <a:gd name="connsiteX2" fmla="*/ 933450 w 2924175"/>
              <a:gd name="connsiteY2" fmla="*/ 1238399 h 1333649"/>
              <a:gd name="connsiteX3" fmla="*/ 1381125 w 2924175"/>
              <a:gd name="connsiteY3" fmla="*/ 9674 h 1333649"/>
              <a:gd name="connsiteX4" fmla="*/ 1647825 w 2924175"/>
              <a:gd name="connsiteY4" fmla="*/ 1209824 h 1333649"/>
              <a:gd name="connsiteX5" fmla="*/ 2162175 w 2924175"/>
              <a:gd name="connsiteY5" fmla="*/ 38249 h 1333649"/>
              <a:gd name="connsiteX6" fmla="*/ 2428875 w 2924175"/>
              <a:gd name="connsiteY6" fmla="*/ 1171724 h 1333649"/>
              <a:gd name="connsiteX7" fmla="*/ 2924175 w 2924175"/>
              <a:gd name="connsiteY7" fmla="*/ 133499 h 133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1333649">
                <a:moveTo>
                  <a:pt x="0" y="1333649"/>
                </a:moveTo>
                <a:cubicBezTo>
                  <a:pt x="231775" y="674836"/>
                  <a:pt x="463550" y="16024"/>
                  <a:pt x="619125" y="149"/>
                </a:cubicBezTo>
                <a:cubicBezTo>
                  <a:pt x="774700" y="-15726"/>
                  <a:pt x="806450" y="1236812"/>
                  <a:pt x="933450" y="1238399"/>
                </a:cubicBezTo>
                <a:cubicBezTo>
                  <a:pt x="1060450" y="1239986"/>
                  <a:pt x="1262063" y="14436"/>
                  <a:pt x="1381125" y="9674"/>
                </a:cubicBezTo>
                <a:cubicBezTo>
                  <a:pt x="1500187" y="4912"/>
                  <a:pt x="1517650" y="1205061"/>
                  <a:pt x="1647825" y="1209824"/>
                </a:cubicBezTo>
                <a:cubicBezTo>
                  <a:pt x="1778000" y="1214586"/>
                  <a:pt x="2032000" y="44599"/>
                  <a:pt x="2162175" y="38249"/>
                </a:cubicBezTo>
                <a:cubicBezTo>
                  <a:pt x="2292350" y="31899"/>
                  <a:pt x="2301875" y="1155849"/>
                  <a:pt x="2428875" y="1171724"/>
                </a:cubicBezTo>
                <a:cubicBezTo>
                  <a:pt x="2555875" y="1187599"/>
                  <a:pt x="2740025" y="660549"/>
                  <a:pt x="2924175" y="133499"/>
                </a:cubicBezTo>
              </a:path>
            </a:pathLst>
          </a:cu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163DFCD-0101-F6C8-A011-0D6B15A1AD68}"/>
              </a:ext>
            </a:extLst>
          </p:cNvPr>
          <p:cNvSpPr/>
          <p:nvPr/>
        </p:nvSpPr>
        <p:spPr>
          <a:xfrm>
            <a:off x="8110388" y="4190510"/>
            <a:ext cx="2152650" cy="266849"/>
          </a:xfrm>
          <a:custGeom>
            <a:avLst/>
            <a:gdLst>
              <a:gd name="connsiteX0" fmla="*/ 0 w 2924175"/>
              <a:gd name="connsiteY0" fmla="*/ 1333649 h 1333649"/>
              <a:gd name="connsiteX1" fmla="*/ 619125 w 2924175"/>
              <a:gd name="connsiteY1" fmla="*/ 149 h 1333649"/>
              <a:gd name="connsiteX2" fmla="*/ 933450 w 2924175"/>
              <a:gd name="connsiteY2" fmla="*/ 1238399 h 1333649"/>
              <a:gd name="connsiteX3" fmla="*/ 1381125 w 2924175"/>
              <a:gd name="connsiteY3" fmla="*/ 9674 h 1333649"/>
              <a:gd name="connsiteX4" fmla="*/ 1647825 w 2924175"/>
              <a:gd name="connsiteY4" fmla="*/ 1209824 h 1333649"/>
              <a:gd name="connsiteX5" fmla="*/ 2162175 w 2924175"/>
              <a:gd name="connsiteY5" fmla="*/ 38249 h 1333649"/>
              <a:gd name="connsiteX6" fmla="*/ 2428875 w 2924175"/>
              <a:gd name="connsiteY6" fmla="*/ 1171724 h 1333649"/>
              <a:gd name="connsiteX7" fmla="*/ 2924175 w 2924175"/>
              <a:gd name="connsiteY7" fmla="*/ 133499 h 133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1333649">
                <a:moveTo>
                  <a:pt x="0" y="1333649"/>
                </a:moveTo>
                <a:cubicBezTo>
                  <a:pt x="231775" y="674836"/>
                  <a:pt x="463550" y="16024"/>
                  <a:pt x="619125" y="149"/>
                </a:cubicBezTo>
                <a:cubicBezTo>
                  <a:pt x="774700" y="-15726"/>
                  <a:pt x="806450" y="1236812"/>
                  <a:pt x="933450" y="1238399"/>
                </a:cubicBezTo>
                <a:cubicBezTo>
                  <a:pt x="1060450" y="1239986"/>
                  <a:pt x="1262063" y="14436"/>
                  <a:pt x="1381125" y="9674"/>
                </a:cubicBezTo>
                <a:cubicBezTo>
                  <a:pt x="1500187" y="4912"/>
                  <a:pt x="1517650" y="1205061"/>
                  <a:pt x="1647825" y="1209824"/>
                </a:cubicBezTo>
                <a:cubicBezTo>
                  <a:pt x="1778000" y="1214586"/>
                  <a:pt x="2032000" y="44599"/>
                  <a:pt x="2162175" y="38249"/>
                </a:cubicBezTo>
                <a:cubicBezTo>
                  <a:pt x="2292350" y="31899"/>
                  <a:pt x="2301875" y="1155849"/>
                  <a:pt x="2428875" y="1171724"/>
                </a:cubicBezTo>
                <a:cubicBezTo>
                  <a:pt x="2555875" y="1187599"/>
                  <a:pt x="2740025" y="660549"/>
                  <a:pt x="2924175" y="133499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7E8BF2F-CD40-7615-00D0-A7789BCC91A5}"/>
              </a:ext>
            </a:extLst>
          </p:cNvPr>
          <p:cNvSpPr/>
          <p:nvPr/>
        </p:nvSpPr>
        <p:spPr>
          <a:xfrm>
            <a:off x="1181100" y="3876526"/>
            <a:ext cx="2152650" cy="266849"/>
          </a:xfrm>
          <a:custGeom>
            <a:avLst/>
            <a:gdLst>
              <a:gd name="connsiteX0" fmla="*/ 0 w 2924175"/>
              <a:gd name="connsiteY0" fmla="*/ 1333649 h 1333649"/>
              <a:gd name="connsiteX1" fmla="*/ 619125 w 2924175"/>
              <a:gd name="connsiteY1" fmla="*/ 149 h 1333649"/>
              <a:gd name="connsiteX2" fmla="*/ 933450 w 2924175"/>
              <a:gd name="connsiteY2" fmla="*/ 1238399 h 1333649"/>
              <a:gd name="connsiteX3" fmla="*/ 1381125 w 2924175"/>
              <a:gd name="connsiteY3" fmla="*/ 9674 h 1333649"/>
              <a:gd name="connsiteX4" fmla="*/ 1647825 w 2924175"/>
              <a:gd name="connsiteY4" fmla="*/ 1209824 h 1333649"/>
              <a:gd name="connsiteX5" fmla="*/ 2162175 w 2924175"/>
              <a:gd name="connsiteY5" fmla="*/ 38249 h 1333649"/>
              <a:gd name="connsiteX6" fmla="*/ 2428875 w 2924175"/>
              <a:gd name="connsiteY6" fmla="*/ 1171724 h 1333649"/>
              <a:gd name="connsiteX7" fmla="*/ 2924175 w 2924175"/>
              <a:gd name="connsiteY7" fmla="*/ 133499 h 133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1333649">
                <a:moveTo>
                  <a:pt x="0" y="1333649"/>
                </a:moveTo>
                <a:cubicBezTo>
                  <a:pt x="231775" y="674836"/>
                  <a:pt x="463550" y="16024"/>
                  <a:pt x="619125" y="149"/>
                </a:cubicBezTo>
                <a:cubicBezTo>
                  <a:pt x="774700" y="-15726"/>
                  <a:pt x="806450" y="1236812"/>
                  <a:pt x="933450" y="1238399"/>
                </a:cubicBezTo>
                <a:cubicBezTo>
                  <a:pt x="1060450" y="1239986"/>
                  <a:pt x="1262063" y="14436"/>
                  <a:pt x="1381125" y="9674"/>
                </a:cubicBezTo>
                <a:cubicBezTo>
                  <a:pt x="1500187" y="4912"/>
                  <a:pt x="1517650" y="1205061"/>
                  <a:pt x="1647825" y="1209824"/>
                </a:cubicBezTo>
                <a:cubicBezTo>
                  <a:pt x="1778000" y="1214586"/>
                  <a:pt x="2032000" y="44599"/>
                  <a:pt x="2162175" y="38249"/>
                </a:cubicBezTo>
                <a:cubicBezTo>
                  <a:pt x="2292350" y="31899"/>
                  <a:pt x="2301875" y="1155849"/>
                  <a:pt x="2428875" y="1171724"/>
                </a:cubicBezTo>
                <a:cubicBezTo>
                  <a:pt x="2555875" y="1187599"/>
                  <a:pt x="2740025" y="660549"/>
                  <a:pt x="2924175" y="133499"/>
                </a:cubicBezTo>
              </a:path>
            </a:pathLst>
          </a:cu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57C4C67-197B-CFD5-1EC1-3530B6D87495}"/>
              </a:ext>
            </a:extLst>
          </p:cNvPr>
          <p:cNvSpPr/>
          <p:nvPr/>
        </p:nvSpPr>
        <p:spPr>
          <a:xfrm>
            <a:off x="8110388" y="3066070"/>
            <a:ext cx="2152650" cy="266849"/>
          </a:xfrm>
          <a:custGeom>
            <a:avLst/>
            <a:gdLst>
              <a:gd name="connsiteX0" fmla="*/ 0 w 2924175"/>
              <a:gd name="connsiteY0" fmla="*/ 1333649 h 1333649"/>
              <a:gd name="connsiteX1" fmla="*/ 619125 w 2924175"/>
              <a:gd name="connsiteY1" fmla="*/ 149 h 1333649"/>
              <a:gd name="connsiteX2" fmla="*/ 933450 w 2924175"/>
              <a:gd name="connsiteY2" fmla="*/ 1238399 h 1333649"/>
              <a:gd name="connsiteX3" fmla="*/ 1381125 w 2924175"/>
              <a:gd name="connsiteY3" fmla="*/ 9674 h 1333649"/>
              <a:gd name="connsiteX4" fmla="*/ 1647825 w 2924175"/>
              <a:gd name="connsiteY4" fmla="*/ 1209824 h 1333649"/>
              <a:gd name="connsiteX5" fmla="*/ 2162175 w 2924175"/>
              <a:gd name="connsiteY5" fmla="*/ 38249 h 1333649"/>
              <a:gd name="connsiteX6" fmla="*/ 2428875 w 2924175"/>
              <a:gd name="connsiteY6" fmla="*/ 1171724 h 1333649"/>
              <a:gd name="connsiteX7" fmla="*/ 2924175 w 2924175"/>
              <a:gd name="connsiteY7" fmla="*/ 133499 h 133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1333649">
                <a:moveTo>
                  <a:pt x="0" y="1333649"/>
                </a:moveTo>
                <a:cubicBezTo>
                  <a:pt x="231775" y="674836"/>
                  <a:pt x="463550" y="16024"/>
                  <a:pt x="619125" y="149"/>
                </a:cubicBezTo>
                <a:cubicBezTo>
                  <a:pt x="774700" y="-15726"/>
                  <a:pt x="806450" y="1236812"/>
                  <a:pt x="933450" y="1238399"/>
                </a:cubicBezTo>
                <a:cubicBezTo>
                  <a:pt x="1060450" y="1239986"/>
                  <a:pt x="1262063" y="14436"/>
                  <a:pt x="1381125" y="9674"/>
                </a:cubicBezTo>
                <a:cubicBezTo>
                  <a:pt x="1500187" y="4912"/>
                  <a:pt x="1517650" y="1205061"/>
                  <a:pt x="1647825" y="1209824"/>
                </a:cubicBezTo>
                <a:cubicBezTo>
                  <a:pt x="1778000" y="1214586"/>
                  <a:pt x="2032000" y="44599"/>
                  <a:pt x="2162175" y="38249"/>
                </a:cubicBezTo>
                <a:cubicBezTo>
                  <a:pt x="2292350" y="31899"/>
                  <a:pt x="2301875" y="1155849"/>
                  <a:pt x="2428875" y="1171724"/>
                </a:cubicBezTo>
                <a:cubicBezTo>
                  <a:pt x="2555875" y="1187599"/>
                  <a:pt x="2740025" y="660549"/>
                  <a:pt x="2924175" y="133499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256FD46-E7BA-DA9B-3705-4323E3F4F7D7}"/>
              </a:ext>
            </a:extLst>
          </p:cNvPr>
          <p:cNvSpPr/>
          <p:nvPr/>
        </p:nvSpPr>
        <p:spPr>
          <a:xfrm>
            <a:off x="1200150" y="3133576"/>
            <a:ext cx="2152650" cy="266849"/>
          </a:xfrm>
          <a:custGeom>
            <a:avLst/>
            <a:gdLst>
              <a:gd name="connsiteX0" fmla="*/ 0 w 2924175"/>
              <a:gd name="connsiteY0" fmla="*/ 1333649 h 1333649"/>
              <a:gd name="connsiteX1" fmla="*/ 619125 w 2924175"/>
              <a:gd name="connsiteY1" fmla="*/ 149 h 1333649"/>
              <a:gd name="connsiteX2" fmla="*/ 933450 w 2924175"/>
              <a:gd name="connsiteY2" fmla="*/ 1238399 h 1333649"/>
              <a:gd name="connsiteX3" fmla="*/ 1381125 w 2924175"/>
              <a:gd name="connsiteY3" fmla="*/ 9674 h 1333649"/>
              <a:gd name="connsiteX4" fmla="*/ 1647825 w 2924175"/>
              <a:gd name="connsiteY4" fmla="*/ 1209824 h 1333649"/>
              <a:gd name="connsiteX5" fmla="*/ 2162175 w 2924175"/>
              <a:gd name="connsiteY5" fmla="*/ 38249 h 1333649"/>
              <a:gd name="connsiteX6" fmla="*/ 2428875 w 2924175"/>
              <a:gd name="connsiteY6" fmla="*/ 1171724 h 1333649"/>
              <a:gd name="connsiteX7" fmla="*/ 2924175 w 2924175"/>
              <a:gd name="connsiteY7" fmla="*/ 133499 h 133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1333649">
                <a:moveTo>
                  <a:pt x="0" y="1333649"/>
                </a:moveTo>
                <a:cubicBezTo>
                  <a:pt x="231775" y="674836"/>
                  <a:pt x="463550" y="16024"/>
                  <a:pt x="619125" y="149"/>
                </a:cubicBezTo>
                <a:cubicBezTo>
                  <a:pt x="774700" y="-15726"/>
                  <a:pt x="806450" y="1236812"/>
                  <a:pt x="933450" y="1238399"/>
                </a:cubicBezTo>
                <a:cubicBezTo>
                  <a:pt x="1060450" y="1239986"/>
                  <a:pt x="1262063" y="14436"/>
                  <a:pt x="1381125" y="9674"/>
                </a:cubicBezTo>
                <a:cubicBezTo>
                  <a:pt x="1500187" y="4912"/>
                  <a:pt x="1517650" y="1205061"/>
                  <a:pt x="1647825" y="1209824"/>
                </a:cubicBezTo>
                <a:cubicBezTo>
                  <a:pt x="1778000" y="1214586"/>
                  <a:pt x="2032000" y="44599"/>
                  <a:pt x="2162175" y="38249"/>
                </a:cubicBezTo>
                <a:cubicBezTo>
                  <a:pt x="2292350" y="31899"/>
                  <a:pt x="2301875" y="1155849"/>
                  <a:pt x="2428875" y="1171724"/>
                </a:cubicBezTo>
                <a:cubicBezTo>
                  <a:pt x="2555875" y="1187599"/>
                  <a:pt x="2740025" y="660549"/>
                  <a:pt x="2924175" y="133499"/>
                </a:cubicBezTo>
              </a:path>
            </a:pathLst>
          </a:cu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CFC7D57-EC24-3D06-40CB-D29214670A0A}"/>
              </a:ext>
            </a:extLst>
          </p:cNvPr>
          <p:cNvSpPr/>
          <p:nvPr/>
        </p:nvSpPr>
        <p:spPr>
          <a:xfrm>
            <a:off x="8119913" y="3799985"/>
            <a:ext cx="2152650" cy="266849"/>
          </a:xfrm>
          <a:custGeom>
            <a:avLst/>
            <a:gdLst>
              <a:gd name="connsiteX0" fmla="*/ 0 w 2924175"/>
              <a:gd name="connsiteY0" fmla="*/ 1333649 h 1333649"/>
              <a:gd name="connsiteX1" fmla="*/ 619125 w 2924175"/>
              <a:gd name="connsiteY1" fmla="*/ 149 h 1333649"/>
              <a:gd name="connsiteX2" fmla="*/ 933450 w 2924175"/>
              <a:gd name="connsiteY2" fmla="*/ 1238399 h 1333649"/>
              <a:gd name="connsiteX3" fmla="*/ 1381125 w 2924175"/>
              <a:gd name="connsiteY3" fmla="*/ 9674 h 1333649"/>
              <a:gd name="connsiteX4" fmla="*/ 1647825 w 2924175"/>
              <a:gd name="connsiteY4" fmla="*/ 1209824 h 1333649"/>
              <a:gd name="connsiteX5" fmla="*/ 2162175 w 2924175"/>
              <a:gd name="connsiteY5" fmla="*/ 38249 h 1333649"/>
              <a:gd name="connsiteX6" fmla="*/ 2428875 w 2924175"/>
              <a:gd name="connsiteY6" fmla="*/ 1171724 h 1333649"/>
              <a:gd name="connsiteX7" fmla="*/ 2924175 w 2924175"/>
              <a:gd name="connsiteY7" fmla="*/ 133499 h 133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4175" h="1333649">
                <a:moveTo>
                  <a:pt x="0" y="1333649"/>
                </a:moveTo>
                <a:cubicBezTo>
                  <a:pt x="231775" y="674836"/>
                  <a:pt x="463550" y="16024"/>
                  <a:pt x="619125" y="149"/>
                </a:cubicBezTo>
                <a:cubicBezTo>
                  <a:pt x="774700" y="-15726"/>
                  <a:pt x="806450" y="1236812"/>
                  <a:pt x="933450" y="1238399"/>
                </a:cubicBezTo>
                <a:cubicBezTo>
                  <a:pt x="1060450" y="1239986"/>
                  <a:pt x="1262063" y="14436"/>
                  <a:pt x="1381125" y="9674"/>
                </a:cubicBezTo>
                <a:cubicBezTo>
                  <a:pt x="1500187" y="4912"/>
                  <a:pt x="1517650" y="1205061"/>
                  <a:pt x="1647825" y="1209824"/>
                </a:cubicBezTo>
                <a:cubicBezTo>
                  <a:pt x="1778000" y="1214586"/>
                  <a:pt x="2032000" y="44599"/>
                  <a:pt x="2162175" y="38249"/>
                </a:cubicBezTo>
                <a:cubicBezTo>
                  <a:pt x="2292350" y="31899"/>
                  <a:pt x="2301875" y="1155849"/>
                  <a:pt x="2428875" y="1171724"/>
                </a:cubicBezTo>
                <a:cubicBezTo>
                  <a:pt x="2555875" y="1187599"/>
                  <a:pt x="2740025" y="660549"/>
                  <a:pt x="2924175" y="133499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052" name="Picture 4" descr="Out of memory&quot; error... but nowhere close to out of memory — GSA SEO Forum">
            <a:extLst>
              <a:ext uri="{FF2B5EF4-FFF2-40B4-BE49-F238E27FC236}">
                <a16:creationId xmlns:a16="http://schemas.microsoft.com/office/drawing/2014/main" id="{99F985B3-6A7B-5DFE-5663-77A2E1EC1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994" y="3305174"/>
            <a:ext cx="5308112" cy="263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041736-5B6E-7DDF-476D-8191DC731BFB}"/>
              </a:ext>
            </a:extLst>
          </p:cNvPr>
          <p:cNvSpPr txBox="1"/>
          <p:nvPr/>
        </p:nvSpPr>
        <p:spPr>
          <a:xfrm>
            <a:off x="3986655" y="4218940"/>
            <a:ext cx="4481665" cy="1015663"/>
          </a:xfrm>
          <a:prstGeom prst="rect">
            <a:avLst/>
          </a:prstGeom>
          <a:solidFill>
            <a:srgbClr val="E2EEFC"/>
          </a:solidFill>
        </p:spPr>
        <p:txBody>
          <a:bodyPr wrap="square" rtlCol="1">
            <a:spAutoFit/>
          </a:bodyPr>
          <a:lstStyle/>
          <a:p>
            <a:r>
              <a:rPr lang="en-US" sz="2000" b="1" dirty="0"/>
              <a:t>Your lovely GPU just ran out of memory!  Don’t panic -  this presentation might help.</a:t>
            </a:r>
            <a:endParaRPr lang="he-IL" sz="20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9733B3-723A-5018-6B7A-E345B1CE2C27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468DD7-434E-E026-D8F4-85587F02B1D6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C24878-EAD2-6643-FC32-5F055F7B9207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345402-AEE2-6EC0-48B6-CE00B108702D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4E24ED-ED2A-6FCB-8A37-FB3A0753928C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7887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D6D6C-D942-998B-A75A-558ECB66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the GPU Memory Go?</a:t>
            </a:r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E3435D-C870-0927-861C-E42AAED22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" t="15469" r="58367" b="24355"/>
          <a:stretch>
            <a:fillRect/>
          </a:stretch>
        </p:blipFill>
        <p:spPr>
          <a:xfrm>
            <a:off x="3550595" y="1994170"/>
            <a:ext cx="4669277" cy="375487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4D2B2F-F9A7-4AF8-A8DD-CC86CE6ED649}"/>
              </a:ext>
            </a:extLst>
          </p:cNvPr>
          <p:cNvCxnSpPr>
            <a:cxnSpLocks/>
          </p:cNvCxnSpPr>
          <p:nvPr/>
        </p:nvCxnSpPr>
        <p:spPr>
          <a:xfrm flipH="1" flipV="1">
            <a:off x="2791326" y="2791326"/>
            <a:ext cx="1333202" cy="321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E174F0-1CDE-78CF-65A3-936907F96CD6}"/>
              </a:ext>
            </a:extLst>
          </p:cNvPr>
          <p:cNvSpPr txBox="1"/>
          <p:nvPr/>
        </p:nvSpPr>
        <p:spPr>
          <a:xfrm>
            <a:off x="798897" y="2168786"/>
            <a:ext cx="2123472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Static part:</a:t>
            </a:r>
          </a:p>
          <a:p>
            <a:r>
              <a:rPr lang="en-US" sz="2400" dirty="0"/>
              <a:t>Locked for </a:t>
            </a:r>
            <a:r>
              <a:rPr lang="en-US" sz="2400" b="1" dirty="0"/>
              <a:t>model,</a:t>
            </a:r>
            <a:r>
              <a:rPr lang="en-US" sz="2400" dirty="0"/>
              <a:t> it never moves</a:t>
            </a:r>
            <a:endParaRPr lang="he-IL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C455CD-EBC2-0D5D-1AF6-69A82C37A99C}"/>
              </a:ext>
            </a:extLst>
          </p:cNvPr>
          <p:cNvCxnSpPr>
            <a:cxnSpLocks/>
          </p:cNvCxnSpPr>
          <p:nvPr/>
        </p:nvCxnSpPr>
        <p:spPr>
          <a:xfrm flipV="1">
            <a:off x="7677150" y="2314575"/>
            <a:ext cx="1238250" cy="92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D567DD-31C8-5292-D496-2100ED9BC0E7}"/>
              </a:ext>
            </a:extLst>
          </p:cNvPr>
          <p:cNvSpPr txBox="1"/>
          <p:nvPr/>
        </p:nvSpPr>
        <p:spPr>
          <a:xfrm>
            <a:off x="8972549" y="1629370"/>
            <a:ext cx="2886075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Dynamic part:</a:t>
            </a:r>
          </a:p>
          <a:p>
            <a:r>
              <a:rPr lang="en-US" sz="2400" dirty="0"/>
              <a:t>Allocated and Deallocated per request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AABD5F-C002-3A24-06F2-B284F72A38ED}"/>
              </a:ext>
            </a:extLst>
          </p:cNvPr>
          <p:cNvCxnSpPr>
            <a:cxnSpLocks/>
          </p:cNvCxnSpPr>
          <p:nvPr/>
        </p:nvCxnSpPr>
        <p:spPr>
          <a:xfrm flipV="1">
            <a:off x="7839075" y="5210175"/>
            <a:ext cx="1314450" cy="66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D3E5B56-64ED-E73F-7AB2-EF3D7D08A1F7}"/>
              </a:ext>
            </a:extLst>
          </p:cNvPr>
          <p:cNvSpPr txBox="1"/>
          <p:nvPr/>
        </p:nvSpPr>
        <p:spPr>
          <a:xfrm>
            <a:off x="9191624" y="4734520"/>
            <a:ext cx="2886075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Less important:</a:t>
            </a:r>
          </a:p>
          <a:p>
            <a:r>
              <a:rPr lang="en-US" sz="2400" dirty="0"/>
              <a:t>small, temporary stuff </a:t>
            </a:r>
            <a:endParaRPr lang="he-IL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EE12E9-FD57-6D94-33E8-3EEF30535D92}"/>
              </a:ext>
            </a:extLst>
          </p:cNvPr>
          <p:cNvSpPr txBox="1"/>
          <p:nvPr/>
        </p:nvSpPr>
        <p:spPr>
          <a:xfrm>
            <a:off x="141955" y="5745411"/>
            <a:ext cx="976312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13B-parameter LLM on an NVIDIA A100 GPU with 40GB RAM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6E895D-8D93-6801-32CB-A9E06A3A2198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E73EF4-E238-9EDF-5393-F44625430A5F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509F33-7CE8-BE25-2AC7-5F1B8E6CC486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44BD14-6A62-E112-37C4-CCB65E611501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B11154-51F5-ABF8-AE2B-BCAEF2DAFF54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42917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4E493-0585-B50E-BE51-9F251F5C4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8432-3F7D-D0C9-F9AB-08F53DE7C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the GPU Memory Goes</a:t>
            </a:r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9F3ABD-8439-F576-58EF-03BF090D3E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" t="15469" r="58367" b="24355"/>
          <a:stretch>
            <a:fillRect/>
          </a:stretch>
        </p:blipFill>
        <p:spPr>
          <a:xfrm>
            <a:off x="3550595" y="1994170"/>
            <a:ext cx="4669277" cy="3754877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03B9927-6155-14AD-FC33-405674F587BD}"/>
              </a:ext>
            </a:extLst>
          </p:cNvPr>
          <p:cNvSpPr/>
          <p:nvPr/>
        </p:nvSpPr>
        <p:spPr>
          <a:xfrm>
            <a:off x="3581400" y="2085975"/>
            <a:ext cx="4572000" cy="3543300"/>
          </a:xfrm>
          <a:custGeom>
            <a:avLst/>
            <a:gdLst>
              <a:gd name="connsiteX0" fmla="*/ 9525 w 4572000"/>
              <a:gd name="connsiteY0" fmla="*/ 0 h 3543300"/>
              <a:gd name="connsiteX1" fmla="*/ 2667000 w 4572000"/>
              <a:gd name="connsiteY1" fmla="*/ 9525 h 3543300"/>
              <a:gd name="connsiteX2" fmla="*/ 2667000 w 4572000"/>
              <a:gd name="connsiteY2" fmla="*/ 2895600 h 3543300"/>
              <a:gd name="connsiteX3" fmla="*/ 4562475 w 4572000"/>
              <a:gd name="connsiteY3" fmla="*/ 2905125 h 3543300"/>
              <a:gd name="connsiteX4" fmla="*/ 4572000 w 4572000"/>
              <a:gd name="connsiteY4" fmla="*/ 3533775 h 3543300"/>
              <a:gd name="connsiteX5" fmla="*/ 0 w 4572000"/>
              <a:gd name="connsiteY5" fmla="*/ 3543300 h 3543300"/>
              <a:gd name="connsiteX6" fmla="*/ 9525 w 4572000"/>
              <a:gd name="connsiteY6" fmla="*/ 0 h 35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72000" h="3543300">
                <a:moveTo>
                  <a:pt x="9525" y="0"/>
                </a:moveTo>
                <a:lnTo>
                  <a:pt x="2667000" y="9525"/>
                </a:lnTo>
                <a:lnTo>
                  <a:pt x="2667000" y="2895600"/>
                </a:lnTo>
                <a:lnTo>
                  <a:pt x="4562475" y="2905125"/>
                </a:lnTo>
                <a:lnTo>
                  <a:pt x="4572000" y="3533775"/>
                </a:lnTo>
                <a:lnTo>
                  <a:pt x="0" y="3543300"/>
                </a:lnTo>
                <a:lnTo>
                  <a:pt x="952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1DA5D8-069B-CD48-CD45-6B69C571965B}"/>
              </a:ext>
            </a:extLst>
          </p:cNvPr>
          <p:cNvSpPr txBox="1"/>
          <p:nvPr/>
        </p:nvSpPr>
        <p:spPr>
          <a:xfrm>
            <a:off x="4042709" y="3048000"/>
            <a:ext cx="1945341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/>
              <a:t>Fixed Memory Region </a:t>
            </a:r>
            <a:endParaRPr lang="he-IL" sz="3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DA8C0-3953-A34D-2300-16703D1E3013}"/>
              </a:ext>
            </a:extLst>
          </p:cNvPr>
          <p:cNvCxnSpPr>
            <a:cxnSpLocks/>
          </p:cNvCxnSpPr>
          <p:nvPr/>
        </p:nvCxnSpPr>
        <p:spPr>
          <a:xfrm flipV="1">
            <a:off x="7620000" y="1990725"/>
            <a:ext cx="1609725" cy="981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59416EC-A88C-0218-0E0D-C3AD8518948A}"/>
              </a:ext>
            </a:extLst>
          </p:cNvPr>
          <p:cNvSpPr txBox="1"/>
          <p:nvPr/>
        </p:nvSpPr>
        <p:spPr>
          <a:xfrm>
            <a:off x="7888029" y="1476374"/>
            <a:ext cx="430397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Our “</a:t>
            </a:r>
            <a:r>
              <a:rPr lang="en-US" sz="2400" b="1" dirty="0"/>
              <a:t>playground</a:t>
            </a:r>
            <a:r>
              <a:rPr lang="en-US" sz="2400" dirty="0"/>
              <a:t>” in memory</a:t>
            </a:r>
            <a:endParaRPr lang="he-IL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59D5EE-9A37-3DDE-0512-DE2E56CCD460}"/>
              </a:ext>
            </a:extLst>
          </p:cNvPr>
          <p:cNvCxnSpPr/>
          <p:nvPr/>
        </p:nvCxnSpPr>
        <p:spPr>
          <a:xfrm flipV="1">
            <a:off x="7800975" y="3114675"/>
            <a:ext cx="1228725" cy="180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5E497F7-3078-2295-9612-622DCD3A15D2}"/>
              </a:ext>
            </a:extLst>
          </p:cNvPr>
          <p:cNvSpPr txBox="1"/>
          <p:nvPr/>
        </p:nvSpPr>
        <p:spPr>
          <a:xfrm>
            <a:off x="9086850" y="2686049"/>
            <a:ext cx="2981325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The way the KV cache is managed determines the maximum batch size</a:t>
            </a:r>
            <a:endParaRPr lang="he-IL" sz="2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7A113E-3444-D176-2F82-FFF58001D383}"/>
              </a:ext>
            </a:extLst>
          </p:cNvPr>
          <p:cNvCxnSpPr>
            <a:cxnSpLocks/>
          </p:cNvCxnSpPr>
          <p:nvPr/>
        </p:nvCxnSpPr>
        <p:spPr>
          <a:xfrm>
            <a:off x="7829550" y="4381500"/>
            <a:ext cx="1143000" cy="62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D9F5771-0308-9C6A-FF8E-4F14791D7795}"/>
              </a:ext>
            </a:extLst>
          </p:cNvPr>
          <p:cNvSpPr txBox="1"/>
          <p:nvPr/>
        </p:nvSpPr>
        <p:spPr>
          <a:xfrm>
            <a:off x="9048750" y="4962525"/>
            <a:ext cx="283845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Small batch size</a:t>
            </a:r>
          </a:p>
          <a:p>
            <a:r>
              <a:rPr lang="en-US" sz="2400" dirty="0"/>
              <a:t>“harm” throughput</a:t>
            </a:r>
            <a:endParaRPr lang="he-IL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A7F9E8-9D6A-7C26-1577-51B546B656FA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B3E4C1-A272-27ED-C96D-7854A8A70B68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A8AEF1-CF20-150F-9718-CC27573C6D87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B33D57-CA0C-E6D0-FA41-4D1F09582223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67E4DB-576E-B6B3-AAD8-DC51530B1864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94825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649A-9343-9A5A-B9A5-D38109D2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05FB5-18ED-A8D8-9D1D-B8FCE0160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Existing Systems Operate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20558F-9EDD-B39F-F7DF-688D3D54F80D}"/>
              </a:ext>
            </a:extLst>
          </p:cNvPr>
          <p:cNvSpPr/>
          <p:nvPr/>
        </p:nvSpPr>
        <p:spPr>
          <a:xfrm>
            <a:off x="647700" y="27090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8EE35C-3BCC-1C24-8508-E7644B778B17}"/>
              </a:ext>
            </a:extLst>
          </p:cNvPr>
          <p:cNvSpPr/>
          <p:nvPr/>
        </p:nvSpPr>
        <p:spPr>
          <a:xfrm>
            <a:off x="647700" y="31662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C2296B-D954-0C23-7128-D79013E5C409}"/>
              </a:ext>
            </a:extLst>
          </p:cNvPr>
          <p:cNvSpPr/>
          <p:nvPr/>
        </p:nvSpPr>
        <p:spPr>
          <a:xfrm>
            <a:off x="649287" y="36234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7D4621-963F-258B-64B6-5A047F65F095}"/>
              </a:ext>
            </a:extLst>
          </p:cNvPr>
          <p:cNvSpPr/>
          <p:nvPr/>
        </p:nvSpPr>
        <p:spPr>
          <a:xfrm>
            <a:off x="647701" y="2709022"/>
            <a:ext cx="72389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Summarize this paragraph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927CA7-3343-F960-9170-30EBD3E9C836}"/>
              </a:ext>
            </a:extLst>
          </p:cNvPr>
          <p:cNvSpPr/>
          <p:nvPr/>
        </p:nvSpPr>
        <p:spPr>
          <a:xfrm>
            <a:off x="7886700" y="2709022"/>
            <a:ext cx="3895726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Explain quantum computing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7BB1D6-1FF8-C84E-09B0-3A2242151CBC}"/>
              </a:ext>
            </a:extLst>
          </p:cNvPr>
          <p:cNvSpPr/>
          <p:nvPr/>
        </p:nvSpPr>
        <p:spPr>
          <a:xfrm>
            <a:off x="647702" y="3166222"/>
            <a:ext cx="2257424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476B79-35F4-9530-99F1-528B7F8D887E}"/>
              </a:ext>
            </a:extLst>
          </p:cNvPr>
          <p:cNvSpPr/>
          <p:nvPr/>
        </p:nvSpPr>
        <p:spPr>
          <a:xfrm>
            <a:off x="2895600" y="3166222"/>
            <a:ext cx="8886825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Fix Grammar errors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51205-93D0-977F-02A3-7865F485BD5A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692D5E-6BD9-683E-7BE1-F0E34B8A93BE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3DE84-4D8E-52FC-CDE6-BA22602232C7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C81A24-D6D0-E827-1760-A6FDADEC6253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1DC60-0CDB-816B-C0D6-0281E179286A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A2976C-FC68-E7D7-5C70-51070C1AA084}"/>
              </a:ext>
            </a:extLst>
          </p:cNvPr>
          <p:cNvSpPr txBox="1"/>
          <p:nvPr/>
        </p:nvSpPr>
        <p:spPr>
          <a:xfrm>
            <a:off x="2238375" y="20013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Reserved slots for future tokens</a:t>
            </a:r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EE375825-38EE-3178-BF74-D0BF3BFB0CAE}"/>
              </a:ext>
            </a:extLst>
          </p:cNvPr>
          <p:cNvSpPr/>
          <p:nvPr/>
        </p:nvSpPr>
        <p:spPr>
          <a:xfrm rot="5400000">
            <a:off x="4137705" y="-1104286"/>
            <a:ext cx="263461" cy="721548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789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4" grpId="0" animBg="1"/>
      <p:bldP spid="15" grpId="0" animBg="1"/>
      <p:bldP spid="17" grpId="0" animBg="1"/>
      <p:bldP spid="22" grpId="0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69D39-8810-C05C-0D54-B670E49A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C89D-16AE-F5ED-25DC-6A65E5F68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Existing Systems Operate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421594-18C2-FC75-756A-E2AC0589DEB3}"/>
              </a:ext>
            </a:extLst>
          </p:cNvPr>
          <p:cNvSpPr/>
          <p:nvPr/>
        </p:nvSpPr>
        <p:spPr>
          <a:xfrm>
            <a:off x="647700" y="27090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B383E9-C788-76CD-B2D3-5D439ECD8ABE}"/>
              </a:ext>
            </a:extLst>
          </p:cNvPr>
          <p:cNvSpPr/>
          <p:nvPr/>
        </p:nvSpPr>
        <p:spPr>
          <a:xfrm>
            <a:off x="647700" y="31662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1EA866-5787-DA9F-92E9-35EC9AE40544}"/>
              </a:ext>
            </a:extLst>
          </p:cNvPr>
          <p:cNvSpPr/>
          <p:nvPr/>
        </p:nvSpPr>
        <p:spPr>
          <a:xfrm>
            <a:off x="649287" y="36234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BA6984-1E1E-138E-2B07-15BE2D5BF96D}"/>
              </a:ext>
            </a:extLst>
          </p:cNvPr>
          <p:cNvSpPr/>
          <p:nvPr/>
        </p:nvSpPr>
        <p:spPr>
          <a:xfrm>
            <a:off x="7886700" y="2709022"/>
            <a:ext cx="3895726" cy="457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Explain quantum computing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AC14A6-7143-D0AB-A750-20A94BBF1835}"/>
              </a:ext>
            </a:extLst>
          </p:cNvPr>
          <p:cNvSpPr/>
          <p:nvPr/>
        </p:nvSpPr>
        <p:spPr>
          <a:xfrm>
            <a:off x="647702" y="3166222"/>
            <a:ext cx="2257424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3362F3-9A86-C0DF-5748-711ED429DFB5}"/>
              </a:ext>
            </a:extLst>
          </p:cNvPr>
          <p:cNvSpPr/>
          <p:nvPr/>
        </p:nvSpPr>
        <p:spPr>
          <a:xfrm>
            <a:off x="2895600" y="3166222"/>
            <a:ext cx="8886825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Fix Grammar errors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3" name="Explosion: 14 Points 12">
            <a:extLst>
              <a:ext uri="{FF2B5EF4-FFF2-40B4-BE49-F238E27FC236}">
                <a16:creationId xmlns:a16="http://schemas.microsoft.com/office/drawing/2014/main" id="{65B834E7-A2F9-7FD6-A93A-43F800CC653D}"/>
              </a:ext>
            </a:extLst>
          </p:cNvPr>
          <p:cNvSpPr/>
          <p:nvPr/>
        </p:nvSpPr>
        <p:spPr>
          <a:xfrm>
            <a:off x="2443443" y="3279402"/>
            <a:ext cx="1016934" cy="691963"/>
          </a:xfrm>
          <a:prstGeom prst="irregularSeal2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050" dirty="0"/>
          </a:p>
        </p:txBody>
      </p:sp>
      <p:pic>
        <p:nvPicPr>
          <p:cNvPr id="16" name="Picture 4" descr="Out of memory&quot; error... but nowhere close to out of memory — GSA SEO Forum">
            <a:extLst>
              <a:ext uri="{FF2B5EF4-FFF2-40B4-BE49-F238E27FC236}">
                <a16:creationId xmlns:a16="http://schemas.microsoft.com/office/drawing/2014/main" id="{D119FF01-33F9-DE6B-32F3-EB5312115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627" y="3558987"/>
            <a:ext cx="3555745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7DD232-134C-24EB-6619-E0DF94C9B06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990139" y="3883012"/>
            <a:ext cx="792967" cy="1600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45EB46D-C09F-0BFF-185C-81DE3C6258B3}"/>
              </a:ext>
            </a:extLst>
          </p:cNvPr>
          <p:cNvSpPr/>
          <p:nvPr/>
        </p:nvSpPr>
        <p:spPr>
          <a:xfrm>
            <a:off x="647701" y="2709021"/>
            <a:ext cx="72389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Summarize this paragraph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7A3D19-0722-9E9E-FE82-E1AC8E734742}"/>
              </a:ext>
            </a:extLst>
          </p:cNvPr>
          <p:cNvSpPr/>
          <p:nvPr/>
        </p:nvSpPr>
        <p:spPr>
          <a:xfrm>
            <a:off x="647702" y="2709022"/>
            <a:ext cx="1163170" cy="457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D2C2E2-A7C8-155F-E2FE-9CDC1CBD04C0}"/>
              </a:ext>
            </a:extLst>
          </p:cNvPr>
          <p:cNvSpPr/>
          <p:nvPr/>
        </p:nvSpPr>
        <p:spPr>
          <a:xfrm>
            <a:off x="1801906" y="2709021"/>
            <a:ext cx="6084795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Summarize this paragraph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907220A2-CA0F-D325-0DC9-35E9FD829DA3}"/>
              </a:ext>
            </a:extLst>
          </p:cNvPr>
          <p:cNvSpPr/>
          <p:nvPr/>
        </p:nvSpPr>
        <p:spPr>
          <a:xfrm rot="5400000">
            <a:off x="3790043" y="-1451948"/>
            <a:ext cx="958786" cy="721548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2CAFEB-6E5B-D085-969E-F316F1C60AA4}"/>
              </a:ext>
            </a:extLst>
          </p:cNvPr>
          <p:cNvSpPr txBox="1"/>
          <p:nvPr/>
        </p:nvSpPr>
        <p:spPr>
          <a:xfrm>
            <a:off x="2343150" y="1362075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Memory used by prompt</a:t>
            </a:r>
            <a:endParaRPr lang="he-I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22ECFE-2E8E-A49C-A705-E90E3D827268}"/>
              </a:ext>
            </a:extLst>
          </p:cNvPr>
          <p:cNvSpPr txBox="1"/>
          <p:nvPr/>
        </p:nvSpPr>
        <p:spPr>
          <a:xfrm>
            <a:off x="704849" y="1666875"/>
            <a:ext cx="2200275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Actual </a:t>
            </a:r>
          </a:p>
          <a:p>
            <a:r>
              <a:rPr lang="en-US" dirty="0"/>
              <a:t>memory</a:t>
            </a:r>
          </a:p>
          <a:p>
            <a:r>
              <a:rPr lang="en-US" dirty="0"/>
              <a:t>needed</a:t>
            </a:r>
            <a:endParaRPr lang="he-IL" dirty="0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241E4CDF-3A11-5168-ECC8-A2078410A718}"/>
              </a:ext>
            </a:extLst>
          </p:cNvPr>
          <p:cNvSpPr/>
          <p:nvPr/>
        </p:nvSpPr>
        <p:spPr>
          <a:xfrm rot="5400000">
            <a:off x="4768885" y="-368331"/>
            <a:ext cx="111060" cy="5972178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72F112-1492-7139-28C8-E33D5B9A268C}"/>
              </a:ext>
            </a:extLst>
          </p:cNvPr>
          <p:cNvSpPr txBox="1"/>
          <p:nvPr/>
        </p:nvSpPr>
        <p:spPr>
          <a:xfrm>
            <a:off x="3638550" y="2200275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Wasted memory</a:t>
            </a:r>
            <a:endParaRPr lang="he-IL" dirty="0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4A4942AF-5146-AA95-333C-D408DCF86B70}"/>
              </a:ext>
            </a:extLst>
          </p:cNvPr>
          <p:cNvSpPr/>
          <p:nvPr/>
        </p:nvSpPr>
        <p:spPr>
          <a:xfrm rot="5400000">
            <a:off x="1162049" y="2095501"/>
            <a:ext cx="123827" cy="103822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A4CBC1-1492-8289-5496-C3E3E180A22B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7BDBB-1A62-03AB-9457-F93C1CA15F72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9F1F6B-2112-C5C2-BD11-E2AD76233915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2789BD-4265-4369-8901-1C24C084B99F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185B95-8582-10FB-C839-9AF90B65544E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28290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481B-50EE-B4D2-94F6-F0E836C1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617D-AD97-89C9-C719-6F07B28A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Existing Systems Operate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1D7D08-DE19-1C0A-3FCC-A5907163EA4F}"/>
              </a:ext>
            </a:extLst>
          </p:cNvPr>
          <p:cNvSpPr/>
          <p:nvPr/>
        </p:nvSpPr>
        <p:spPr>
          <a:xfrm>
            <a:off x="647700" y="27090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8E9D4C-E6E5-BCFB-A5AC-97EE67C1AEDD}"/>
              </a:ext>
            </a:extLst>
          </p:cNvPr>
          <p:cNvSpPr/>
          <p:nvPr/>
        </p:nvSpPr>
        <p:spPr>
          <a:xfrm>
            <a:off x="647700" y="31662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F1BB06-04F8-3AC2-F39A-B7875B5AB3E3}"/>
              </a:ext>
            </a:extLst>
          </p:cNvPr>
          <p:cNvSpPr/>
          <p:nvPr/>
        </p:nvSpPr>
        <p:spPr>
          <a:xfrm>
            <a:off x="649287" y="36234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05E46B-32D7-C4EE-04DD-5DCAE93A4A45}"/>
              </a:ext>
            </a:extLst>
          </p:cNvPr>
          <p:cNvSpPr/>
          <p:nvPr/>
        </p:nvSpPr>
        <p:spPr>
          <a:xfrm>
            <a:off x="2895600" y="3166222"/>
            <a:ext cx="8886825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Fix Grammar errors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A4A126-9689-A48B-0C9E-CAF6449AE94B}"/>
              </a:ext>
            </a:extLst>
          </p:cNvPr>
          <p:cNvSpPr/>
          <p:nvPr/>
        </p:nvSpPr>
        <p:spPr>
          <a:xfrm>
            <a:off x="647701" y="2709021"/>
            <a:ext cx="72389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Summarize this paragraph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A6F4F2-1A71-785A-F625-C13C73236C2E}"/>
              </a:ext>
            </a:extLst>
          </p:cNvPr>
          <p:cNvSpPr/>
          <p:nvPr/>
        </p:nvSpPr>
        <p:spPr>
          <a:xfrm>
            <a:off x="647701" y="2709022"/>
            <a:ext cx="1252817" cy="457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620AE6-633A-ED31-60A4-25C6AEBE56B5}"/>
              </a:ext>
            </a:extLst>
          </p:cNvPr>
          <p:cNvSpPr/>
          <p:nvPr/>
        </p:nvSpPr>
        <p:spPr>
          <a:xfrm>
            <a:off x="1801906" y="2709021"/>
            <a:ext cx="6084795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Summarize this paragraph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1A4D24-5343-6D3E-755E-CE2E7A1698C3}"/>
              </a:ext>
            </a:extLst>
          </p:cNvPr>
          <p:cNvSpPr/>
          <p:nvPr/>
        </p:nvSpPr>
        <p:spPr>
          <a:xfrm>
            <a:off x="797858" y="4519892"/>
            <a:ext cx="9798424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Explain quantum computing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F837EC4D-866F-7EC8-9CE4-0AACB9411B11}"/>
              </a:ext>
            </a:extLst>
          </p:cNvPr>
          <p:cNvSpPr/>
          <p:nvPr/>
        </p:nvSpPr>
        <p:spPr>
          <a:xfrm rot="5400000">
            <a:off x="3790043" y="-1451948"/>
            <a:ext cx="958786" cy="721548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31C8B-703C-3EA3-E740-829E7626501C}"/>
              </a:ext>
            </a:extLst>
          </p:cNvPr>
          <p:cNvSpPr txBox="1"/>
          <p:nvPr/>
        </p:nvSpPr>
        <p:spPr>
          <a:xfrm>
            <a:off x="2343150" y="1362075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Memory used by prompt</a:t>
            </a:r>
            <a:endParaRPr lang="he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7E2405-235F-1840-BFF5-7933DE49984B}"/>
              </a:ext>
            </a:extLst>
          </p:cNvPr>
          <p:cNvSpPr txBox="1"/>
          <p:nvPr/>
        </p:nvSpPr>
        <p:spPr>
          <a:xfrm>
            <a:off x="704849" y="1666875"/>
            <a:ext cx="2200275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Actual </a:t>
            </a:r>
          </a:p>
          <a:p>
            <a:r>
              <a:rPr lang="en-US" dirty="0"/>
              <a:t>memory</a:t>
            </a:r>
          </a:p>
          <a:p>
            <a:r>
              <a:rPr lang="en-US" dirty="0"/>
              <a:t>needed</a:t>
            </a:r>
            <a:endParaRPr lang="he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71419-4E2F-A89E-2869-5C0E01C728A4}"/>
              </a:ext>
            </a:extLst>
          </p:cNvPr>
          <p:cNvSpPr txBox="1"/>
          <p:nvPr/>
        </p:nvSpPr>
        <p:spPr>
          <a:xfrm>
            <a:off x="3638550" y="2200275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Wasted memory</a:t>
            </a:r>
            <a:endParaRPr lang="he-IL" dirty="0"/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26906154-9782-A3B2-76DB-58B59CA94461}"/>
              </a:ext>
            </a:extLst>
          </p:cNvPr>
          <p:cNvSpPr/>
          <p:nvPr/>
        </p:nvSpPr>
        <p:spPr>
          <a:xfrm rot="5400000">
            <a:off x="4768885" y="-368331"/>
            <a:ext cx="111060" cy="5972178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8CEECAFB-973E-B914-509F-ECB67AF61E89}"/>
              </a:ext>
            </a:extLst>
          </p:cNvPr>
          <p:cNvSpPr/>
          <p:nvPr/>
        </p:nvSpPr>
        <p:spPr>
          <a:xfrm rot="5400000">
            <a:off x="1162049" y="2095501"/>
            <a:ext cx="123827" cy="103822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2D9F81AC-111B-5402-1880-285BA0A44095}"/>
              </a:ext>
            </a:extLst>
          </p:cNvPr>
          <p:cNvSpPr/>
          <p:nvPr/>
        </p:nvSpPr>
        <p:spPr>
          <a:xfrm rot="5400000">
            <a:off x="9782176" y="657226"/>
            <a:ext cx="142878" cy="3819525"/>
          </a:xfrm>
          <a:prstGeom prst="leftBracke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89456-D1BC-73B5-1F55-338A7090733B}"/>
              </a:ext>
            </a:extLst>
          </p:cNvPr>
          <p:cNvSpPr txBox="1"/>
          <p:nvPr/>
        </p:nvSpPr>
        <p:spPr>
          <a:xfrm>
            <a:off x="8582025" y="2105025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External fragmentation </a:t>
            </a:r>
            <a:endParaRPr lang="he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266A50-280E-D92A-E134-4E2A1DB8E44E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F7995D-12E2-233F-FCF2-6DBD6A4E051F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426BB5-278C-8CC9-489A-38B726D30CA1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6BDEE9-A387-B26C-54CB-EC59AD3678DE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10625D-C1D4-58CA-077B-61DD45141348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88227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5BA55-1C83-EAA2-5ADA-9F1B81BA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148C-498C-20ED-3F10-EF91E8AC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Existing Systems Operate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F50168-A3F5-26E6-A976-ED3BD043D83C}"/>
              </a:ext>
            </a:extLst>
          </p:cNvPr>
          <p:cNvSpPr/>
          <p:nvPr/>
        </p:nvSpPr>
        <p:spPr>
          <a:xfrm>
            <a:off x="647700" y="27090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F71FBE-F93B-12C2-7E58-14FF3B6231AD}"/>
              </a:ext>
            </a:extLst>
          </p:cNvPr>
          <p:cNvSpPr/>
          <p:nvPr/>
        </p:nvSpPr>
        <p:spPr>
          <a:xfrm>
            <a:off x="647700" y="31662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848AD5-8060-2ACC-1821-632194BEC1A0}"/>
              </a:ext>
            </a:extLst>
          </p:cNvPr>
          <p:cNvSpPr/>
          <p:nvPr/>
        </p:nvSpPr>
        <p:spPr>
          <a:xfrm>
            <a:off x="649287" y="36234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D45FD2-9E6F-7EDB-6040-895A8E5F81A7}"/>
              </a:ext>
            </a:extLst>
          </p:cNvPr>
          <p:cNvSpPr/>
          <p:nvPr/>
        </p:nvSpPr>
        <p:spPr>
          <a:xfrm>
            <a:off x="2895600" y="3166222"/>
            <a:ext cx="8886825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Fix Grammar errors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1B4230-8781-720D-979C-6A164204B205}"/>
              </a:ext>
            </a:extLst>
          </p:cNvPr>
          <p:cNvSpPr/>
          <p:nvPr/>
        </p:nvSpPr>
        <p:spPr>
          <a:xfrm>
            <a:off x="647701" y="2709021"/>
            <a:ext cx="72389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Summarize this paragraph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17E40F-A2FB-4622-1517-430B8D9A05EF}"/>
              </a:ext>
            </a:extLst>
          </p:cNvPr>
          <p:cNvSpPr/>
          <p:nvPr/>
        </p:nvSpPr>
        <p:spPr>
          <a:xfrm>
            <a:off x="647701" y="2709022"/>
            <a:ext cx="1252817" cy="457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6EB062-26A1-B7BC-36CB-6295C4D7EFC9}"/>
              </a:ext>
            </a:extLst>
          </p:cNvPr>
          <p:cNvSpPr/>
          <p:nvPr/>
        </p:nvSpPr>
        <p:spPr>
          <a:xfrm>
            <a:off x="1801906" y="2709021"/>
            <a:ext cx="6084795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Summarize this paragraph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F61296-7F05-0611-1F75-489EAF663D51}"/>
              </a:ext>
            </a:extLst>
          </p:cNvPr>
          <p:cNvSpPr/>
          <p:nvPr/>
        </p:nvSpPr>
        <p:spPr>
          <a:xfrm>
            <a:off x="645458" y="3623421"/>
            <a:ext cx="9798424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Explain quantum computing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D5B186-7517-A9F6-BC87-106C28953DD0}"/>
              </a:ext>
            </a:extLst>
          </p:cNvPr>
          <p:cNvSpPr/>
          <p:nvPr/>
        </p:nvSpPr>
        <p:spPr>
          <a:xfrm>
            <a:off x="2895600" y="3166224"/>
            <a:ext cx="3092450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5A753020-52A3-8F52-358A-53CEA81685B1}"/>
              </a:ext>
            </a:extLst>
          </p:cNvPr>
          <p:cNvSpPr/>
          <p:nvPr/>
        </p:nvSpPr>
        <p:spPr>
          <a:xfrm rot="5400000">
            <a:off x="3790043" y="-1451948"/>
            <a:ext cx="958786" cy="721548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9BC92A-447C-22C5-9ED3-6CC1BEB8963E}"/>
              </a:ext>
            </a:extLst>
          </p:cNvPr>
          <p:cNvSpPr txBox="1"/>
          <p:nvPr/>
        </p:nvSpPr>
        <p:spPr>
          <a:xfrm>
            <a:off x="2343150" y="1362075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Memory used by prompt</a:t>
            </a:r>
            <a:endParaRPr lang="he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99483F-23FF-C935-8EA7-AC29E2E6AD83}"/>
              </a:ext>
            </a:extLst>
          </p:cNvPr>
          <p:cNvSpPr txBox="1"/>
          <p:nvPr/>
        </p:nvSpPr>
        <p:spPr>
          <a:xfrm>
            <a:off x="704849" y="1666875"/>
            <a:ext cx="2200275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Actual </a:t>
            </a:r>
          </a:p>
          <a:p>
            <a:r>
              <a:rPr lang="en-US" dirty="0"/>
              <a:t>memory</a:t>
            </a:r>
          </a:p>
          <a:p>
            <a:r>
              <a:rPr lang="en-US" dirty="0"/>
              <a:t>needed</a:t>
            </a:r>
            <a:endParaRPr lang="he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22939C-57E0-79D9-DB4B-84CF12DC115C}"/>
              </a:ext>
            </a:extLst>
          </p:cNvPr>
          <p:cNvSpPr txBox="1"/>
          <p:nvPr/>
        </p:nvSpPr>
        <p:spPr>
          <a:xfrm>
            <a:off x="3638550" y="2200275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Wasted memory</a:t>
            </a:r>
            <a:endParaRPr lang="he-IL" dirty="0"/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E884C27B-1C86-0DD7-FA8F-29585737EAC8}"/>
              </a:ext>
            </a:extLst>
          </p:cNvPr>
          <p:cNvSpPr/>
          <p:nvPr/>
        </p:nvSpPr>
        <p:spPr>
          <a:xfrm rot="5400000">
            <a:off x="4768885" y="-368331"/>
            <a:ext cx="111060" cy="5972178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F6F1FD33-FA39-8752-2AD1-E053B3C88143}"/>
              </a:ext>
            </a:extLst>
          </p:cNvPr>
          <p:cNvSpPr/>
          <p:nvPr/>
        </p:nvSpPr>
        <p:spPr>
          <a:xfrm rot="5400000">
            <a:off x="1162049" y="2095501"/>
            <a:ext cx="123827" cy="103822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D5FD396E-A9C4-04CF-C4F8-83619A3B6434}"/>
              </a:ext>
            </a:extLst>
          </p:cNvPr>
          <p:cNvSpPr/>
          <p:nvPr/>
        </p:nvSpPr>
        <p:spPr>
          <a:xfrm rot="5400000">
            <a:off x="9782176" y="657226"/>
            <a:ext cx="142878" cy="3819525"/>
          </a:xfrm>
          <a:prstGeom prst="leftBracke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AEDF58-8D78-7334-4144-C15317B52342}"/>
              </a:ext>
            </a:extLst>
          </p:cNvPr>
          <p:cNvSpPr txBox="1"/>
          <p:nvPr/>
        </p:nvSpPr>
        <p:spPr>
          <a:xfrm>
            <a:off x="8582025" y="2105025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External fragmentation </a:t>
            </a:r>
            <a:endParaRPr lang="he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A5F88E-E877-235C-061F-C878B6F4C8FC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34FC8F-2DD2-B6C0-6A8D-D9491BE2A266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FC277-7DDD-5FA2-5F44-66C50044E144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242A3D-E674-A0E6-F720-D27007741CD3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908F7F-AFF9-3308-43EE-CC3324CBB65B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741FC-DD5A-8748-9D70-22D682F5C58D}"/>
              </a:ext>
            </a:extLst>
          </p:cNvPr>
          <p:cNvSpPr txBox="1"/>
          <p:nvPr/>
        </p:nvSpPr>
        <p:spPr>
          <a:xfrm>
            <a:off x="2741135" y="4276039"/>
            <a:ext cx="2200275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Actual </a:t>
            </a:r>
          </a:p>
          <a:p>
            <a:r>
              <a:rPr lang="en-US" dirty="0"/>
              <a:t>memory</a:t>
            </a:r>
          </a:p>
          <a:p>
            <a:r>
              <a:rPr lang="en-US" dirty="0"/>
              <a:t>needed</a:t>
            </a:r>
            <a:endParaRPr lang="he-I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127BAA-7136-7690-53A5-6DAAA818AC83}"/>
              </a:ext>
            </a:extLst>
          </p:cNvPr>
          <p:cNvSpPr txBox="1"/>
          <p:nvPr/>
        </p:nvSpPr>
        <p:spPr>
          <a:xfrm>
            <a:off x="10224802" y="4324697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Wasted memory</a:t>
            </a:r>
            <a:endParaRPr lang="he-IL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6D855AF-AEC3-9D28-9C75-AF32567DA290}"/>
              </a:ext>
            </a:extLst>
          </p:cNvPr>
          <p:cNvCxnSpPr>
            <a:cxnSpLocks/>
          </p:cNvCxnSpPr>
          <p:nvPr/>
        </p:nvCxnSpPr>
        <p:spPr>
          <a:xfrm flipH="1">
            <a:off x="3459296" y="3429000"/>
            <a:ext cx="749147" cy="933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DCD1C8F-FF44-740A-406A-3078CB85DB0E}"/>
              </a:ext>
            </a:extLst>
          </p:cNvPr>
          <p:cNvCxnSpPr>
            <a:cxnSpLocks/>
          </p:cNvCxnSpPr>
          <p:nvPr/>
        </p:nvCxnSpPr>
        <p:spPr>
          <a:xfrm>
            <a:off x="10322805" y="3429000"/>
            <a:ext cx="550843" cy="889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295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CAA7C-D856-DE5C-50B5-31D39867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0F460-C561-0537-4D51-5A30E5CD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Existing Systems Operate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62480-E2F4-0075-7FDC-F4002296499C}"/>
              </a:ext>
            </a:extLst>
          </p:cNvPr>
          <p:cNvSpPr/>
          <p:nvPr/>
        </p:nvSpPr>
        <p:spPr>
          <a:xfrm>
            <a:off x="647700" y="27090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B7BF79-426B-7E95-DDB3-96AEFA37A68D}"/>
              </a:ext>
            </a:extLst>
          </p:cNvPr>
          <p:cNvSpPr/>
          <p:nvPr/>
        </p:nvSpPr>
        <p:spPr>
          <a:xfrm>
            <a:off x="647700" y="31662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1C85DA-9E21-EE5B-67F8-E6D7F4195B1E}"/>
              </a:ext>
            </a:extLst>
          </p:cNvPr>
          <p:cNvSpPr/>
          <p:nvPr/>
        </p:nvSpPr>
        <p:spPr>
          <a:xfrm>
            <a:off x="649287" y="36234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E30CA3-7F4F-D67A-C358-9917665B9E7B}"/>
              </a:ext>
            </a:extLst>
          </p:cNvPr>
          <p:cNvSpPr/>
          <p:nvPr/>
        </p:nvSpPr>
        <p:spPr>
          <a:xfrm>
            <a:off x="2895600" y="3166222"/>
            <a:ext cx="8886825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Fix Grammar errors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2D8B8D-8907-800B-8A5F-5A2537724700}"/>
              </a:ext>
            </a:extLst>
          </p:cNvPr>
          <p:cNvSpPr/>
          <p:nvPr/>
        </p:nvSpPr>
        <p:spPr>
          <a:xfrm>
            <a:off x="647701" y="2709021"/>
            <a:ext cx="72389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Summarize this paragraph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80678A-D65E-1BD9-4983-48C2D43710C6}"/>
              </a:ext>
            </a:extLst>
          </p:cNvPr>
          <p:cNvSpPr/>
          <p:nvPr/>
        </p:nvSpPr>
        <p:spPr>
          <a:xfrm>
            <a:off x="647701" y="2709022"/>
            <a:ext cx="1252817" cy="457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E54B64-0520-1AE0-2D32-327BBEE0A718}"/>
              </a:ext>
            </a:extLst>
          </p:cNvPr>
          <p:cNvSpPr/>
          <p:nvPr/>
        </p:nvSpPr>
        <p:spPr>
          <a:xfrm>
            <a:off x="1801906" y="2709021"/>
            <a:ext cx="6084795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Summarize this paragraph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EF3F94-7CF9-71EA-5BD3-10A1C04299D3}"/>
              </a:ext>
            </a:extLst>
          </p:cNvPr>
          <p:cNvSpPr/>
          <p:nvPr/>
        </p:nvSpPr>
        <p:spPr>
          <a:xfrm>
            <a:off x="645458" y="3623421"/>
            <a:ext cx="9798424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Explain quantum computing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9D4066-5D16-0BF0-271B-D038EB130DB5}"/>
              </a:ext>
            </a:extLst>
          </p:cNvPr>
          <p:cNvSpPr/>
          <p:nvPr/>
        </p:nvSpPr>
        <p:spPr>
          <a:xfrm>
            <a:off x="2895600" y="3166224"/>
            <a:ext cx="3092450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835D8F-9C74-757C-E22E-FEA37AA011D4}"/>
              </a:ext>
            </a:extLst>
          </p:cNvPr>
          <p:cNvSpPr/>
          <p:nvPr/>
        </p:nvSpPr>
        <p:spPr>
          <a:xfrm>
            <a:off x="1079874" y="4727201"/>
            <a:ext cx="71628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4 Who was David Ben-Gurion</a:t>
            </a:r>
            <a:endParaRPr lang="he-IL" dirty="0">
              <a:solidFill>
                <a:schemeClr val="tx1"/>
              </a:solidFill>
            </a:endParaRPr>
          </a:p>
        </p:txBody>
      </p:sp>
      <p:pic>
        <p:nvPicPr>
          <p:cNvPr id="15" name="Picture 2" descr="UNRWA's Western donors carry out the mission of David Ben Gurion – Middle  East Monitor">
            <a:extLst>
              <a:ext uri="{FF2B5EF4-FFF2-40B4-BE49-F238E27FC236}">
                <a16:creationId xmlns:a16="http://schemas.microsoft.com/office/drawing/2014/main" id="{757AB391-57F4-CDDC-1E92-979B3E750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312" y="2796988"/>
            <a:ext cx="4717487" cy="314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70DD6C-BCBD-1B80-D7FB-754165C580B5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F3DB9-B079-F9E5-F88A-B8A76CBF8BE8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B1D915-B724-CA66-224A-DE8AD55AC475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DD878F-9C67-6994-EC28-A5A74F89D31A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5EF53-A496-95CE-1700-186258571947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83051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4788-D2E4-3523-007B-3175B1B2B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Approach - Inefficient Memory Use</a:t>
            </a:r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5E93C-965C-6296-FAFA-F642CF35C1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58" r="51050" b="12699"/>
          <a:stretch>
            <a:fillRect/>
          </a:stretch>
        </p:blipFill>
        <p:spPr>
          <a:xfrm>
            <a:off x="2894139" y="1872596"/>
            <a:ext cx="6187821" cy="446375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58490A-F282-C051-3ABC-3D928C0396FA}"/>
              </a:ext>
            </a:extLst>
          </p:cNvPr>
          <p:cNvCxnSpPr/>
          <p:nvPr/>
        </p:nvCxnSpPr>
        <p:spPr>
          <a:xfrm>
            <a:off x="8720414" y="5359212"/>
            <a:ext cx="0" cy="242047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08A750-B543-997B-5EA7-D98B5DF383A0}"/>
              </a:ext>
            </a:extLst>
          </p:cNvPr>
          <p:cNvCxnSpPr>
            <a:cxnSpLocks/>
          </p:cNvCxnSpPr>
          <p:nvPr/>
        </p:nvCxnSpPr>
        <p:spPr>
          <a:xfrm flipV="1">
            <a:off x="8767480" y="4083982"/>
            <a:ext cx="1452282" cy="1335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E42B504-44DA-1939-86BE-E54F7A03A250}"/>
              </a:ext>
            </a:extLst>
          </p:cNvPr>
          <p:cNvSpPr txBox="1"/>
          <p:nvPr/>
        </p:nvSpPr>
        <p:spPr>
          <a:xfrm>
            <a:off x="10230409" y="3429000"/>
            <a:ext cx="1399616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Typical</a:t>
            </a:r>
          </a:p>
          <a:p>
            <a:r>
              <a:rPr lang="en-US" sz="2400" dirty="0"/>
              <a:t> request</a:t>
            </a:r>
          </a:p>
          <a:p>
            <a:r>
              <a:rPr lang="en-US" sz="2400" dirty="0"/>
              <a:t> max size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A570F2-444C-AB06-6FC3-A173DD10A765}"/>
              </a:ext>
            </a:extLst>
          </p:cNvPr>
          <p:cNvSpPr/>
          <p:nvPr/>
        </p:nvSpPr>
        <p:spPr>
          <a:xfrm>
            <a:off x="3768724" y="5070474"/>
            <a:ext cx="2498726" cy="606425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18537-8837-67BF-DF40-9F10E334FFF4}"/>
              </a:ext>
            </a:extLst>
          </p:cNvPr>
          <p:cNvSpPr txBox="1"/>
          <p:nvPr/>
        </p:nvSpPr>
        <p:spPr>
          <a:xfrm>
            <a:off x="4378325" y="4276725"/>
            <a:ext cx="197485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Most output are short</a:t>
            </a:r>
            <a:endParaRPr lang="he-IL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E8B698-1238-5C19-4789-22731EEBFA2A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CFF3C6-E634-C044-D9EF-2B4C81AFF227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035F2F-64C2-D240-3211-F5F0B6816B65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F69FB2-F3FA-B9E0-460A-CD6BC96CC31C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BC1D37-7EC9-1FB8-C090-66B6B13781BC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91AE43-73EB-151D-66F5-347717A5A756}"/>
              </a:ext>
            </a:extLst>
          </p:cNvPr>
          <p:cNvCxnSpPr/>
          <p:nvPr/>
        </p:nvCxnSpPr>
        <p:spPr>
          <a:xfrm>
            <a:off x="6279614" y="5354198"/>
            <a:ext cx="2401678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17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6FB0-1E6A-01C4-AD4A-85C17517F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8E795-2DFF-3F51-D3F8-4DCDACDAA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 way for a model to “look back” at previous words</a:t>
            </a:r>
            <a:r>
              <a:rPr lang="en-US" sz="2400" dirty="0"/>
              <a:t> when generating the next one.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Query (Q)</a:t>
            </a:r>
            <a:r>
              <a:rPr lang="en-US" sz="2400" dirty="0"/>
              <a:t> – “What am I looking for?”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b="1" dirty="0"/>
              <a:t>Key (K)</a:t>
            </a:r>
            <a:r>
              <a:rPr lang="en-US" sz="2400" dirty="0"/>
              <a:t> – “What do I contain?”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b="1" dirty="0"/>
              <a:t>Value (V)</a:t>
            </a:r>
            <a:r>
              <a:rPr lang="en-US" sz="2400" dirty="0"/>
              <a:t> – “What information should I pass on?”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46AC86-F35F-D092-6FFE-74AE2DB1042E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276368-D8DF-3318-114B-895510B7042B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72561-CE75-940F-41DB-D7B602CFA4F1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6F181-8092-C4A3-4F60-B2785434D1CC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953647-F22C-A3CF-60FE-6D6B5DBF3F47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00968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747CE-ABF9-F180-4DAC-BED45784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2A62-D1F5-2176-CF58-23BA41F2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E0FEEB-099F-2588-F111-A2F5BD2265E1}"/>
              </a:ext>
            </a:extLst>
          </p:cNvPr>
          <p:cNvSpPr/>
          <p:nvPr/>
        </p:nvSpPr>
        <p:spPr>
          <a:xfrm>
            <a:off x="1612154" y="5257800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7C6FFC-89ED-028F-9106-D45EC3652068}"/>
              </a:ext>
            </a:extLst>
          </p:cNvPr>
          <p:cNvSpPr/>
          <p:nvPr/>
        </p:nvSpPr>
        <p:spPr>
          <a:xfrm>
            <a:off x="2595935" y="5260974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have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58BE90-0A6D-C54D-BEA4-8A3EA5882446}"/>
              </a:ext>
            </a:extLst>
          </p:cNvPr>
          <p:cNvSpPr/>
          <p:nvPr/>
        </p:nvSpPr>
        <p:spPr>
          <a:xfrm>
            <a:off x="3584388" y="5257801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0C719C-2E3A-9F24-8432-CE04A27EE36B}"/>
              </a:ext>
            </a:extLst>
          </p:cNvPr>
          <p:cNvSpPr/>
          <p:nvPr/>
        </p:nvSpPr>
        <p:spPr>
          <a:xfrm>
            <a:off x="4568169" y="5254625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dream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25C404-9EC3-2C32-EABA-F00FF50C26F6}"/>
              </a:ext>
            </a:extLst>
          </p:cNvPr>
          <p:cNvSpPr/>
          <p:nvPr/>
        </p:nvSpPr>
        <p:spPr>
          <a:xfrm>
            <a:off x="5554285" y="5260974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that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E0E823-554C-9B70-277A-511FD2D66E70}"/>
              </a:ext>
            </a:extLst>
          </p:cNvPr>
          <p:cNvSpPr txBox="1"/>
          <p:nvPr/>
        </p:nvSpPr>
        <p:spPr>
          <a:xfrm>
            <a:off x="430306" y="5334000"/>
            <a:ext cx="10309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Input</a:t>
            </a:r>
            <a:endParaRPr lang="he-IL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11972B-A3A7-BA28-7730-7FA170D44320}"/>
              </a:ext>
            </a:extLst>
          </p:cNvPr>
          <p:cNvSpPr txBox="1"/>
          <p:nvPr/>
        </p:nvSpPr>
        <p:spPr>
          <a:xfrm>
            <a:off x="484094" y="2294965"/>
            <a:ext cx="10309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Output</a:t>
            </a:r>
            <a:endParaRPr lang="he-IL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475EAE-717E-F08C-294C-E2D80340583E}"/>
              </a:ext>
            </a:extLst>
          </p:cNvPr>
          <p:cNvSpPr/>
          <p:nvPr/>
        </p:nvSpPr>
        <p:spPr>
          <a:xfrm>
            <a:off x="3240743" y="4043083"/>
            <a:ext cx="1676401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1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731B97-35C3-6ACC-9277-33F49EDF7E85}"/>
              </a:ext>
            </a:extLst>
          </p:cNvPr>
          <p:cNvSpPr/>
          <p:nvPr/>
        </p:nvSpPr>
        <p:spPr>
          <a:xfrm>
            <a:off x="3236261" y="2841813"/>
            <a:ext cx="1685366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N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6ABA45-2F2A-9E75-6119-4771105B9AD6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V="1">
            <a:off x="4078944" y="3290048"/>
            <a:ext cx="0" cy="7530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00F3B18-5491-D3BA-02A1-D87F8E2B95D8}"/>
              </a:ext>
            </a:extLst>
          </p:cNvPr>
          <p:cNvSpPr/>
          <p:nvPr/>
        </p:nvSpPr>
        <p:spPr>
          <a:xfrm>
            <a:off x="3635838" y="2042645"/>
            <a:ext cx="990600" cy="431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one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07DBC0C-19BF-945B-89BC-6BD07422FB6D}"/>
              </a:ext>
            </a:extLst>
          </p:cNvPr>
          <p:cNvCxnSpPr>
            <a:cxnSpLocks/>
            <a:stCxn id="23" idx="3"/>
            <a:endCxn id="30" idx="1"/>
          </p:cNvCxnSpPr>
          <p:nvPr/>
        </p:nvCxnSpPr>
        <p:spPr>
          <a:xfrm>
            <a:off x="4626438" y="2258545"/>
            <a:ext cx="2747683" cy="3218330"/>
          </a:xfrm>
          <a:prstGeom prst="bentConnector3">
            <a:avLst>
              <a:gd name="adj1" fmla="val 7186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CFDEFE2-AEBE-D927-504D-8F261C218596}"/>
              </a:ext>
            </a:extLst>
          </p:cNvPr>
          <p:cNvSpPr/>
          <p:nvPr/>
        </p:nvSpPr>
        <p:spPr>
          <a:xfrm>
            <a:off x="7374121" y="5260975"/>
            <a:ext cx="990600" cy="431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one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31B106-F2D4-9D22-70EF-A33F7FB272DD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3CC69-C323-98D9-93C4-41F832F07554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77A6C2-8414-76E9-2E71-9872AE0C94D8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6702A3-CEF6-7B54-9693-677B3984828B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B1ADA5-4E27-E063-A6C2-3A5BD82ECAB9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72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1367-3360-B6BE-AE42-6A213D20B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C004-88B9-661F-F61E-AE0E51CD2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B55F3-391D-8E12-3F80-1544EB5C9F9C}"/>
              </a:ext>
            </a:extLst>
          </p:cNvPr>
          <p:cNvSpPr/>
          <p:nvPr/>
        </p:nvSpPr>
        <p:spPr>
          <a:xfrm>
            <a:off x="1612154" y="5257800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832D25-3682-395F-3C72-67ACA3239C34}"/>
              </a:ext>
            </a:extLst>
          </p:cNvPr>
          <p:cNvSpPr/>
          <p:nvPr/>
        </p:nvSpPr>
        <p:spPr>
          <a:xfrm>
            <a:off x="2595935" y="5260974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have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B28484-544C-8D96-2C42-DDCA24BD6936}"/>
              </a:ext>
            </a:extLst>
          </p:cNvPr>
          <p:cNvSpPr/>
          <p:nvPr/>
        </p:nvSpPr>
        <p:spPr>
          <a:xfrm>
            <a:off x="3584388" y="5257801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36636-94AA-22DD-62C5-2135CCC2CC09}"/>
              </a:ext>
            </a:extLst>
          </p:cNvPr>
          <p:cNvSpPr/>
          <p:nvPr/>
        </p:nvSpPr>
        <p:spPr>
          <a:xfrm>
            <a:off x="4568169" y="5254625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dream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CB6B96-DCD0-7093-F6F3-5E27BD450057}"/>
              </a:ext>
            </a:extLst>
          </p:cNvPr>
          <p:cNvSpPr/>
          <p:nvPr/>
        </p:nvSpPr>
        <p:spPr>
          <a:xfrm>
            <a:off x="5554285" y="5260974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that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226009-1B61-ADEC-CA74-B08084C848D7}"/>
              </a:ext>
            </a:extLst>
          </p:cNvPr>
          <p:cNvSpPr txBox="1"/>
          <p:nvPr/>
        </p:nvSpPr>
        <p:spPr>
          <a:xfrm>
            <a:off x="430306" y="5334000"/>
            <a:ext cx="10309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Input</a:t>
            </a:r>
            <a:endParaRPr lang="he-IL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C2FE5-C6CE-0F2A-360F-E673D5A695AE}"/>
              </a:ext>
            </a:extLst>
          </p:cNvPr>
          <p:cNvSpPr txBox="1"/>
          <p:nvPr/>
        </p:nvSpPr>
        <p:spPr>
          <a:xfrm>
            <a:off x="484094" y="2294965"/>
            <a:ext cx="10309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Output</a:t>
            </a:r>
            <a:endParaRPr lang="he-IL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C7C0A3-FB6B-2C23-9F7B-B0C9524E9E6B}"/>
              </a:ext>
            </a:extLst>
          </p:cNvPr>
          <p:cNvSpPr/>
          <p:nvPr/>
        </p:nvSpPr>
        <p:spPr>
          <a:xfrm>
            <a:off x="3240743" y="4043083"/>
            <a:ext cx="1676401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1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F504EC-37E5-0615-E2DB-61375365B6F7}"/>
              </a:ext>
            </a:extLst>
          </p:cNvPr>
          <p:cNvSpPr/>
          <p:nvPr/>
        </p:nvSpPr>
        <p:spPr>
          <a:xfrm>
            <a:off x="3236261" y="2841813"/>
            <a:ext cx="1685366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N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E9E1C2-CDC2-339D-0FB2-43893FC1D3D4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V="1">
            <a:off x="4078944" y="3290048"/>
            <a:ext cx="0" cy="7530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F36A90F-9C5E-550A-4DF2-E3D8C20EACB3}"/>
              </a:ext>
            </a:extLst>
          </p:cNvPr>
          <p:cNvSpPr/>
          <p:nvPr/>
        </p:nvSpPr>
        <p:spPr>
          <a:xfrm>
            <a:off x="7374121" y="5260975"/>
            <a:ext cx="990600" cy="431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one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BFEC82-B0A2-83B6-DFC4-5CB397586F60}"/>
              </a:ext>
            </a:extLst>
          </p:cNvPr>
          <p:cNvSpPr/>
          <p:nvPr/>
        </p:nvSpPr>
        <p:spPr>
          <a:xfrm>
            <a:off x="6996955" y="4034118"/>
            <a:ext cx="1676401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1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FF8EE3-245C-AA86-1912-9C03BE64BDB7}"/>
              </a:ext>
            </a:extLst>
          </p:cNvPr>
          <p:cNvSpPr/>
          <p:nvPr/>
        </p:nvSpPr>
        <p:spPr>
          <a:xfrm>
            <a:off x="6992473" y="2671484"/>
            <a:ext cx="1685366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N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119F5CF-021B-BB40-6390-27DBA9946CEF}"/>
              </a:ext>
            </a:extLst>
          </p:cNvPr>
          <p:cNvCxnSpPr>
            <a:cxnSpLocks/>
            <a:stCxn id="39" idx="0"/>
            <a:endCxn id="40" idx="2"/>
          </p:cNvCxnSpPr>
          <p:nvPr/>
        </p:nvCxnSpPr>
        <p:spPr>
          <a:xfrm flipV="1">
            <a:off x="7835156" y="3119719"/>
            <a:ext cx="0" cy="914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709CAF89-3C58-754C-756E-5A762DA18BB8}"/>
              </a:ext>
            </a:extLst>
          </p:cNvPr>
          <p:cNvSpPr/>
          <p:nvPr/>
        </p:nvSpPr>
        <p:spPr>
          <a:xfrm>
            <a:off x="7338261" y="2051609"/>
            <a:ext cx="990600" cy="431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day 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65000DD-791A-2635-1F6B-C4C26D75107C}"/>
              </a:ext>
            </a:extLst>
          </p:cNvPr>
          <p:cNvSpPr/>
          <p:nvPr/>
        </p:nvSpPr>
        <p:spPr>
          <a:xfrm>
            <a:off x="1379071" y="4179047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-0.1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3202B11-0FB4-1AC4-36D9-E357C8B1523E}"/>
              </a:ext>
            </a:extLst>
          </p:cNvPr>
          <p:cNvSpPr/>
          <p:nvPr/>
        </p:nvSpPr>
        <p:spPr>
          <a:xfrm>
            <a:off x="1907988" y="4179048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0.3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5034AC8-763F-6CBC-E5EA-06243213CC71}"/>
              </a:ext>
            </a:extLst>
          </p:cNvPr>
          <p:cNvSpPr/>
          <p:nvPr/>
        </p:nvSpPr>
        <p:spPr>
          <a:xfrm>
            <a:off x="2443256" y="4179048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1.2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5A69B5D-94C3-4B4B-93E5-A00264795BE6}"/>
              </a:ext>
            </a:extLst>
          </p:cNvPr>
          <p:cNvSpPr/>
          <p:nvPr/>
        </p:nvSpPr>
        <p:spPr>
          <a:xfrm>
            <a:off x="1379071" y="4529417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0.9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7317B29-F820-5864-8B3E-D09B52C824AE}"/>
              </a:ext>
            </a:extLst>
          </p:cNvPr>
          <p:cNvSpPr/>
          <p:nvPr/>
        </p:nvSpPr>
        <p:spPr>
          <a:xfrm>
            <a:off x="1907988" y="4529418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0.7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ABE46D9-202A-02BC-B608-2C7E1383C108}"/>
              </a:ext>
            </a:extLst>
          </p:cNvPr>
          <p:cNvSpPr/>
          <p:nvPr/>
        </p:nvSpPr>
        <p:spPr>
          <a:xfrm>
            <a:off x="2443256" y="4529418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0.2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0F673D4-2FCE-430A-655C-7F398CBE239C}"/>
              </a:ext>
            </a:extLst>
          </p:cNvPr>
          <p:cNvSpPr/>
          <p:nvPr/>
        </p:nvSpPr>
        <p:spPr>
          <a:xfrm>
            <a:off x="1379072" y="4856908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-0.1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94A362C-4A39-76D1-013F-4F1D4F19138E}"/>
              </a:ext>
            </a:extLst>
          </p:cNvPr>
          <p:cNvSpPr/>
          <p:nvPr/>
        </p:nvSpPr>
        <p:spPr>
          <a:xfrm>
            <a:off x="1907989" y="4856909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-0.3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B011E01-7BC9-54DC-F4D4-D4CA2DA0B9C4}"/>
              </a:ext>
            </a:extLst>
          </p:cNvPr>
          <p:cNvSpPr/>
          <p:nvPr/>
        </p:nvSpPr>
        <p:spPr>
          <a:xfrm>
            <a:off x="2443257" y="4856909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0.1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4AF243-A763-5E7F-EE18-9D93CB52C358}"/>
              </a:ext>
            </a:extLst>
          </p:cNvPr>
          <p:cNvSpPr/>
          <p:nvPr/>
        </p:nvSpPr>
        <p:spPr>
          <a:xfrm>
            <a:off x="6067613" y="4740366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-0.9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84ED82-B943-F8A2-ECBF-C09487AD5AFD}"/>
              </a:ext>
            </a:extLst>
          </p:cNvPr>
          <p:cNvSpPr/>
          <p:nvPr/>
        </p:nvSpPr>
        <p:spPr>
          <a:xfrm>
            <a:off x="6596530" y="4740367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-0.4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21E388-7E16-B313-4F2A-B264480EA107}"/>
              </a:ext>
            </a:extLst>
          </p:cNvPr>
          <p:cNvSpPr/>
          <p:nvPr/>
        </p:nvSpPr>
        <p:spPr>
          <a:xfrm>
            <a:off x="7131798" y="4740367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0.2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7D2AFA-E818-C674-7E65-8CA2AA846E4E}"/>
              </a:ext>
            </a:extLst>
          </p:cNvPr>
          <p:cNvCxnSpPr>
            <a:cxnSpLocks/>
            <a:stCxn id="62" idx="3"/>
            <a:endCxn id="39" idx="1"/>
          </p:cNvCxnSpPr>
          <p:nvPr/>
        </p:nvCxnSpPr>
        <p:spPr>
          <a:xfrm flipV="1">
            <a:off x="2974041" y="4258236"/>
            <a:ext cx="4022914" cy="442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59C4D9-3A23-ABA6-65AA-5B8D41AD3EAF}"/>
              </a:ext>
            </a:extLst>
          </p:cNvPr>
          <p:cNvCxnSpPr>
            <a:cxnSpLocks/>
            <a:stCxn id="12" idx="0"/>
            <a:endCxn id="39" idx="2"/>
          </p:cNvCxnSpPr>
          <p:nvPr/>
        </p:nvCxnSpPr>
        <p:spPr>
          <a:xfrm flipV="1">
            <a:off x="6861923" y="4482353"/>
            <a:ext cx="973233" cy="258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BD8F73B-2D67-9A71-2DA1-5AA4C9FFD281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D8DB7F-3BD1-611B-04E5-DB74AD8A9679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3158BC-9122-D09A-85E1-05184B6933EA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15C13B-6A12-49B0-33E0-E73E93CCF30B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B2F1A-BF4A-3311-CA5C-3DA3BE5A7DDB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17480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B0ADC-9EAB-0BC0-6B29-60D7206F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34C4-4DD1-323C-4DAA-CDEFD078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C83585-1825-5953-4425-5DF8D75CC35A}"/>
              </a:ext>
            </a:extLst>
          </p:cNvPr>
          <p:cNvSpPr/>
          <p:nvPr/>
        </p:nvSpPr>
        <p:spPr>
          <a:xfrm>
            <a:off x="1612154" y="5257800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020E0A-9C8C-F76E-1474-8FDDFF23C621}"/>
              </a:ext>
            </a:extLst>
          </p:cNvPr>
          <p:cNvSpPr/>
          <p:nvPr/>
        </p:nvSpPr>
        <p:spPr>
          <a:xfrm>
            <a:off x="2595935" y="5260974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have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4D8F31-9A60-7B3B-629B-419CE54021BC}"/>
              </a:ext>
            </a:extLst>
          </p:cNvPr>
          <p:cNvSpPr/>
          <p:nvPr/>
        </p:nvSpPr>
        <p:spPr>
          <a:xfrm>
            <a:off x="3584388" y="5257801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E592D-DD4E-380E-DD9A-17F1F0ECEE23}"/>
              </a:ext>
            </a:extLst>
          </p:cNvPr>
          <p:cNvSpPr/>
          <p:nvPr/>
        </p:nvSpPr>
        <p:spPr>
          <a:xfrm>
            <a:off x="4568169" y="5263590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dream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AAD7B3-142F-342B-FA21-09900069A494}"/>
              </a:ext>
            </a:extLst>
          </p:cNvPr>
          <p:cNvSpPr/>
          <p:nvPr/>
        </p:nvSpPr>
        <p:spPr>
          <a:xfrm>
            <a:off x="5554285" y="5260974"/>
            <a:ext cx="990600" cy="43180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that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1A260E-0979-32B1-AC9F-9949ADDC1AB9}"/>
              </a:ext>
            </a:extLst>
          </p:cNvPr>
          <p:cNvSpPr txBox="1"/>
          <p:nvPr/>
        </p:nvSpPr>
        <p:spPr>
          <a:xfrm>
            <a:off x="430306" y="5334000"/>
            <a:ext cx="10309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Input</a:t>
            </a:r>
            <a:endParaRPr lang="he-IL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A914CE-36EC-D982-BE23-2410B68276A7}"/>
              </a:ext>
            </a:extLst>
          </p:cNvPr>
          <p:cNvSpPr txBox="1"/>
          <p:nvPr/>
        </p:nvSpPr>
        <p:spPr>
          <a:xfrm>
            <a:off x="484094" y="2294965"/>
            <a:ext cx="10309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Output</a:t>
            </a:r>
            <a:endParaRPr lang="he-IL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D3209F-3275-BE24-EE00-33B859CA6F2F}"/>
              </a:ext>
            </a:extLst>
          </p:cNvPr>
          <p:cNvSpPr/>
          <p:nvPr/>
        </p:nvSpPr>
        <p:spPr>
          <a:xfrm>
            <a:off x="3240743" y="4043083"/>
            <a:ext cx="1676401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1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B9D10C-FD92-DE34-8B9A-623075DF0467}"/>
              </a:ext>
            </a:extLst>
          </p:cNvPr>
          <p:cNvSpPr/>
          <p:nvPr/>
        </p:nvSpPr>
        <p:spPr>
          <a:xfrm>
            <a:off x="3236261" y="2841813"/>
            <a:ext cx="1685366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N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84C49DD-E00D-A004-F747-A2BBDE4A8638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V="1">
            <a:off x="4078944" y="3290048"/>
            <a:ext cx="0" cy="7530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3CF8B50-A53A-A2D0-0ADB-7624880FF1D9}"/>
              </a:ext>
            </a:extLst>
          </p:cNvPr>
          <p:cNvSpPr/>
          <p:nvPr/>
        </p:nvSpPr>
        <p:spPr>
          <a:xfrm>
            <a:off x="7374121" y="5260975"/>
            <a:ext cx="990600" cy="431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one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AAD45D-6B34-1862-AE15-6BF8F77F6131}"/>
              </a:ext>
            </a:extLst>
          </p:cNvPr>
          <p:cNvSpPr/>
          <p:nvPr/>
        </p:nvSpPr>
        <p:spPr>
          <a:xfrm>
            <a:off x="6996955" y="4034118"/>
            <a:ext cx="1676401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1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EA05C3-A0F5-0D2D-9B8E-FE95C41E9F97}"/>
              </a:ext>
            </a:extLst>
          </p:cNvPr>
          <p:cNvSpPr/>
          <p:nvPr/>
        </p:nvSpPr>
        <p:spPr>
          <a:xfrm>
            <a:off x="6992473" y="2671484"/>
            <a:ext cx="1685366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N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D89890A-4ED7-D77D-130D-F2DF917C6536}"/>
              </a:ext>
            </a:extLst>
          </p:cNvPr>
          <p:cNvCxnSpPr>
            <a:cxnSpLocks/>
            <a:stCxn id="39" idx="0"/>
            <a:endCxn id="40" idx="2"/>
          </p:cNvCxnSpPr>
          <p:nvPr/>
        </p:nvCxnSpPr>
        <p:spPr>
          <a:xfrm flipV="1">
            <a:off x="7835156" y="3119719"/>
            <a:ext cx="0" cy="914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17D4737-BDCE-CA22-2D4E-E9988A963F6D}"/>
              </a:ext>
            </a:extLst>
          </p:cNvPr>
          <p:cNvSpPr/>
          <p:nvPr/>
        </p:nvSpPr>
        <p:spPr>
          <a:xfrm>
            <a:off x="9444973" y="5260973"/>
            <a:ext cx="990600" cy="431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day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6EBE232-99B7-97E0-E414-3366C32F03A9}"/>
              </a:ext>
            </a:extLst>
          </p:cNvPr>
          <p:cNvSpPr/>
          <p:nvPr/>
        </p:nvSpPr>
        <p:spPr>
          <a:xfrm>
            <a:off x="9090213" y="4043083"/>
            <a:ext cx="1676401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1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93F6A1F-4B22-BE87-5154-3EE38D2B5C3A}"/>
              </a:ext>
            </a:extLst>
          </p:cNvPr>
          <p:cNvSpPr/>
          <p:nvPr/>
        </p:nvSpPr>
        <p:spPr>
          <a:xfrm>
            <a:off x="9090214" y="2644590"/>
            <a:ext cx="1685366" cy="44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Layer N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F8635C8-EDC2-9C60-E429-5A3F92D3B47C}"/>
              </a:ext>
            </a:extLst>
          </p:cNvPr>
          <p:cNvSpPr/>
          <p:nvPr/>
        </p:nvSpPr>
        <p:spPr>
          <a:xfrm>
            <a:off x="1379071" y="4179047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-0.1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A999015-C859-FEDE-38F1-1D7DD00F6FB6}"/>
              </a:ext>
            </a:extLst>
          </p:cNvPr>
          <p:cNvSpPr/>
          <p:nvPr/>
        </p:nvSpPr>
        <p:spPr>
          <a:xfrm>
            <a:off x="1907988" y="4179048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0.3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8370A6-B3FF-90D4-559F-58E797C739F8}"/>
              </a:ext>
            </a:extLst>
          </p:cNvPr>
          <p:cNvSpPr/>
          <p:nvPr/>
        </p:nvSpPr>
        <p:spPr>
          <a:xfrm>
            <a:off x="2443256" y="4179048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1.2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5107F67-FF84-C2E4-F052-5F0D5574C0B4}"/>
              </a:ext>
            </a:extLst>
          </p:cNvPr>
          <p:cNvSpPr/>
          <p:nvPr/>
        </p:nvSpPr>
        <p:spPr>
          <a:xfrm>
            <a:off x="1379071" y="4529417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0.9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2D3B4E3-C498-5582-D269-6506A18FDA4A}"/>
              </a:ext>
            </a:extLst>
          </p:cNvPr>
          <p:cNvSpPr/>
          <p:nvPr/>
        </p:nvSpPr>
        <p:spPr>
          <a:xfrm>
            <a:off x="1907988" y="4529418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0.7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8AA57B7-4454-BC67-B657-6B5B0F2109E5}"/>
              </a:ext>
            </a:extLst>
          </p:cNvPr>
          <p:cNvSpPr/>
          <p:nvPr/>
        </p:nvSpPr>
        <p:spPr>
          <a:xfrm>
            <a:off x="2443256" y="4529418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0.2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12F7EAA-D49C-34C7-588F-E4D3673F2E8F}"/>
              </a:ext>
            </a:extLst>
          </p:cNvPr>
          <p:cNvSpPr/>
          <p:nvPr/>
        </p:nvSpPr>
        <p:spPr>
          <a:xfrm>
            <a:off x="1379072" y="4856908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-0.1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200CF46-9B1B-A7C3-5476-1A97D01AC7AD}"/>
              </a:ext>
            </a:extLst>
          </p:cNvPr>
          <p:cNvSpPr/>
          <p:nvPr/>
        </p:nvSpPr>
        <p:spPr>
          <a:xfrm>
            <a:off x="1907989" y="4856909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-0.3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6EBBC2E-B786-AFC2-4A21-E8DC4C38E475}"/>
              </a:ext>
            </a:extLst>
          </p:cNvPr>
          <p:cNvSpPr/>
          <p:nvPr/>
        </p:nvSpPr>
        <p:spPr>
          <a:xfrm>
            <a:off x="2443257" y="4856909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0.1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E58AF-9B5E-0968-D75E-0BD3C653E704}"/>
              </a:ext>
            </a:extLst>
          </p:cNvPr>
          <p:cNvSpPr/>
          <p:nvPr/>
        </p:nvSpPr>
        <p:spPr>
          <a:xfrm>
            <a:off x="6067613" y="4740366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-0.9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E9932A-C9F0-2622-D0EC-41D8A43E3D27}"/>
              </a:ext>
            </a:extLst>
          </p:cNvPr>
          <p:cNvSpPr/>
          <p:nvPr/>
        </p:nvSpPr>
        <p:spPr>
          <a:xfrm>
            <a:off x="6596530" y="4740367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-0.4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C079C9-8F3E-5CB6-A739-3629C8580804}"/>
              </a:ext>
            </a:extLst>
          </p:cNvPr>
          <p:cNvSpPr/>
          <p:nvPr/>
        </p:nvSpPr>
        <p:spPr>
          <a:xfrm>
            <a:off x="7131798" y="4740367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0.2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9816F21-7EB0-2DB5-675E-73F4C5314866}"/>
              </a:ext>
            </a:extLst>
          </p:cNvPr>
          <p:cNvCxnSpPr>
            <a:cxnSpLocks/>
            <a:stCxn id="62" idx="3"/>
            <a:endCxn id="55" idx="1"/>
          </p:cNvCxnSpPr>
          <p:nvPr/>
        </p:nvCxnSpPr>
        <p:spPr>
          <a:xfrm flipV="1">
            <a:off x="2974041" y="4267201"/>
            <a:ext cx="6116172" cy="433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47F20BD-D30E-9185-EEF7-14B39227EA16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6861923" y="4500282"/>
            <a:ext cx="2255183" cy="240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AD3C075-8622-D9E3-B9E3-DA7DD852F0F7}"/>
              </a:ext>
            </a:extLst>
          </p:cNvPr>
          <p:cNvSpPr/>
          <p:nvPr/>
        </p:nvSpPr>
        <p:spPr>
          <a:xfrm>
            <a:off x="8362578" y="4731401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1.3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74C05D-7134-AA08-1FC7-F044118949ED}"/>
              </a:ext>
            </a:extLst>
          </p:cNvPr>
          <p:cNvSpPr/>
          <p:nvPr/>
        </p:nvSpPr>
        <p:spPr>
          <a:xfrm>
            <a:off x="8891495" y="4731402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-0.1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478DA9-2795-DFA9-32FA-308A61B0374D}"/>
              </a:ext>
            </a:extLst>
          </p:cNvPr>
          <p:cNvSpPr/>
          <p:nvPr/>
        </p:nvSpPr>
        <p:spPr>
          <a:xfrm>
            <a:off x="9426763" y="4731402"/>
            <a:ext cx="530785" cy="342154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-0.6</a:t>
            </a:r>
            <a:endParaRPr lang="he-IL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C858F73-B00A-67C8-9E01-4662AAB9F4CF}"/>
              </a:ext>
            </a:extLst>
          </p:cNvPr>
          <p:cNvCxnSpPr>
            <a:cxnSpLocks/>
            <a:stCxn id="29" idx="0"/>
            <a:endCxn id="55" idx="2"/>
          </p:cNvCxnSpPr>
          <p:nvPr/>
        </p:nvCxnSpPr>
        <p:spPr>
          <a:xfrm flipV="1">
            <a:off x="9156888" y="4491318"/>
            <a:ext cx="771526" cy="240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E7B9F4C-003A-F8F9-0BC5-1F6DF21846F5}"/>
              </a:ext>
            </a:extLst>
          </p:cNvPr>
          <p:cNvSpPr/>
          <p:nvPr/>
        </p:nvSpPr>
        <p:spPr>
          <a:xfrm>
            <a:off x="9391184" y="1970926"/>
            <a:ext cx="990600" cy="431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this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99FE97-9CC3-050C-6D0E-6A4E72D42DBB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87FFA-B4C5-AD89-FAFB-5B41310CBCAC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CD2B02-3500-D166-5810-E8CA041E87EC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954C46-603D-267B-E9EE-131FB8DA7872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B408D1-7CEF-6A9E-A471-251EFD8ED255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74557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7F8DC-1187-F965-5DC9-3C6AE810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BBC46-A307-9F35-8275-6E7A69F82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Generation Phase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9C413-E2C2-A814-C3DA-B887E42E8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3273425"/>
            <a:ext cx="10515600" cy="2554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Each token depending on all previous ones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Key and value vectors are cached for future tokens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 token’s KV cache varies by its position in the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F01B473-0B19-100D-C92A-348B308C7573}"/>
                  </a:ext>
                </a:extLst>
              </p:cNvPr>
              <p:cNvSpPr/>
              <p:nvPr/>
            </p:nvSpPr>
            <p:spPr>
              <a:xfrm>
                <a:off x="1047750" y="1447800"/>
                <a:ext cx="609601" cy="67627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F01B473-0B19-100D-C92A-348B308C75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50" y="1447800"/>
                <a:ext cx="609601" cy="676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0451C15-0A56-4542-AF6A-C9B4DA35DACC}"/>
                  </a:ext>
                </a:extLst>
              </p:cNvPr>
              <p:cNvSpPr/>
              <p:nvPr/>
            </p:nvSpPr>
            <p:spPr>
              <a:xfrm>
                <a:off x="1670050" y="1447800"/>
                <a:ext cx="609601" cy="67627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0451C15-0A56-4542-AF6A-C9B4DA35D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050" y="1447800"/>
                <a:ext cx="609601" cy="6762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E5F2964-E420-5377-50C0-E4E2E2CE3132}"/>
                  </a:ext>
                </a:extLst>
              </p:cNvPr>
              <p:cNvSpPr/>
              <p:nvPr/>
            </p:nvSpPr>
            <p:spPr>
              <a:xfrm>
                <a:off x="2292350" y="1447800"/>
                <a:ext cx="609601" cy="67627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E5F2964-E420-5377-50C0-E4E2E2CE31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350" y="1447800"/>
                <a:ext cx="609601" cy="6762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76E6F7-AB27-33E6-AB2D-8D320E2BBE68}"/>
                  </a:ext>
                </a:extLst>
              </p:cNvPr>
              <p:cNvSpPr/>
              <p:nvPr/>
            </p:nvSpPr>
            <p:spPr>
              <a:xfrm>
                <a:off x="2914650" y="1447800"/>
                <a:ext cx="609601" cy="67627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76E6F7-AB27-33E6-AB2D-8D320E2BBE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650" y="1447800"/>
                <a:ext cx="609601" cy="676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C33503F-5711-D29E-A143-4ED65582C651}"/>
                  </a:ext>
                </a:extLst>
              </p:cNvPr>
              <p:cNvSpPr/>
              <p:nvPr/>
            </p:nvSpPr>
            <p:spPr>
              <a:xfrm>
                <a:off x="3530600" y="1447800"/>
                <a:ext cx="609601" cy="67627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C33503F-5711-D29E-A143-4ED65582C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600" y="1447800"/>
                <a:ext cx="609601" cy="6762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36A2A64-9D42-673B-A3ED-5FF68592DEBF}"/>
                  </a:ext>
                </a:extLst>
              </p:cNvPr>
              <p:cNvSpPr/>
              <p:nvPr/>
            </p:nvSpPr>
            <p:spPr>
              <a:xfrm>
                <a:off x="4152900" y="1447800"/>
                <a:ext cx="609601" cy="67627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36A2A64-9D42-673B-A3ED-5FF68592D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1447800"/>
                <a:ext cx="609601" cy="6762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276137D-843F-66E2-8885-71FAB996A6E0}"/>
                  </a:ext>
                </a:extLst>
              </p:cNvPr>
              <p:cNvSpPr/>
              <p:nvPr/>
            </p:nvSpPr>
            <p:spPr>
              <a:xfrm>
                <a:off x="4775200" y="1447800"/>
                <a:ext cx="609601" cy="67627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276137D-843F-66E2-8885-71FAB996A6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200" y="1447800"/>
                <a:ext cx="609601" cy="6762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0F916A0-8352-7AE8-3A46-AB72FDD62B3B}"/>
                  </a:ext>
                </a:extLst>
              </p:cNvPr>
              <p:cNvSpPr/>
              <p:nvPr/>
            </p:nvSpPr>
            <p:spPr>
              <a:xfrm>
                <a:off x="5397500" y="1447800"/>
                <a:ext cx="609601" cy="67627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0F916A0-8352-7AE8-3A46-AB72FDD62B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0" y="1447800"/>
                <a:ext cx="609601" cy="676275"/>
              </a:xfrm>
              <a:prstGeom prst="rect">
                <a:avLst/>
              </a:prstGeom>
              <a:blipFill>
                <a:blip r:embed="rId9"/>
                <a:stretch>
                  <a:fillRect l="-971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4F4188C-2220-61F3-D1AD-F158DBCBC30D}"/>
                  </a:ext>
                </a:extLst>
              </p:cNvPr>
              <p:cNvSpPr/>
              <p:nvPr/>
            </p:nvSpPr>
            <p:spPr>
              <a:xfrm>
                <a:off x="6019800" y="1448276"/>
                <a:ext cx="609601" cy="67627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4F4188C-2220-61F3-D1AD-F158DBCBC3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1448276"/>
                <a:ext cx="609601" cy="676275"/>
              </a:xfrm>
              <a:prstGeom prst="rect">
                <a:avLst/>
              </a:prstGeom>
              <a:blipFill>
                <a:blip r:embed="rId10"/>
                <a:stretch>
                  <a:fillRect l="-1942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72B518B-DF4C-763E-8B0F-9B2471DB3F60}"/>
                  </a:ext>
                </a:extLst>
              </p:cNvPr>
              <p:cNvSpPr/>
              <p:nvPr/>
            </p:nvSpPr>
            <p:spPr>
              <a:xfrm>
                <a:off x="6642100" y="1445895"/>
                <a:ext cx="609601" cy="67627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72B518B-DF4C-763E-8B0F-9B2471DB3F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00" y="1445895"/>
                <a:ext cx="609601" cy="6762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081B5AA-9890-02F3-415F-51A8D09327A3}"/>
                  </a:ext>
                </a:extLst>
              </p:cNvPr>
              <p:cNvSpPr/>
              <p:nvPr/>
            </p:nvSpPr>
            <p:spPr>
              <a:xfrm>
                <a:off x="7264400" y="1445895"/>
                <a:ext cx="609601" cy="67627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081B5AA-9890-02F3-415F-51A8D09327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400" y="1445895"/>
                <a:ext cx="609601" cy="6762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AC2E99D-8135-1AE7-1817-B429718DBC2D}"/>
                  </a:ext>
                </a:extLst>
              </p:cNvPr>
              <p:cNvSpPr/>
              <p:nvPr/>
            </p:nvSpPr>
            <p:spPr>
              <a:xfrm>
                <a:off x="7886700" y="1445895"/>
                <a:ext cx="609601" cy="67627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AC2E99D-8135-1AE7-1817-B429718DBC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700" y="1445895"/>
                <a:ext cx="609601" cy="6762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5222A63-24B6-642A-395F-246CE7466BFE}"/>
                  </a:ext>
                </a:extLst>
              </p:cNvPr>
              <p:cNvSpPr/>
              <p:nvPr/>
            </p:nvSpPr>
            <p:spPr>
              <a:xfrm>
                <a:off x="8502650" y="1445895"/>
                <a:ext cx="609601" cy="67627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5222A63-24B6-642A-395F-246CE7466B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650" y="1445895"/>
                <a:ext cx="609601" cy="6762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78A84E7-B6FC-415C-E34C-40DCF162A4E8}"/>
                  </a:ext>
                </a:extLst>
              </p:cNvPr>
              <p:cNvSpPr/>
              <p:nvPr/>
            </p:nvSpPr>
            <p:spPr>
              <a:xfrm>
                <a:off x="9124950" y="1445895"/>
                <a:ext cx="609601" cy="67627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78A84E7-B6FC-415C-E34C-40DCF162A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950" y="1445895"/>
                <a:ext cx="609601" cy="6762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82FD86B-D315-EBC5-9D44-CCB864663508}"/>
                  </a:ext>
                </a:extLst>
              </p:cNvPr>
              <p:cNvSpPr/>
              <p:nvPr/>
            </p:nvSpPr>
            <p:spPr>
              <a:xfrm>
                <a:off x="9747250" y="1445895"/>
                <a:ext cx="609601" cy="67627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82FD86B-D315-EBC5-9D44-CCB864663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250" y="1445895"/>
                <a:ext cx="609601" cy="6762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200911E-1460-0B9A-2B0C-92C9040055EB}"/>
                  </a:ext>
                </a:extLst>
              </p:cNvPr>
              <p:cNvSpPr/>
              <p:nvPr/>
            </p:nvSpPr>
            <p:spPr>
              <a:xfrm>
                <a:off x="10369550" y="1445895"/>
                <a:ext cx="609601" cy="67627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200911E-1460-0B9A-2B0C-92C9040055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550" y="1445895"/>
                <a:ext cx="609601" cy="676275"/>
              </a:xfrm>
              <a:prstGeom prst="rect">
                <a:avLst/>
              </a:prstGeom>
              <a:blipFill>
                <a:blip r:embed="rId17"/>
                <a:stretch>
                  <a:fillRect l="-2913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eft Bracket 23">
            <a:extLst>
              <a:ext uri="{FF2B5EF4-FFF2-40B4-BE49-F238E27FC236}">
                <a16:creationId xmlns:a16="http://schemas.microsoft.com/office/drawing/2014/main" id="{11D071A8-9921-92AF-23B6-DB260F7AACCC}"/>
              </a:ext>
            </a:extLst>
          </p:cNvPr>
          <p:cNvSpPr/>
          <p:nvPr/>
        </p:nvSpPr>
        <p:spPr>
          <a:xfrm rot="16200000">
            <a:off x="5691189" y="-2309811"/>
            <a:ext cx="619126" cy="9867898"/>
          </a:xfrm>
          <a:prstGeom prst="leftBracket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03F3FE-0499-F723-FF54-CC4AB021C26C}"/>
              </a:ext>
            </a:extLst>
          </p:cNvPr>
          <p:cNvSpPr txBox="1"/>
          <p:nvPr/>
        </p:nvSpPr>
        <p:spPr>
          <a:xfrm>
            <a:off x="5386387" y="2914650"/>
            <a:ext cx="14192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Sequence</a:t>
            </a:r>
            <a:endParaRPr lang="he-IL" dirty="0"/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F72006A5-4BA7-F047-E19A-5DFB5CBA4D2A}"/>
              </a:ext>
            </a:extLst>
          </p:cNvPr>
          <p:cNvSpPr/>
          <p:nvPr/>
        </p:nvSpPr>
        <p:spPr>
          <a:xfrm rot="16200000">
            <a:off x="3148014" y="233363"/>
            <a:ext cx="209550" cy="4181473"/>
          </a:xfrm>
          <a:prstGeom prst="leftBracket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E9EFB7B5-3AD3-B5E4-A6F2-15B17046B8E5}"/>
              </a:ext>
            </a:extLst>
          </p:cNvPr>
          <p:cNvSpPr/>
          <p:nvPr/>
        </p:nvSpPr>
        <p:spPr>
          <a:xfrm rot="16200000">
            <a:off x="8072440" y="-376237"/>
            <a:ext cx="190501" cy="5381624"/>
          </a:xfrm>
          <a:prstGeom prst="leftBracket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D0CCF-9A4E-F464-2F14-B1F99CF5B10C}"/>
              </a:ext>
            </a:extLst>
          </p:cNvPr>
          <p:cNvSpPr txBox="1"/>
          <p:nvPr/>
        </p:nvSpPr>
        <p:spPr>
          <a:xfrm>
            <a:off x="2328862" y="2428875"/>
            <a:ext cx="14192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LLM’s input</a:t>
            </a:r>
            <a:endParaRPr lang="he-I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870CD4-805E-0B6E-8812-832B7B038D7C}"/>
              </a:ext>
            </a:extLst>
          </p:cNvPr>
          <p:cNvSpPr txBox="1"/>
          <p:nvPr/>
        </p:nvSpPr>
        <p:spPr>
          <a:xfrm>
            <a:off x="7358062" y="2438400"/>
            <a:ext cx="187166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LLM’s output</a:t>
            </a:r>
            <a:endParaRPr lang="he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E7C964-209B-69DD-6C30-544BD7DC6387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7EFC9-CB18-52F2-3B0A-C3BE6591FA53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F1326D-8D84-C48F-A5DD-863FBC274B18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621FB0-A08C-14D2-35B3-7B6A66DBDDD7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83C558-E1F4-26BC-E622-324FFBEA5166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74752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6AE6-9EDF-15C2-3396-74103D4A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KV Cache Problem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7907C-48E0-C373-1B7B-DC403D86C3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7158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For OPT-13B, a single token needs ≈ 800 KB of GPU memory</a:t>
                </a: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𝑣𝑒𝑐𝑡𝑜𝑟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5120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𝑖𝑑𝑑𝑒𝑛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(#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𝑙𝑎𝑦𝑒𝑟𝑠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𝐹𝑃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Up to 2048 tokens → ~1.6 GB per request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Even with 14 GB KV cache (40 GB GPU), can host only a few dozen requests at once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7907C-48E0-C373-1B7B-DC403D86C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715859"/>
              </a:xfrm>
              <a:blipFill>
                <a:blip r:embed="rId3"/>
                <a:stretch>
                  <a:fillRect l="-928" t="-213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98DAA83-229E-8DBA-2CF4-6750223AFB17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716D2F-C1D5-CB11-CB8D-4FCE927B54A4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9D2BF-52C3-7090-E4C0-BFD5307A3913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8350DE-45EC-0992-49EC-3105B1228D53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A45FAE-2F02-AB5D-5B44-E572115D0988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9525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22A26-F217-9577-7CD4-7E56AFD5F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377B3-DEB9-1701-4660-6F933DD4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System Are inefficient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95B5E-BE31-0536-1C7E-CA2EF852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22740-5828-FF78-C895-BFB29781D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682" y="1449066"/>
            <a:ext cx="9111343" cy="49341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E09EF1-D385-3ED1-E602-89B73745C6AA}"/>
              </a:ext>
            </a:extLst>
          </p:cNvPr>
          <p:cNvSpPr/>
          <p:nvPr/>
        </p:nvSpPr>
        <p:spPr>
          <a:xfrm>
            <a:off x="2647951" y="4979546"/>
            <a:ext cx="1485900" cy="698499"/>
          </a:xfrm>
          <a:prstGeom prst="rect">
            <a:avLst/>
          </a:prstGeom>
          <a:solidFill>
            <a:srgbClr val="FFFF00">
              <a:alpha val="15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5CCD67-0715-6EEA-4707-386BCD3EDD4D}"/>
              </a:ext>
            </a:extLst>
          </p:cNvPr>
          <p:cNvSpPr/>
          <p:nvPr/>
        </p:nvSpPr>
        <p:spPr>
          <a:xfrm>
            <a:off x="4527551" y="4769996"/>
            <a:ext cx="1485900" cy="889000"/>
          </a:xfrm>
          <a:prstGeom prst="rect">
            <a:avLst/>
          </a:prstGeom>
          <a:solidFill>
            <a:srgbClr val="FFFF00">
              <a:alpha val="15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2C1CBC-E493-C936-F35F-5F02D37799B1}"/>
              </a:ext>
            </a:extLst>
          </p:cNvPr>
          <p:cNvSpPr/>
          <p:nvPr/>
        </p:nvSpPr>
        <p:spPr>
          <a:xfrm>
            <a:off x="6403976" y="4376296"/>
            <a:ext cx="1485900" cy="1289050"/>
          </a:xfrm>
          <a:prstGeom prst="rect">
            <a:avLst/>
          </a:prstGeom>
          <a:solidFill>
            <a:srgbClr val="FFFF00">
              <a:alpha val="15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E4D71E-07CF-45DB-8CFF-FF7C5B06B4B5}"/>
              </a:ext>
            </a:extLst>
          </p:cNvPr>
          <p:cNvSpPr txBox="1"/>
          <p:nvPr/>
        </p:nvSpPr>
        <p:spPr>
          <a:xfrm rot="21141206">
            <a:off x="3040485" y="3722420"/>
            <a:ext cx="656513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Only 20–38% of KV Cache Stores Token States</a:t>
            </a:r>
            <a:endParaRPr lang="he-IL" sz="2400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578B43-51C9-B27F-B8D9-AE559C4B1E9F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6CF631-379E-2A37-89E3-488CB02DC2CF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E5B0D0-DE0C-8686-606E-EF532AFC8001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97AE41-D283-DFF4-00CE-A4A0C41D2592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3410CC-550F-D51C-8B54-D51DB0E00A23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1560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8B2E3-949A-F4DE-C1F7-99B816B4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307B-3F2D-A376-939B-BD9AB4305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Bringing OS Concepts to LLMs</a:t>
            </a:r>
            <a:endParaRPr lang="he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DCF8C2-BEE6-1325-320A-1DA0A24E9640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8B49E6-3B4D-D5BB-C4C1-FE4C7B47A509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682452-BA03-77C2-69DA-8F97A1B3BC35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05E421-92DE-51F5-D8B3-F8568B6784C0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1A72AB-EFAD-BBF2-20FE-A2AFCD00C624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29529F-EEE0-9E8C-83A9-E947B678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8246" y="970172"/>
            <a:ext cx="3298520" cy="522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C9B3AF4-51A6-7DC6-B8A8-E6008D9434D8}"/>
              </a:ext>
            </a:extLst>
          </p:cNvPr>
          <p:cNvSpPr/>
          <p:nvPr/>
        </p:nvSpPr>
        <p:spPr>
          <a:xfrm>
            <a:off x="793214" y="1762699"/>
            <a:ext cx="6786391" cy="2016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2400" dirty="0">
                <a:solidFill>
                  <a:schemeClr val="tx1"/>
                </a:solidFill>
              </a:rPr>
              <a:t>Our system adapts the idea of virtual memory for LLMs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Implements common virtual memory routines and mechanisms in software</a:t>
            </a:r>
            <a:endParaRPr lang="he-I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74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9078-38C9-C583-DD2E-A43D5134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D9DAC-73F3-CC60-0B92-4882042E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 - </a:t>
            </a:r>
            <a:r>
              <a:rPr lang="en-US" dirty="0" err="1"/>
              <a:t>PagedAttention</a:t>
            </a:r>
            <a:endParaRPr lang="he-IL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52239B-D111-387B-B82B-069251EB7F89}"/>
              </a:ext>
            </a:extLst>
          </p:cNvPr>
          <p:cNvSpPr/>
          <p:nvPr/>
        </p:nvSpPr>
        <p:spPr>
          <a:xfrm>
            <a:off x="647700" y="27090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FF1E3D-78C6-858B-B048-2D83D6446CD0}"/>
              </a:ext>
            </a:extLst>
          </p:cNvPr>
          <p:cNvSpPr/>
          <p:nvPr/>
        </p:nvSpPr>
        <p:spPr>
          <a:xfrm>
            <a:off x="647700" y="31662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DA4207-D0BE-5861-5D1A-A414F40430E7}"/>
              </a:ext>
            </a:extLst>
          </p:cNvPr>
          <p:cNvSpPr/>
          <p:nvPr/>
        </p:nvSpPr>
        <p:spPr>
          <a:xfrm>
            <a:off x="647701" y="2709022"/>
            <a:ext cx="111378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many chickens would it take to stop a plane?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F868E5-F1F7-AD93-E588-EC320148962A}"/>
              </a:ext>
            </a:extLst>
          </p:cNvPr>
          <p:cNvSpPr/>
          <p:nvPr/>
        </p:nvSpPr>
        <p:spPr>
          <a:xfrm>
            <a:off x="644526" y="3162300"/>
            <a:ext cx="1650999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45F2A-EBBA-E984-0F69-AE17E017EA0F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228AA6-C3B6-29C2-4CA3-63A51A417847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C6FCAB-A28A-3937-0A9E-45B55A7F2D3F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980AFF-A5C9-914D-26C5-F804CF36AE69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69FF1D-7895-4CE9-9A48-5D4A6114804F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25068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C1B7-9DCD-3467-A352-35B8A812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 - </a:t>
            </a:r>
            <a:r>
              <a:rPr lang="en-US" dirty="0" err="1"/>
              <a:t>PagedAttention</a:t>
            </a:r>
            <a:endParaRPr lang="he-IL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9745D3-0E35-1E3A-DB1E-D946A20FA0FE}"/>
              </a:ext>
            </a:extLst>
          </p:cNvPr>
          <p:cNvSpPr/>
          <p:nvPr/>
        </p:nvSpPr>
        <p:spPr>
          <a:xfrm>
            <a:off x="647700" y="27090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F956A4-D5DB-3515-84A0-1178DF7AB9BE}"/>
              </a:ext>
            </a:extLst>
          </p:cNvPr>
          <p:cNvSpPr/>
          <p:nvPr/>
        </p:nvSpPr>
        <p:spPr>
          <a:xfrm>
            <a:off x="647700" y="31662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F9718F-705A-239B-B961-545268196CFC}"/>
              </a:ext>
            </a:extLst>
          </p:cNvPr>
          <p:cNvSpPr/>
          <p:nvPr/>
        </p:nvSpPr>
        <p:spPr>
          <a:xfrm>
            <a:off x="644527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77F498-77FB-BE8A-0D80-05A9EF62F7CD}"/>
              </a:ext>
            </a:extLst>
          </p:cNvPr>
          <p:cNvSpPr/>
          <p:nvPr/>
        </p:nvSpPr>
        <p:spPr>
          <a:xfrm>
            <a:off x="1463677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many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46D790-9F8B-728A-1231-5D92252617E6}"/>
              </a:ext>
            </a:extLst>
          </p:cNvPr>
          <p:cNvSpPr/>
          <p:nvPr/>
        </p:nvSpPr>
        <p:spPr>
          <a:xfrm>
            <a:off x="2282827" y="2705100"/>
            <a:ext cx="8208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chickens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8D12B5-5E30-D795-C49E-F9047CB8B299}"/>
              </a:ext>
            </a:extLst>
          </p:cNvPr>
          <p:cNvSpPr/>
          <p:nvPr/>
        </p:nvSpPr>
        <p:spPr>
          <a:xfrm>
            <a:off x="310388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would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9368DD-36E7-ADF9-71E3-F9349DFCA599}"/>
              </a:ext>
            </a:extLst>
          </p:cNvPr>
          <p:cNvSpPr/>
          <p:nvPr/>
        </p:nvSpPr>
        <p:spPr>
          <a:xfrm>
            <a:off x="392303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52E72F-2741-8367-31E4-ACBC991680DB}"/>
              </a:ext>
            </a:extLst>
          </p:cNvPr>
          <p:cNvSpPr/>
          <p:nvPr/>
        </p:nvSpPr>
        <p:spPr>
          <a:xfrm>
            <a:off x="474218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take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4B70DE-9E4B-9B6B-E9EC-358B3CEFE4C1}"/>
              </a:ext>
            </a:extLst>
          </p:cNvPr>
          <p:cNvSpPr/>
          <p:nvPr/>
        </p:nvSpPr>
        <p:spPr>
          <a:xfrm>
            <a:off x="638048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BCA70F-58DD-A1AD-F556-2ED20209777E}"/>
              </a:ext>
            </a:extLst>
          </p:cNvPr>
          <p:cNvSpPr/>
          <p:nvPr/>
        </p:nvSpPr>
        <p:spPr>
          <a:xfrm>
            <a:off x="556133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E3E4B6-5414-5701-AAFE-FC6F63945F3C}"/>
              </a:ext>
            </a:extLst>
          </p:cNvPr>
          <p:cNvSpPr/>
          <p:nvPr/>
        </p:nvSpPr>
        <p:spPr>
          <a:xfrm>
            <a:off x="801878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plane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339B31-1371-A93B-E267-75C9E1CC01DE}"/>
              </a:ext>
            </a:extLst>
          </p:cNvPr>
          <p:cNvSpPr/>
          <p:nvPr/>
        </p:nvSpPr>
        <p:spPr>
          <a:xfrm>
            <a:off x="719963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77AD6A-0117-2912-E2BB-78E751E9952F}"/>
              </a:ext>
            </a:extLst>
          </p:cNvPr>
          <p:cNvSpPr txBox="1"/>
          <p:nvPr/>
        </p:nvSpPr>
        <p:spPr>
          <a:xfrm>
            <a:off x="742950" y="1771650"/>
            <a:ext cx="275789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Fixed-size blocks</a:t>
            </a:r>
            <a:endParaRPr lang="he-IL" sz="24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55DEF37-B007-3D46-561A-2B636AD1AFCF}"/>
              </a:ext>
            </a:extLst>
          </p:cNvPr>
          <p:cNvCxnSpPr>
            <a:cxnSpLocks/>
            <a:stCxn id="33" idx="0"/>
            <a:endCxn id="47" idx="2"/>
          </p:cNvCxnSpPr>
          <p:nvPr/>
        </p:nvCxnSpPr>
        <p:spPr>
          <a:xfrm flipV="1">
            <a:off x="1055689" y="2233315"/>
            <a:ext cx="1066209" cy="471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3AD551B-9C15-831F-0142-727EECAD4ECF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BF034A-79E5-3683-466A-A3BDB7A7F8B4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1227C0-566D-DBE1-5978-2E5E79800972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372F60-E954-B32A-FC0B-02C0FC74BB68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B636B5-40B2-2079-CDF7-70F25485D6ED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10433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8B0A2-17B1-4D61-8A49-48527E32D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9FA4-5642-3D03-1791-3314CFE8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 - </a:t>
            </a:r>
            <a:r>
              <a:rPr lang="en-US" dirty="0" err="1"/>
              <a:t>PagedAttention</a:t>
            </a:r>
            <a:endParaRPr lang="he-IL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E7A11C-7C05-76AC-3302-E4390DAE002C}"/>
              </a:ext>
            </a:extLst>
          </p:cNvPr>
          <p:cNvSpPr/>
          <p:nvPr/>
        </p:nvSpPr>
        <p:spPr>
          <a:xfrm>
            <a:off x="647700" y="27090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167F8C-4C4A-246C-27D8-17ED1760DBE5}"/>
              </a:ext>
            </a:extLst>
          </p:cNvPr>
          <p:cNvSpPr/>
          <p:nvPr/>
        </p:nvSpPr>
        <p:spPr>
          <a:xfrm>
            <a:off x="647700" y="3166222"/>
            <a:ext cx="11134725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904130-3A7E-5315-2A46-5B8CAF975226}"/>
              </a:ext>
            </a:extLst>
          </p:cNvPr>
          <p:cNvSpPr/>
          <p:nvPr/>
        </p:nvSpPr>
        <p:spPr>
          <a:xfrm>
            <a:off x="644527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1A5C7B-0438-A5CD-ED0C-E9716CEA513F}"/>
              </a:ext>
            </a:extLst>
          </p:cNvPr>
          <p:cNvSpPr/>
          <p:nvPr/>
        </p:nvSpPr>
        <p:spPr>
          <a:xfrm>
            <a:off x="1463677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many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64B6A6-4856-21CD-A172-460FB687A607}"/>
              </a:ext>
            </a:extLst>
          </p:cNvPr>
          <p:cNvSpPr/>
          <p:nvPr/>
        </p:nvSpPr>
        <p:spPr>
          <a:xfrm>
            <a:off x="2282827" y="2705100"/>
            <a:ext cx="8208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chickens</a:t>
            </a:r>
            <a:endParaRPr lang="he-IL" sz="16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7F29E8-1BE4-83DD-B68E-98E0E312F59E}"/>
              </a:ext>
            </a:extLst>
          </p:cNvPr>
          <p:cNvSpPr/>
          <p:nvPr/>
        </p:nvSpPr>
        <p:spPr>
          <a:xfrm>
            <a:off x="524510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would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42FBC4-C4CD-6A85-7240-09BA20754530}"/>
              </a:ext>
            </a:extLst>
          </p:cNvPr>
          <p:cNvSpPr/>
          <p:nvPr/>
        </p:nvSpPr>
        <p:spPr>
          <a:xfrm>
            <a:off x="606425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05CD06-D3E8-8779-620D-F91BFC12C4B4}"/>
              </a:ext>
            </a:extLst>
          </p:cNvPr>
          <p:cNvSpPr/>
          <p:nvPr/>
        </p:nvSpPr>
        <p:spPr>
          <a:xfrm>
            <a:off x="688340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take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2583EC-663A-EF77-A90A-8C2CF2231FAF}"/>
              </a:ext>
            </a:extLst>
          </p:cNvPr>
          <p:cNvSpPr/>
          <p:nvPr/>
        </p:nvSpPr>
        <p:spPr>
          <a:xfrm>
            <a:off x="644527" y="31623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309A59-DBE8-3C43-2AC7-5200049348DE}"/>
              </a:ext>
            </a:extLst>
          </p:cNvPr>
          <p:cNvSpPr/>
          <p:nvPr/>
        </p:nvSpPr>
        <p:spPr>
          <a:xfrm>
            <a:off x="7702552" y="27051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369538-D5D7-80A0-EFE2-174E53A5F25B}"/>
              </a:ext>
            </a:extLst>
          </p:cNvPr>
          <p:cNvSpPr/>
          <p:nvPr/>
        </p:nvSpPr>
        <p:spPr>
          <a:xfrm>
            <a:off x="2282827" y="31623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plane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1AA210-AC35-DF13-314D-208420E06D5C}"/>
              </a:ext>
            </a:extLst>
          </p:cNvPr>
          <p:cNvSpPr/>
          <p:nvPr/>
        </p:nvSpPr>
        <p:spPr>
          <a:xfrm>
            <a:off x="1463677" y="3162300"/>
            <a:ext cx="822324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345D31-104B-AA7E-10A9-25069A58D595}"/>
              </a:ext>
            </a:extLst>
          </p:cNvPr>
          <p:cNvSpPr/>
          <p:nvPr/>
        </p:nvSpPr>
        <p:spPr>
          <a:xfrm>
            <a:off x="3097530" y="2705100"/>
            <a:ext cx="216027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99DD82-32B0-9C27-9B73-9287B2A5EB1A}"/>
              </a:ext>
            </a:extLst>
          </p:cNvPr>
          <p:cNvSpPr/>
          <p:nvPr/>
        </p:nvSpPr>
        <p:spPr>
          <a:xfrm>
            <a:off x="8515349" y="2705100"/>
            <a:ext cx="3267075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BC5F9-7CD2-B7A6-D370-CF43475FDA56}"/>
              </a:ext>
            </a:extLst>
          </p:cNvPr>
          <p:cNvSpPr/>
          <p:nvPr/>
        </p:nvSpPr>
        <p:spPr>
          <a:xfrm>
            <a:off x="3101977" y="3162300"/>
            <a:ext cx="1879598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CCDA2B-FA2F-9F4F-0A13-15CEB22D6018}"/>
              </a:ext>
            </a:extLst>
          </p:cNvPr>
          <p:cNvSpPr/>
          <p:nvPr/>
        </p:nvSpPr>
        <p:spPr>
          <a:xfrm>
            <a:off x="4978402" y="3162300"/>
            <a:ext cx="822324" cy="457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you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52A53F-741B-5F9E-0B71-0DD5156E3FF9}"/>
              </a:ext>
            </a:extLst>
          </p:cNvPr>
          <p:cNvSpPr/>
          <p:nvPr/>
        </p:nvSpPr>
        <p:spPr>
          <a:xfrm>
            <a:off x="5797552" y="3162300"/>
            <a:ext cx="820800" cy="457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should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34EDB7-06F4-9A6D-FF72-CF21CA7309DE}"/>
              </a:ext>
            </a:extLst>
          </p:cNvPr>
          <p:cNvSpPr/>
          <p:nvPr/>
        </p:nvSpPr>
        <p:spPr>
          <a:xfrm>
            <a:off x="6617969" y="3162300"/>
            <a:ext cx="820800" cy="457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see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A7F814-D61C-DBEB-AE9C-92BC754BCF6A}"/>
              </a:ext>
            </a:extLst>
          </p:cNvPr>
          <p:cNvSpPr/>
          <p:nvPr/>
        </p:nvSpPr>
        <p:spPr>
          <a:xfrm>
            <a:off x="7367272" y="3162300"/>
            <a:ext cx="822324" cy="457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EE5DDE-6F65-5913-8AC5-8033BA0599AD}"/>
              </a:ext>
            </a:extLst>
          </p:cNvPr>
          <p:cNvSpPr/>
          <p:nvPr/>
        </p:nvSpPr>
        <p:spPr>
          <a:xfrm>
            <a:off x="9293227" y="3162300"/>
            <a:ext cx="820800" cy="457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doctor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37248-9FA1-F933-44FE-53DFDE7362B3}"/>
              </a:ext>
            </a:extLst>
          </p:cNvPr>
          <p:cNvSpPr/>
          <p:nvPr/>
        </p:nvSpPr>
        <p:spPr>
          <a:xfrm>
            <a:off x="8181975" y="3162300"/>
            <a:ext cx="1123949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9F9691-3AA7-A3C1-C1DD-8E2EC5A1A9E0}"/>
              </a:ext>
            </a:extLst>
          </p:cNvPr>
          <p:cNvCxnSpPr>
            <a:cxnSpLocks/>
          </p:cNvCxnSpPr>
          <p:nvPr/>
        </p:nvCxnSpPr>
        <p:spPr>
          <a:xfrm flipV="1">
            <a:off x="1055689" y="2140982"/>
            <a:ext cx="663574" cy="564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0FEFF45-4E47-2E5D-1D0C-66CE68E6207A}"/>
              </a:ext>
            </a:extLst>
          </p:cNvPr>
          <p:cNvSpPr txBox="1"/>
          <p:nvPr/>
        </p:nvSpPr>
        <p:spPr>
          <a:xfrm>
            <a:off x="4318875" y="1733005"/>
            <a:ext cx="3338350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dirty="0"/>
              <a:t>Non-Contiguous Blocks</a:t>
            </a:r>
            <a:endParaRPr lang="he-IL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1C6D82-D860-B585-62AF-B03BEDABFE33}"/>
              </a:ext>
            </a:extLst>
          </p:cNvPr>
          <p:cNvCxnSpPr>
            <a:cxnSpLocks/>
          </p:cNvCxnSpPr>
          <p:nvPr/>
        </p:nvCxnSpPr>
        <p:spPr>
          <a:xfrm flipV="1">
            <a:off x="2693227" y="2168434"/>
            <a:ext cx="2623356" cy="497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59E98E-D2DA-8FD4-6A3D-821325994B59}"/>
              </a:ext>
            </a:extLst>
          </p:cNvPr>
          <p:cNvCxnSpPr>
            <a:stCxn id="36" idx="0"/>
            <a:endCxn id="17" idx="2"/>
          </p:cNvCxnSpPr>
          <p:nvPr/>
        </p:nvCxnSpPr>
        <p:spPr>
          <a:xfrm flipV="1">
            <a:off x="5656264" y="2194670"/>
            <a:ext cx="331786" cy="510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9A549DE-1CEA-C0F1-2741-15B405E43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41098"/>
              </p:ext>
            </p:extLst>
          </p:nvPr>
        </p:nvGraphicFramePr>
        <p:xfrm>
          <a:off x="1417502" y="3782355"/>
          <a:ext cx="10466025" cy="256032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399883">
                  <a:extLst>
                    <a:ext uri="{9D8B030D-6E8A-4147-A177-3AD203B41FA5}">
                      <a16:colId xmlns:a16="http://schemas.microsoft.com/office/drawing/2014/main" val="3991788560"/>
                    </a:ext>
                  </a:extLst>
                </a:gridCol>
                <a:gridCol w="4066142">
                  <a:extLst>
                    <a:ext uri="{9D8B030D-6E8A-4147-A177-3AD203B41FA5}">
                      <a16:colId xmlns:a16="http://schemas.microsoft.com/office/drawing/2014/main" val="2335222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Block allocating on demand as lazy malloc</a:t>
                      </a:r>
                      <a:endParaRPr lang="he-IL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Blocks as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27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Alleviates internal fragmentation</a:t>
                      </a:r>
                      <a:endParaRPr lang="he-IL" sz="2400" dirty="0"/>
                    </a:p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e-IL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Memory sharing like libraries </a:t>
                      </a:r>
                      <a:endParaRPr lang="he-IL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28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Eliminates external fragmentation </a:t>
                      </a:r>
                      <a:endParaRPr lang="he-IL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Requests as processes</a:t>
                      </a:r>
                      <a:endParaRPr lang="he-IL" sz="2400" dirty="0"/>
                    </a:p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e-IL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3832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Tokens as bytes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59520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AE39C8D-7194-C07B-9E8C-B941B78ACE4E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51F1AB-ADA6-A202-6419-3F4FA1061AF1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53BD0A-AA67-7366-F8F7-344D224C1CB5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562AA-2594-98F2-42AA-CA3EC32B125E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E7C63-68DF-3863-4EE4-AFC6DA03A334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D68F33-A187-AB07-3E9E-27F4B6BCBA70}"/>
              </a:ext>
            </a:extLst>
          </p:cNvPr>
          <p:cNvSpPr txBox="1"/>
          <p:nvPr/>
        </p:nvSpPr>
        <p:spPr>
          <a:xfrm>
            <a:off x="742950" y="1771650"/>
            <a:ext cx="275789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Fixed-size blocks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697449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DDA7D-7FBB-C9CB-7D19-E379D77C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PagedAttention</a:t>
            </a:r>
            <a:r>
              <a:rPr lang="en-US" dirty="0"/>
              <a:t> and the </a:t>
            </a:r>
            <a:r>
              <a:rPr lang="en-US" dirty="0" err="1"/>
              <a:t>vLLM</a:t>
            </a:r>
            <a:r>
              <a:rPr lang="en-US" dirty="0"/>
              <a:t> Architecture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202FA-0434-FDB2-2E57-B367B4E62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27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Introduces </a:t>
            </a:r>
            <a:r>
              <a:rPr lang="en-US" sz="2400" b="1" dirty="0" err="1"/>
              <a:t>PagedAttention</a:t>
            </a:r>
            <a:r>
              <a:rPr lang="en-US" sz="2400" dirty="0"/>
              <a:t>, a new attention algorithm designed for </a:t>
            </a:r>
            <a:r>
              <a:rPr lang="en-US" sz="2400" b="1" dirty="0"/>
              <a:t>efficient KV cache management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Implements </a:t>
            </a:r>
            <a:r>
              <a:rPr lang="en-US" sz="2400" b="1" dirty="0" err="1"/>
              <a:t>vLLM</a:t>
            </a:r>
            <a:r>
              <a:rPr lang="en-US" sz="2400" dirty="0"/>
              <a:t>, a high-throughput LLM serving engine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AB99E-D4A8-E8C2-4803-E27B239C4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1917766"/>
            <a:ext cx="6269050" cy="341496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9DD6089-E1F6-4100-2998-0580022FB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PagedAttention and the vLLM Architecture</a:t>
            </a: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2AA4E-92A2-6E9B-632F-C7650A3CA8AE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CB0E4-E6B1-3C32-16C6-141480D87639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A3C634-4870-E521-F757-2D4E5AEE814F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2A552F-F16C-0432-7E10-EB8131C2E3EC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49A0B9-3AEF-C1A6-D815-530953FF627F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96669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4FDF-BD8F-D989-4D8B-E8F25B04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 err="1"/>
              <a:t>PagedAttention</a:t>
            </a:r>
            <a:r>
              <a:rPr lang="en-US" dirty="0"/>
              <a:t> in Action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EE7C7-023C-199C-F73E-9FA921DE1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22F708-A9D2-693E-898D-BE7C953DE9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067"/>
          <a:stretch>
            <a:fillRect/>
          </a:stretch>
        </p:blipFill>
        <p:spPr>
          <a:xfrm>
            <a:off x="736601" y="1620377"/>
            <a:ext cx="3321050" cy="42597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DD323D-5C07-DB9C-AD4F-B6BDB8990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589" b="67156"/>
          <a:stretch>
            <a:fillRect/>
          </a:stretch>
        </p:blipFill>
        <p:spPr>
          <a:xfrm>
            <a:off x="736600" y="1620378"/>
            <a:ext cx="4892675" cy="13990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ABE3EED-E5AB-AA23-77A1-C2478C2561CF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6DD9EE-8023-7C38-107E-681965F0CA21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F62976-8A9F-2686-0DA5-984BD8E30B40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EBC1E1-9979-3C46-774A-D781EA5401B1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48049-5138-2F52-6EE5-0500824BF898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31051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7D84F-FAB6-76B0-72AB-F622EC44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E633-43B5-495D-5B82-BB0D6EF3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 err="1"/>
              <a:t>PagedAttention</a:t>
            </a:r>
            <a:r>
              <a:rPr lang="en-US" dirty="0"/>
              <a:t> in Action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CFFF3-ECE6-3722-6FF1-7016BE5F9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41E60-5BF6-A4E5-E0B8-DCA21FEFC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203"/>
          <a:stretch>
            <a:fillRect/>
          </a:stretch>
        </p:blipFill>
        <p:spPr>
          <a:xfrm>
            <a:off x="6419850" y="1620377"/>
            <a:ext cx="3308833" cy="42597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0FE668-FA57-F911-6408-F3E6DC4C73EB}"/>
              </a:ext>
            </a:extLst>
          </p:cNvPr>
          <p:cNvSpPr txBox="1"/>
          <p:nvPr/>
        </p:nvSpPr>
        <p:spPr>
          <a:xfrm>
            <a:off x="10161989" y="2838864"/>
            <a:ext cx="21463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Before: no </a:t>
            </a:r>
            <a:r>
              <a:rPr lang="en-US" sz="2400" dirty="0" err="1"/>
              <a:t>preallocation</a:t>
            </a:r>
            <a:endParaRPr lang="he-IL" sz="2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BE3998-3CDD-8834-0840-23779223E22A}"/>
              </a:ext>
            </a:extLst>
          </p:cNvPr>
          <p:cNvCxnSpPr>
            <a:cxnSpLocks/>
          </p:cNvCxnSpPr>
          <p:nvPr/>
        </p:nvCxnSpPr>
        <p:spPr>
          <a:xfrm flipV="1">
            <a:off x="8666480" y="3200400"/>
            <a:ext cx="152400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34EC78-02F7-81B6-B113-5DB6176F2212}"/>
              </a:ext>
            </a:extLst>
          </p:cNvPr>
          <p:cNvCxnSpPr>
            <a:cxnSpLocks/>
          </p:cNvCxnSpPr>
          <p:nvPr/>
        </p:nvCxnSpPr>
        <p:spPr>
          <a:xfrm>
            <a:off x="9258300" y="4749800"/>
            <a:ext cx="65786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4D50629-E689-48FA-4CC8-36568E5208ED}"/>
              </a:ext>
            </a:extLst>
          </p:cNvPr>
          <p:cNvSpPr txBox="1"/>
          <p:nvPr/>
        </p:nvSpPr>
        <p:spPr>
          <a:xfrm>
            <a:off x="9865360" y="4771390"/>
            <a:ext cx="221488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During: allocates new blocks only when full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1BC0577-CFEB-1E80-231D-B0834256FD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067"/>
          <a:stretch>
            <a:fillRect/>
          </a:stretch>
        </p:blipFill>
        <p:spPr>
          <a:xfrm>
            <a:off x="736601" y="1620377"/>
            <a:ext cx="3321050" cy="42597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F7BEC6-2833-9C59-0CF2-65277A5425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589" b="67156"/>
          <a:stretch>
            <a:fillRect/>
          </a:stretch>
        </p:blipFill>
        <p:spPr>
          <a:xfrm>
            <a:off x="736600" y="1620378"/>
            <a:ext cx="4892675" cy="13990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1242B6A-3797-25A1-CCC1-390605B986FE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853CF8-A517-70C0-BC1A-05E5D5FB70E8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69F6E3-7CCE-98BD-9F62-383A4511DAA2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C86A60-4578-9DC9-E923-92061C3C5C75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C8527-9AC3-99FA-7929-5090E96AC821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0870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606D-F9A4-08EA-E64A-815EB33EB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0DB4-7D61-ED37-9161-382D7AE1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 err="1"/>
              <a:t>PagedAttention</a:t>
            </a:r>
            <a:r>
              <a:rPr lang="en-US" dirty="0"/>
              <a:t> in Action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E6BBD-1F2D-AF67-0961-FB2139978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46B648-3866-3D73-4756-5451CFB3D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620377"/>
            <a:ext cx="8992083" cy="425972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6718CD-BC1B-9BFD-CE9A-07ADE4F56F68}"/>
              </a:ext>
            </a:extLst>
          </p:cNvPr>
          <p:cNvCxnSpPr>
            <a:cxnSpLocks/>
          </p:cNvCxnSpPr>
          <p:nvPr/>
        </p:nvCxnSpPr>
        <p:spPr>
          <a:xfrm>
            <a:off x="9258300" y="4749800"/>
            <a:ext cx="65786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BF411E8-1406-7BA8-3894-0B9384A4AEFC}"/>
              </a:ext>
            </a:extLst>
          </p:cNvPr>
          <p:cNvSpPr txBox="1"/>
          <p:nvPr/>
        </p:nvSpPr>
        <p:spPr>
          <a:xfrm>
            <a:off x="3448049" y="5102860"/>
            <a:ext cx="347054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Maps logical blocks</a:t>
            </a:r>
          </a:p>
          <a:p>
            <a:r>
              <a:rPr lang="en-US" sz="2400" dirty="0"/>
              <a:t>to physical blocks </a:t>
            </a:r>
            <a:endParaRPr lang="he-IL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B0970D-2761-E402-25E2-F4B57EA3B536}"/>
              </a:ext>
            </a:extLst>
          </p:cNvPr>
          <p:cNvCxnSpPr>
            <a:cxnSpLocks/>
          </p:cNvCxnSpPr>
          <p:nvPr/>
        </p:nvCxnSpPr>
        <p:spPr>
          <a:xfrm flipV="1">
            <a:off x="8666480" y="3200400"/>
            <a:ext cx="152400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7AB08C-D3E3-E067-1C8E-939BA508F9A6}"/>
              </a:ext>
            </a:extLst>
          </p:cNvPr>
          <p:cNvCxnSpPr>
            <a:cxnSpLocks/>
          </p:cNvCxnSpPr>
          <p:nvPr/>
        </p:nvCxnSpPr>
        <p:spPr>
          <a:xfrm flipH="1">
            <a:off x="4819650" y="4866640"/>
            <a:ext cx="219710" cy="334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34A7350-30EB-5B76-C780-0D61EDB767A8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B1A8DD-057D-292D-F461-3E5EF96680B2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8649FD-D057-6870-ECF3-189FDAE0C148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207A0D-9DDB-6E77-9ABA-F184715075FC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5EB060-7C96-820F-4B37-E772ECF5A8B8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D89BBB-07B4-F0FE-3333-9650D170F9F4}"/>
              </a:ext>
            </a:extLst>
          </p:cNvPr>
          <p:cNvSpPr txBox="1"/>
          <p:nvPr/>
        </p:nvSpPr>
        <p:spPr>
          <a:xfrm>
            <a:off x="10161989" y="2838864"/>
            <a:ext cx="21463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Before: no </a:t>
            </a:r>
            <a:r>
              <a:rPr lang="en-US" sz="2400" dirty="0" err="1"/>
              <a:t>preallocation</a:t>
            </a:r>
            <a:endParaRPr lang="he-IL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C8D236-BD49-CD77-4D50-1736B6DAB6DC}"/>
              </a:ext>
            </a:extLst>
          </p:cNvPr>
          <p:cNvSpPr txBox="1"/>
          <p:nvPr/>
        </p:nvSpPr>
        <p:spPr>
          <a:xfrm>
            <a:off x="9865360" y="4771390"/>
            <a:ext cx="221488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During: allocates new blocks only when full</a:t>
            </a:r>
          </a:p>
        </p:txBody>
      </p:sp>
    </p:spTree>
    <p:extLst>
      <p:ext uri="{BB962C8B-B14F-4D97-AF65-F5344CB8AC3E}">
        <p14:creationId xmlns:p14="http://schemas.microsoft.com/office/powerpoint/2010/main" val="1075246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E6BA-87D1-0F37-4877-25755AD99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Decoding with Shared GPU Memory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31D02-9B99-DFF1-121A-E3F2815BF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D7331F-D9C3-C0E6-6822-A103535B8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08" y="1737360"/>
            <a:ext cx="9939483" cy="4165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77D32E4-CB31-A3A7-5873-102F0627A49F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9AD265-F8E8-03AA-8EC9-859F112A1453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34BA6E-36FC-2773-1993-33D29A975684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63307B-2FAE-F783-0CCA-0F170A456EB6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A9C43C-FB0E-6E82-6E45-8089CC1F4B5A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639133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A4FA-AF7E-7004-A8DE-E175C334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Decoding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13FF9-E5C6-BBF1-9340-7BDA34D2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655"/>
          <a:stretch>
            <a:fillRect/>
          </a:stretch>
        </p:blipFill>
        <p:spPr>
          <a:xfrm>
            <a:off x="1231424" y="1881647"/>
            <a:ext cx="9513252" cy="38384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F14E5A-E623-C346-9E3F-DE12DC555702}"/>
              </a:ext>
            </a:extLst>
          </p:cNvPr>
          <p:cNvSpPr txBox="1"/>
          <p:nvPr/>
        </p:nvSpPr>
        <p:spPr>
          <a:xfrm>
            <a:off x="969484" y="4886202"/>
            <a:ext cx="316461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A physical block can be shared by different sequences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4CCC2-BD33-7C1C-6EC1-BB7DC98609FE}"/>
              </a:ext>
            </a:extLst>
          </p:cNvPr>
          <p:cNvSpPr txBox="1"/>
          <p:nvPr/>
        </p:nvSpPr>
        <p:spPr>
          <a:xfrm>
            <a:off x="8271219" y="637011"/>
            <a:ext cx="383631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Each physical block has a </a:t>
            </a:r>
            <a:r>
              <a:rPr lang="en-US" sz="2400" b="1" dirty="0"/>
              <a:t>reference count</a:t>
            </a:r>
            <a:r>
              <a:rPr lang="en-US" sz="2400" dirty="0"/>
              <a:t> to track shared use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EC5B0A-C6B1-4364-E275-E5B9E57F6C07}"/>
              </a:ext>
            </a:extLst>
          </p:cNvPr>
          <p:cNvCxnSpPr/>
          <p:nvPr/>
        </p:nvCxnSpPr>
        <p:spPr>
          <a:xfrm flipV="1">
            <a:off x="8361680" y="1798320"/>
            <a:ext cx="416560" cy="528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FA7802-9B57-92E5-2EF8-EC8F2B97F6F4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134102" y="5129943"/>
            <a:ext cx="959485" cy="356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06B25F-3620-053A-BE46-6533F9B0175F}"/>
              </a:ext>
            </a:extLst>
          </p:cNvPr>
          <p:cNvCxnSpPr>
            <a:cxnSpLocks/>
          </p:cNvCxnSpPr>
          <p:nvPr/>
        </p:nvCxnSpPr>
        <p:spPr>
          <a:xfrm flipH="1" flipV="1">
            <a:off x="4010140" y="2181340"/>
            <a:ext cx="1201940" cy="927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554BE8C-1B3F-79AA-D45D-44D0EFDFCCFC}"/>
              </a:ext>
            </a:extLst>
          </p:cNvPr>
          <p:cNvSpPr txBox="1"/>
          <p:nvPr/>
        </p:nvSpPr>
        <p:spPr>
          <a:xfrm>
            <a:off x="0" y="1376496"/>
            <a:ext cx="4263528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Duplicated only when modified</a:t>
            </a:r>
            <a:endParaRPr lang="he-IL" sz="2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E60B4F-E651-DAEA-9B06-D11ED320E561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2DBF60-772A-7D3B-54C5-8D5741C0AD62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7CFC81-71C1-9A46-6664-28BC00DB80D9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8F2227-349F-5D38-6ABA-B04BC21901A1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299E50-842C-1513-650F-ABA8B8D990E6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49429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73CE-7EC5-5CFA-571B-5802489A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 Example</a:t>
            </a:r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39BED-FFC6-FA76-1E88-523E9DEC67B7}"/>
              </a:ext>
            </a:extLst>
          </p:cNvPr>
          <p:cNvSpPr txBox="1"/>
          <p:nvPr/>
        </p:nvSpPr>
        <p:spPr>
          <a:xfrm>
            <a:off x="619760" y="2377440"/>
            <a:ext cx="21336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Beam candidate 0</a:t>
            </a: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4588F-F8D9-753F-26AB-0974BF9245C0}"/>
              </a:ext>
            </a:extLst>
          </p:cNvPr>
          <p:cNvSpPr txBox="1"/>
          <p:nvPr/>
        </p:nvSpPr>
        <p:spPr>
          <a:xfrm>
            <a:off x="640080" y="3352800"/>
            <a:ext cx="21336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Beam candidate 1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990B3-64E1-83C8-8D81-7E33A0B9DF48}"/>
              </a:ext>
            </a:extLst>
          </p:cNvPr>
          <p:cNvSpPr txBox="1"/>
          <p:nvPr/>
        </p:nvSpPr>
        <p:spPr>
          <a:xfrm>
            <a:off x="619760" y="4439920"/>
            <a:ext cx="21336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Beam candidate 2</a:t>
            </a:r>
            <a:endParaRPr lang="he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889EE-629D-3E5C-5743-EEC1F77F3D18}"/>
              </a:ext>
            </a:extLst>
          </p:cNvPr>
          <p:cNvSpPr txBox="1"/>
          <p:nvPr/>
        </p:nvSpPr>
        <p:spPr>
          <a:xfrm>
            <a:off x="629920" y="5709920"/>
            <a:ext cx="21336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Beam candidate 3</a:t>
            </a:r>
            <a:endParaRPr lang="he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AA7F7-AD70-D5FD-6890-B7B87076C21D}"/>
              </a:ext>
            </a:extLst>
          </p:cNvPr>
          <p:cNvSpPr/>
          <p:nvPr/>
        </p:nvSpPr>
        <p:spPr>
          <a:xfrm>
            <a:off x="3149600" y="3169920"/>
            <a:ext cx="1158240" cy="78232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0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34C0E0-56DF-F89F-DB9C-2285F8291A38}"/>
              </a:ext>
            </a:extLst>
          </p:cNvPr>
          <p:cNvSpPr/>
          <p:nvPr/>
        </p:nvSpPr>
        <p:spPr>
          <a:xfrm>
            <a:off x="4724400" y="3169920"/>
            <a:ext cx="1158240" cy="78232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1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151A36-73A9-396B-88BA-507C46BBC785}"/>
              </a:ext>
            </a:extLst>
          </p:cNvPr>
          <p:cNvSpPr/>
          <p:nvPr/>
        </p:nvSpPr>
        <p:spPr>
          <a:xfrm>
            <a:off x="6299200" y="3166110"/>
            <a:ext cx="1158240" cy="78232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3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F74D6D-176C-24B7-9928-1B337E4B263D}"/>
              </a:ext>
            </a:extLst>
          </p:cNvPr>
          <p:cNvSpPr/>
          <p:nvPr/>
        </p:nvSpPr>
        <p:spPr>
          <a:xfrm>
            <a:off x="7924800" y="3166110"/>
            <a:ext cx="1158240" cy="78232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6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CE7D29-7EC4-4828-EC50-C7F151D44816}"/>
              </a:ext>
            </a:extLst>
          </p:cNvPr>
          <p:cNvSpPr/>
          <p:nvPr/>
        </p:nvSpPr>
        <p:spPr>
          <a:xfrm>
            <a:off x="9550400" y="3166110"/>
            <a:ext cx="1158240" cy="782320"/>
          </a:xfrm>
          <a:prstGeom prst="rect">
            <a:avLst/>
          </a:prstGeom>
          <a:solidFill>
            <a:srgbClr val="F8F3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10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6BD1A1-489E-0E6B-ADB8-BB6328FDEF65}"/>
              </a:ext>
            </a:extLst>
          </p:cNvPr>
          <p:cNvSpPr/>
          <p:nvPr/>
        </p:nvSpPr>
        <p:spPr>
          <a:xfrm>
            <a:off x="7924800" y="2123440"/>
            <a:ext cx="1158240" cy="7823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5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5DCF6A-2954-EFA8-5A1E-04EF045716D6}"/>
              </a:ext>
            </a:extLst>
          </p:cNvPr>
          <p:cNvSpPr/>
          <p:nvPr/>
        </p:nvSpPr>
        <p:spPr>
          <a:xfrm>
            <a:off x="9550400" y="2113280"/>
            <a:ext cx="1158240" cy="782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9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969EF6-88E6-B12F-F288-50CD02662719}"/>
              </a:ext>
            </a:extLst>
          </p:cNvPr>
          <p:cNvSpPr/>
          <p:nvPr/>
        </p:nvSpPr>
        <p:spPr>
          <a:xfrm>
            <a:off x="7924800" y="4175760"/>
            <a:ext cx="1158240" cy="782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7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64965F-9415-60C0-A6D3-3A4DD56AA3EB}"/>
              </a:ext>
            </a:extLst>
          </p:cNvPr>
          <p:cNvSpPr/>
          <p:nvPr/>
        </p:nvSpPr>
        <p:spPr>
          <a:xfrm>
            <a:off x="9550400" y="4172743"/>
            <a:ext cx="1158240" cy="782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11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B59561-E516-E60D-1FB4-D828C99920AF}"/>
              </a:ext>
            </a:extLst>
          </p:cNvPr>
          <p:cNvSpPr/>
          <p:nvPr/>
        </p:nvSpPr>
        <p:spPr>
          <a:xfrm>
            <a:off x="4724400" y="5201920"/>
            <a:ext cx="1158240" cy="782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2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7DF2AF-916C-C168-D78B-FCBCA4028081}"/>
              </a:ext>
            </a:extLst>
          </p:cNvPr>
          <p:cNvSpPr/>
          <p:nvPr/>
        </p:nvSpPr>
        <p:spPr>
          <a:xfrm>
            <a:off x="6299200" y="5201285"/>
            <a:ext cx="1158240" cy="782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4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CA720E-25D4-56E8-43E9-52CDFD23E9FF}"/>
              </a:ext>
            </a:extLst>
          </p:cNvPr>
          <p:cNvSpPr/>
          <p:nvPr/>
        </p:nvSpPr>
        <p:spPr>
          <a:xfrm>
            <a:off x="7924800" y="5201285"/>
            <a:ext cx="1158240" cy="782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8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960A9D-B0CE-5B1D-2C60-5FC6868D5DBF}"/>
              </a:ext>
            </a:extLst>
          </p:cNvPr>
          <p:cNvSpPr/>
          <p:nvPr/>
        </p:nvSpPr>
        <p:spPr>
          <a:xfrm>
            <a:off x="9550400" y="5201285"/>
            <a:ext cx="1158240" cy="782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Block 12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5C5AE50-1AB0-193D-5F31-3321E5B595BC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4307840" y="3561080"/>
            <a:ext cx="41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C83F727-8B1B-A9D1-6377-CD5B08EF9D3B}"/>
              </a:ext>
            </a:extLst>
          </p:cNvPr>
          <p:cNvCxnSpPr>
            <a:cxnSpLocks/>
          </p:cNvCxnSpPr>
          <p:nvPr/>
        </p:nvCxnSpPr>
        <p:spPr>
          <a:xfrm>
            <a:off x="4467225" y="3552825"/>
            <a:ext cx="0" cy="2047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F4DEC7-C98D-1482-D96D-F338E9C61258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4462463" y="5593080"/>
            <a:ext cx="2619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152068B-C576-2D3B-619E-ECF79CDAA524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5882640" y="5592445"/>
            <a:ext cx="416560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2641B82-F5EB-3BF1-D165-8D0E222F5860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7457440" y="5592445"/>
            <a:ext cx="4673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9D5A39A-5CA0-9840-BBFF-E60F776F3758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9315450" y="5592445"/>
            <a:ext cx="234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481F27D-3664-104E-5E2E-371F32265171}"/>
              </a:ext>
            </a:extLst>
          </p:cNvPr>
          <p:cNvCxnSpPr>
            <a:cxnSpLocks/>
          </p:cNvCxnSpPr>
          <p:nvPr/>
        </p:nvCxnSpPr>
        <p:spPr>
          <a:xfrm>
            <a:off x="9324975" y="4576763"/>
            <a:ext cx="0" cy="10072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3B3633F-6687-CEE6-7CB3-F280FCBF7301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 flipV="1">
            <a:off x="9083040" y="4563903"/>
            <a:ext cx="467360" cy="3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EABEF49-7A5E-2386-53B8-07352F384B2E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9083040" y="3557270"/>
            <a:ext cx="4673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9049871-D6D2-9A2D-26BC-40912537933F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9334500" y="2504440"/>
            <a:ext cx="215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6944C3A-39C2-836E-D8FD-E9688C2D8F58}"/>
              </a:ext>
            </a:extLst>
          </p:cNvPr>
          <p:cNvCxnSpPr>
            <a:cxnSpLocks/>
          </p:cNvCxnSpPr>
          <p:nvPr/>
        </p:nvCxnSpPr>
        <p:spPr>
          <a:xfrm>
            <a:off x="9340850" y="2514600"/>
            <a:ext cx="0" cy="1028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5BFEC37-C7EC-75B4-FE90-B0197BBD3ABE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5882640" y="3557270"/>
            <a:ext cx="416560" cy="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2AE4D13-7074-DCBD-3B57-0EAEB6E4262D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457440" y="3557270"/>
            <a:ext cx="4673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7E28ACD-A7BF-FCB2-01DB-6D38A66A7155}"/>
              </a:ext>
            </a:extLst>
          </p:cNvPr>
          <p:cNvCxnSpPr>
            <a:cxnSpLocks/>
          </p:cNvCxnSpPr>
          <p:nvPr/>
        </p:nvCxnSpPr>
        <p:spPr>
          <a:xfrm>
            <a:off x="7670800" y="2505075"/>
            <a:ext cx="0" cy="2062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0363E0B-83E3-96F3-D91D-D7E4E2D0255C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7664450" y="2514600"/>
            <a:ext cx="260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A9EF236-7930-E8D6-75AC-B26A696FC25B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7672388" y="4566920"/>
            <a:ext cx="252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Multiplication Sign 88">
            <a:extLst>
              <a:ext uri="{FF2B5EF4-FFF2-40B4-BE49-F238E27FC236}">
                <a16:creationId xmlns:a16="http://schemas.microsoft.com/office/drawing/2014/main" id="{9C3D053C-7AD9-6BF1-12C6-5A4CF89F40B9}"/>
              </a:ext>
            </a:extLst>
          </p:cNvPr>
          <p:cNvSpPr/>
          <p:nvPr/>
        </p:nvSpPr>
        <p:spPr>
          <a:xfrm>
            <a:off x="5425440" y="4907280"/>
            <a:ext cx="741680" cy="680720"/>
          </a:xfrm>
          <a:prstGeom prst="mathMultiply">
            <a:avLst/>
          </a:prstGeom>
          <a:solidFill>
            <a:srgbClr val="FF8585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0" name="Multiplication Sign 89">
            <a:extLst>
              <a:ext uri="{FF2B5EF4-FFF2-40B4-BE49-F238E27FC236}">
                <a16:creationId xmlns:a16="http://schemas.microsoft.com/office/drawing/2014/main" id="{73572A08-690D-269E-6979-9CFB985D79EA}"/>
              </a:ext>
            </a:extLst>
          </p:cNvPr>
          <p:cNvSpPr/>
          <p:nvPr/>
        </p:nvSpPr>
        <p:spPr>
          <a:xfrm>
            <a:off x="6959600" y="4886960"/>
            <a:ext cx="741680" cy="680720"/>
          </a:xfrm>
          <a:prstGeom prst="mathMultiply">
            <a:avLst/>
          </a:prstGeom>
          <a:solidFill>
            <a:srgbClr val="FF8585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1" name="Multiplication Sign 90">
            <a:extLst>
              <a:ext uri="{FF2B5EF4-FFF2-40B4-BE49-F238E27FC236}">
                <a16:creationId xmlns:a16="http://schemas.microsoft.com/office/drawing/2014/main" id="{43B67E63-BDC1-4DD8-E684-877674F5B4DB}"/>
              </a:ext>
            </a:extLst>
          </p:cNvPr>
          <p:cNvSpPr/>
          <p:nvPr/>
        </p:nvSpPr>
        <p:spPr>
          <a:xfrm>
            <a:off x="8615680" y="4927600"/>
            <a:ext cx="741680" cy="680720"/>
          </a:xfrm>
          <a:prstGeom prst="mathMultiply">
            <a:avLst/>
          </a:prstGeom>
          <a:solidFill>
            <a:srgbClr val="FF8585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2" name="Multiplication Sign 91">
            <a:extLst>
              <a:ext uri="{FF2B5EF4-FFF2-40B4-BE49-F238E27FC236}">
                <a16:creationId xmlns:a16="http://schemas.microsoft.com/office/drawing/2014/main" id="{0F27A59D-2387-89B9-90B7-5C7525B274E7}"/>
              </a:ext>
            </a:extLst>
          </p:cNvPr>
          <p:cNvSpPr/>
          <p:nvPr/>
        </p:nvSpPr>
        <p:spPr>
          <a:xfrm>
            <a:off x="8656320" y="1849120"/>
            <a:ext cx="741680" cy="680720"/>
          </a:xfrm>
          <a:prstGeom prst="mathMultiply">
            <a:avLst/>
          </a:prstGeom>
          <a:solidFill>
            <a:srgbClr val="FF8585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C56140-9EFB-7E38-C32D-44364C677B45}"/>
              </a:ext>
            </a:extLst>
          </p:cNvPr>
          <p:cNvSpPr txBox="1"/>
          <p:nvPr/>
        </p:nvSpPr>
        <p:spPr>
          <a:xfrm>
            <a:off x="6907576" y="729734"/>
            <a:ext cx="517964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Copy-on-write</a:t>
            </a:r>
            <a:r>
              <a:rPr lang="en-US" sz="2400" dirty="0"/>
              <a:t> occurs only when a shared block is modified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5DE052-494C-CE2B-60EB-B45BD2D071B1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4476750" y="1145233"/>
            <a:ext cx="2430826" cy="24171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5B06D27-C0D8-C92B-AC23-AC5EDCAFF98F}"/>
              </a:ext>
            </a:extLst>
          </p:cNvPr>
          <p:cNvCxnSpPr>
            <a:cxnSpLocks/>
          </p:cNvCxnSpPr>
          <p:nvPr/>
        </p:nvCxnSpPr>
        <p:spPr>
          <a:xfrm flipV="1">
            <a:off x="7648575" y="1390650"/>
            <a:ext cx="1333500" cy="215265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F5A6955-E9E8-8590-B84D-2EBB98965BE0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62F704-746C-2042-78B3-22DEE9DE32B5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5FA552-62B4-D643-2259-6E5FCD76FCF9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001488-3A0E-02E9-7517-D587CADBDCCE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107DEB-AA8A-EA85-4B8D-28059C69CA36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8752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89" grpId="0" animBg="1"/>
      <p:bldP spid="90" grpId="0" animBg="1"/>
      <p:bldP spid="91" grpId="0" animBg="1"/>
      <p:bldP spid="92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22F5-7F41-C688-B07E-7F0775D49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Prefix</a:t>
            </a:r>
            <a:endParaRPr lang="he-I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7A3E77-C5F0-FB0C-94BF-76F0E82CC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combined with the input to form the full prompt.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A16EA-3466-6FC4-4D98-4993710E6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CE292C-C254-71F9-DD03-C2B1EDD16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13" y="1952547"/>
            <a:ext cx="6788323" cy="11542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AD9628-B1E5-596C-DE1B-36D7915CD7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963" b="16258"/>
          <a:stretch>
            <a:fillRect/>
          </a:stretch>
        </p:blipFill>
        <p:spPr>
          <a:xfrm>
            <a:off x="480441" y="3199879"/>
            <a:ext cx="7487875" cy="4802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FBE517-5AF7-8828-0A1F-E3BA94E64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96" y="4211205"/>
            <a:ext cx="6631774" cy="10989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82DA04-9111-9CC6-8070-8A9E86956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0522" y="5418869"/>
            <a:ext cx="8248160" cy="530239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B30CE0-30E0-F64D-F949-A69DFF20F1A5}"/>
              </a:ext>
            </a:extLst>
          </p:cNvPr>
          <p:cNvSpPr/>
          <p:nvPr/>
        </p:nvSpPr>
        <p:spPr>
          <a:xfrm>
            <a:off x="663388" y="2102601"/>
            <a:ext cx="6123002" cy="486363"/>
          </a:xfrm>
          <a:prstGeom prst="roundRect">
            <a:avLst/>
          </a:prstGeom>
          <a:noFill/>
          <a:ln>
            <a:solidFill>
              <a:srgbClr val="F8F3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E2B26C-566E-AA6E-A946-CEFD8D059473}"/>
              </a:ext>
            </a:extLst>
          </p:cNvPr>
          <p:cNvSpPr txBox="1"/>
          <p:nvPr/>
        </p:nvSpPr>
        <p:spPr>
          <a:xfrm>
            <a:off x="8084654" y="1367093"/>
            <a:ext cx="31856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Think on the shared</a:t>
            </a:r>
          </a:p>
          <a:p>
            <a:r>
              <a:rPr lang="en-US" sz="2400" dirty="0"/>
              <a:t> prefix like </a:t>
            </a:r>
            <a:r>
              <a:rPr lang="en-US" sz="2400" dirty="0" err="1"/>
              <a:t>libc</a:t>
            </a:r>
            <a:endParaRPr lang="en-US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9AEA5E-E0DF-7947-7692-AE2552786037}"/>
              </a:ext>
            </a:extLst>
          </p:cNvPr>
          <p:cNvCxnSpPr>
            <a:cxnSpLocks/>
          </p:cNvCxnSpPr>
          <p:nvPr/>
        </p:nvCxnSpPr>
        <p:spPr>
          <a:xfrm flipV="1">
            <a:off x="8713694" y="2225407"/>
            <a:ext cx="518441" cy="2149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1175750-31CA-CF80-447A-EE1A777B7E86}"/>
              </a:ext>
            </a:extLst>
          </p:cNvPr>
          <p:cNvSpPr txBox="1"/>
          <p:nvPr/>
        </p:nvSpPr>
        <p:spPr>
          <a:xfrm>
            <a:off x="312576" y="4720864"/>
            <a:ext cx="3146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Only the task-specific</a:t>
            </a:r>
          </a:p>
          <a:p>
            <a:r>
              <a:rPr lang="en-US" sz="2400" dirty="0"/>
              <a:t> part recomputes</a:t>
            </a:r>
            <a:endParaRPr lang="he-IL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769ED3-AA98-40D9-949F-4B15D522E3C9}"/>
              </a:ext>
            </a:extLst>
          </p:cNvPr>
          <p:cNvSpPr/>
          <p:nvPr/>
        </p:nvSpPr>
        <p:spPr>
          <a:xfrm>
            <a:off x="5057282" y="4359223"/>
            <a:ext cx="6123002" cy="486363"/>
          </a:xfrm>
          <a:prstGeom prst="roundRect">
            <a:avLst/>
          </a:prstGeom>
          <a:noFill/>
          <a:ln>
            <a:solidFill>
              <a:srgbClr val="F8F3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B30C8B-A6D0-34DB-B28A-4F10D88FAD7A}"/>
              </a:ext>
            </a:extLst>
          </p:cNvPr>
          <p:cNvCxnSpPr>
            <a:cxnSpLocks/>
          </p:cNvCxnSpPr>
          <p:nvPr/>
        </p:nvCxnSpPr>
        <p:spPr>
          <a:xfrm flipV="1">
            <a:off x="7304183" y="1773716"/>
            <a:ext cx="848299" cy="718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4ECBF86-1918-D8BB-B3CC-0A2804875665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1B60D3-E3CE-51EB-BF8A-876E37CCB2D4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906291-9ACE-B4DA-81B6-E9FAD7ED4779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7C04E2-81DE-685B-5045-09DAE1AF174C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F6A3BB-1C8D-2D12-60A4-DA9C3706FE9E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892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24" grpId="0"/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4417E-25A5-8E43-3A26-B687A00C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CDAF-CF1E-8278-F174-64369533B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Orca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7B342-6A4D-610C-BA17-9C89FA5EEC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A memory management system for LLM inference efficiently allocate and reuse GPU memory, especially the KV cache</a:t>
                </a:r>
                <a:endParaRPr lang="he-IL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Orca (Oracle): assumes perfect knowledge of output lengths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Orca (Pow2): over-reserves output space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≤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Orca (Max): reserves full max sequence length (2048 tokens)</a:t>
                </a: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7B342-6A4D-610C-BA17-9C89FA5EEC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21" r="-1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4E399AD-FF00-AD3B-36ED-1E0B65714B75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0A7C6B-3CDF-714E-8DED-7E0C37CC0FEC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6FE597-50E6-7D45-D305-FAAA3DC0531A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52C1C-2DFA-06BC-3554-938A98744A03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A5C61E-7B46-D11C-C27B-F394F4420057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85775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016EB-9E90-760A-B5F6-9DA0FB43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Behavior at Scale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FB15C-F58D-B6A5-DE13-37A9337A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96427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↑ </a:t>
            </a:r>
            <a:r>
              <a:rPr lang="en-US" sz="2400" dirty="0"/>
              <a:t>Request rate  → </a:t>
            </a:r>
            <a:r>
              <a:rPr lang="en-US" sz="2400" b="1" dirty="0">
                <a:solidFill>
                  <a:schemeClr val="accent3"/>
                </a:solidFill>
              </a:rPr>
              <a:t>↑</a:t>
            </a:r>
            <a:r>
              <a:rPr lang="en-US" sz="2400" dirty="0"/>
              <a:t> Latency grows … </a:t>
            </a:r>
            <a:r>
              <a:rPr lang="en-US" sz="2400" b="1" dirty="0">
                <a:solidFill>
                  <a:schemeClr val="accent3"/>
                </a:solidFill>
              </a:rPr>
              <a:t>↑ ↑ ↑ </a:t>
            </a:r>
            <a:r>
              <a:rPr lang="en-US" sz="2400" dirty="0"/>
              <a:t>Latency grows</a:t>
            </a:r>
          </a:p>
          <a:p>
            <a:pPr marL="0" indent="0">
              <a:buNone/>
            </a:pPr>
            <a:endParaRPr lang="en-US" sz="2400" dirty="0"/>
          </a:p>
          <a:p>
            <a:endParaRPr lang="he-IL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4F3B8-036E-DB25-6102-55F1787F5C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94" r="96202" b="54360"/>
          <a:stretch>
            <a:fillRect/>
          </a:stretch>
        </p:blipFill>
        <p:spPr>
          <a:xfrm>
            <a:off x="2005071" y="2309337"/>
            <a:ext cx="1064725" cy="4024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7981AB-718B-D40F-5C2B-1012B5FB33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57" t="5730" r="32594" b="48817"/>
          <a:stretch>
            <a:fillRect/>
          </a:stretch>
        </p:blipFill>
        <p:spPr>
          <a:xfrm>
            <a:off x="3078694" y="2325928"/>
            <a:ext cx="7129277" cy="40075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12ECB1-9F2E-623A-2AA7-13E35BEFD75C}"/>
              </a:ext>
            </a:extLst>
          </p:cNvPr>
          <p:cNvSpPr txBox="1"/>
          <p:nvPr/>
        </p:nvSpPr>
        <p:spPr>
          <a:xfrm>
            <a:off x="10283883" y="3118227"/>
            <a:ext cx="1722922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Orca(Max)</a:t>
            </a:r>
          </a:p>
          <a:p>
            <a:r>
              <a:rPr lang="en-US" dirty="0">
                <a:solidFill>
                  <a:srgbClr val="FFC000"/>
                </a:solidFill>
              </a:rPr>
              <a:t>Orca(Pow2)</a:t>
            </a:r>
          </a:p>
          <a:p>
            <a:r>
              <a:rPr lang="en-US" dirty="0">
                <a:solidFill>
                  <a:srgbClr val="008000"/>
                </a:solidFill>
              </a:rPr>
              <a:t>Orca(Oracle)</a:t>
            </a:r>
          </a:p>
          <a:p>
            <a:r>
              <a:rPr lang="en-US" dirty="0" err="1">
                <a:solidFill>
                  <a:srgbClr val="0000FF"/>
                </a:solidFill>
              </a:rPr>
              <a:t>vLLM</a:t>
            </a:r>
            <a:endParaRPr lang="he-IL" dirty="0">
              <a:solidFill>
                <a:srgbClr val="0000FF"/>
              </a:solidFill>
            </a:endParaRPr>
          </a:p>
          <a:p>
            <a:endParaRPr lang="he-IL" dirty="0">
              <a:solidFill>
                <a:srgbClr val="0000FF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658AAA-A2ED-F27B-4577-73ED80EBF93A}"/>
              </a:ext>
            </a:extLst>
          </p:cNvPr>
          <p:cNvCxnSpPr>
            <a:cxnSpLocks/>
          </p:cNvCxnSpPr>
          <p:nvPr/>
        </p:nvCxnSpPr>
        <p:spPr>
          <a:xfrm>
            <a:off x="6155612" y="2754217"/>
            <a:ext cx="0" cy="17847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7079F3-9C1E-328B-F795-6E4634646AB3}"/>
              </a:ext>
            </a:extLst>
          </p:cNvPr>
          <p:cNvCxnSpPr>
            <a:cxnSpLocks/>
          </p:cNvCxnSpPr>
          <p:nvPr/>
        </p:nvCxnSpPr>
        <p:spPr>
          <a:xfrm>
            <a:off x="5514005" y="2776251"/>
            <a:ext cx="0" cy="17626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044C69A-1BE7-01E2-46C2-914411EC38E2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E5AF7B-D015-1512-F89E-6C4DCD8F4172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92DC69-4C01-18AC-2DD7-20CCFF1B8E51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2CB42B-D89A-AC79-585D-351AED80C62A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641B5C-F077-4259-5B1F-E45659424E03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19B708-502D-07F4-F101-8C821B2EC4E8}"/>
              </a:ext>
            </a:extLst>
          </p:cNvPr>
          <p:cNvSpPr/>
          <p:nvPr/>
        </p:nvSpPr>
        <p:spPr>
          <a:xfrm>
            <a:off x="4392384" y="5709945"/>
            <a:ext cx="517792" cy="4847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194665-E8BA-29E1-76FE-61CCDF1EA8BB}"/>
              </a:ext>
            </a:extLst>
          </p:cNvPr>
          <p:cNvCxnSpPr>
            <a:cxnSpLocks/>
          </p:cNvCxnSpPr>
          <p:nvPr/>
        </p:nvCxnSpPr>
        <p:spPr>
          <a:xfrm>
            <a:off x="6180463" y="3029639"/>
            <a:ext cx="3249975" cy="0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E4279EE-B0EC-5479-DD1C-C0E791E3E393}"/>
              </a:ext>
            </a:extLst>
          </p:cNvPr>
          <p:cNvCxnSpPr>
            <a:cxnSpLocks/>
          </p:cNvCxnSpPr>
          <p:nvPr/>
        </p:nvCxnSpPr>
        <p:spPr>
          <a:xfrm>
            <a:off x="4924540" y="3545595"/>
            <a:ext cx="4283725" cy="0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6FF7DA-C493-94E2-795F-1F1676EB9B6E}"/>
                  </a:ext>
                </a:extLst>
              </p:cNvPr>
              <p:cNvSpPr txBox="1"/>
              <p:nvPr/>
            </p:nvSpPr>
            <p:spPr>
              <a:xfrm>
                <a:off x="6219021" y="2711327"/>
                <a:ext cx="29367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dirty="0"/>
                        <m:t>2</m:t>
                      </m:r>
                      <m:r>
                        <m:rPr>
                          <m:nor/>
                        </m:rPr>
                        <a:rPr lang="en-US" sz="2000" b="1" dirty="0"/>
                        <m:t>.</m:t>
                      </m:r>
                      <m:r>
                        <m:rPr>
                          <m:nor/>
                        </m:rPr>
                        <a:rPr lang="en-US" sz="2000" b="1" dirty="0"/>
                        <m:t>2</m:t>
                      </m:r>
                      <m:r>
                        <m:rPr>
                          <m:nor/>
                        </m:rPr>
                        <a:rPr lang="en-US" sz="2000" b="1" dirty="0"/>
                        <m:t>× </m:t>
                      </m:r>
                      <m:r>
                        <m:rPr>
                          <m:nor/>
                        </m:rPr>
                        <a:rPr lang="en-US" sz="2000" b="1" dirty="0"/>
                        <m:t>higher</m:t>
                      </m:r>
                      <m:r>
                        <m:rPr>
                          <m:nor/>
                        </m:rPr>
                        <a:rPr lang="en-US" sz="2000" b="1" dirty="0"/>
                        <m:t> </m:t>
                      </m:r>
                      <m:r>
                        <m:rPr>
                          <m:nor/>
                        </m:rPr>
                        <a:rPr lang="en-US" sz="2000" b="1" dirty="0"/>
                        <m:t>request</m:t>
                      </m:r>
                      <m:r>
                        <m:rPr>
                          <m:nor/>
                        </m:rPr>
                        <a:rPr lang="en-US" sz="2000" b="1" dirty="0"/>
                        <m:t> </m:t>
                      </m:r>
                      <m:r>
                        <m:rPr>
                          <m:nor/>
                        </m:rPr>
                        <a:rPr lang="en-US" sz="2000" b="1" dirty="0"/>
                        <m:t>rates</m:t>
                      </m:r>
                    </m:oMath>
                  </m:oMathPara>
                </a14:m>
                <a:endParaRPr lang="he-IL" sz="2000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6FF7DA-C493-94E2-795F-1F1676EB9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021" y="2711327"/>
                <a:ext cx="2936701" cy="307777"/>
              </a:xfrm>
              <a:prstGeom prst="rect">
                <a:avLst/>
              </a:prstGeom>
              <a:blipFill>
                <a:blip r:embed="rId4"/>
                <a:stretch>
                  <a:fillRect l="-1245" r="-1245" b="-32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8E0B86E-E68E-17DE-31A1-000B516BACBE}"/>
                  </a:ext>
                </a:extLst>
              </p:cNvPr>
              <p:cNvSpPr txBox="1"/>
              <p:nvPr/>
            </p:nvSpPr>
            <p:spPr>
              <a:xfrm>
                <a:off x="6173117" y="3253077"/>
                <a:ext cx="29367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/>
                        <m:t>5</m:t>
                      </m:r>
                      <m:r>
                        <m:rPr>
                          <m:nor/>
                        </m:rPr>
                        <a:rPr lang="en-US" sz="2000" b="1" i="0" dirty="0" smtClean="0"/>
                        <m:t>.</m:t>
                      </m:r>
                      <m:r>
                        <m:rPr>
                          <m:nor/>
                        </m:rPr>
                        <a:rPr lang="en-US" sz="2000" b="1" i="0" dirty="0" smtClean="0"/>
                        <m:t>4</m:t>
                      </m:r>
                      <m:r>
                        <m:rPr>
                          <m:nor/>
                        </m:rPr>
                        <a:rPr lang="en-US" sz="2000" b="1" dirty="0"/>
                        <m:t>× </m:t>
                      </m:r>
                      <m:r>
                        <m:rPr>
                          <m:nor/>
                        </m:rPr>
                        <a:rPr lang="en-US" sz="2000" b="1" dirty="0"/>
                        <m:t>higher</m:t>
                      </m:r>
                      <m:r>
                        <m:rPr>
                          <m:nor/>
                        </m:rPr>
                        <a:rPr lang="en-US" sz="2000" b="1" dirty="0"/>
                        <m:t> </m:t>
                      </m:r>
                      <m:r>
                        <m:rPr>
                          <m:nor/>
                        </m:rPr>
                        <a:rPr lang="en-US" sz="2000" b="1" dirty="0"/>
                        <m:t>request</m:t>
                      </m:r>
                      <m:r>
                        <m:rPr>
                          <m:nor/>
                        </m:rPr>
                        <a:rPr lang="en-US" sz="2000" b="1" dirty="0"/>
                        <m:t> </m:t>
                      </m:r>
                      <m:r>
                        <m:rPr>
                          <m:nor/>
                        </m:rPr>
                        <a:rPr lang="en-US" sz="2000" b="1" dirty="0"/>
                        <m:t>rates</m:t>
                      </m:r>
                    </m:oMath>
                  </m:oMathPara>
                </a14:m>
                <a:endParaRPr lang="he-IL" sz="2000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8E0B86E-E68E-17DE-31A1-000B516BA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117" y="3253077"/>
                <a:ext cx="2936701" cy="307777"/>
              </a:xfrm>
              <a:prstGeom prst="rect">
                <a:avLst/>
              </a:prstGeom>
              <a:blipFill>
                <a:blip r:embed="rId5"/>
                <a:stretch>
                  <a:fillRect l="-1455" r="-1455" b="-32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85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5503-F928-8561-53AA-E42CCA12E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Sharing Efficiency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2961C-B9FE-4D32-6FFD-C312CEFDF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922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Parallel Sampling → all sequences reuse the same KV cache</a:t>
            </a:r>
          </a:p>
          <a:p>
            <a:pPr marL="0" indent="0">
              <a:buNone/>
            </a:pPr>
            <a:r>
              <a:rPr lang="en-US" dirty="0"/>
              <a:t>Beam Search → enables even greater KV cache sharing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26B920-CD29-5C7D-EC79-8BF21BE4FA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00" t="6004" r="32944"/>
          <a:stretch>
            <a:fillRect/>
          </a:stretch>
        </p:blipFill>
        <p:spPr>
          <a:xfrm>
            <a:off x="6006435" y="1324909"/>
            <a:ext cx="4514952" cy="51611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F603F2-BE3A-D01E-07BB-605FE6EE1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279"/>
          <a:stretch>
            <a:fillRect/>
          </a:stretch>
        </p:blipFill>
        <p:spPr>
          <a:xfrm>
            <a:off x="5324354" y="1334523"/>
            <a:ext cx="687376" cy="5427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DD2721-1678-C1DF-011C-5F92AAB23488}"/>
              </a:ext>
            </a:extLst>
          </p:cNvPr>
          <p:cNvSpPr txBox="1"/>
          <p:nvPr/>
        </p:nvSpPr>
        <p:spPr>
          <a:xfrm>
            <a:off x="10702509" y="3146760"/>
            <a:ext cx="1722922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Orca(Max)</a:t>
            </a:r>
          </a:p>
          <a:p>
            <a:r>
              <a:rPr lang="en-US" dirty="0">
                <a:solidFill>
                  <a:srgbClr val="FFC000"/>
                </a:solidFill>
              </a:rPr>
              <a:t>Orca(Pow2)</a:t>
            </a:r>
          </a:p>
          <a:p>
            <a:r>
              <a:rPr lang="en-US" dirty="0">
                <a:solidFill>
                  <a:srgbClr val="008000"/>
                </a:solidFill>
              </a:rPr>
              <a:t>Orca(Oracle)</a:t>
            </a:r>
          </a:p>
          <a:p>
            <a:r>
              <a:rPr lang="en-US" dirty="0" err="1">
                <a:solidFill>
                  <a:srgbClr val="0000FF"/>
                </a:solidFill>
              </a:rPr>
              <a:t>vLLM</a:t>
            </a:r>
            <a:endParaRPr lang="he-IL" dirty="0">
              <a:solidFill>
                <a:srgbClr val="0000FF"/>
              </a:solidFill>
            </a:endParaRPr>
          </a:p>
          <a:p>
            <a:endParaRPr lang="he-IL" dirty="0">
              <a:solidFill>
                <a:srgbClr val="0000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1E187E-D944-9ED8-C335-2C17744E09A6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DA103-2794-B725-7044-5412D4F248ED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AEED30-036A-7361-DA73-39E9181A76BF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FA2C0B-780F-D92E-43C3-333376538F9A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47E984-F0F7-EA27-10DD-45B7E082EC1B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046165-70D3-AE2E-E693-A47563A40BE7}"/>
              </a:ext>
            </a:extLst>
          </p:cNvPr>
          <p:cNvSpPr/>
          <p:nvPr/>
        </p:nvSpPr>
        <p:spPr>
          <a:xfrm>
            <a:off x="6198035" y="3313986"/>
            <a:ext cx="517792" cy="4847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396732-A28E-C769-84AD-D709B2A1B39A}"/>
              </a:ext>
            </a:extLst>
          </p:cNvPr>
          <p:cNvSpPr/>
          <p:nvPr/>
        </p:nvSpPr>
        <p:spPr>
          <a:xfrm>
            <a:off x="6457587" y="5885492"/>
            <a:ext cx="517792" cy="4847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52053B-6366-6418-DBBE-D19253D4E78C}"/>
              </a:ext>
            </a:extLst>
          </p:cNvPr>
          <p:cNvCxnSpPr>
            <a:cxnSpLocks/>
          </p:cNvCxnSpPr>
          <p:nvPr/>
        </p:nvCxnSpPr>
        <p:spPr>
          <a:xfrm>
            <a:off x="8883570" y="1551008"/>
            <a:ext cx="0" cy="11053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E4B155-A215-AEC2-4E1F-E778D0AFB8F7}"/>
              </a:ext>
            </a:extLst>
          </p:cNvPr>
          <p:cNvCxnSpPr>
            <a:cxnSpLocks/>
          </p:cNvCxnSpPr>
          <p:nvPr/>
        </p:nvCxnSpPr>
        <p:spPr>
          <a:xfrm>
            <a:off x="8196810" y="1552942"/>
            <a:ext cx="0" cy="11053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79930E-4304-EC48-CECB-467ABA03D7E1}"/>
              </a:ext>
            </a:extLst>
          </p:cNvPr>
          <p:cNvCxnSpPr>
            <a:cxnSpLocks/>
          </p:cNvCxnSpPr>
          <p:nvPr/>
        </p:nvCxnSpPr>
        <p:spPr>
          <a:xfrm>
            <a:off x="8399367" y="4272971"/>
            <a:ext cx="0" cy="11053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BE7D57-02A5-B1A3-AEBB-72927E2E1703}"/>
              </a:ext>
            </a:extLst>
          </p:cNvPr>
          <p:cNvCxnSpPr>
            <a:cxnSpLocks/>
          </p:cNvCxnSpPr>
          <p:nvPr/>
        </p:nvCxnSpPr>
        <p:spPr>
          <a:xfrm>
            <a:off x="7828351" y="4269118"/>
            <a:ext cx="0" cy="11053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136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7896C-F446-FD70-3D51-6CD9C276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Block Size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6DF74-40AE-3198-6D57-9CD7E972C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6012" cy="4593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Block size strongly affects </a:t>
            </a:r>
            <a:r>
              <a:rPr lang="en-US" sz="2400" b="1" dirty="0" err="1"/>
              <a:t>vLLM</a:t>
            </a:r>
            <a:r>
              <a:rPr lang="en-US" sz="2400" b="1" dirty="0"/>
              <a:t> performance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Too small → underutilized GPU parallelism</a:t>
            </a:r>
          </a:p>
          <a:p>
            <a:pPr marL="0" indent="0">
              <a:buNone/>
            </a:pPr>
            <a:r>
              <a:rPr lang="en-US" sz="2400" dirty="0"/>
              <a:t>Too large → internal fragmentation and reduced sharing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271102-98B9-AA41-210C-8239BE9FB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262" y="1772828"/>
            <a:ext cx="5554015" cy="42230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A737A282-B473-F94B-857B-5B3D40436BB0}"/>
              </a:ext>
            </a:extLst>
          </p:cNvPr>
          <p:cNvSpPr/>
          <p:nvPr/>
        </p:nvSpPr>
        <p:spPr>
          <a:xfrm>
            <a:off x="9535442" y="4566926"/>
            <a:ext cx="1398297" cy="746559"/>
          </a:xfrm>
          <a:prstGeom prst="ellipse">
            <a:avLst/>
          </a:prstGeom>
          <a:noFill/>
          <a:ln w="38100">
            <a:solidFill>
              <a:srgbClr val="F8F3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93003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E12A-E37D-2BF2-88C1-DB569F6EC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Alpaca Dataset Results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92A49-2119-297F-F7AA-8DD69C691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4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</a:t>
            </a:r>
            <a:r>
              <a:rPr lang="en-US" sz="2400" b="1" dirty="0"/>
              <a:t>OPT-175B</a:t>
            </a:r>
            <a:r>
              <a:rPr lang="en-US" sz="2400" dirty="0"/>
              <a:t> has </a:t>
            </a:r>
            <a:r>
              <a:rPr lang="en-US" sz="2400" b="1" dirty="0"/>
              <a:t>huge GPU memory</a:t>
            </a:r>
            <a:r>
              <a:rPr lang="en-US" sz="2400" dirty="0"/>
              <a:t>, and </a:t>
            </a:r>
            <a:r>
              <a:rPr lang="en-US" sz="2400" b="1" dirty="0"/>
              <a:t>Alpaca</a:t>
            </a:r>
            <a:r>
              <a:rPr lang="en-US" sz="2400" dirty="0"/>
              <a:t>’s sequences are </a:t>
            </a:r>
            <a:r>
              <a:rPr lang="en-US" sz="2400" b="1" dirty="0"/>
              <a:t>short</a:t>
            </a:r>
            <a:r>
              <a:rPr lang="en-US" sz="2400" dirty="0"/>
              <a:t>, making the system </a:t>
            </a:r>
            <a:r>
              <a:rPr lang="en-US" sz="2400" b="1" dirty="0"/>
              <a:t>compute-bound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D595B4-5D8B-BD41-FD6E-506AD0254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79" t="51261" r="-139" b="-505"/>
          <a:stretch>
            <a:fillRect/>
          </a:stretch>
        </p:blipFill>
        <p:spPr>
          <a:xfrm>
            <a:off x="3159887" y="2483030"/>
            <a:ext cx="6627179" cy="39573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AD28E5-773E-D2C7-ACDF-6C5E8DF74F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" t="51261" r="96758" b="-505"/>
          <a:stretch>
            <a:fillRect/>
          </a:stretch>
        </p:blipFill>
        <p:spPr>
          <a:xfrm>
            <a:off x="2503337" y="2496529"/>
            <a:ext cx="655634" cy="3957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BFE4CC-7FF4-027D-49AA-0E72F6161704}"/>
              </a:ext>
            </a:extLst>
          </p:cNvPr>
          <p:cNvSpPr txBox="1"/>
          <p:nvPr/>
        </p:nvSpPr>
        <p:spPr>
          <a:xfrm>
            <a:off x="9855538" y="3429000"/>
            <a:ext cx="1722922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Orca(Max)</a:t>
            </a:r>
          </a:p>
          <a:p>
            <a:r>
              <a:rPr lang="en-US" dirty="0">
                <a:solidFill>
                  <a:srgbClr val="FFC000"/>
                </a:solidFill>
              </a:rPr>
              <a:t>Orca(Pow2)</a:t>
            </a:r>
          </a:p>
          <a:p>
            <a:r>
              <a:rPr lang="en-US" dirty="0">
                <a:solidFill>
                  <a:srgbClr val="008000"/>
                </a:solidFill>
              </a:rPr>
              <a:t>Orca(Oracle)</a:t>
            </a:r>
          </a:p>
          <a:p>
            <a:r>
              <a:rPr lang="en-US" dirty="0" err="1">
                <a:solidFill>
                  <a:srgbClr val="0000FF"/>
                </a:solidFill>
              </a:rPr>
              <a:t>vLLM</a:t>
            </a:r>
            <a:endParaRPr lang="he-IL" dirty="0">
              <a:solidFill>
                <a:srgbClr val="0000FF"/>
              </a:solidFill>
            </a:endParaRPr>
          </a:p>
          <a:p>
            <a:endParaRPr lang="he-IL" dirty="0">
              <a:solidFill>
                <a:srgbClr val="0000FF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244E13-18C6-3267-76D3-C37ACAA402F3}"/>
              </a:ext>
            </a:extLst>
          </p:cNvPr>
          <p:cNvCxnSpPr>
            <a:cxnSpLocks/>
          </p:cNvCxnSpPr>
          <p:nvPr/>
        </p:nvCxnSpPr>
        <p:spPr>
          <a:xfrm>
            <a:off x="8662320" y="3201298"/>
            <a:ext cx="0" cy="16039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E9F3A8-7E7C-CC34-8961-536316779D03}"/>
              </a:ext>
            </a:extLst>
          </p:cNvPr>
          <p:cNvCxnSpPr>
            <a:cxnSpLocks/>
          </p:cNvCxnSpPr>
          <p:nvPr/>
        </p:nvCxnSpPr>
        <p:spPr>
          <a:xfrm>
            <a:off x="8157191" y="3198063"/>
            <a:ext cx="0" cy="160616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B47D5C5-C076-9C65-9230-B5121A75AB8A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37A40F-F883-2103-8024-7A1A31302BC0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4764B7-06E5-7122-E45E-8C07C058C4BB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7FB630-DC6B-3834-FFD1-57170200D060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2EC185-A110-B224-26CC-C84C1D7DFA47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6391A1-978A-8E13-8A2D-1136049F9811}"/>
              </a:ext>
            </a:extLst>
          </p:cNvPr>
          <p:cNvSpPr/>
          <p:nvPr/>
        </p:nvSpPr>
        <p:spPr>
          <a:xfrm>
            <a:off x="4392384" y="5733095"/>
            <a:ext cx="517792" cy="4847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3F6DEF0-FC0F-7118-4FD2-D01FD41C60F4}"/>
              </a:ext>
            </a:extLst>
          </p:cNvPr>
          <p:cNvCxnSpPr>
            <a:cxnSpLocks/>
          </p:cNvCxnSpPr>
          <p:nvPr/>
        </p:nvCxnSpPr>
        <p:spPr>
          <a:xfrm>
            <a:off x="8681013" y="3314102"/>
            <a:ext cx="307333" cy="0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7C606C-285F-C5B2-EE9C-70A29C7361E8}"/>
              </a:ext>
            </a:extLst>
          </p:cNvPr>
          <p:cNvCxnSpPr>
            <a:cxnSpLocks/>
          </p:cNvCxnSpPr>
          <p:nvPr/>
        </p:nvCxnSpPr>
        <p:spPr>
          <a:xfrm>
            <a:off x="8171727" y="3466502"/>
            <a:ext cx="760676" cy="0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53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73BE9-411A-ED86-A721-D960A3B69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Covered Today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27F57-93DB-C0FC-DD6E-EB84E2E9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Identify the challenges in memory allocation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Propose </a:t>
            </a:r>
            <a:r>
              <a:rPr lang="en-US" sz="2400" dirty="0" err="1"/>
              <a:t>PagedAttention</a:t>
            </a:r>
            <a:r>
              <a:rPr lang="en-US" sz="2400" dirty="0"/>
              <a:t>, an attention algorithm that operates on KV cache, which is inspired by the virtual memory and paging in OS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Design and implement </a:t>
            </a:r>
            <a:r>
              <a:rPr lang="en-US" sz="2400" dirty="0" err="1"/>
              <a:t>vLLM</a:t>
            </a:r>
            <a:r>
              <a:rPr lang="en-US" sz="2400" dirty="0"/>
              <a:t>, a distributed LLM serving engine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Evaluate </a:t>
            </a:r>
            <a:r>
              <a:rPr lang="en-US" sz="2400" dirty="0" err="1"/>
              <a:t>vLLM</a:t>
            </a:r>
            <a:r>
              <a:rPr lang="en-US" sz="2400" dirty="0"/>
              <a:t> on various scenarios and demonstrate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Outperforms previous state-of-the-art solutions</a:t>
            </a:r>
            <a:endParaRPr lang="he-IL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076A2-6148-5DF2-AC52-D522D4864FCC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B76E07-DFDA-64D9-9575-E8EEA169C7D4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65B4F1-25DD-D10B-5DDA-954AAF2ACDC1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9D6C4-264E-700C-DADD-83848EED9A15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819A7-DAEE-5572-9BDF-D06EEBC8E676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5948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4EE0A-58C2-C928-4A00-E3CA651F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209B-B2BD-0967-0128-9E4CC483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Takeaways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C19A8-81F1-7B68-CD50-A10D01A48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35588" cy="4871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Reduces memory fragmentation with paging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Reduces memory usage with KV block sharing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Enables batching of more requests, increasing the throughput of LLM inference</a:t>
            </a:r>
          </a:p>
          <a:p>
            <a:pPr marL="0" indent="0">
              <a:buNone/>
            </a:pPr>
            <a:endParaRPr lang="he-IL" sz="2400" dirty="0"/>
          </a:p>
          <a:p>
            <a:pPr marL="0" indent="0">
              <a:buNone/>
            </a:pPr>
            <a:r>
              <a:rPr lang="en-US" sz="2400" dirty="0" err="1"/>
              <a:t>vLLM</a:t>
            </a:r>
            <a:r>
              <a:rPr lang="en-US" sz="2400" dirty="0"/>
              <a:t> achieves 2-4× throughput improvements over the  state-of-the-art systems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96478D-63FA-59AE-E236-CD982158DA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309" r="4683"/>
          <a:stretch>
            <a:fillRect/>
          </a:stretch>
        </p:blipFill>
        <p:spPr>
          <a:xfrm>
            <a:off x="7587896" y="1326776"/>
            <a:ext cx="4505493" cy="505176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C22E47-274C-49F0-AE6E-0CE4B08D6690}"/>
              </a:ext>
            </a:extLst>
          </p:cNvPr>
          <p:cNvSpPr/>
          <p:nvPr/>
        </p:nvSpPr>
        <p:spPr>
          <a:xfrm>
            <a:off x="3181803" y="6419397"/>
            <a:ext cx="1038225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Problem</a:t>
            </a:r>
            <a:endParaRPr lang="he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AA8DDC-5E74-9965-825F-79582EE6E5F6}"/>
              </a:ext>
            </a:extLst>
          </p:cNvPr>
          <p:cNvSpPr/>
          <p:nvPr/>
        </p:nvSpPr>
        <p:spPr>
          <a:xfrm>
            <a:off x="4219552" y="6419397"/>
            <a:ext cx="1391127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Background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6D707D-DA55-2FD6-CD89-69B319FF3B5D}"/>
              </a:ext>
            </a:extLst>
          </p:cNvPr>
          <p:cNvSpPr/>
          <p:nvPr/>
        </p:nvSpPr>
        <p:spPr>
          <a:xfrm>
            <a:off x="5600677" y="6419850"/>
            <a:ext cx="1019175" cy="4053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Solution</a:t>
            </a:r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5BDA06-49E2-5DA0-0C64-175570C23F46}"/>
              </a:ext>
            </a:extLst>
          </p:cNvPr>
          <p:cNvSpPr/>
          <p:nvPr/>
        </p:nvSpPr>
        <p:spPr>
          <a:xfrm>
            <a:off x="6617153" y="6417492"/>
            <a:ext cx="1238251" cy="40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0AF99C-507E-41B8-4FD2-8E4C326A2D05}"/>
              </a:ext>
            </a:extLst>
          </p:cNvPr>
          <p:cNvSpPr/>
          <p:nvPr/>
        </p:nvSpPr>
        <p:spPr>
          <a:xfrm>
            <a:off x="7849530" y="6417079"/>
            <a:ext cx="1245394" cy="4095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70252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9393</TotalTime>
  <Words>1675</Words>
  <Application>Microsoft Office PowerPoint</Application>
  <PresentationFormat>Widescreen</PresentationFormat>
  <Paragraphs>588</Paragraphs>
  <Slides>39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Assistant</vt:lpstr>
      <vt:lpstr>Cambria Math</vt:lpstr>
      <vt:lpstr>Office Theme</vt:lpstr>
      <vt:lpstr>נ.נ. בתכנון משולב חומרה/תוכנה  אביב – 00460882 תרגול  4 – זיכרון וירטואלי  </vt:lpstr>
      <vt:lpstr>Efficient Memory Management for Large Language Model Serving with PagedAttention</vt:lpstr>
      <vt:lpstr>Agenda</vt:lpstr>
      <vt:lpstr>The Evolution of Large Language Models</vt:lpstr>
      <vt:lpstr>Today’s Solution</vt:lpstr>
      <vt:lpstr>Where does the GPU Memory Go?</vt:lpstr>
      <vt:lpstr>Where the GPU Memory Goes</vt:lpstr>
      <vt:lpstr>How Existing Systems Operate</vt:lpstr>
      <vt:lpstr>How Existing Systems Operate</vt:lpstr>
      <vt:lpstr>How Existing Systems Operate</vt:lpstr>
      <vt:lpstr>How Existing Systems Operate</vt:lpstr>
      <vt:lpstr>How Existing Systems Operate</vt:lpstr>
      <vt:lpstr>Existing Approach - Inefficient Memory Use</vt:lpstr>
      <vt:lpstr>Attention</vt:lpstr>
      <vt:lpstr>Attention</vt:lpstr>
      <vt:lpstr>Attention</vt:lpstr>
      <vt:lpstr>Attention</vt:lpstr>
      <vt:lpstr>Autoregressive Generation Phase</vt:lpstr>
      <vt:lpstr>The KV Cache Problem</vt:lpstr>
      <vt:lpstr>Current System Are inefficient</vt:lpstr>
      <vt:lpstr>Bringing OS Concepts to LLMs</vt:lpstr>
      <vt:lpstr>The Solution - PagedAttention</vt:lpstr>
      <vt:lpstr>The Solution - PagedAttention</vt:lpstr>
      <vt:lpstr>The Solution - PagedAttention</vt:lpstr>
      <vt:lpstr>PagedAttention and the vLLM Architecture</vt:lpstr>
      <vt:lpstr>PagedAttention in Action</vt:lpstr>
      <vt:lpstr>PagedAttention in Action</vt:lpstr>
      <vt:lpstr>PagedAttention in Action</vt:lpstr>
      <vt:lpstr>Parallel Decoding with Shared GPU Memory</vt:lpstr>
      <vt:lpstr>Parallel Decoding Example</vt:lpstr>
      <vt:lpstr>Beam Search Example</vt:lpstr>
      <vt:lpstr>Shared Prefix</vt:lpstr>
      <vt:lpstr>Evaluation - Orca</vt:lpstr>
      <vt:lpstr>System Behavior at Scale</vt:lpstr>
      <vt:lpstr>Memory Sharing Efficiency</vt:lpstr>
      <vt:lpstr>Impact of Block Size </vt:lpstr>
      <vt:lpstr>Alpaca Dataset Results</vt:lpstr>
      <vt:lpstr>What We Covered Today</vt:lpstr>
      <vt:lpstr>Main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Ohad Eitan</dc:creator>
  <cp:lastModifiedBy>Ohad Eitan</cp:lastModifiedBy>
  <cp:revision>1</cp:revision>
  <dcterms:created xsi:type="dcterms:W3CDTF">2025-10-30T15:17:41Z</dcterms:created>
  <dcterms:modified xsi:type="dcterms:W3CDTF">2026-04-10T09:56:18Z</dcterms:modified>
</cp:coreProperties>
</file>