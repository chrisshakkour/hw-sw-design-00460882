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753" r:id="rId2"/>
  </p:sldMasterIdLst>
  <p:notesMasterIdLst>
    <p:notesMasterId r:id="rId69"/>
  </p:notesMasterIdLst>
  <p:handoutMasterIdLst>
    <p:handoutMasterId r:id="rId70"/>
  </p:handoutMasterIdLst>
  <p:sldIdLst>
    <p:sldId id="541" r:id="rId3"/>
    <p:sldId id="542" r:id="rId4"/>
    <p:sldId id="583" r:id="rId5"/>
    <p:sldId id="582" r:id="rId6"/>
    <p:sldId id="544" r:id="rId7"/>
    <p:sldId id="545" r:id="rId8"/>
    <p:sldId id="547" r:id="rId9"/>
    <p:sldId id="548" r:id="rId10"/>
    <p:sldId id="600" r:id="rId11"/>
    <p:sldId id="580" r:id="rId12"/>
    <p:sldId id="601" r:id="rId13"/>
    <p:sldId id="551" r:id="rId14"/>
    <p:sldId id="549" r:id="rId15"/>
    <p:sldId id="550" r:id="rId16"/>
    <p:sldId id="584" r:id="rId17"/>
    <p:sldId id="553" r:id="rId18"/>
    <p:sldId id="555" r:id="rId19"/>
    <p:sldId id="556" r:id="rId20"/>
    <p:sldId id="552" r:id="rId21"/>
    <p:sldId id="554" r:id="rId22"/>
    <p:sldId id="602" r:id="rId23"/>
    <p:sldId id="603" r:id="rId24"/>
    <p:sldId id="605" r:id="rId25"/>
    <p:sldId id="604" r:id="rId26"/>
    <p:sldId id="557" r:id="rId27"/>
    <p:sldId id="558" r:id="rId28"/>
    <p:sldId id="559" r:id="rId29"/>
    <p:sldId id="560" r:id="rId30"/>
    <p:sldId id="562" r:id="rId31"/>
    <p:sldId id="563" r:id="rId32"/>
    <p:sldId id="564" r:id="rId33"/>
    <p:sldId id="585" r:id="rId34"/>
    <p:sldId id="565" r:id="rId35"/>
    <p:sldId id="566" r:id="rId36"/>
    <p:sldId id="567" r:id="rId37"/>
    <p:sldId id="581" r:id="rId38"/>
    <p:sldId id="568" r:id="rId39"/>
    <p:sldId id="569" r:id="rId40"/>
    <p:sldId id="570" r:id="rId41"/>
    <p:sldId id="588" r:id="rId42"/>
    <p:sldId id="607" r:id="rId43"/>
    <p:sldId id="589" r:id="rId44"/>
    <p:sldId id="590" r:id="rId45"/>
    <p:sldId id="608" r:id="rId46"/>
    <p:sldId id="591" r:id="rId47"/>
    <p:sldId id="592" r:id="rId48"/>
    <p:sldId id="609" r:id="rId49"/>
    <p:sldId id="610" r:id="rId50"/>
    <p:sldId id="576" r:id="rId51"/>
    <p:sldId id="598" r:id="rId52"/>
    <p:sldId id="594" r:id="rId53"/>
    <p:sldId id="595" r:id="rId54"/>
    <p:sldId id="611" r:id="rId55"/>
    <p:sldId id="612" r:id="rId56"/>
    <p:sldId id="597" r:id="rId57"/>
    <p:sldId id="613" r:id="rId58"/>
    <p:sldId id="614" r:id="rId59"/>
    <p:sldId id="615" r:id="rId60"/>
    <p:sldId id="616" r:id="rId61"/>
    <p:sldId id="617" r:id="rId62"/>
    <p:sldId id="618" r:id="rId63"/>
    <p:sldId id="619" r:id="rId64"/>
    <p:sldId id="620" r:id="rId65"/>
    <p:sldId id="621" r:id="rId66"/>
    <p:sldId id="622" r:id="rId67"/>
    <p:sldId id="606" r:id="rId68"/>
  </p:sldIdLst>
  <p:sldSz cx="9144000" cy="6858000" type="screen4x3"/>
  <p:notesSz cx="6985000" cy="9271000"/>
  <p:defaultTextStyle>
    <a:defPPr>
      <a:defRPr lang="en-US"/>
    </a:defPPr>
    <a:lvl1pPr algn="l" rtl="0" eaLnBrk="0" fontAlgn="base" hangingPunct="0">
      <a:lnSpc>
        <a:spcPct val="80000"/>
      </a:lnSpc>
      <a:spcBef>
        <a:spcPct val="20000"/>
      </a:spcBef>
      <a:spcAft>
        <a:spcPct val="0"/>
      </a:spcAft>
      <a:buClr>
        <a:srgbClr val="009900"/>
      </a:buClr>
      <a:buSzPct val="65000"/>
      <a:buFont typeface="Wingdings" pitchFamily="2" charset="2"/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1pPr>
    <a:lvl2pPr marL="457200" algn="l" rtl="0" eaLnBrk="0" fontAlgn="base" hangingPunct="0">
      <a:lnSpc>
        <a:spcPct val="80000"/>
      </a:lnSpc>
      <a:spcBef>
        <a:spcPct val="20000"/>
      </a:spcBef>
      <a:spcAft>
        <a:spcPct val="0"/>
      </a:spcAft>
      <a:buClr>
        <a:srgbClr val="009900"/>
      </a:buClr>
      <a:buSzPct val="65000"/>
      <a:buFont typeface="Wingdings" pitchFamily="2" charset="2"/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2pPr>
    <a:lvl3pPr marL="914400" algn="l" rtl="0" eaLnBrk="0" fontAlgn="base" hangingPunct="0">
      <a:lnSpc>
        <a:spcPct val="80000"/>
      </a:lnSpc>
      <a:spcBef>
        <a:spcPct val="20000"/>
      </a:spcBef>
      <a:spcAft>
        <a:spcPct val="0"/>
      </a:spcAft>
      <a:buClr>
        <a:srgbClr val="009900"/>
      </a:buClr>
      <a:buSzPct val="65000"/>
      <a:buFont typeface="Wingdings" pitchFamily="2" charset="2"/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3pPr>
    <a:lvl4pPr marL="1371600" algn="l" rtl="0" eaLnBrk="0" fontAlgn="base" hangingPunct="0">
      <a:lnSpc>
        <a:spcPct val="80000"/>
      </a:lnSpc>
      <a:spcBef>
        <a:spcPct val="20000"/>
      </a:spcBef>
      <a:spcAft>
        <a:spcPct val="0"/>
      </a:spcAft>
      <a:buClr>
        <a:srgbClr val="009900"/>
      </a:buClr>
      <a:buSzPct val="65000"/>
      <a:buFont typeface="Wingdings" pitchFamily="2" charset="2"/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4pPr>
    <a:lvl5pPr marL="1828800" algn="l" rtl="0" eaLnBrk="0" fontAlgn="base" hangingPunct="0">
      <a:lnSpc>
        <a:spcPct val="80000"/>
      </a:lnSpc>
      <a:spcBef>
        <a:spcPct val="20000"/>
      </a:spcBef>
      <a:spcAft>
        <a:spcPct val="0"/>
      </a:spcAft>
      <a:buClr>
        <a:srgbClr val="009900"/>
      </a:buClr>
      <a:buSzPct val="65000"/>
      <a:buFont typeface="Wingdings" pitchFamily="2" charset="2"/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5pPr>
    <a:lvl6pPr marL="2286000" algn="l" defTabSz="914400" rtl="0" eaLnBrk="1" latinLnBrk="0" hangingPunct="1"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6pPr>
    <a:lvl7pPr marL="2743200" algn="l" defTabSz="914400" rtl="0" eaLnBrk="1" latinLnBrk="0" hangingPunct="1"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7pPr>
    <a:lvl8pPr marL="3200400" algn="l" defTabSz="914400" rtl="0" eaLnBrk="1" latinLnBrk="0" hangingPunct="1"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8pPr>
    <a:lvl9pPr marL="3657600" algn="l" defTabSz="914400" rtl="0" eaLnBrk="1" latinLnBrk="0" hangingPunct="1">
      <a:defRPr sz="1400" kern="1200">
        <a:solidFill>
          <a:schemeClr val="tx1"/>
        </a:solidFill>
        <a:latin typeface="Courier New" pitchFamily="49" charset="0"/>
        <a:ea typeface="+mn-ea"/>
        <a:cs typeface="Courier New" pitchFamily="49" charset="0"/>
      </a:defRPr>
    </a:lvl9pPr>
  </p:defaultTextStyle>
  <p:extLst>
    <p:ext uri="{521415D9-36F7-43E2-AB2F-B90AF26B5E84}">
      <p14:sectionLst xmlns:p14="http://schemas.microsoft.com/office/powerpoint/2010/main">
        <p14:section name="Default Section" id="{39E0ED8F-F412-4890-9028-83728134C452}">
          <p14:sldIdLst>
            <p14:sldId id="541"/>
            <p14:sldId id="542"/>
            <p14:sldId id="583"/>
            <p14:sldId id="582"/>
            <p14:sldId id="544"/>
            <p14:sldId id="545"/>
            <p14:sldId id="547"/>
            <p14:sldId id="548"/>
            <p14:sldId id="600"/>
            <p14:sldId id="580"/>
            <p14:sldId id="601"/>
            <p14:sldId id="551"/>
            <p14:sldId id="549"/>
            <p14:sldId id="550"/>
            <p14:sldId id="584"/>
            <p14:sldId id="553"/>
            <p14:sldId id="555"/>
            <p14:sldId id="556"/>
            <p14:sldId id="552"/>
            <p14:sldId id="554"/>
            <p14:sldId id="602"/>
            <p14:sldId id="603"/>
            <p14:sldId id="605"/>
            <p14:sldId id="604"/>
            <p14:sldId id="557"/>
            <p14:sldId id="558"/>
          </p14:sldIdLst>
        </p14:section>
        <p14:section name="virtual memory" id="{08F76DEA-8871-46B4-BFA7-FEF1C34CB321}">
          <p14:sldIdLst>
            <p14:sldId id="559"/>
            <p14:sldId id="560"/>
            <p14:sldId id="562"/>
            <p14:sldId id="563"/>
            <p14:sldId id="564"/>
            <p14:sldId id="585"/>
            <p14:sldId id="565"/>
            <p14:sldId id="566"/>
            <p14:sldId id="567"/>
            <p14:sldId id="581"/>
            <p14:sldId id="568"/>
          </p14:sldIdLst>
        </p14:section>
        <p14:section name="I/O" id="{D9A0A131-92CC-4E86-BA45-6F6968E456D0}">
          <p14:sldIdLst>
            <p14:sldId id="569"/>
            <p14:sldId id="570"/>
            <p14:sldId id="588"/>
            <p14:sldId id="607"/>
            <p14:sldId id="589"/>
            <p14:sldId id="590"/>
            <p14:sldId id="608"/>
            <p14:sldId id="591"/>
            <p14:sldId id="592"/>
            <p14:sldId id="609"/>
            <p14:sldId id="610"/>
            <p14:sldId id="576"/>
            <p14:sldId id="598"/>
            <p14:sldId id="594"/>
            <p14:sldId id="595"/>
            <p14:sldId id="611"/>
            <p14:sldId id="612"/>
            <p14:sldId id="597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66FF33"/>
    <a:srgbClr val="008000"/>
    <a:srgbClr val="FFCC99"/>
    <a:srgbClr val="0000CC"/>
    <a:srgbClr val="000099"/>
    <a:srgbClr val="EAEAEA"/>
    <a:srgbClr val="CCFF99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17BCFB-4F66-4DC1-8BF7-00ED1F3331F4}" v="1" dt="2026-06-21T14:32:38.3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53" autoAdjust="0"/>
    <p:restoredTop sz="93661" autoAdjust="0"/>
  </p:normalViewPr>
  <p:slideViewPr>
    <p:cSldViewPr snapToGrid="0">
      <p:cViewPr varScale="1">
        <p:scale>
          <a:sx n="149" d="100"/>
          <a:sy n="149" d="100"/>
        </p:scale>
        <p:origin x="4662" y="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33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handoutMaster" Target="handoutMasters/handout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microsoft.com/office/2015/10/relationships/revisionInfo" Target="revisionInfo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oav Etsion" userId="6817d923-c30e-4d6b-be87-a47c131a91a7" providerId="ADAL" clId="{687D8E6A-57AF-45AE-B177-36E0AC6490D8}"/>
    <pc:docChg chg="custSel modSld">
      <pc:chgData name="Yoav Etsion" userId="6817d923-c30e-4d6b-be87-a47c131a91a7" providerId="ADAL" clId="{687D8E6A-57AF-45AE-B177-36E0AC6490D8}" dt="2026-06-21T14:37:00.888" v="102" actId="20577"/>
      <pc:docMkLst>
        <pc:docMk/>
      </pc:docMkLst>
      <pc:sldChg chg="modSp mod">
        <pc:chgData name="Yoav Etsion" userId="6817d923-c30e-4d6b-be87-a47c131a91a7" providerId="ADAL" clId="{687D8E6A-57AF-45AE-B177-36E0AC6490D8}" dt="2026-06-21T14:26:43.262" v="31" actId="20577"/>
        <pc:sldMkLst>
          <pc:docMk/>
          <pc:sldMk cId="3211183949" sldId="588"/>
        </pc:sldMkLst>
        <pc:spChg chg="mod">
          <ac:chgData name="Yoav Etsion" userId="6817d923-c30e-4d6b-be87-a47c131a91a7" providerId="ADAL" clId="{687D8E6A-57AF-45AE-B177-36E0AC6490D8}" dt="2026-06-21T14:26:43.262" v="31" actId="20577"/>
          <ac:spMkLst>
            <pc:docMk/>
            <pc:sldMk cId="3211183949" sldId="588"/>
            <ac:spMk id="2" creationId="{00000000-0000-0000-0000-000000000000}"/>
          </ac:spMkLst>
        </pc:spChg>
      </pc:sldChg>
      <pc:sldChg chg="modSp mod">
        <pc:chgData name="Yoav Etsion" userId="6817d923-c30e-4d6b-be87-a47c131a91a7" providerId="ADAL" clId="{687D8E6A-57AF-45AE-B177-36E0AC6490D8}" dt="2026-06-21T14:31:28.397" v="51" actId="5793"/>
        <pc:sldMkLst>
          <pc:docMk/>
          <pc:sldMk cId="3822806267" sldId="594"/>
        </pc:sldMkLst>
        <pc:spChg chg="mod">
          <ac:chgData name="Yoav Etsion" userId="6817d923-c30e-4d6b-be87-a47c131a91a7" providerId="ADAL" clId="{687D8E6A-57AF-45AE-B177-36E0AC6490D8}" dt="2026-06-21T14:31:28.397" v="51" actId="5793"/>
          <ac:spMkLst>
            <pc:docMk/>
            <pc:sldMk cId="3822806267" sldId="594"/>
            <ac:spMk id="3" creationId="{00000000-0000-0000-0000-000000000000}"/>
          </ac:spMkLst>
        </pc:spChg>
      </pc:sldChg>
      <pc:sldChg chg="modSp mod">
        <pc:chgData name="Yoav Etsion" userId="6817d923-c30e-4d6b-be87-a47c131a91a7" providerId="ADAL" clId="{687D8E6A-57AF-45AE-B177-36E0AC6490D8}" dt="2026-06-21T14:20:29.560" v="2" actId="20577"/>
        <pc:sldMkLst>
          <pc:docMk/>
          <pc:sldMk cId="1491499886" sldId="603"/>
        </pc:sldMkLst>
        <pc:spChg chg="mod">
          <ac:chgData name="Yoav Etsion" userId="6817d923-c30e-4d6b-be87-a47c131a91a7" providerId="ADAL" clId="{687D8E6A-57AF-45AE-B177-36E0AC6490D8}" dt="2026-06-21T14:20:29.560" v="2" actId="20577"/>
          <ac:spMkLst>
            <pc:docMk/>
            <pc:sldMk cId="1491499886" sldId="603"/>
            <ac:spMk id="3" creationId="{A161F109-E72D-6AEC-102C-BEF9DBBE4F16}"/>
          </ac:spMkLst>
        </pc:spChg>
      </pc:sldChg>
      <pc:sldChg chg="modSp mod">
        <pc:chgData name="Yoav Etsion" userId="6817d923-c30e-4d6b-be87-a47c131a91a7" providerId="ADAL" clId="{687D8E6A-57AF-45AE-B177-36E0AC6490D8}" dt="2026-06-21T14:28:46.278" v="49" actId="20577"/>
        <pc:sldMkLst>
          <pc:docMk/>
          <pc:sldMk cId="4131414231" sldId="608"/>
        </pc:sldMkLst>
        <pc:spChg chg="mod">
          <ac:chgData name="Yoav Etsion" userId="6817d923-c30e-4d6b-be87-a47c131a91a7" providerId="ADAL" clId="{687D8E6A-57AF-45AE-B177-36E0AC6490D8}" dt="2026-06-21T14:28:46.278" v="49" actId="20577"/>
          <ac:spMkLst>
            <pc:docMk/>
            <pc:sldMk cId="4131414231" sldId="608"/>
            <ac:spMk id="2" creationId="{5995532F-3978-3A68-D557-5A9D590DD1BE}"/>
          </ac:spMkLst>
        </pc:spChg>
      </pc:sldChg>
      <pc:sldChg chg="modSp mod modAnim">
        <pc:chgData name="Yoav Etsion" userId="6817d923-c30e-4d6b-be87-a47c131a91a7" providerId="ADAL" clId="{687D8E6A-57AF-45AE-B177-36E0AC6490D8}" dt="2026-06-21T14:32:38.344" v="53" actId="27636"/>
        <pc:sldMkLst>
          <pc:docMk/>
          <pc:sldMk cId="2580265189" sldId="612"/>
        </pc:sldMkLst>
        <pc:spChg chg="mod">
          <ac:chgData name="Yoav Etsion" userId="6817d923-c30e-4d6b-be87-a47c131a91a7" providerId="ADAL" clId="{687D8E6A-57AF-45AE-B177-36E0AC6490D8}" dt="2026-06-21T14:32:38.344" v="53" actId="27636"/>
          <ac:spMkLst>
            <pc:docMk/>
            <pc:sldMk cId="2580265189" sldId="612"/>
            <ac:spMk id="3" creationId="{7D7A2008-353F-FA03-C5AA-9802B101B3CC}"/>
          </ac:spMkLst>
        </pc:spChg>
      </pc:sldChg>
      <pc:sldChg chg="modSp mod">
        <pc:chgData name="Yoav Etsion" userId="6817d923-c30e-4d6b-be87-a47c131a91a7" providerId="ADAL" clId="{687D8E6A-57AF-45AE-B177-36E0AC6490D8}" dt="2026-06-21T14:37:00.888" v="102" actId="20577"/>
        <pc:sldMkLst>
          <pc:docMk/>
          <pc:sldMk cId="318269238" sldId="618"/>
        </pc:sldMkLst>
        <pc:spChg chg="mod">
          <ac:chgData name="Yoav Etsion" userId="6817d923-c30e-4d6b-be87-a47c131a91a7" providerId="ADAL" clId="{687D8E6A-57AF-45AE-B177-36E0AC6490D8}" dt="2026-06-21T14:37:00.888" v="102" actId="20577"/>
          <ac:spMkLst>
            <pc:docMk/>
            <pc:sldMk cId="318269238" sldId="618"/>
            <ac:spMk id="3" creationId="{554A97BF-F613-5B36-576F-63211A1E89D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2700"/>
            <a:ext cx="303688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59" tIns="0" rIns="18959" bIns="0" numCol="1" anchor="t" anchorCtr="0" compatLnSpc="1">
            <a:prstTxWarp prst="textNoShape">
              <a:avLst/>
            </a:prstTxWarp>
          </a:bodyPr>
          <a:lstStyle>
            <a:lvl1pPr defTabSz="8921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8113" y="12700"/>
            <a:ext cx="303688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59" tIns="0" rIns="18959" bIns="0" numCol="1" anchor="t" anchorCtr="0" compatLnSpc="1">
            <a:prstTxWarp prst="textNoShape">
              <a:avLst/>
            </a:prstTxWarp>
          </a:bodyPr>
          <a:lstStyle>
            <a:lvl1pPr algn="r" defTabSz="8921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US"/>
              <a:t>9/11/98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04275"/>
            <a:ext cx="3036888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59" tIns="0" rIns="18959" bIns="0" numCol="1" anchor="b" anchorCtr="0" compatLnSpc="1">
            <a:prstTxWarp prst="textNoShape">
              <a:avLst/>
            </a:prstTxWarp>
          </a:bodyPr>
          <a:lstStyle>
            <a:lvl1pPr defTabSz="8921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8113" y="8804275"/>
            <a:ext cx="3036887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959" tIns="0" rIns="18959" bIns="0" numCol="1" anchor="b" anchorCtr="0" compatLnSpc="1">
            <a:prstTxWarp prst="textNoShape">
              <a:avLst/>
            </a:prstTxWarp>
          </a:bodyPr>
          <a:lstStyle>
            <a:lvl1pPr algn="r" defTabSz="892175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000" i="1">
                <a:latin typeface="Times New Roman" pitchFamily="18" charset="0"/>
                <a:cs typeface="Times New Roman" pitchFamily="18" charset="0"/>
              </a:defRPr>
            </a:lvl1pPr>
          </a:lstStyle>
          <a:p>
            <a:pPr>
              <a:defRPr/>
            </a:pPr>
            <a:fld id="{95B81D41-91C4-4303-B6AA-661CF1022025}" type="slidenum">
              <a:rPr lang="he-IL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4454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954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406525" y="1158875"/>
            <a:ext cx="4171950" cy="31289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98500" y="4462463"/>
            <a:ext cx="5588000" cy="364966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548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4750" y="695325"/>
            <a:ext cx="4635500" cy="3476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98500" y="4403725"/>
            <a:ext cx="5588000" cy="417195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GFN</a:t>
            </a:r>
            <a:r>
              <a:rPr lang="en-US" baseline="0" dirty="0"/>
              <a:t> = guest frame number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5476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956349" y="8806532"/>
            <a:ext cx="3027137" cy="4629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2" tIns="43925" rIns="87852" bIns="43925"/>
          <a:lstStyle>
            <a:lvl1pPr defTabSz="928850" eaLnBrk="0" hangingPunct="0"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13796" indent="-274536" defTabSz="928850" eaLnBrk="0" hangingPunct="0"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098147" indent="-219629" defTabSz="928850" eaLnBrk="0" hangingPunct="0"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537404" indent="-219629" defTabSz="928850" eaLnBrk="0" hangingPunct="0"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1976664" indent="-219629" defTabSz="928850" eaLnBrk="0" hangingPunct="0"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415921" indent="-219629" algn="ctr" defTabSz="92885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855180" indent="-219629" algn="ctr" defTabSz="92885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294438" indent="-219629" algn="ctr" defTabSz="92885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733697" indent="-219629" algn="ctr" defTabSz="928850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3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fld id="{51883F8D-894D-4938-A6BA-04D28B4FD96B}" type="slidenum">
              <a:rPr lang="en-US" sz="1200">
                <a:solidFill>
                  <a:schemeClr val="tx1"/>
                </a:solidFill>
              </a:rPr>
              <a:pPr eaLnBrk="1" hangingPunct="1"/>
              <a:t>55</a:t>
            </a:fld>
            <a:endParaRPr lang="en-US" sz="1200">
              <a:solidFill>
                <a:schemeClr val="tx1"/>
              </a:solidFill>
            </a:endParaRPr>
          </a:p>
        </p:txBody>
      </p:sp>
      <p:sp>
        <p:nvSpPr>
          <p:cNvPr id="9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4750" y="695325"/>
            <a:ext cx="4635500" cy="3476625"/>
          </a:xfrm>
          <a:prstGeom prst="rect">
            <a:avLst/>
          </a:prstGeom>
          <a:ln/>
        </p:spPr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804" y="4404033"/>
            <a:ext cx="5587394" cy="4171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852" tIns="43925" rIns="87852" bIns="43925"/>
          <a:lstStyle/>
          <a:p>
            <a:pPr eaLnBrk="1" hangingPunct="1"/>
            <a:endParaRPr lang="en-US" dirty="0">
              <a:latin typeface="Arial" pitchFamily="34" charset="0"/>
              <a:ea typeface="ＭＳ Ｐゴシック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6180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241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6675"/>
            <a:ext cx="8839200" cy="6191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715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17747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214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762000"/>
            <a:ext cx="4038600" cy="5486400"/>
          </a:xfrm>
        </p:spPr>
        <p:txBody>
          <a:bodyPr/>
          <a:lstStyle>
            <a:lvl1pPr>
              <a:defRPr sz="2000"/>
            </a:lvl1pPr>
            <a:lvl2pPr>
              <a:defRPr sz="2000" b="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762000"/>
            <a:ext cx="4038600" cy="54864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52221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2648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9391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47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82398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06878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562519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6675"/>
            <a:ext cx="2057400" cy="61817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6675"/>
            <a:ext cx="6019800" cy="61817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85441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7813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1600200"/>
            <a:ext cx="7772400" cy="21891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3941763"/>
            <a:ext cx="7772400" cy="2189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51575"/>
            <a:ext cx="1981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ftr" sz="quarter" idx="11"/>
          </p:nvPr>
        </p:nvSpPr>
        <p:spPr>
          <a:xfrm>
            <a:off x="3352800" y="6248400"/>
            <a:ext cx="2971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OS - virtualization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21746C-49ED-4665-9F2A-99EFBC8FF3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8786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628298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654215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53104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66800"/>
            <a:ext cx="4038600" cy="5122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66800"/>
            <a:ext cx="4038600" cy="51228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968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07485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607035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018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998939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12968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34149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2057400" cy="60372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019800" cy="60372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8034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63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gradFill rotWithShape="1">
            <a:gsLst>
              <a:gs pos="0">
                <a:srgbClr val="CCFF99"/>
              </a:gs>
              <a:gs pos="100000">
                <a:srgbClr val="5E764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0" tIns="0" rIns="0" bIns="0" anchor="ctr"/>
          <a:lstStyle/>
          <a:p>
            <a:pPr marL="742950" marR="0" lvl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						                                               </a:t>
            </a:r>
            <a:r>
              <a:rPr lang="en-IL" sz="1400" dirty="0">
                <a:latin typeface="Aptos" panose="020B0004020202020204" pitchFamily="34" charset="0"/>
              </a:rPr>
              <a:t>00460882 </a:t>
            </a:r>
            <a:r>
              <a:rPr lang="en-US" sz="1400" dirty="0">
                <a:latin typeface="Aptos" panose="020B0004020202020204" pitchFamily="34" charset="0"/>
              </a:rPr>
              <a:t> - HW/SW Co-design</a:t>
            </a:r>
            <a:endParaRPr lang="en-IL" sz="1600" dirty="0">
              <a:latin typeface="Aptos" panose="020B0004020202020204" pitchFamily="34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61988" y="66675"/>
            <a:ext cx="7772400" cy="619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762000"/>
            <a:ext cx="8229600" cy="548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9" name="Rectangle 32"/>
          <p:cNvSpPr>
            <a:spLocks noChangeArrowheads="1"/>
          </p:cNvSpPr>
          <p:nvPr/>
        </p:nvSpPr>
        <p:spPr bwMode="auto">
          <a:xfrm>
            <a:off x="457200" y="6553200"/>
            <a:ext cx="5334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 defTabSz="885825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fld id="{E15914D4-67C0-454C-BCF0-B2F01E1FC66A}" type="slidenum">
              <a:rPr lang="he-IL" sz="1200" b="1">
                <a:solidFill>
                  <a:srgbClr val="669900"/>
                </a:solidFill>
                <a:latin typeface="Trebuchet MS" pitchFamily="34" charset="0"/>
                <a:cs typeface="Arial" pitchFamily="34" charset="0"/>
              </a:rPr>
              <a:pPr algn="ctr" defTabSz="885825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t>‹#›</a:t>
            </a:fld>
            <a:endParaRPr lang="en-US" sz="1200" b="1">
              <a:solidFill>
                <a:srgbClr val="669900"/>
              </a:solidFill>
              <a:latin typeface="Trebuchet MS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2" r:id="rId12"/>
  </p:sldLayoutIdLst>
  <p:hf sldNum="0"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FF"/>
          </a:solidFill>
          <a:effectLst>
            <a:outerShdw blurRad="38100" dist="38100" dir="2700000" algn="tl">
              <a:srgbClr val="C0C0C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66FF"/>
        </a:buClr>
        <a:buSzPct val="70000"/>
        <a:buFont typeface="Monotype Sorts" pitchFamily="2" charset="2"/>
        <a:buChar char="u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65000"/>
        <a:buFont typeface="Wingdings" pitchFamily="2" charset="2"/>
        <a:buChar char="v"/>
        <a:defRPr sz="2000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Char char="•"/>
        <a:defRPr sz="2000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Char char="•"/>
        <a:defRPr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Char char="•"/>
        <a:defRPr sz="1600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>
                <a:gamma/>
                <a:tint val="89804"/>
                <a:invGamma/>
              </a:schemeClr>
            </a:gs>
            <a:gs pos="100000">
              <a:schemeClr val="bg1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869950" y="152400"/>
            <a:ext cx="73914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Slide Title</a:t>
            </a:r>
          </a:p>
        </p:txBody>
      </p:sp>
      <p:sp>
        <p:nvSpPr>
          <p:cNvPr id="1027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66800"/>
            <a:ext cx="82296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Body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5"/>
          <p:cNvSpPr>
            <a:spLocks noChangeArrowheads="1"/>
          </p:cNvSpPr>
          <p:nvPr/>
        </p:nvSpPr>
        <p:spPr bwMode="auto">
          <a:xfrm>
            <a:off x="1689100" y="5494338"/>
            <a:ext cx="593725" cy="19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1029" name="Rectangle 7"/>
          <p:cNvSpPr>
            <a:spLocks noChangeArrowheads="1"/>
          </p:cNvSpPr>
          <p:nvPr userDrawn="1"/>
        </p:nvSpPr>
        <p:spPr bwMode="auto">
          <a:xfrm>
            <a:off x="0" y="6477000"/>
            <a:ext cx="9144000" cy="381000"/>
          </a:xfrm>
          <a:prstGeom prst="rect">
            <a:avLst/>
          </a:prstGeom>
          <a:gradFill rotWithShape="1">
            <a:gsLst>
              <a:gs pos="0">
                <a:srgbClr val="CCFF99"/>
              </a:gs>
              <a:gs pos="100000">
                <a:srgbClr val="5E7647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 type="none" w="sm" len="sm"/>
              </a14:hiddenLine>
            </a:ext>
          </a:extLst>
        </p:spPr>
        <p:txBody>
          <a:bodyPr wrap="none" lIns="0" tIns="0" rIns="0" bIns="0" anchor="ctr"/>
          <a:lstStyle/>
          <a:p>
            <a:pPr marL="742950" indent="-285750">
              <a:buFont typeface="Wingdings" charset="2"/>
              <a:buNone/>
            </a:pPr>
            <a:r>
              <a:rPr lang="en-US" sz="1200" b="1">
                <a:solidFill>
                  <a:srgbClr val="FFFFFF"/>
                </a:solidFill>
                <a:latin typeface="Arial" charset="0"/>
                <a:cs typeface="Arial" charset="0"/>
              </a:rPr>
              <a:t>							                  Computer Architecture 2012 – VM x86</a:t>
            </a:r>
          </a:p>
        </p:txBody>
      </p:sp>
      <p:sp>
        <p:nvSpPr>
          <p:cNvPr id="1030" name="Rectangle 8"/>
          <p:cNvSpPr>
            <a:spLocks noChangeArrowheads="1"/>
          </p:cNvSpPr>
          <p:nvPr userDrawn="1"/>
        </p:nvSpPr>
        <p:spPr bwMode="auto">
          <a:xfrm>
            <a:off x="457200" y="6553200"/>
            <a:ext cx="53340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/>
          <a:p>
            <a:pPr algn="ctr" defTabSz="885825">
              <a:lnSpc>
                <a:spcPct val="90000"/>
              </a:lnSpc>
              <a:spcBef>
                <a:spcPct val="50000"/>
              </a:spcBef>
              <a:buClrTx/>
              <a:buSzTx/>
              <a:buFontTx/>
              <a:buNone/>
            </a:pPr>
            <a:fld id="{0A4BD6E9-5DE4-4763-8F37-E9AAC69126A5}" type="slidenum">
              <a:rPr lang="he-IL" sz="1200" b="1" smtClean="0">
                <a:solidFill>
                  <a:srgbClr val="669900"/>
                </a:solidFill>
                <a:latin typeface="Trebuchet MS" pitchFamily="34" charset="0"/>
                <a:cs typeface="Arial" charset="0"/>
              </a:rPr>
              <a:pPr algn="ctr" defTabSz="885825">
                <a:lnSpc>
                  <a:spcPct val="90000"/>
                </a:lnSpc>
                <a:spcBef>
                  <a:spcPct val="50000"/>
                </a:spcBef>
                <a:buClrTx/>
                <a:buSzTx/>
                <a:buFontTx/>
                <a:buNone/>
              </a:pPr>
              <a:t>‹#›</a:t>
            </a:fld>
            <a:endParaRPr lang="en-US" sz="1200" b="1">
              <a:solidFill>
                <a:srgbClr val="669900"/>
              </a:solidFill>
              <a:latin typeface="Trebuchet MS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9598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hf sldNum="0" hdr="0" dt="0"/>
  <p:txStyles>
    <p:titleStyle>
      <a:lvl1pPr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+mj-lt"/>
          <a:ea typeface="+mj-ea"/>
          <a:cs typeface="+mj-cs"/>
        </a:defRPr>
      </a:lvl1pPr>
      <a:lvl2pPr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2pPr>
      <a:lvl3pPr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3pPr>
      <a:lvl4pPr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4pPr>
      <a:lvl5pPr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5pPr>
      <a:lvl6pPr marL="457200"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6pPr>
      <a:lvl7pPr marL="914400"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7pPr>
      <a:lvl8pPr marL="1371600"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8pPr>
      <a:lvl9pPr marL="1828800" algn="ctr" defTabSz="90963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9pPr>
    </p:titleStyle>
    <p:bodyStyle>
      <a:lvl1pPr marL="222250" indent="-222250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FF0000"/>
        </a:buClr>
        <a:buSzPct val="100000"/>
        <a:buFont typeface="Symbol" pitchFamily="18" charset="2"/>
        <a:buChar char="·"/>
        <a:defRPr sz="2000" b="1">
          <a:solidFill>
            <a:schemeClr val="tx1"/>
          </a:solidFill>
          <a:latin typeface="+mn-lt"/>
          <a:ea typeface="+mn-ea"/>
          <a:cs typeface="+mn-cs"/>
        </a:defRPr>
      </a:lvl1pPr>
      <a:lvl2pPr marL="558800" indent="-222250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FF0000"/>
        </a:buClr>
        <a:buChar char="–"/>
        <a:defRPr sz="2000">
          <a:solidFill>
            <a:schemeClr val="tx1"/>
          </a:solidFill>
          <a:latin typeface="+mn-lt"/>
        </a:defRPr>
      </a:lvl2pPr>
      <a:lvl3pPr marL="895350" indent="-222250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FF0000"/>
        </a:buClr>
        <a:buSzPct val="75000"/>
        <a:buFont typeface="Wingdings" charset="2"/>
        <a:buChar char="Ø"/>
        <a:defRPr sz="2000">
          <a:solidFill>
            <a:schemeClr val="tx1"/>
          </a:solidFill>
          <a:latin typeface="+mn-lt"/>
        </a:defRPr>
      </a:lvl3pPr>
      <a:lvl4pPr marL="1247775" indent="-238125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charset="2"/>
        <a:buChar char="©"/>
        <a:defRPr>
          <a:solidFill>
            <a:schemeClr val="tx1"/>
          </a:solidFill>
          <a:latin typeface="+mn-lt"/>
        </a:defRPr>
      </a:lvl4pPr>
      <a:lvl5pPr marL="1600200" indent="-238125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charset="2"/>
        <a:buChar char="©"/>
        <a:defRPr>
          <a:solidFill>
            <a:schemeClr val="tx1"/>
          </a:solidFill>
          <a:latin typeface="+mn-lt"/>
        </a:defRPr>
      </a:lvl5pPr>
      <a:lvl6pPr marL="2057400" indent="-238125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©"/>
        <a:defRPr sz="1500" b="1">
          <a:solidFill>
            <a:schemeClr val="tx1"/>
          </a:solidFill>
          <a:latin typeface="+mn-lt"/>
        </a:defRPr>
      </a:lvl6pPr>
      <a:lvl7pPr marL="2514600" indent="-238125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©"/>
        <a:defRPr sz="1500" b="1">
          <a:solidFill>
            <a:schemeClr val="tx1"/>
          </a:solidFill>
          <a:latin typeface="+mn-lt"/>
        </a:defRPr>
      </a:lvl7pPr>
      <a:lvl8pPr marL="2971800" indent="-238125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©"/>
        <a:defRPr sz="1500" b="1">
          <a:solidFill>
            <a:schemeClr val="tx1"/>
          </a:solidFill>
          <a:latin typeface="+mn-lt"/>
        </a:defRPr>
      </a:lvl8pPr>
      <a:lvl9pPr marL="3429000" indent="-238125" algn="l" defTabSz="909638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SzPct val="100000"/>
        <a:buFont typeface="Wingdings" pitchFamily="2" charset="2"/>
        <a:buChar char="©"/>
        <a:defRPr sz="15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67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77165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solidFill>
                  <a:schemeClr val="tx1"/>
                </a:solidFill>
              </a:rPr>
              <a:t>Virtual Machines</a:t>
            </a:r>
            <a:endParaRPr lang="en-US" sz="4400" b="0" i="1" dirty="0"/>
          </a:p>
        </p:txBody>
      </p:sp>
      <p:sp>
        <p:nvSpPr>
          <p:cNvPr id="3075" name="Text Box 4"/>
          <p:cNvSpPr txBox="1">
            <a:spLocks noChangeArrowheads="1"/>
          </p:cNvSpPr>
          <p:nvPr/>
        </p:nvSpPr>
        <p:spPr bwMode="auto">
          <a:xfrm>
            <a:off x="538163" y="5410200"/>
            <a:ext cx="7462837" cy="240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>
            <a:spAutoFit/>
          </a:bodyPr>
          <a:lstStyle>
            <a:lvl1pPr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1pPr>
            <a:lvl2pPr marL="742950" indent="-285750"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2pPr>
            <a:lvl3pPr marL="1143000" indent="-228600"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3pPr>
            <a:lvl4pPr marL="1600200" indent="-228600"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4pPr>
            <a:lvl5pPr marL="2057400" indent="-228600"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5pPr>
            <a:lvl6pPr marL="25146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6pPr>
            <a:lvl7pPr marL="29718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7pPr>
            <a:lvl8pPr marL="34290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8pPr>
            <a:lvl9pPr marL="3886200" indent="-228600" eaLnBrk="0" fontAlgn="base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defRPr sz="140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1200" b="1" dirty="0">
                <a:latin typeface="Arial" pitchFamily="34" charset="0"/>
              </a:rPr>
              <a:t>Dan </a:t>
            </a:r>
            <a:r>
              <a:rPr lang="en-US" sz="1200" b="1" dirty="0" err="1">
                <a:latin typeface="Arial" pitchFamily="34" charset="0"/>
              </a:rPr>
              <a:t>Tsafrir</a:t>
            </a:r>
            <a:r>
              <a:rPr lang="en-US" sz="1200" b="1" dirty="0">
                <a:latin typeface="Arial" pitchFamily="34" charset="0"/>
              </a:rPr>
              <a:t> &amp; Yoav Etsion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virtualization?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Decouple software from hardware in a way that allows running multiple OSes on same hardware</a:t>
            </a:r>
          </a:p>
          <a:p>
            <a:pPr lvl="1"/>
            <a:r>
              <a:rPr lang="en-US" dirty="0"/>
              <a:t>E.g., run both Windows and Linux on same laptop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How is it different than dual boot?</a:t>
            </a:r>
          </a:p>
          <a:p>
            <a:pPr lvl="1"/>
            <a:r>
              <a:rPr lang="en-US" dirty="0"/>
              <a:t>Both OSes run</a:t>
            </a:r>
            <a:br>
              <a:rPr lang="en-US" dirty="0"/>
            </a:br>
            <a:r>
              <a:rPr lang="en-US" dirty="0"/>
              <a:t>simultaneously </a:t>
            </a:r>
          </a:p>
          <a:p>
            <a:pPr lvl="1"/>
            <a:r>
              <a:rPr lang="en-US" dirty="0"/>
              <a:t>Yet, by default,</a:t>
            </a:r>
            <a:br>
              <a:rPr lang="en-US" dirty="0"/>
            </a:br>
            <a:r>
              <a:rPr lang="en-US" dirty="0"/>
              <a:t>they are completely</a:t>
            </a:r>
            <a:br>
              <a:rPr lang="en-US" dirty="0"/>
            </a:br>
            <a:r>
              <a:rPr lang="en-US" dirty="0"/>
              <a:t>isolated from each</a:t>
            </a:r>
            <a:br>
              <a:rPr lang="en-US" dirty="0"/>
            </a:br>
            <a:r>
              <a:rPr lang="en-US" dirty="0"/>
              <a:t>other</a:t>
            </a:r>
          </a:p>
          <a:p>
            <a:pPr lvl="1"/>
            <a:r>
              <a:rPr lang="en-US" dirty="0"/>
              <a:t>Called:</a:t>
            </a:r>
            <a:br>
              <a:rPr lang="en-US" dirty="0"/>
            </a:br>
            <a:r>
              <a:rPr lang="en-US" dirty="0">
                <a:solidFill>
                  <a:srgbClr val="0000FF"/>
                </a:solidFill>
              </a:rPr>
              <a:t>“Virtual machine” </a:t>
            </a:r>
            <a:br>
              <a:rPr lang="en-US" dirty="0">
                <a:solidFill>
                  <a:srgbClr val="0000FF"/>
                </a:solidFill>
              </a:rPr>
            </a:br>
            <a:r>
              <a:rPr lang="en-US" dirty="0">
                <a:solidFill>
                  <a:srgbClr val="0000FF"/>
                </a:solidFill>
              </a:rPr>
              <a:t>(VM)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4513" y="2800350"/>
            <a:ext cx="5518091" cy="3443289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 bwMode="auto">
          <a:xfrm>
            <a:off x="1985963" y="4686301"/>
            <a:ext cx="2957512" cy="0"/>
          </a:xfrm>
          <a:prstGeom prst="straightConnector1">
            <a:avLst/>
          </a:prstGeom>
          <a:noFill/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35795429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Server consolidation (perhaps the most important, </a:t>
            </a:r>
            <a:br>
              <a:rPr lang="en-US" dirty="0"/>
            </a:br>
            <a:r>
              <a:rPr lang="en-US" dirty="0"/>
              <a:t>money-wise, and in terms of how it affected the world)</a:t>
            </a:r>
          </a:p>
          <a:p>
            <a:pPr lvl="1"/>
            <a:r>
              <a:rPr lang="en-US" dirty="0"/>
              <a:t>E.g., run</a:t>
            </a:r>
          </a:p>
          <a:p>
            <a:pPr lvl="2"/>
            <a:r>
              <a:rPr lang="en-US" dirty="0"/>
              <a:t>web server “machine”, and </a:t>
            </a:r>
          </a:p>
          <a:p>
            <a:pPr lvl="2"/>
            <a:r>
              <a:rPr lang="en-US" dirty="0"/>
              <a:t>mail server “machine”, and</a:t>
            </a:r>
          </a:p>
          <a:p>
            <a:pPr lvl="2"/>
            <a:r>
              <a:rPr lang="en-US" dirty="0"/>
              <a:t>DHCP server “machine”, …</a:t>
            </a:r>
          </a:p>
          <a:p>
            <a:pPr marL="857250" lvl="2" indent="0">
              <a:buNone/>
            </a:pPr>
            <a:r>
              <a:rPr lang="en-US" dirty="0"/>
              <a:t>on the same physical machine </a:t>
            </a:r>
          </a:p>
          <a:p>
            <a:endParaRPr lang="en-US" dirty="0"/>
          </a:p>
          <a:p>
            <a:r>
              <a:rPr lang="en-US" dirty="0"/>
              <a:t>Until virtualization, different servers were often kept on separate machines for robustness</a:t>
            </a:r>
          </a:p>
          <a:p>
            <a:pPr lvl="1"/>
            <a:r>
              <a:rPr lang="en-US" dirty="0"/>
              <a:t>Significant power/cooling savings</a:t>
            </a:r>
          </a:p>
          <a:p>
            <a:pPr lvl="1"/>
            <a:r>
              <a:rPr lang="en-US" dirty="0"/>
              <a:t>Significant room space savings</a:t>
            </a:r>
          </a:p>
          <a:p>
            <a:pPr lvl="1"/>
            <a:r>
              <a:rPr lang="en-US" dirty="0"/>
              <a:t>Utilization of physical machine goes up</a:t>
            </a:r>
          </a:p>
          <a:p>
            <a:pPr lvl="2"/>
            <a:r>
              <a:rPr lang="en-US" dirty="0"/>
              <a:t>Used more effectively</a:t>
            </a:r>
          </a:p>
          <a:p>
            <a:endParaRPr lang="en-US" dirty="0"/>
          </a:p>
          <a:p>
            <a:r>
              <a:rPr lang="en-US" dirty="0"/>
              <a:t>Technology goes back to mainframes…</a:t>
            </a:r>
          </a:p>
        </p:txBody>
      </p:sp>
    </p:spTree>
    <p:extLst>
      <p:ext uri="{BB962C8B-B14F-4D97-AF65-F5344CB8AC3E}">
        <p14:creationId xmlns:p14="http://schemas.microsoft.com/office/powerpoint/2010/main" val="3912398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Eases administration and improves robustness </a:t>
            </a:r>
          </a:p>
          <a:p>
            <a:pPr lvl="1"/>
            <a:r>
              <a:rPr lang="en-US" dirty="0"/>
              <a:t>Untying SW from HW makes life easier to, e.g., 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backup</a:t>
            </a:r>
            <a:r>
              <a:rPr lang="en-US" dirty="0"/>
              <a:t> server “machines”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restore</a:t>
            </a:r>
            <a:r>
              <a:rPr lang="en-US" dirty="0"/>
              <a:t> them if HW break on a different physical machine</a:t>
            </a:r>
          </a:p>
          <a:p>
            <a:pPr lvl="2"/>
            <a:r>
              <a:rPr lang="en-US" dirty="0">
                <a:solidFill>
                  <a:srgbClr val="0070C0"/>
                </a:solidFill>
              </a:rPr>
              <a:t>upgrading</a:t>
            </a:r>
            <a:r>
              <a:rPr lang="en-US" dirty="0"/>
              <a:t> to newer machines</a:t>
            </a:r>
          </a:p>
          <a:p>
            <a:pPr lvl="2"/>
            <a:r>
              <a:rPr lang="en-US" dirty="0"/>
              <a:t>Since HW and SW are decoupled, can perform “</a:t>
            </a:r>
            <a:r>
              <a:rPr lang="en-US" dirty="0">
                <a:solidFill>
                  <a:schemeClr val="accent6"/>
                </a:solidFill>
              </a:rPr>
              <a:t>live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migration</a:t>
            </a:r>
            <a:r>
              <a:rPr lang="en-US" dirty="0"/>
              <a:t>”</a:t>
            </a:r>
          </a:p>
          <a:p>
            <a:pPr lvl="3"/>
            <a:r>
              <a:rPr lang="en-US" sz="2000" dirty="0"/>
              <a:t>Moving VM from one physical machine to another while running</a:t>
            </a:r>
          </a:p>
          <a:p>
            <a:pPr lvl="2"/>
            <a:r>
              <a:rPr lang="en-US" dirty="0"/>
              <a:t>Easier </a:t>
            </a:r>
            <a:r>
              <a:rPr lang="en-US" dirty="0">
                <a:solidFill>
                  <a:srgbClr val="0070C0"/>
                </a:solidFill>
              </a:rPr>
              <a:t>provisioning</a:t>
            </a:r>
            <a:r>
              <a:rPr lang="en-US" dirty="0"/>
              <a:t> of new server “machines” for new services (one can have a “new” machine ready in seconds)</a:t>
            </a:r>
          </a:p>
          <a:p>
            <a:pPr lvl="2"/>
            <a:endParaRPr lang="en-US" dirty="0"/>
          </a:p>
          <a:p>
            <a:r>
              <a:rPr lang="en-US" dirty="0"/>
              <a:t>Easier testing &amp; quality assurance</a:t>
            </a:r>
          </a:p>
          <a:p>
            <a:pPr lvl="1"/>
            <a:r>
              <a:rPr lang="en-US" dirty="0"/>
              <a:t>Products sometimes span multiple machines</a:t>
            </a:r>
          </a:p>
          <a:p>
            <a:pPr lvl="1"/>
            <a:r>
              <a:rPr lang="en-US" dirty="0"/>
              <a:t>E.g., testing a network product (such as a firewall) might require dozens of computers</a:t>
            </a:r>
          </a:p>
        </p:txBody>
      </p:sp>
    </p:spTree>
    <p:extLst>
      <p:ext uri="{BB962C8B-B14F-4D97-AF65-F5344CB8AC3E}">
        <p14:creationId xmlns:p14="http://schemas.microsoft.com/office/powerpoint/2010/main" val="20214975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Makes the IaaS cloud computing ecosystem possible</a:t>
            </a:r>
          </a:p>
          <a:p>
            <a:pPr lvl="1"/>
            <a:r>
              <a:rPr lang="en-US" dirty="0"/>
              <a:t>IaaS = Infrastructure as a Service</a:t>
            </a:r>
          </a:p>
          <a:p>
            <a:pPr lvl="1"/>
            <a:r>
              <a:rPr lang="en-US" dirty="0"/>
              <a:t>Cloud providers, like Amazon, sell compute power</a:t>
            </a:r>
          </a:p>
          <a:p>
            <a:pPr lvl="2"/>
            <a:r>
              <a:rPr lang="en-US" dirty="0"/>
              <a:t>You pay for, e.g., 2 cores for 3 hours + 10GB of network traffic</a:t>
            </a:r>
          </a:p>
          <a:p>
            <a:pPr lvl="2"/>
            <a:r>
              <a:rPr lang="en-US" dirty="0"/>
              <a:t>You can install </a:t>
            </a:r>
            <a:r>
              <a:rPr lang="en-US" i="1" dirty="0"/>
              <a:t>all</a:t>
            </a:r>
            <a:r>
              <a:rPr lang="en-US" dirty="0"/>
              <a:t> your software, OS and workloads it supports</a:t>
            </a:r>
          </a:p>
          <a:p>
            <a:pPr lvl="2"/>
            <a:r>
              <a:rPr lang="en-US" dirty="0"/>
              <a:t>Your (virtual) machine is isolated from other (virtual) machines</a:t>
            </a:r>
          </a:p>
          <a:p>
            <a:pPr lvl="3"/>
            <a:r>
              <a:rPr lang="en-US" sz="2000" dirty="0"/>
              <a:t>Similarly (more or less) to physical machines</a:t>
            </a:r>
          </a:p>
          <a:p>
            <a:endParaRPr lang="en-US" dirty="0"/>
          </a:p>
          <a:p>
            <a:r>
              <a:rPr lang="en-US" dirty="0"/>
              <a:t>An IT organization can have a server farm</a:t>
            </a:r>
          </a:p>
          <a:p>
            <a:pPr lvl="1"/>
            <a:r>
              <a:rPr lang="en-US" dirty="0"/>
              <a:t>Remotely (without having to allocate room)</a:t>
            </a:r>
          </a:p>
          <a:p>
            <a:pPr lvl="1"/>
            <a:r>
              <a:rPr lang="en-US" dirty="0"/>
              <a:t>Without hiring staff, handling faulty machines, and all that jazz</a:t>
            </a:r>
          </a:p>
          <a:p>
            <a:endParaRPr lang="en-US" dirty="0"/>
          </a:p>
          <a:p>
            <a:r>
              <a:rPr lang="en-US" dirty="0"/>
              <a:t>The cloud is “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elastic</a:t>
            </a:r>
            <a:r>
              <a:rPr lang="en-US" dirty="0"/>
              <a:t>”: customers can easily grow and shrink their compute infrastructure as needed</a:t>
            </a:r>
          </a:p>
          <a:p>
            <a:pPr lvl="1"/>
            <a:r>
              <a:rPr lang="en-US" dirty="0"/>
              <a:t>Balance load with live migration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175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839200" cy="57150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Hypervisor</a:t>
            </a:r>
            <a:r>
              <a:rPr lang="en-US" dirty="0"/>
              <a:t> or </a:t>
            </a:r>
            <a:r>
              <a:rPr lang="en-US" dirty="0">
                <a:solidFill>
                  <a:srgbClr val="0000FF"/>
                </a:solidFill>
              </a:rPr>
              <a:t>VMM</a:t>
            </a:r>
            <a:r>
              <a:rPr lang="en-US" dirty="0"/>
              <a:t> (Virtual Machine Monitor)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SW</a:t>
            </a:r>
            <a:r>
              <a:rPr lang="en-US" dirty="0"/>
              <a:t> layer that allows several </a:t>
            </a:r>
            <a:r>
              <a:rPr lang="en-US" dirty="0">
                <a:solidFill>
                  <a:srgbClr val="0000FF"/>
                </a:solidFill>
              </a:rPr>
              <a:t>virtual machines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to run on the same </a:t>
            </a:r>
            <a:r>
              <a:rPr lang="en-US" dirty="0">
                <a:solidFill>
                  <a:srgbClr val="0000FF"/>
                </a:solidFill>
              </a:rPr>
              <a:t>physical machine</a:t>
            </a:r>
          </a:p>
          <a:p>
            <a:pPr lvl="1"/>
            <a:endParaRPr lang="en-US" dirty="0">
              <a:solidFill>
                <a:srgbClr val="0000FF"/>
              </a:solidFill>
            </a:endParaRPr>
          </a:p>
          <a:p>
            <a:r>
              <a:rPr lang="en-US" dirty="0">
                <a:solidFill>
                  <a:srgbClr val="0000FF"/>
                </a:solidFill>
              </a:rPr>
              <a:t>Host</a:t>
            </a:r>
          </a:p>
          <a:p>
            <a:pPr lvl="1"/>
            <a:r>
              <a:rPr lang="en-US" dirty="0"/>
              <a:t>The </a:t>
            </a:r>
            <a:r>
              <a:rPr lang="en-US" b="1" dirty="0"/>
              <a:t>physical machine &amp; OS</a:t>
            </a:r>
            <a:r>
              <a:rPr lang="en-US" dirty="0"/>
              <a:t> that directly controls it</a:t>
            </a:r>
          </a:p>
          <a:p>
            <a:pPr lvl="1"/>
            <a:r>
              <a:rPr lang="en-US" dirty="0"/>
              <a:t>Overload term: sometimes we say “host” but really mean hypervisor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rgbClr val="0000FF"/>
                </a:solidFill>
              </a:rPr>
              <a:t>Guest</a:t>
            </a:r>
            <a:r>
              <a:rPr lang="en-US" dirty="0"/>
              <a:t> (or </a:t>
            </a:r>
            <a:r>
              <a:rPr lang="en-US" dirty="0">
                <a:solidFill>
                  <a:srgbClr val="0000FF"/>
                </a:solidFill>
              </a:rPr>
              <a:t>guest OS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The virtual machine: its OS and all the applications it runs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061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 Types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4506" y="4571983"/>
            <a:ext cx="2548711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n-lt"/>
              </a:rPr>
              <a:t>E.g., VMware ESX,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MS Hyper-V, Xen 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(typically used in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servers, datacenters,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clouds)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57747" y="4573585"/>
            <a:ext cx="316541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n-lt"/>
              </a:rPr>
              <a:t>E.g., VMware Workstation,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MS Virtual PC,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Sun VirtualBox, QEMU</a:t>
            </a:r>
            <a:br>
              <a:rPr lang="en-US" sz="2000" dirty="0">
                <a:latin typeface="+mn-lt"/>
              </a:rPr>
            </a:br>
            <a:r>
              <a:rPr lang="en-US" sz="2000" dirty="0">
                <a:latin typeface="+mn-lt"/>
              </a:rPr>
              <a:t>(typically, user-owned)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8820" y="3819400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4052" y="3314552"/>
            <a:ext cx="2967427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hypervisor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9285" y="279541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1891" y="280493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72" y="2787687"/>
            <a:ext cx="94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Guest</a:t>
            </a:r>
          </a:p>
        </p:txBody>
      </p:sp>
      <p:sp>
        <p:nvSpPr>
          <p:cNvPr id="3" name="Left Brace 2"/>
          <p:cNvSpPr/>
          <p:nvPr/>
        </p:nvSpPr>
        <p:spPr bwMode="auto">
          <a:xfrm>
            <a:off x="1057269" y="2795416"/>
            <a:ext cx="180576" cy="40011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5272" y="3554471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Host</a:t>
            </a:r>
          </a:p>
        </p:txBody>
      </p:sp>
      <p:sp>
        <p:nvSpPr>
          <p:cNvPr id="15" name="Left Brace 14"/>
          <p:cNvSpPr/>
          <p:nvPr/>
        </p:nvSpPr>
        <p:spPr bwMode="auto">
          <a:xfrm>
            <a:off x="1052501" y="3347880"/>
            <a:ext cx="180576" cy="87163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93681" y="1452548"/>
            <a:ext cx="1810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00FF"/>
                </a:solidFill>
                <a:latin typeface="+mn-lt"/>
              </a:rPr>
              <a:t>Type 1</a:t>
            </a:r>
            <a:br>
              <a:rPr lang="en-US" sz="2000" b="1" dirty="0">
                <a:solidFill>
                  <a:srgbClr val="0000FF"/>
                </a:solidFill>
                <a:latin typeface="+mn-lt"/>
              </a:rPr>
            </a:br>
            <a:r>
              <a:rPr lang="en-US" sz="2000" dirty="0">
                <a:solidFill>
                  <a:srgbClr val="0000FF"/>
                </a:solidFill>
                <a:latin typeface="+mn-lt"/>
              </a:rPr>
              <a:t>(“bare-metal”)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211" y="3871728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5443" y="3366880"/>
            <a:ext cx="29674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3924" y="2374731"/>
            <a:ext cx="688381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93544" y="2374731"/>
            <a:ext cx="688382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VM2</a:t>
            </a:r>
          </a:p>
        </p:txBody>
      </p:sp>
      <p:sp>
        <p:nvSpPr>
          <p:cNvPr id="22" name="Left Brace 21"/>
          <p:cNvSpPr/>
          <p:nvPr/>
        </p:nvSpPr>
        <p:spPr bwMode="auto">
          <a:xfrm flipH="1">
            <a:off x="7882277" y="2392198"/>
            <a:ext cx="194514" cy="40011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4" name="Left Brace 23"/>
          <p:cNvSpPr/>
          <p:nvPr/>
        </p:nvSpPr>
        <p:spPr bwMode="auto">
          <a:xfrm flipH="1">
            <a:off x="7882277" y="2987742"/>
            <a:ext cx="240888" cy="1284096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537028" y="1447744"/>
            <a:ext cx="134363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0000FF"/>
                </a:solidFill>
                <a:latin typeface="+mn-lt"/>
              </a:rPr>
              <a:t>Type 2</a:t>
            </a:r>
            <a:br>
              <a:rPr lang="en-US" sz="2000" b="1" dirty="0">
                <a:solidFill>
                  <a:srgbClr val="0000FF"/>
                </a:solidFill>
                <a:latin typeface="+mn-lt"/>
              </a:rPr>
            </a:br>
            <a:r>
              <a:rPr lang="en-US" sz="2000" dirty="0">
                <a:solidFill>
                  <a:srgbClr val="0000FF"/>
                </a:solidFill>
                <a:latin typeface="+mn-lt"/>
              </a:rPr>
              <a:t>(“hosted”)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23165" y="3405032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n-lt"/>
              </a:rPr>
              <a:t>Host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79156" y="2862032"/>
            <a:ext cx="149323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hypervisor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211" y="2862032"/>
            <a:ext cx="128626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process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1261" y="2388144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n-lt"/>
              </a:rPr>
              <a:t>Guest</a:t>
            </a:r>
          </a:p>
        </p:txBody>
      </p:sp>
      <p:cxnSp>
        <p:nvCxnSpPr>
          <p:cNvPr id="31" name="Straight Connector 30"/>
          <p:cNvCxnSpPr/>
          <p:nvPr/>
        </p:nvCxnSpPr>
        <p:spPr bwMode="auto">
          <a:xfrm>
            <a:off x="4557711" y="1447744"/>
            <a:ext cx="0" cy="4381540"/>
          </a:xfrm>
          <a:prstGeom prst="lin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</p:cxnSp>
    </p:spTree>
    <p:extLst>
      <p:ext uri="{BB962C8B-B14F-4D97-AF65-F5344CB8AC3E}">
        <p14:creationId xmlns:p14="http://schemas.microsoft.com/office/powerpoint/2010/main" val="1653584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Bare-metal (Type 1)</a:t>
            </a:r>
          </a:p>
          <a:p>
            <a:pPr lvl="1"/>
            <a:r>
              <a:rPr lang="en-US" dirty="0"/>
              <a:t>Has complete control over HW</a:t>
            </a:r>
          </a:p>
          <a:p>
            <a:pPr lvl="1"/>
            <a:r>
              <a:rPr lang="en-US" dirty="0"/>
              <a:t>Doesn’t have to “fight” the bare metal OS, co-exists with it</a:t>
            </a:r>
          </a:p>
          <a:p>
            <a:pPr lvl="1"/>
            <a:endParaRPr lang="en-US" dirty="0"/>
          </a:p>
          <a:p>
            <a:r>
              <a:rPr lang="en-US" dirty="0"/>
              <a:t>Hosted (Type 2)</a:t>
            </a:r>
          </a:p>
          <a:p>
            <a:pPr lvl="1"/>
            <a:r>
              <a:rPr lang="en-US" dirty="0"/>
              <a:t>Avoids functionality/code duplication (e.g., process scheduler, memory management) – the OS already does all of that</a:t>
            </a:r>
          </a:p>
          <a:p>
            <a:pPr lvl="1"/>
            <a:r>
              <a:rPr lang="en-US" dirty="0"/>
              <a:t>Familiar environment that is easier to manage</a:t>
            </a:r>
          </a:p>
          <a:p>
            <a:pPr lvl="2"/>
            <a:r>
              <a:rPr lang="en-US" dirty="0"/>
              <a:t>How much CPU and memory does a VM take? – Use ‘top’</a:t>
            </a:r>
          </a:p>
          <a:p>
            <a:pPr lvl="2"/>
            <a:r>
              <a:rPr lang="en-US" dirty="0"/>
              <a:t>How big is the virtual disk? – Use ‘ls –l’</a:t>
            </a:r>
          </a:p>
          <a:p>
            <a:pPr lvl="2"/>
            <a:r>
              <a:rPr lang="en-US" dirty="0"/>
              <a:t>Kill/suspend a VM? Send SIGKILL/SIGSTOP to it</a:t>
            </a:r>
          </a:p>
        </p:txBody>
      </p:sp>
    </p:spTree>
    <p:extLst>
      <p:ext uri="{BB962C8B-B14F-4D97-AF65-F5344CB8AC3E}">
        <p14:creationId xmlns:p14="http://schemas.microsoft.com/office/powerpoint/2010/main" val="4279581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Hypervisor Types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combination</a:t>
            </a:r>
          </a:p>
          <a:p>
            <a:pPr lvl="1"/>
            <a:r>
              <a:rPr lang="en-US" dirty="0"/>
              <a:t>Much is hosted, but some parts are inside the OS kernel for the reasons listed earlier, plus performance</a:t>
            </a:r>
          </a:p>
          <a:p>
            <a:pPr lvl="1"/>
            <a:r>
              <a:rPr lang="en-US" dirty="0"/>
              <a:t>Example: Linux/</a:t>
            </a:r>
            <a:r>
              <a:rPr lang="en-US" dirty="0" err="1"/>
              <a:t>KVM</a:t>
            </a:r>
            <a:r>
              <a:rPr lang="en-US" dirty="0"/>
              <a:t> + </a:t>
            </a:r>
            <a:r>
              <a:rPr lang="en-US" dirty="0" err="1"/>
              <a:t>QEMU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KVM ~ transforms the Linux kernel into a hypervisor</a:t>
            </a:r>
          </a:p>
          <a:p>
            <a:pPr lvl="3"/>
            <a:r>
              <a:rPr lang="en-US" dirty="0"/>
              <a:t>Kernel Virtual Machine</a:t>
            </a:r>
          </a:p>
          <a:p>
            <a:pPr lvl="2"/>
            <a:r>
              <a:rPr lang="en-US" dirty="0"/>
              <a:t>QEMU is a process that can operate without KVM</a:t>
            </a:r>
          </a:p>
          <a:p>
            <a:pPr lvl="3"/>
            <a:r>
              <a:rPr lang="en-US" dirty="0"/>
              <a:t>but is accelerated by KVM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9871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virtualization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Hypervisor </a:t>
            </a:r>
          </a:p>
          <a:p>
            <a:pPr lvl="1"/>
            <a:r>
              <a:rPr lang="en-US" dirty="0"/>
              <a:t>Like the kernel, manages the physical resources</a:t>
            </a:r>
          </a:p>
          <a:p>
            <a:r>
              <a:rPr lang="en-US" dirty="0"/>
              <a:t>VMs</a:t>
            </a:r>
          </a:p>
          <a:p>
            <a:pPr lvl="1"/>
            <a:r>
              <a:rPr lang="en-US" dirty="0"/>
              <a:t>Are like processes</a:t>
            </a:r>
          </a:p>
          <a:p>
            <a:r>
              <a:rPr lang="en-US" dirty="0"/>
              <a:t>Hypervisor </a:t>
            </a:r>
          </a:p>
          <a:p>
            <a:pPr lvl="1"/>
            <a:r>
              <a:rPr lang="en-US" dirty="0"/>
              <a:t>schedules VMs,</a:t>
            </a:r>
          </a:p>
          <a:p>
            <a:pPr lvl="1"/>
            <a:r>
              <a:rPr lang="en-US" dirty="0"/>
              <a:t>allocates memory for them, </a:t>
            </a:r>
          </a:p>
          <a:p>
            <a:pPr lvl="1"/>
            <a:r>
              <a:rPr lang="en-US" dirty="0"/>
              <a:t>multiplexes their I/O, etc.</a:t>
            </a:r>
          </a:p>
          <a:p>
            <a:r>
              <a:rPr lang="en-US" dirty="0"/>
              <a:t>Just one problem…</a:t>
            </a:r>
          </a:p>
          <a:p>
            <a:pPr lvl="1"/>
            <a:r>
              <a:rPr lang="en-US" dirty="0"/>
              <a:t>OSes think/assume they control bare-metal HW</a:t>
            </a:r>
          </a:p>
          <a:p>
            <a:r>
              <a:rPr lang="en-US" dirty="0"/>
              <a:t>Solution</a:t>
            </a:r>
          </a:p>
          <a:p>
            <a:pPr lvl="1"/>
            <a:r>
              <a:rPr lang="en-US" dirty="0"/>
              <a:t>Hypervisor must fake it:</a:t>
            </a:r>
            <a:br>
              <a:rPr lang="en-US" dirty="0"/>
            </a:br>
            <a:r>
              <a:rPr lang="en-US" dirty="0"/>
              <a:t>make it appear as if the guest controls the HW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0316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BFA3C8-5034-1053-45F1-7583D7F28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basic concept: Trap &amp; Emulate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68984-5B67-6385-FB8C-564581D6D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333333"/>
                </a:solidFill>
                <a:latin typeface="+mj-lt"/>
              </a:rPr>
              <a:t>Principles laid out by Popek &amp; Goldberg in their 1974 paper</a:t>
            </a:r>
          </a:p>
          <a:p>
            <a:endParaRPr lang="en-US" dirty="0">
              <a:solidFill>
                <a:srgbClr val="333333"/>
              </a:solidFill>
              <a:latin typeface="+mj-lt"/>
            </a:endParaRPr>
          </a:p>
          <a:p>
            <a:r>
              <a:rPr lang="en-US" dirty="0">
                <a:solidFill>
                  <a:srgbClr val="333333"/>
                </a:solidFill>
                <a:latin typeface="+mj-lt"/>
              </a:rPr>
              <a:t>Guests must not be granted direct access to global system state</a:t>
            </a:r>
          </a:p>
          <a:p>
            <a:pPr lvl="1"/>
            <a:endParaRPr lang="en-US" b="1" dirty="0">
              <a:solidFill>
                <a:srgbClr val="333333"/>
              </a:solidFill>
              <a:latin typeface="+mj-lt"/>
            </a:endParaRPr>
          </a:p>
          <a:p>
            <a:r>
              <a:rPr lang="en-US" i="0" dirty="0">
                <a:solidFill>
                  <a:srgbClr val="333333"/>
                </a:solidFill>
                <a:effectLst/>
                <a:latin typeface="+mj-lt"/>
              </a:rPr>
              <a:t>Whenever a guests tries to do that, hypervisor assumes control</a:t>
            </a:r>
          </a:p>
          <a:p>
            <a:endParaRPr lang="en-US" dirty="0">
              <a:solidFill>
                <a:srgbClr val="333333"/>
              </a:solidFill>
              <a:latin typeface="+mj-lt"/>
            </a:endParaRPr>
          </a:p>
          <a:p>
            <a:r>
              <a:rPr lang="en-US" i="0" dirty="0">
                <a:solidFill>
                  <a:srgbClr val="333333"/>
                </a:solidFill>
                <a:effectLst/>
                <a:latin typeface="+mj-lt"/>
              </a:rPr>
              <a:t>Hypervisor emulates the guest’s protected functionality</a:t>
            </a:r>
          </a:p>
          <a:p>
            <a:endParaRPr lang="en-US" sz="1400" b="0" i="0" dirty="0">
              <a:solidFill>
                <a:srgbClr val="333333"/>
              </a:solidFill>
              <a:effectLst/>
              <a:latin typeface="Courier New" panose="02070309020205020404" pitchFamily="49" charset="0"/>
            </a:endParaRPr>
          </a:p>
          <a:p>
            <a:r>
              <a:rPr lang="en-US" sz="14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Gerald J. Popek and Robert P. Goldberg. “Formal requirements for virtualizable third generation architectures”. Commun. ACM 17, 7. July 1974.</a:t>
            </a:r>
            <a:br>
              <a:rPr lang="en-US" sz="1400" dirty="0"/>
            </a:br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804DFF-9F5C-CC04-9DA9-E307C78D6E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3118" y="4419346"/>
            <a:ext cx="2691913" cy="2057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8566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Trap &amp; Emulate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839200" cy="5715000"/>
          </a:xfrm>
        </p:spPr>
        <p:txBody>
          <a:bodyPr/>
          <a:lstStyle/>
          <a:p>
            <a:r>
              <a:rPr lang="en-US" dirty="0"/>
              <a:t>Most VM code can execute directly on CPU just fine</a:t>
            </a:r>
          </a:p>
          <a:p>
            <a:pPr lvl="1"/>
            <a:r>
              <a:rPr lang="en-US" dirty="0"/>
              <a:t>E.g., </a:t>
            </a:r>
            <a:r>
              <a:rPr lang="en-US" dirty="0" err="1"/>
              <a:t>addl</a:t>
            </a:r>
            <a:r>
              <a:rPr lang="en-US" dirty="0"/>
              <a:t> %ebx, %</a:t>
            </a:r>
            <a:r>
              <a:rPr lang="en-US" dirty="0" err="1"/>
              <a:t>eax</a:t>
            </a:r>
            <a:r>
              <a:rPr lang="en-US" dirty="0"/>
              <a:t>  –  if VM1 does this, VM2 doesn’t care</a:t>
            </a:r>
          </a:p>
          <a:p>
            <a:endParaRPr lang="en-US" dirty="0"/>
          </a:p>
          <a:p>
            <a:r>
              <a:rPr lang="en-US" dirty="0"/>
              <a:t>Let such code run directly on CPU</a:t>
            </a:r>
          </a:p>
          <a:p>
            <a:endParaRPr lang="en-US" dirty="0"/>
          </a:p>
          <a:p>
            <a:r>
              <a:rPr lang="en-US" dirty="0"/>
              <a:t>Hypervisor must take over protected operations, e.g.,</a:t>
            </a:r>
          </a:p>
          <a:p>
            <a:pPr lvl="1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int $0x80</a:t>
            </a:r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// generate system call interrupt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Hypervisor knows that from now on the guest thinks it’s in privileged mode; guest can’t really run in privileged mode, of course, because otherwise it’d be able to mess stuff up for the host &amp; other guests</a:t>
            </a:r>
          </a:p>
          <a:p>
            <a:pPr lvl="1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movel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&lt;address&gt;, %cr3</a:t>
            </a:r>
            <a:r>
              <a:rPr lang="en-US" dirty="0"/>
              <a:t>  </a:t>
            </a:r>
            <a:r>
              <a:rPr lang="en-US" dirty="0">
                <a:solidFill>
                  <a:srgbClr val="FF0000"/>
                </a:solidFill>
              </a:rPr>
              <a:t>// switch page tables</a:t>
            </a:r>
            <a:br>
              <a:rPr lang="en-US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Hypervisor can’t allow the guest to manipulate address spaces on its own, but it can do it for the guest</a:t>
            </a:r>
          </a:p>
          <a:p>
            <a:pPr lvl="1"/>
            <a:r>
              <a:rPr lang="en-US" dirty="0"/>
              <a:t>I/O ops   </a:t>
            </a:r>
            <a:r>
              <a:rPr lang="en-US" dirty="0">
                <a:solidFill>
                  <a:srgbClr val="FF0000"/>
                </a:solidFill>
              </a:rPr>
              <a:t>// hypervisor can’t allow VMs to directly access I/O</a:t>
            </a:r>
            <a:br>
              <a:rPr lang="en-US" dirty="0"/>
            </a:b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(I/O channels are multiplexed by the host to allow all the guests to use them; also, I/O devices handling will not be able to tolerate multiple OSes performing uncoordinated ops)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8309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Trap &amp; Emulate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few techniques</a:t>
            </a:r>
          </a:p>
          <a:p>
            <a:pPr lvl="1"/>
            <a:r>
              <a:rPr lang="en-US" dirty="0"/>
              <a:t>Software emulation</a:t>
            </a:r>
          </a:p>
          <a:p>
            <a:pPr lvl="1"/>
            <a:r>
              <a:rPr lang="en-US" dirty="0"/>
              <a:t>Dynamic binary translation</a:t>
            </a:r>
          </a:p>
          <a:p>
            <a:pPr lvl="1"/>
            <a:r>
              <a:rPr lang="en-US" dirty="0"/>
              <a:t>Paravirtualization</a:t>
            </a:r>
          </a:p>
          <a:p>
            <a:pPr lvl="1"/>
            <a:r>
              <a:rPr lang="en-US" dirty="0"/>
              <a:t>Hardware support</a:t>
            </a:r>
          </a:p>
          <a:p>
            <a:pPr marL="457200" lvl="1" indent="0">
              <a:buNone/>
            </a:pPr>
            <a:endParaRPr lang="en-US" sz="1400" dirty="0"/>
          </a:p>
          <a:p>
            <a:r>
              <a:rPr lang="en-US" dirty="0"/>
              <a:t>Need to virtualize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CPU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memory</a:t>
            </a:r>
          </a:p>
          <a:p>
            <a:pPr marL="971550" lvl="1" indent="-514350">
              <a:buFont typeface="+mj-lt"/>
              <a:buAutoNum type="romanUcPeriod"/>
            </a:pPr>
            <a:r>
              <a:rPr lang="en-US" dirty="0"/>
              <a:t>I/O</a:t>
            </a:r>
          </a:p>
          <a:p>
            <a:pPr lvl="1"/>
            <a:endParaRPr lang="en-US" sz="1400" dirty="0"/>
          </a:p>
          <a:p>
            <a:r>
              <a:rPr lang="en-US" dirty="0"/>
              <a:t>Let us first focus on the CPU…</a:t>
            </a:r>
          </a:p>
        </p:txBody>
      </p:sp>
    </p:spTree>
    <p:extLst>
      <p:ext uri="{BB962C8B-B14F-4D97-AF65-F5344CB8AC3E}">
        <p14:creationId xmlns:p14="http://schemas.microsoft.com/office/powerpoint/2010/main" val="8099978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 emulation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what CPU does, but in software</a:t>
            </a:r>
          </a:p>
          <a:p>
            <a:pPr lvl="1"/>
            <a:r>
              <a:rPr lang="en-US" dirty="0"/>
              <a:t>Fetch the next instruction</a:t>
            </a:r>
          </a:p>
          <a:p>
            <a:pPr lvl="1"/>
            <a:r>
              <a:rPr lang="en-US" dirty="0"/>
              <a:t>Decode (is it an ADD? </a:t>
            </a:r>
            <a:r>
              <a:rPr lang="en-US" dirty="0" err="1"/>
              <a:t>XOR</a:t>
            </a:r>
            <a:r>
              <a:rPr lang="en-US" dirty="0"/>
              <a:t>? </a:t>
            </a:r>
            <a:r>
              <a:rPr lang="en-US" dirty="0" err="1"/>
              <a:t>MOV</a:t>
            </a:r>
            <a:r>
              <a:rPr lang="en-US" dirty="0"/>
              <a:t>?)</a:t>
            </a:r>
          </a:p>
          <a:p>
            <a:pPr lvl="1"/>
            <a:r>
              <a:rPr lang="en-US" dirty="0"/>
              <a:t>Execute (using the SW emulated registers and memory)</a:t>
            </a:r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%ebx, %eax  /* eax += ebx */</a:t>
            </a:r>
          </a:p>
          <a:p>
            <a:pPr marL="0" indent="0">
              <a:buNone/>
            </a:pPr>
            <a:r>
              <a:rPr lang="en-US" dirty="0"/>
              <a:t>    Is emulated as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{EAX=0, EBX=1, ECX=2, EDX=3, …};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unsigned long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[8];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[EAX] +=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regs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[EBX];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/>
              <a:t>Pro: Simple, flexible (can run Arch1 code on Arch2)</a:t>
            </a:r>
            <a:br>
              <a:rPr lang="en-US" dirty="0"/>
            </a:br>
            <a:r>
              <a:rPr lang="en-US" dirty="0"/>
              <a:t>Con: Slow</a:t>
            </a:r>
          </a:p>
          <a:p>
            <a:endParaRPr lang="en-US" dirty="0"/>
          </a:p>
          <a:p>
            <a:r>
              <a:rPr lang="en-US" dirty="0"/>
              <a:t>Example: BOCHS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8027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6675"/>
            <a:ext cx="8839200" cy="1219200"/>
          </a:xfrm>
        </p:spPr>
        <p:txBody>
          <a:bodyPr/>
          <a:lstStyle/>
          <a:p>
            <a:r>
              <a:rPr lang="en-US" dirty="0"/>
              <a:t>Dynamic binary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00174"/>
            <a:ext cx="8763000" cy="5076825"/>
          </a:xfrm>
        </p:spPr>
        <p:txBody>
          <a:bodyPr/>
          <a:lstStyle/>
          <a:p>
            <a:pPr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Translation rules</a:t>
            </a:r>
          </a:p>
          <a:p>
            <a:pPr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endParaRPr lang="en-US" dirty="0"/>
          </a:p>
          <a:p>
            <a:pPr marL="687388" lvl="1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Most code translates to something that does exactly the same</a:t>
            </a:r>
          </a:p>
          <a:p>
            <a:pPr marL="1030288" lvl="2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E.g., </a:t>
            </a:r>
            <a:r>
              <a:rPr lang="en-US" dirty="0" err="1"/>
              <a:t>movl</a:t>
            </a:r>
            <a:r>
              <a:rPr lang="en-US" dirty="0"/>
              <a:t> %eax, %ebx</a:t>
            </a:r>
          </a:p>
          <a:p>
            <a:pPr marL="1030288" lvl="2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endParaRPr lang="en-US" dirty="0"/>
          </a:p>
          <a:p>
            <a:pPr marL="687388" lvl="1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Sensitive ops are translated into explicit “</a:t>
            </a:r>
            <a:r>
              <a:rPr lang="en-US" dirty="0" err="1">
                <a:solidFill>
                  <a:srgbClr val="0000FF"/>
                </a:solidFill>
              </a:rPr>
              <a:t>hypercalls</a:t>
            </a:r>
            <a:r>
              <a:rPr lang="en-US" dirty="0">
                <a:solidFill>
                  <a:srgbClr val="0000FF"/>
                </a:solidFill>
              </a:rPr>
              <a:t>”</a:t>
            </a:r>
          </a:p>
          <a:p>
            <a:pPr marL="1025525" lvl="2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= Calls into hypervisor</a:t>
            </a:r>
          </a:p>
          <a:p>
            <a:pPr marL="1368425" lvl="3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(to ask for service)</a:t>
            </a:r>
          </a:p>
          <a:p>
            <a:pPr marL="1025525" lvl="2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Implemented as trapping ops</a:t>
            </a:r>
          </a:p>
          <a:p>
            <a:pPr marL="1368425" lvl="3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(unlike, e.g., POPF)</a:t>
            </a:r>
          </a:p>
          <a:p>
            <a:pPr marL="1025525" lvl="2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Similar to </a:t>
            </a:r>
            <a:r>
              <a:rPr lang="en-US" dirty="0" err="1"/>
              <a:t>syscall</a:t>
            </a:r>
            <a:endParaRPr lang="en-US" dirty="0"/>
          </a:p>
          <a:p>
            <a:pPr marL="1368425" lvl="3" indent="-342900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(call into hypervisor to request service)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209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6675"/>
            <a:ext cx="8839200" cy="1219200"/>
          </a:xfrm>
        </p:spPr>
        <p:txBody>
          <a:bodyPr/>
          <a:lstStyle/>
          <a:p>
            <a:r>
              <a:rPr lang="en-US" dirty="0"/>
              <a:t>Dynamic binary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00174"/>
            <a:ext cx="8763000" cy="5076825"/>
          </a:xfrm>
        </p:spPr>
        <p:txBody>
          <a:bodyPr/>
          <a:lstStyle/>
          <a:p>
            <a:pPr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Solution #2: dynamic binary translation – idea</a:t>
            </a:r>
          </a:p>
          <a:p>
            <a:pPr lvl="1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Block of (VM) ops encountered for 1</a:t>
            </a:r>
            <a:r>
              <a:rPr lang="en-US" baseline="30000" dirty="0"/>
              <a:t>st</a:t>
            </a:r>
            <a:r>
              <a:rPr lang="en-US" dirty="0"/>
              <a:t> time?</a:t>
            </a:r>
          </a:p>
          <a:p>
            <a:pPr lvl="1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Translate block, on-the-fly, to “safe” code</a:t>
            </a:r>
          </a:p>
          <a:p>
            <a:pPr lvl="2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Similarly to JIT-</a:t>
            </a:r>
            <a:r>
              <a:rPr lang="en-US" dirty="0" err="1"/>
              <a:t>ing</a:t>
            </a:r>
            <a:r>
              <a:rPr lang="en-US" dirty="0"/>
              <a:t> (JIT compilation = just-in-time compilation)</a:t>
            </a:r>
          </a:p>
          <a:p>
            <a:pPr lvl="1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Put block in “code cache” (indexed by address)</a:t>
            </a:r>
          </a:p>
          <a:p>
            <a:pPr lvl="1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From now on when program reaches this address</a:t>
            </a:r>
          </a:p>
          <a:p>
            <a:pPr lvl="2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Safe code would be executed directly on CPU</a:t>
            </a:r>
          </a:p>
          <a:p>
            <a:pPr lvl="2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endParaRPr lang="en-US" dirty="0"/>
          </a:p>
          <a:p>
            <a:pPr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BTW</a:t>
            </a:r>
          </a:p>
          <a:p>
            <a:pPr lvl="1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You can easily do above, on your own, for your user-level apps</a:t>
            </a:r>
          </a:p>
          <a:p>
            <a:pPr lvl="2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dirty="0"/>
              <a:t>Download Intel’s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pin</a:t>
            </a:r>
            <a:endParaRPr lang="en-US" dirty="0"/>
          </a:p>
          <a:p>
            <a:pPr lvl="2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r>
              <a:rPr lang="en-US" sz="1600" dirty="0"/>
              <a:t>http://software.intel.com/en-us/articles/pin-a-dynamic-binary-instrumentation-tool</a:t>
            </a:r>
          </a:p>
          <a:p>
            <a:pPr lvl="2"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endParaRPr lang="en-US" sz="1600" dirty="0"/>
          </a:p>
          <a:p>
            <a:pPr>
              <a:buClrTx/>
              <a:tabLst>
                <a:tab pos="169863" algn="l"/>
                <a:tab pos="282575" algn="l"/>
                <a:tab pos="739775" algn="l"/>
                <a:tab pos="1196975" algn="l"/>
                <a:tab pos="1654175" algn="l"/>
                <a:tab pos="2111375" algn="l"/>
                <a:tab pos="2568575" algn="l"/>
                <a:tab pos="3025775" algn="l"/>
                <a:tab pos="3482975" algn="l"/>
                <a:tab pos="3940175" algn="l"/>
                <a:tab pos="4397375" algn="l"/>
                <a:tab pos="4854575" algn="l"/>
                <a:tab pos="5311775" algn="l"/>
                <a:tab pos="5768975" algn="l"/>
                <a:tab pos="6226175" algn="l"/>
                <a:tab pos="6683375" algn="l"/>
                <a:tab pos="7140575" algn="l"/>
                <a:tab pos="7597775" algn="l"/>
                <a:tab pos="8054975" algn="l"/>
                <a:tab pos="8512175" algn="l"/>
                <a:tab pos="8969375" algn="l"/>
              </a:tabLst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171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6675"/>
            <a:ext cx="8839200" cy="1219200"/>
          </a:xfrm>
        </p:spPr>
        <p:txBody>
          <a:bodyPr/>
          <a:lstStyle/>
          <a:p>
            <a:r>
              <a:rPr lang="en-US" dirty="0"/>
              <a:t>Dynamic binary translation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00174"/>
            <a:ext cx="8763000" cy="5076825"/>
          </a:xfrm>
        </p:spPr>
        <p:txBody>
          <a:bodyPr/>
          <a:lstStyle/>
          <a:p>
            <a:r>
              <a:rPr lang="en-US" dirty="0"/>
              <a:t>Pros</a:t>
            </a:r>
          </a:p>
          <a:p>
            <a:pPr lvl="1"/>
            <a:r>
              <a:rPr lang="en-US" dirty="0"/>
              <a:t>No hardware support required</a:t>
            </a:r>
          </a:p>
          <a:p>
            <a:pPr lvl="1"/>
            <a:r>
              <a:rPr lang="en-US" dirty="0"/>
              <a:t>Performance is much better than full SW emulation</a:t>
            </a:r>
          </a:p>
          <a:p>
            <a:endParaRPr lang="en-US" dirty="0"/>
          </a:p>
          <a:p>
            <a:r>
              <a:rPr lang="en-US" dirty="0"/>
              <a:t>Cons</a:t>
            </a:r>
          </a:p>
          <a:p>
            <a:pPr lvl="1"/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Harder</a:t>
            </a:r>
            <a:r>
              <a:rPr lang="en-US" dirty="0"/>
              <a:t> (!) to implement</a:t>
            </a:r>
          </a:p>
          <a:p>
            <a:pPr lvl="2"/>
            <a:r>
              <a:rPr lang="en-US" dirty="0"/>
              <a:t>Hypervisor needs on-the-fly x86-to-x86 binary compiler</a:t>
            </a:r>
          </a:p>
          <a:p>
            <a:pPr lvl="2"/>
            <a:r>
              <a:rPr lang="en-US" dirty="0"/>
              <a:t>Consider the challenge of getting branch target addresses right</a:t>
            </a:r>
          </a:p>
          <a:p>
            <a:pPr lvl="1"/>
            <a:r>
              <a:rPr lang="en-US" dirty="0"/>
              <a:t>Performance may not be as good as HW-supported trap-and-emulate</a:t>
            </a:r>
          </a:p>
          <a:p>
            <a:endParaRPr lang="en-US" dirty="0"/>
          </a:p>
          <a:p>
            <a:r>
              <a:rPr lang="en-US" dirty="0"/>
              <a:t>Example hypervisors</a:t>
            </a:r>
          </a:p>
          <a:p>
            <a:pPr lvl="1"/>
            <a:r>
              <a:rPr lang="en-US" dirty="0"/>
              <a:t>VMWare (x86 32bit), </a:t>
            </a:r>
            <a:r>
              <a:rPr lang="en-US" dirty="0" err="1"/>
              <a:t>QEMU</a:t>
            </a:r>
            <a:r>
              <a:rPr lang="en-US" dirty="0"/>
              <a:t> (which may run, say, POWER on x86)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4109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715000"/>
          </a:xfrm>
        </p:spPr>
        <p:txBody>
          <a:bodyPr/>
          <a:lstStyle/>
          <a:p>
            <a:r>
              <a:rPr lang="en-US" dirty="0"/>
              <a:t>In paravirtualization, guest “knows” it is being virtualized</a:t>
            </a:r>
          </a:p>
          <a:p>
            <a:pPr lvl="1"/>
            <a:r>
              <a:rPr lang="en-US" dirty="0"/>
              <a:t>OS programmer explicitly uses hypervisor services through a hypercall</a:t>
            </a:r>
          </a:p>
          <a:p>
            <a:pPr lvl="1"/>
            <a:r>
              <a:rPr lang="en-US" dirty="0"/>
              <a:t>E.g., instead of doing “cli” to turn off interrupts, </a:t>
            </a:r>
            <a:br>
              <a:rPr lang="en-US" dirty="0"/>
            </a:br>
            <a:r>
              <a:rPr lang="en-US" dirty="0"/>
              <a:t>guest OS should do: 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hypercall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 DISABLE_INTERRUPTS )</a:t>
            </a:r>
          </a:p>
          <a:p>
            <a:r>
              <a:rPr lang="en-US" dirty="0"/>
              <a:t>Pros</a:t>
            </a:r>
          </a:p>
          <a:p>
            <a:pPr lvl="1"/>
            <a:r>
              <a:rPr lang="en-US" dirty="0"/>
              <a:t>No hardware support required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Requires specifically modified guest </a:t>
            </a:r>
          </a:p>
          <a:p>
            <a:pPr lvl="2"/>
            <a:r>
              <a:rPr lang="en-US" dirty="0"/>
              <a:t>(Every guest OS should be modified)</a:t>
            </a:r>
          </a:p>
          <a:p>
            <a:r>
              <a:rPr lang="en-US" dirty="0"/>
              <a:t>Example hypervisor</a:t>
            </a:r>
          </a:p>
          <a:p>
            <a:pPr lvl="1"/>
            <a:r>
              <a:rPr lang="en-US" dirty="0"/>
              <a:t>Xen (in the past)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54294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Sensitive instructions generate a trap when executed by guest</a:t>
            </a:r>
          </a:p>
          <a:p>
            <a:pPr lvl="1"/>
            <a:r>
              <a:rPr lang="en-US" dirty="0"/>
              <a:t>E.g., if guest runs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$0x80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trap it and execute guest’s handler of interrupt 0x80</a:t>
            </a:r>
          </a:p>
          <a:p>
            <a:pPr lvl="1"/>
            <a:r>
              <a:rPr lang="en-US" dirty="0"/>
              <a:t>We are leveraging the fact that many sensitive operations trigger an interrupt when performed by unprivileged user-mode SW</a:t>
            </a:r>
          </a:p>
          <a:p>
            <a:endParaRPr lang="en-US" dirty="0"/>
          </a:p>
          <a:p>
            <a:r>
              <a:rPr lang="en-US" dirty="0"/>
              <a:t>Pro</a:t>
            </a:r>
          </a:p>
          <a:p>
            <a:pPr lvl="1"/>
            <a:r>
              <a:rPr lang="en-US" dirty="0"/>
              <a:t>Performance (over SW emulation)</a:t>
            </a:r>
          </a:p>
          <a:p>
            <a:pPr lvl="1"/>
            <a:endParaRPr lang="en-US" dirty="0"/>
          </a:p>
          <a:p>
            <a:r>
              <a:rPr lang="en-US" dirty="0"/>
              <a:t>Cons:</a:t>
            </a:r>
          </a:p>
          <a:p>
            <a:pPr lvl="1"/>
            <a:r>
              <a:rPr lang="en-US" dirty="0"/>
              <a:t>All sensitive instructions must be tagged at design time</a:t>
            </a:r>
          </a:p>
          <a:p>
            <a:pPr lvl="1"/>
            <a:r>
              <a:rPr lang="en-US" dirty="0"/>
              <a:t>For some instruction, hypervisor may decide not to trap</a:t>
            </a:r>
          </a:p>
          <a:p>
            <a:pPr lvl="1"/>
            <a:r>
              <a:rPr lang="en-US" dirty="0"/>
              <a:t>Hardware bugs are hard to fix…</a:t>
            </a:r>
          </a:p>
        </p:txBody>
      </p:sp>
    </p:spTree>
    <p:extLst>
      <p:ext uri="{BB962C8B-B14F-4D97-AF65-F5344CB8AC3E}">
        <p14:creationId xmlns:p14="http://schemas.microsoft.com/office/powerpoint/2010/main" val="41528715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Intel calls such support “VMX”</a:t>
            </a:r>
          </a:p>
          <a:p>
            <a:r>
              <a:rPr lang="en-US" dirty="0"/>
              <a:t>AMD calls such support “SVM”</a:t>
            </a:r>
          </a:p>
          <a:p>
            <a:r>
              <a:rPr lang="en-US" dirty="0"/>
              <a:t>ARM’s AArch64</a:t>
            </a:r>
            <a:br>
              <a:rPr lang="en-US" dirty="0"/>
            </a:br>
            <a:endParaRPr lang="en-US" dirty="0"/>
          </a:p>
          <a:p>
            <a:r>
              <a:rPr lang="en-US" dirty="0"/>
              <a:t>Example hypervisor</a:t>
            </a:r>
          </a:p>
          <a:p>
            <a:pPr lvl="1"/>
            <a:r>
              <a:rPr lang="en-US" dirty="0"/>
              <a:t>As opposed to earlier hypervisors, </a:t>
            </a:r>
            <a:r>
              <a:rPr lang="en-US" b="1" dirty="0"/>
              <a:t>Linux KVM</a:t>
            </a:r>
            <a:r>
              <a:rPr lang="en-US" dirty="0"/>
              <a:t> was originally implemented by making use of HW support for virtualization</a:t>
            </a:r>
          </a:p>
          <a:p>
            <a:endParaRPr lang="en-US" dirty="0"/>
          </a:p>
          <a:p>
            <a:r>
              <a:rPr lang="en-US" dirty="0"/>
              <a:t>Hypervisors that predate HW support used different methods</a:t>
            </a:r>
          </a:p>
        </p:txBody>
      </p:sp>
    </p:spTree>
    <p:extLst>
      <p:ext uri="{BB962C8B-B14F-4D97-AF65-F5344CB8AC3E}">
        <p14:creationId xmlns:p14="http://schemas.microsoft.com/office/powerpoint/2010/main" val="1092842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5DE91-657B-525D-BA14-385830EB4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support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C9253-1DEA-AEE7-97BC-D3E654A80A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Hardware-based trap and emulate still has overheads</a:t>
            </a:r>
          </a:p>
          <a:p>
            <a:endParaRPr lang="en-US" dirty="0"/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vmexit</a:t>
            </a:r>
            <a:r>
              <a:rPr lang="en-US" dirty="0"/>
              <a:t>: Leave running VM and switch to hypervisor/VMM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vmenter</a:t>
            </a:r>
            <a:r>
              <a:rPr lang="en-US" dirty="0"/>
              <a:t>: Resume execution of VM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These operations still incur thousands of cycles of overhead </a:t>
            </a:r>
          </a:p>
          <a:p>
            <a:pPr lvl="1"/>
            <a:r>
              <a:rPr lang="en-US" dirty="0"/>
              <a:t>1K-4K on modern Intel AMD</a:t>
            </a:r>
          </a:p>
          <a:p>
            <a:pPr lvl="1"/>
            <a:r>
              <a:rPr lang="en-US" dirty="0"/>
              <a:t>A real challenge in systems with frequent </a:t>
            </a:r>
            <a:r>
              <a:rPr lang="en-US" dirty="0" err="1"/>
              <a:t>syscalls</a:t>
            </a:r>
            <a:r>
              <a:rPr lang="en-US" dirty="0"/>
              <a:t>/IO/Nested VMs</a:t>
            </a:r>
            <a:endParaRPr lang="en-IL" dirty="0"/>
          </a:p>
          <a:p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2A6297-07B9-FCCB-C58C-68BBA9523F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3878"/>
            <a:ext cx="9144000" cy="2696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25335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5701D-4DD7-B459-3F45-841CA1A47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vmenter</a:t>
            </a:r>
            <a:r>
              <a:rPr lang="en-US" dirty="0"/>
              <a:t>/</a:t>
            </a:r>
            <a:r>
              <a:rPr lang="en-US" dirty="0" err="1"/>
              <a:t>vmexit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1F109-E72D-6AEC-102C-BEF9DBBE4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4843026" cy="5715000"/>
          </a:xfrm>
        </p:spPr>
        <p:txBody>
          <a:bodyPr/>
          <a:lstStyle/>
          <a:p>
            <a:r>
              <a:rPr lang="en-US" dirty="0"/>
              <a:t>These basic overheads are fundamental problem</a:t>
            </a:r>
          </a:p>
          <a:p>
            <a:endParaRPr lang="en-US" dirty="0"/>
          </a:p>
          <a:p>
            <a:r>
              <a:rPr lang="en-US" dirty="0"/>
              <a:t>Example: calling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cpuid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>
                <a:latin typeface="+mj-lt"/>
                <a:cs typeface="Courier New" panose="02070309020205020404" pitchFamily="49" charset="0"/>
              </a:rPr>
              <a:t>inst.</a:t>
            </a:r>
          </a:p>
          <a:p>
            <a:pPr lvl="1"/>
            <a:r>
              <a:rPr lang="en-US" dirty="0"/>
              <a:t>L0: hypervisor/native</a:t>
            </a:r>
          </a:p>
          <a:p>
            <a:pPr lvl="1"/>
            <a:r>
              <a:rPr lang="en-US" dirty="0"/>
              <a:t>L1(VM): ~10x slower</a:t>
            </a:r>
          </a:p>
          <a:p>
            <a:pPr lvl="1"/>
            <a:r>
              <a:rPr lang="en-US" dirty="0"/>
              <a:t>L2(nested VM): &gt;200x slower</a:t>
            </a:r>
            <a:br>
              <a:rPr lang="en-US" dirty="0"/>
            </a:br>
            <a:endParaRPr lang="en-US" dirty="0"/>
          </a:p>
          <a:p>
            <a:r>
              <a:rPr lang="en-US" dirty="0"/>
              <a:t>Overheads get even worse with nested virtualization</a:t>
            </a:r>
          </a:p>
          <a:p>
            <a:pPr lvl="1"/>
            <a:r>
              <a:rPr lang="en-US" dirty="0"/>
              <a:t>Why?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4E8272-F6EA-9E44-9A24-58AE9DC9A0CF}"/>
              </a:ext>
            </a:extLst>
          </p:cNvPr>
          <p:cNvSpPr txBox="1"/>
          <p:nvPr/>
        </p:nvSpPr>
        <p:spPr>
          <a:xfrm>
            <a:off x="5055810" y="3996320"/>
            <a:ext cx="3937226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Vilanova et al., “Using SMT to Accelerate Nested Virtualization”. </a:t>
            </a:r>
            <a:br>
              <a:rPr lang="en-US" dirty="0"/>
            </a:br>
            <a:r>
              <a:rPr lang="en-US" dirty="0"/>
              <a:t>In ISCA 2019</a:t>
            </a:r>
            <a:endParaRPr lang="en-IL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E49BF4-9BCB-5540-766B-AB886B0A69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5" r="41520"/>
          <a:stretch/>
        </p:blipFill>
        <p:spPr>
          <a:xfrm>
            <a:off x="5071626" y="1299466"/>
            <a:ext cx="3233271" cy="25996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329898-3785-8B2C-68AA-1A65384B9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4897" y="1529715"/>
            <a:ext cx="514422" cy="215074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C885424-6280-48AD-844A-CDB6869A696B}"/>
              </a:ext>
            </a:extLst>
          </p:cNvPr>
          <p:cNvSpPr txBox="1"/>
          <p:nvPr/>
        </p:nvSpPr>
        <p:spPr>
          <a:xfrm>
            <a:off x="7736472" y="1296691"/>
            <a:ext cx="1136850" cy="2646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Overhead [x]</a:t>
            </a:r>
            <a:endParaRPr lang="en-I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14998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2121C-F37B-E328-98F9-BDA71F786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448C7-1CB7-D89B-3A8F-2AA811B3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virtualization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604765-84B9-6662-009C-569099205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4671204" cy="5715000"/>
          </a:xfrm>
        </p:spPr>
        <p:txBody>
          <a:bodyPr/>
          <a:lstStyle/>
          <a:p>
            <a:r>
              <a:rPr lang="en-US" dirty="0"/>
              <a:t>When you get a VM from AWS, why not run a VM inside it?</a:t>
            </a:r>
          </a:p>
          <a:p>
            <a:pPr lvl="1"/>
            <a:r>
              <a:rPr lang="en-US" dirty="0"/>
              <a:t>Manage you own mini-cloud</a:t>
            </a:r>
          </a:p>
          <a:p>
            <a:pPr lvl="1"/>
            <a:r>
              <a:rPr lang="en-US" dirty="0"/>
              <a:t>Compatibility with old hardware</a:t>
            </a:r>
          </a:p>
          <a:p>
            <a:pPr lvl="1"/>
            <a:endParaRPr lang="en-US" dirty="0"/>
          </a:p>
          <a:p>
            <a:r>
              <a:rPr lang="en-US" dirty="0" err="1"/>
              <a:t>vmexit</a:t>
            </a:r>
            <a:r>
              <a:rPr lang="en-US" dirty="0"/>
              <a:t>/</a:t>
            </a:r>
            <a:r>
              <a:rPr lang="en-US" dirty="0" err="1"/>
              <a:t>vmenter</a:t>
            </a:r>
            <a:r>
              <a:rPr lang="en-US" dirty="0"/>
              <a:t> are a real pain</a:t>
            </a:r>
          </a:p>
          <a:p>
            <a:pPr lvl="1"/>
            <a:r>
              <a:rPr lang="en-US" dirty="0"/>
              <a:t>Every </a:t>
            </a:r>
            <a:r>
              <a:rPr lang="en-US" dirty="0" err="1"/>
              <a:t>vmexit</a:t>
            </a:r>
            <a:r>
              <a:rPr lang="en-US" dirty="0"/>
              <a:t> have to go all the way to the main hypervisor (L0)</a:t>
            </a:r>
          </a:p>
          <a:p>
            <a:pPr lvl="1"/>
            <a:endParaRPr lang="en-US" dirty="0"/>
          </a:p>
          <a:p>
            <a:r>
              <a:rPr lang="en-US" dirty="0"/>
              <a:t>Avoiding </a:t>
            </a:r>
            <a:r>
              <a:rPr lang="en-US" dirty="0" err="1"/>
              <a:t>vmexit</a:t>
            </a:r>
            <a:r>
              <a:rPr lang="en-US" dirty="0"/>
              <a:t> is an active research area</a:t>
            </a:r>
            <a:endParaRPr lang="en-IL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B458F-07AF-9F91-0BFE-D71673A94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2" y="1309392"/>
            <a:ext cx="4364604" cy="382332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8BF3E67-E7F1-2C7B-EB16-38D96FCA783F}"/>
              </a:ext>
            </a:extLst>
          </p:cNvPr>
          <p:cNvSpPr txBox="1"/>
          <p:nvPr/>
        </p:nvSpPr>
        <p:spPr>
          <a:xfrm>
            <a:off x="5054374" y="5238523"/>
            <a:ext cx="3937226" cy="620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Vilanova et al., “Using SMT to Accelerate Nested Virtualization”. </a:t>
            </a:r>
            <a:br>
              <a:rPr lang="en-US" dirty="0"/>
            </a:br>
            <a:r>
              <a:rPr lang="en-US" dirty="0"/>
              <a:t>In ISCA 2019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952629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947E5A-9244-5232-B18F-7D03B4695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Mitigating the overheads of </a:t>
            </a:r>
            <a:r>
              <a:rPr lang="en-US" dirty="0" err="1"/>
              <a:t>vmexit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A7B7-C226-E79C-A339-75D7B8CF86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715000"/>
          </a:xfrm>
        </p:spPr>
        <p:txBody>
          <a:bodyPr/>
          <a:lstStyle/>
          <a:p>
            <a:r>
              <a:rPr lang="en-US" dirty="0"/>
              <a:t>Avoid context switching the same thread</a:t>
            </a:r>
          </a:p>
          <a:p>
            <a:endParaRPr lang="en-US" dirty="0"/>
          </a:p>
          <a:p>
            <a:r>
              <a:rPr lang="en-US" dirty="0"/>
              <a:t>SMT gives us another thread in the same core</a:t>
            </a:r>
          </a:p>
          <a:p>
            <a:endParaRPr lang="en-US" dirty="0"/>
          </a:p>
          <a:p>
            <a:r>
              <a:rPr lang="en-US" dirty="0"/>
              <a:t>As it happens, SMT is often not used because of security concerns</a:t>
            </a:r>
          </a:p>
          <a:p>
            <a:endParaRPr lang="en-US" dirty="0"/>
          </a:p>
          <a:p>
            <a:r>
              <a:rPr lang="en-US" dirty="0"/>
              <a:t>Why not run the main (L0) hypervisor on another SMT thread?</a:t>
            </a:r>
          </a:p>
          <a:p>
            <a:endParaRPr lang="en-US" dirty="0"/>
          </a:p>
          <a:p>
            <a:endParaRPr lang="en-I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D2138-3AB1-A1F5-611E-276665272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952" y="3581400"/>
            <a:ext cx="5146095" cy="241989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D1FDE-C4BE-CEE7-F363-9DD58B4F36CD}"/>
              </a:ext>
            </a:extLst>
          </p:cNvPr>
          <p:cNvSpPr txBox="1"/>
          <p:nvPr/>
        </p:nvSpPr>
        <p:spPr>
          <a:xfrm>
            <a:off x="152400" y="6039390"/>
            <a:ext cx="8839200" cy="275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Vilanova et al., “Using SMT to Accelerate Nested Virtualization”. In ISCA 2019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1135667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Prevailing trend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Trap &amp; emulate with HW support (VMX, SVM, …)</a:t>
            </a:r>
          </a:p>
          <a:p>
            <a:endParaRPr lang="en-US" dirty="0"/>
          </a:p>
          <a:p>
            <a:r>
              <a:rPr lang="en-US" dirty="0"/>
              <a:t>Paravirtualization for I/O devices</a:t>
            </a:r>
          </a:p>
          <a:p>
            <a:pPr lvl="1"/>
            <a:r>
              <a:rPr lang="en-US" dirty="0"/>
              <a:t>To simply things</a:t>
            </a:r>
          </a:p>
          <a:p>
            <a:pPr lvl="1"/>
            <a:r>
              <a:rPr lang="en-US" dirty="0"/>
              <a:t>To bridge the “semantic gap”</a:t>
            </a:r>
          </a:p>
          <a:p>
            <a:pPr lvl="2"/>
            <a:r>
              <a:rPr lang="en-US" sz="2200" dirty="0"/>
              <a:t>Let the hypervisor know what’s going on inside the VM)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6856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a VM?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 problem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OSes think/assume they control bare-metal HW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 solution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Hypervisor must lie to the guest and fake it: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make it appear as though the guest controls the HW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How? A few alternatives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Emulation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Trap-and-emulate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Dynamic binary translation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Paravirtualization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Need to virtualize: (1) CPU; (2) memory; (3) I/O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Let us first focus on the CPU…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2262736" y="3532891"/>
            <a:ext cx="2817438" cy="1995073"/>
            <a:chOff x="2262736" y="3532891"/>
            <a:chExt cx="2817438" cy="1995073"/>
          </a:xfrm>
        </p:grpSpPr>
        <p:sp>
          <p:nvSpPr>
            <p:cNvPr id="4" name="TextBox 3"/>
            <p:cNvSpPr txBox="1"/>
            <p:nvPr/>
          </p:nvSpPr>
          <p:spPr>
            <a:xfrm>
              <a:off x="2262736" y="3532891"/>
              <a:ext cx="2817438" cy="70788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latin typeface="+mn-lt"/>
                </a:rPr>
                <a:t>Recall that so far we’ve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focused on the CPU</a:t>
              </a:r>
            </a:p>
          </p:txBody>
        </p:sp>
        <p:cxnSp>
          <p:nvCxnSpPr>
            <p:cNvPr id="6" name="Straight Arrow Connector 5"/>
            <p:cNvCxnSpPr>
              <a:stCxn id="4" idx="2"/>
            </p:cNvCxnSpPr>
            <p:nvPr/>
          </p:nvCxnSpPr>
          <p:spPr bwMode="auto">
            <a:xfrm>
              <a:off x="3671455" y="4240777"/>
              <a:ext cx="0" cy="128718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9" name="Group 8"/>
          <p:cNvGrpSpPr/>
          <p:nvPr/>
        </p:nvGrpSpPr>
        <p:grpSpPr>
          <a:xfrm>
            <a:off x="5325112" y="3532891"/>
            <a:ext cx="2688172" cy="1995073"/>
            <a:chOff x="2262736" y="3532891"/>
            <a:chExt cx="2688172" cy="1995073"/>
          </a:xfrm>
        </p:grpSpPr>
        <p:sp>
          <p:nvSpPr>
            <p:cNvPr id="10" name="TextBox 9"/>
            <p:cNvSpPr txBox="1"/>
            <p:nvPr/>
          </p:nvSpPr>
          <p:spPr>
            <a:xfrm>
              <a:off x="2262736" y="3532891"/>
              <a:ext cx="2688172" cy="707886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 dirty="0">
                  <a:latin typeface="+mn-lt"/>
                </a:rPr>
                <a:t>We’ll discuss memory </a:t>
              </a:r>
              <a:br>
                <a:rPr lang="en-US" sz="2000" dirty="0">
                  <a:latin typeface="+mn-lt"/>
                </a:rPr>
              </a:br>
              <a:r>
                <a:rPr lang="en-US" sz="2000" dirty="0">
                  <a:latin typeface="+mn-lt"/>
                </a:rPr>
                <a:t>in a separate class</a:t>
              </a:r>
            </a:p>
          </p:txBody>
        </p:sp>
        <p:cxnSp>
          <p:nvCxnSpPr>
            <p:cNvPr id="11" name="Straight Arrow Connector 10"/>
            <p:cNvCxnSpPr>
              <a:stCxn id="10" idx="2"/>
            </p:cNvCxnSpPr>
            <p:nvPr/>
          </p:nvCxnSpPr>
          <p:spPr bwMode="auto">
            <a:xfrm flipH="1">
              <a:off x="2548715" y="4240777"/>
              <a:ext cx="1058107" cy="1287187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648061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x86 paging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Need to translate </a:t>
            </a:r>
          </a:p>
          <a:p>
            <a:pPr lvl="1"/>
            <a:r>
              <a:rPr lang="en-US" dirty="0"/>
              <a:t>from: 	virtual addresses</a:t>
            </a:r>
          </a:p>
          <a:p>
            <a:pPr lvl="1"/>
            <a:r>
              <a:rPr lang="en-US" dirty="0"/>
              <a:t>to:	physical addresses</a:t>
            </a:r>
          </a:p>
          <a:p>
            <a:pPr lvl="1"/>
            <a:endParaRPr lang="en-US" dirty="0"/>
          </a:p>
          <a:p>
            <a:r>
              <a:rPr lang="en-US" dirty="0"/>
              <a:t>Translation is cached on-chip TLB</a:t>
            </a:r>
          </a:p>
          <a:p>
            <a:pPr lvl="1"/>
            <a:r>
              <a:rPr lang="en-US" dirty="0"/>
              <a:t>(Translation Lookaside Buffer)</a:t>
            </a:r>
          </a:p>
          <a:p>
            <a:pPr lvl="1"/>
            <a:endParaRPr lang="en-US" dirty="0"/>
          </a:p>
          <a:p>
            <a:r>
              <a:rPr lang="en-US" dirty="0"/>
              <a:t>Page table is read &amp; modified by HW</a:t>
            </a:r>
          </a:p>
          <a:p>
            <a:pPr lvl="1"/>
            <a:r>
              <a:rPr lang="en-US" dirty="0"/>
              <a:t>(Access/dirty bit)</a:t>
            </a:r>
            <a:br>
              <a:rPr lang="en-US" dirty="0"/>
            </a:br>
            <a:endParaRPr lang="en-US" dirty="0"/>
          </a:p>
          <a:p>
            <a:r>
              <a:rPr lang="en-US" dirty="0"/>
              <a:t>Each process has its own virtual address space</a:t>
            </a:r>
          </a:p>
          <a:p>
            <a:pPr lvl="1"/>
            <a:r>
              <a:rPr lang="en-US" dirty="0"/>
              <a:t>Page table pointed to by CR3 register</a:t>
            </a:r>
          </a:p>
          <a:p>
            <a:pPr lvl="1"/>
            <a:r>
              <a:rPr lang="en-US" dirty="0"/>
              <a:t>During context switch the OS updates the value of CR3.</a:t>
            </a:r>
          </a:p>
          <a:p>
            <a:pPr lvl="1"/>
            <a:endParaRPr lang="en-US" dirty="0"/>
          </a:p>
          <a:p>
            <a:r>
              <a:rPr lang="en-US" dirty="0"/>
              <a:t>Page table is a hierarchical structure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50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6"/>
          <p:cNvSpPr>
            <a:spLocks noChangeArrowheads="1"/>
          </p:cNvSpPr>
          <p:nvPr/>
        </p:nvSpPr>
        <p:spPr bwMode="auto">
          <a:xfrm>
            <a:off x="1828800" y="1557338"/>
            <a:ext cx="793750" cy="347662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77788" tIns="39688" rIns="77788" bIns="39688" anchor="ctr"/>
          <a:lstStyle/>
          <a:p>
            <a:pPr algn="ctr" defTabSz="661988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dirty="0">
                <a:solidFill>
                  <a:srgbClr val="000000"/>
                </a:solidFill>
                <a:latin typeface="Arial" charset="0"/>
                <a:cs typeface="Arial" charset="0"/>
              </a:rPr>
              <a:t>sign ext.</a:t>
            </a:r>
          </a:p>
        </p:txBody>
      </p:sp>
      <p:sp>
        <p:nvSpPr>
          <p:cNvPr id="34820" name="Rectangle 4"/>
          <p:cNvSpPr>
            <a:spLocks noChangeArrowheads="1"/>
          </p:cNvSpPr>
          <p:nvPr/>
        </p:nvSpPr>
        <p:spPr bwMode="auto">
          <a:xfrm>
            <a:off x="6605588" y="1379538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0</a:t>
            </a:r>
          </a:p>
        </p:txBody>
      </p:sp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4249738" y="1379538"/>
            <a:ext cx="1460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29</a:t>
            </a:r>
          </a:p>
        </p:txBody>
      </p:sp>
      <p:sp>
        <p:nvSpPr>
          <p:cNvPr id="34822" name="Rectangle 6"/>
          <p:cNvSpPr>
            <a:spLocks noChangeArrowheads="1"/>
          </p:cNvSpPr>
          <p:nvPr/>
        </p:nvSpPr>
        <p:spPr bwMode="auto">
          <a:xfrm>
            <a:off x="4211638" y="1557338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DIR</a:t>
            </a:r>
          </a:p>
        </p:txBody>
      </p:sp>
      <p:sp>
        <p:nvSpPr>
          <p:cNvPr id="34823" name="Rectangle 7"/>
          <p:cNvSpPr>
            <a:spLocks noChangeArrowheads="1"/>
          </p:cNvSpPr>
          <p:nvPr/>
        </p:nvSpPr>
        <p:spPr bwMode="auto">
          <a:xfrm>
            <a:off x="5006975" y="1557338"/>
            <a:ext cx="790575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TABLE</a:t>
            </a:r>
          </a:p>
        </p:txBody>
      </p:sp>
      <p:sp>
        <p:nvSpPr>
          <p:cNvPr id="34824" name="Rectangle 8"/>
          <p:cNvSpPr>
            <a:spLocks noChangeArrowheads="1"/>
          </p:cNvSpPr>
          <p:nvPr/>
        </p:nvSpPr>
        <p:spPr bwMode="auto">
          <a:xfrm>
            <a:off x="5799138" y="1557338"/>
            <a:ext cx="903287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OFFSET</a:t>
            </a:r>
          </a:p>
        </p:txBody>
      </p:sp>
      <p:sp>
        <p:nvSpPr>
          <p:cNvPr id="34825" name="Rectangle 27"/>
          <p:cNvSpPr>
            <a:spLocks noChangeArrowheads="1"/>
          </p:cNvSpPr>
          <p:nvPr/>
        </p:nvSpPr>
        <p:spPr bwMode="auto">
          <a:xfrm>
            <a:off x="2825750" y="1066800"/>
            <a:ext cx="2873375" cy="236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/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 b="1">
                <a:solidFill>
                  <a:srgbClr val="000000"/>
                </a:solidFill>
                <a:latin typeface="Arial" charset="0"/>
                <a:cs typeface="Arial" charset="0"/>
              </a:rPr>
              <a:t>Linear Address Space (4K Page)</a:t>
            </a:r>
          </a:p>
        </p:txBody>
      </p:sp>
      <p:sp>
        <p:nvSpPr>
          <p:cNvPr id="34826" name="Rectangle 28"/>
          <p:cNvSpPr>
            <a:spLocks noChangeArrowheads="1"/>
          </p:cNvSpPr>
          <p:nvPr/>
        </p:nvSpPr>
        <p:spPr bwMode="auto">
          <a:xfrm>
            <a:off x="1828800" y="1568450"/>
            <a:ext cx="4873625" cy="3270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27" name="Rectangle 30"/>
          <p:cNvSpPr>
            <a:spLocks noChangeArrowheads="1"/>
          </p:cNvSpPr>
          <p:nvPr/>
        </p:nvSpPr>
        <p:spPr bwMode="auto">
          <a:xfrm>
            <a:off x="5805488" y="1379538"/>
            <a:ext cx="1460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11</a:t>
            </a:r>
          </a:p>
        </p:txBody>
      </p:sp>
      <p:sp>
        <p:nvSpPr>
          <p:cNvPr id="34828" name="Rectangle 31"/>
          <p:cNvSpPr>
            <a:spLocks noChangeArrowheads="1"/>
          </p:cNvSpPr>
          <p:nvPr/>
        </p:nvSpPr>
        <p:spPr bwMode="auto">
          <a:xfrm>
            <a:off x="5051425" y="1379538"/>
            <a:ext cx="1492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20</a:t>
            </a:r>
          </a:p>
        </p:txBody>
      </p:sp>
      <p:sp>
        <p:nvSpPr>
          <p:cNvPr id="34829" name="Line 9"/>
          <p:cNvSpPr>
            <a:spLocks noChangeShapeType="1"/>
          </p:cNvSpPr>
          <p:nvPr/>
        </p:nvSpPr>
        <p:spPr bwMode="auto">
          <a:xfrm>
            <a:off x="5414963" y="1905000"/>
            <a:ext cx="0" cy="2133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30" name="Line 10"/>
          <p:cNvSpPr>
            <a:spLocks noChangeShapeType="1"/>
          </p:cNvSpPr>
          <p:nvPr/>
        </p:nvSpPr>
        <p:spPr bwMode="auto">
          <a:xfrm>
            <a:off x="5421313" y="4032250"/>
            <a:ext cx="341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31" name="Rectangle 11"/>
          <p:cNvSpPr>
            <a:spLocks noChangeArrowheads="1"/>
          </p:cNvSpPr>
          <p:nvPr/>
        </p:nvSpPr>
        <p:spPr bwMode="auto">
          <a:xfrm>
            <a:off x="5588000" y="2960688"/>
            <a:ext cx="1017588" cy="40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/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512 entry</a:t>
            </a:r>
            <a:b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Page Table</a:t>
            </a:r>
          </a:p>
        </p:txBody>
      </p:sp>
      <p:sp>
        <p:nvSpPr>
          <p:cNvPr id="34832" name="Rectangle 14"/>
          <p:cNvSpPr>
            <a:spLocks noChangeArrowheads="1"/>
          </p:cNvSpPr>
          <p:nvPr/>
        </p:nvSpPr>
        <p:spPr bwMode="auto">
          <a:xfrm>
            <a:off x="4519613" y="3035300"/>
            <a:ext cx="871537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/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512 entry</a:t>
            </a:r>
          </a:p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Page </a:t>
            </a:r>
            <a:b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Directory</a:t>
            </a:r>
          </a:p>
        </p:txBody>
      </p:sp>
      <p:grpSp>
        <p:nvGrpSpPr>
          <p:cNvPr id="34833" name="Group 42"/>
          <p:cNvGrpSpPr>
            <a:grpSpLocks/>
          </p:cNvGrpSpPr>
          <p:nvPr/>
        </p:nvGrpSpPr>
        <p:grpSpPr bwMode="auto">
          <a:xfrm>
            <a:off x="4613275" y="3614738"/>
            <a:ext cx="717550" cy="1258887"/>
            <a:chOff x="4841199" y="3724286"/>
            <a:chExt cx="1029258" cy="1258892"/>
          </a:xfrm>
        </p:grpSpPr>
        <p:sp>
          <p:nvSpPr>
            <p:cNvPr id="34899" name="Rectangle 15"/>
            <p:cNvSpPr>
              <a:spLocks noChangeArrowheads="1"/>
            </p:cNvSpPr>
            <p:nvPr/>
          </p:nvSpPr>
          <p:spPr bwMode="auto">
            <a:xfrm>
              <a:off x="4841199" y="3724286"/>
              <a:ext cx="1029258" cy="1258892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he-IL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900" name="Rectangle 16"/>
            <p:cNvSpPr>
              <a:spLocks noChangeArrowheads="1"/>
            </p:cNvSpPr>
            <p:nvPr/>
          </p:nvSpPr>
          <p:spPr bwMode="auto">
            <a:xfrm>
              <a:off x="4849905" y="4625792"/>
              <a:ext cx="1013014" cy="1682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18288" rIns="0" bIns="0" anchor="ctr"/>
            <a:lstStyle/>
            <a:p>
              <a:pPr algn="ctr" defTabSz="414338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  <a:latin typeface="Arial" charset="0"/>
                  <a:cs typeface="Arial" charset="0"/>
                </a:rPr>
                <a:t>PDE</a:t>
              </a:r>
            </a:p>
          </p:txBody>
        </p:sp>
      </p:grpSp>
      <p:sp>
        <p:nvSpPr>
          <p:cNvPr id="34834" name="Line 21"/>
          <p:cNvSpPr>
            <a:spLocks noChangeShapeType="1"/>
          </p:cNvSpPr>
          <p:nvPr/>
        </p:nvSpPr>
        <p:spPr bwMode="auto">
          <a:xfrm>
            <a:off x="5334000" y="4606925"/>
            <a:ext cx="428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35" name="Rectangle 22"/>
          <p:cNvSpPr>
            <a:spLocks noChangeArrowheads="1"/>
          </p:cNvSpPr>
          <p:nvPr/>
        </p:nvSpPr>
        <p:spPr bwMode="auto">
          <a:xfrm>
            <a:off x="6858000" y="2182813"/>
            <a:ext cx="703263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/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4KByte</a:t>
            </a:r>
            <a:b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Page</a:t>
            </a:r>
          </a:p>
        </p:txBody>
      </p:sp>
      <p:grpSp>
        <p:nvGrpSpPr>
          <p:cNvPr id="34836" name="Group 52"/>
          <p:cNvGrpSpPr>
            <a:grpSpLocks/>
          </p:cNvGrpSpPr>
          <p:nvPr/>
        </p:nvGrpSpPr>
        <p:grpSpPr bwMode="auto">
          <a:xfrm>
            <a:off x="6892925" y="2586038"/>
            <a:ext cx="661988" cy="1452562"/>
            <a:chOff x="7798271" y="2890843"/>
            <a:chExt cx="1034704" cy="1452564"/>
          </a:xfrm>
        </p:grpSpPr>
        <p:sp>
          <p:nvSpPr>
            <p:cNvPr id="34897" name="Rectangle 23"/>
            <p:cNvSpPr>
              <a:spLocks noChangeArrowheads="1"/>
            </p:cNvSpPr>
            <p:nvPr/>
          </p:nvSpPr>
          <p:spPr bwMode="auto">
            <a:xfrm>
              <a:off x="7803716" y="2890843"/>
              <a:ext cx="1029259" cy="1452564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he-IL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98" name="Rectangle 24"/>
            <p:cNvSpPr>
              <a:spLocks noChangeArrowheads="1"/>
            </p:cNvSpPr>
            <p:nvPr/>
          </p:nvSpPr>
          <p:spPr bwMode="auto">
            <a:xfrm>
              <a:off x="7798271" y="3011488"/>
              <a:ext cx="1034704" cy="287338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61912" tIns="31750" rIns="61912" bIns="31750" anchor="ctr"/>
            <a:lstStyle/>
            <a:p>
              <a:pPr algn="ctr" defTabSz="414338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300">
                  <a:solidFill>
                    <a:srgbClr val="000000"/>
                  </a:solidFill>
                  <a:latin typeface="Arial" charset="0"/>
                  <a:cs typeface="Arial" charset="0"/>
                </a:rPr>
                <a:t>data</a:t>
              </a:r>
            </a:p>
          </p:txBody>
        </p:sp>
      </p:grpSp>
      <p:sp>
        <p:nvSpPr>
          <p:cNvPr id="34837" name="Line 25"/>
          <p:cNvSpPr>
            <a:spLocks noChangeShapeType="1"/>
          </p:cNvSpPr>
          <p:nvPr/>
        </p:nvSpPr>
        <p:spPr bwMode="auto">
          <a:xfrm>
            <a:off x="6254750" y="1905000"/>
            <a:ext cx="0" cy="9382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38" name="Line 26"/>
          <p:cNvSpPr>
            <a:spLocks noChangeShapeType="1"/>
          </p:cNvSpPr>
          <p:nvPr/>
        </p:nvSpPr>
        <p:spPr bwMode="auto">
          <a:xfrm>
            <a:off x="6251575" y="2844800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39" name="Line 32"/>
          <p:cNvSpPr>
            <a:spLocks noChangeShapeType="1"/>
          </p:cNvSpPr>
          <p:nvPr/>
        </p:nvSpPr>
        <p:spPr bwMode="auto">
          <a:xfrm>
            <a:off x="6448425" y="4038600"/>
            <a:ext cx="4508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40" name="Line 20"/>
          <p:cNvSpPr>
            <a:spLocks noChangeShapeType="1"/>
          </p:cNvSpPr>
          <p:nvPr/>
        </p:nvSpPr>
        <p:spPr bwMode="auto">
          <a:xfrm flipH="1">
            <a:off x="5378450" y="2292350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41" name="Line 20"/>
          <p:cNvSpPr>
            <a:spLocks noChangeShapeType="1"/>
          </p:cNvSpPr>
          <p:nvPr/>
        </p:nvSpPr>
        <p:spPr bwMode="auto">
          <a:xfrm flipH="1">
            <a:off x="6215063" y="2298700"/>
            <a:ext cx="79375" cy="84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grpSp>
        <p:nvGrpSpPr>
          <p:cNvPr id="34842" name="Group 65"/>
          <p:cNvGrpSpPr>
            <a:grpSpLocks/>
          </p:cNvGrpSpPr>
          <p:nvPr/>
        </p:nvGrpSpPr>
        <p:grpSpPr bwMode="auto">
          <a:xfrm>
            <a:off x="4305300" y="1911350"/>
            <a:ext cx="493713" cy="2684463"/>
            <a:chOff x="5676760" y="1987854"/>
            <a:chExt cx="493388" cy="2684680"/>
          </a:xfrm>
        </p:grpSpPr>
        <p:sp>
          <p:nvSpPr>
            <p:cNvPr id="34891" name="Line 17"/>
            <p:cNvSpPr>
              <a:spLocks noChangeShapeType="1"/>
            </p:cNvSpPr>
            <p:nvPr/>
          </p:nvSpPr>
          <p:spPr bwMode="auto">
            <a:xfrm>
              <a:off x="5676760" y="2828775"/>
              <a:ext cx="0" cy="184375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92" name="Line 18"/>
            <p:cNvSpPr>
              <a:spLocks noChangeShapeType="1"/>
            </p:cNvSpPr>
            <p:nvPr/>
          </p:nvSpPr>
          <p:spPr bwMode="auto">
            <a:xfrm>
              <a:off x="5676760" y="4669824"/>
              <a:ext cx="2743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93" name="Line 19"/>
            <p:cNvSpPr>
              <a:spLocks noChangeShapeType="1"/>
            </p:cNvSpPr>
            <p:nvPr/>
          </p:nvSpPr>
          <p:spPr bwMode="auto">
            <a:xfrm>
              <a:off x="5676760" y="2832699"/>
              <a:ext cx="29454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94" name="Line 20"/>
            <p:cNvSpPr>
              <a:spLocks noChangeShapeType="1"/>
            </p:cNvSpPr>
            <p:nvPr/>
          </p:nvSpPr>
          <p:spPr bwMode="auto">
            <a:xfrm>
              <a:off x="5976784" y="1987854"/>
              <a:ext cx="0" cy="83812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95" name="Line 20"/>
            <p:cNvSpPr>
              <a:spLocks noChangeShapeType="1"/>
            </p:cNvSpPr>
            <p:nvPr/>
          </p:nvSpPr>
          <p:spPr bwMode="auto">
            <a:xfrm flipH="1">
              <a:off x="5936934" y="2362094"/>
              <a:ext cx="79171" cy="829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96" name="Rectangle 5"/>
            <p:cNvSpPr>
              <a:spLocks noChangeArrowheads="1"/>
            </p:cNvSpPr>
            <p:nvPr/>
          </p:nvSpPr>
          <p:spPr bwMode="auto">
            <a:xfrm>
              <a:off x="6037797" y="2319518"/>
              <a:ext cx="132351" cy="203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/>
            <a:lstStyle/>
            <a:p>
              <a:pPr algn="ctr" defTabSz="661988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cs typeface="Arial" charset="0"/>
                </a:rPr>
                <a:t>9</a:t>
              </a:r>
            </a:p>
          </p:txBody>
        </p:sp>
      </p:grpSp>
      <p:sp>
        <p:nvSpPr>
          <p:cNvPr id="34843" name="Rectangle 5"/>
          <p:cNvSpPr>
            <a:spLocks noChangeArrowheads="1"/>
          </p:cNvSpPr>
          <p:nvPr/>
        </p:nvSpPr>
        <p:spPr bwMode="auto">
          <a:xfrm>
            <a:off x="5484813" y="2257425"/>
            <a:ext cx="1333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9</a:t>
            </a:r>
          </a:p>
        </p:txBody>
      </p:sp>
      <p:sp>
        <p:nvSpPr>
          <p:cNvPr id="34844" name="Rectangle 5"/>
          <p:cNvSpPr>
            <a:spLocks noChangeArrowheads="1"/>
          </p:cNvSpPr>
          <p:nvPr/>
        </p:nvSpPr>
        <p:spPr bwMode="auto">
          <a:xfrm>
            <a:off x="6299200" y="2270125"/>
            <a:ext cx="1317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12</a:t>
            </a:r>
          </a:p>
        </p:txBody>
      </p:sp>
      <p:grpSp>
        <p:nvGrpSpPr>
          <p:cNvPr id="34845" name="Group 43"/>
          <p:cNvGrpSpPr>
            <a:grpSpLocks/>
          </p:cNvGrpSpPr>
          <p:nvPr/>
        </p:nvGrpSpPr>
        <p:grpSpPr bwMode="auto">
          <a:xfrm>
            <a:off x="5756275" y="3355975"/>
            <a:ext cx="692150" cy="1260475"/>
            <a:chOff x="6471312" y="3519478"/>
            <a:chExt cx="1029258" cy="1260471"/>
          </a:xfrm>
        </p:grpSpPr>
        <p:sp>
          <p:nvSpPr>
            <p:cNvPr id="34889" name="Rectangle 12"/>
            <p:cNvSpPr>
              <a:spLocks noChangeArrowheads="1"/>
            </p:cNvSpPr>
            <p:nvPr/>
          </p:nvSpPr>
          <p:spPr bwMode="auto">
            <a:xfrm>
              <a:off x="6471312" y="3519478"/>
              <a:ext cx="1029258" cy="1260471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he-IL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90" name="Rectangle 16"/>
            <p:cNvSpPr>
              <a:spLocks noChangeArrowheads="1"/>
            </p:cNvSpPr>
            <p:nvPr/>
          </p:nvSpPr>
          <p:spPr bwMode="auto">
            <a:xfrm>
              <a:off x="6477000" y="4114800"/>
              <a:ext cx="1013014" cy="168275"/>
            </a:xfrm>
            <a:prstGeom prst="rect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0" tIns="18288" rIns="0" bIns="0" anchor="ctr"/>
            <a:lstStyle/>
            <a:p>
              <a:pPr algn="ctr" defTabSz="414338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>
                  <a:solidFill>
                    <a:srgbClr val="000000"/>
                  </a:solidFill>
                  <a:latin typeface="Arial" charset="0"/>
                  <a:cs typeface="Arial" charset="0"/>
                </a:rPr>
                <a:t>PTE</a:t>
              </a:r>
            </a:p>
          </p:txBody>
        </p:sp>
      </p:grpSp>
      <p:grpSp>
        <p:nvGrpSpPr>
          <p:cNvPr id="34846" name="Group 60"/>
          <p:cNvGrpSpPr>
            <a:grpSpLocks/>
          </p:cNvGrpSpPr>
          <p:nvPr/>
        </p:nvGrpSpPr>
        <p:grpSpPr bwMode="auto">
          <a:xfrm>
            <a:off x="2000250" y="5330825"/>
            <a:ext cx="1404809" cy="1070083"/>
            <a:chOff x="4038600" y="5787680"/>
            <a:chExt cx="1405185" cy="1070457"/>
          </a:xfrm>
        </p:grpSpPr>
        <p:sp>
          <p:nvSpPr>
            <p:cNvPr id="34884" name="Line 33"/>
            <p:cNvSpPr>
              <a:spLocks noChangeShapeType="1"/>
            </p:cNvSpPr>
            <p:nvPr/>
          </p:nvSpPr>
          <p:spPr bwMode="auto">
            <a:xfrm flipV="1">
              <a:off x="4038600" y="5787680"/>
              <a:ext cx="27435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85" name="Rectangle 34"/>
            <p:cNvSpPr>
              <a:spLocks noChangeArrowheads="1"/>
            </p:cNvSpPr>
            <p:nvPr/>
          </p:nvSpPr>
          <p:spPr bwMode="auto">
            <a:xfrm>
              <a:off x="4450136" y="6549610"/>
              <a:ext cx="545167" cy="3085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b="1" dirty="0">
                  <a:solidFill>
                    <a:srgbClr val="0000FF"/>
                  </a:solidFill>
                  <a:latin typeface="Arial" charset="0"/>
                  <a:cs typeface="Arial" charset="0"/>
                </a:rPr>
                <a:t>CR3</a:t>
              </a:r>
              <a:endParaRPr lang="en-US" dirty="0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86" name="Line 9"/>
            <p:cNvSpPr>
              <a:spLocks noChangeShapeType="1"/>
            </p:cNvSpPr>
            <p:nvPr/>
          </p:nvSpPr>
          <p:spPr bwMode="auto">
            <a:xfrm>
              <a:off x="4038600" y="5787680"/>
              <a:ext cx="548714" cy="7619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87" name="Line 20"/>
            <p:cNvSpPr>
              <a:spLocks noChangeShapeType="1"/>
            </p:cNvSpPr>
            <p:nvPr/>
          </p:nvSpPr>
          <p:spPr bwMode="auto">
            <a:xfrm flipH="1">
              <a:off x="4125347" y="5933342"/>
              <a:ext cx="79171" cy="8291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sz="1200" b="1">
                <a:solidFill>
                  <a:srgbClr val="000000"/>
                </a:solidFill>
                <a:latin typeface="Arial" charset="0"/>
                <a:cs typeface="Arial" charset="0"/>
              </a:endParaRPr>
            </a:p>
          </p:txBody>
        </p:sp>
        <p:sp>
          <p:nvSpPr>
            <p:cNvPr id="34888" name="Rectangle 5"/>
            <p:cNvSpPr>
              <a:spLocks noChangeArrowheads="1"/>
            </p:cNvSpPr>
            <p:nvPr/>
          </p:nvSpPr>
          <p:spPr bwMode="auto">
            <a:xfrm>
              <a:off x="4191021" y="5863873"/>
              <a:ext cx="1252764" cy="2300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7788" tIns="39688" rIns="77788" bIns="39688" anchor="ctr"/>
            <a:lstStyle/>
            <a:p>
              <a:pPr algn="ctr" defTabSz="661988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sz="1200">
                  <a:solidFill>
                    <a:srgbClr val="000000"/>
                  </a:solidFill>
                  <a:latin typeface="Arial" charset="0"/>
                  <a:cs typeface="Arial" charset="0"/>
                </a:rPr>
                <a:t>40  (4KB aligned)</a:t>
              </a:r>
            </a:p>
          </p:txBody>
        </p:sp>
      </p:grpSp>
      <p:sp>
        <p:nvSpPr>
          <p:cNvPr id="34847" name="Line 20"/>
          <p:cNvSpPr>
            <a:spLocks noChangeShapeType="1"/>
          </p:cNvSpPr>
          <p:nvPr/>
        </p:nvSpPr>
        <p:spPr bwMode="auto">
          <a:xfrm flipH="1">
            <a:off x="6596063" y="3990975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48" name="Rectangle 5"/>
          <p:cNvSpPr>
            <a:spLocks noChangeArrowheads="1"/>
          </p:cNvSpPr>
          <p:nvPr/>
        </p:nvSpPr>
        <p:spPr bwMode="auto">
          <a:xfrm>
            <a:off x="6588125" y="4094163"/>
            <a:ext cx="1317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28</a:t>
            </a:r>
          </a:p>
        </p:txBody>
      </p:sp>
      <p:sp>
        <p:nvSpPr>
          <p:cNvPr id="34849" name="Line 20"/>
          <p:cNvSpPr>
            <a:spLocks noChangeShapeType="1"/>
          </p:cNvSpPr>
          <p:nvPr/>
        </p:nvSpPr>
        <p:spPr bwMode="auto">
          <a:xfrm flipH="1">
            <a:off x="5432425" y="4557713"/>
            <a:ext cx="79375" cy="841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50" name="Rectangle 5"/>
          <p:cNvSpPr>
            <a:spLocks noChangeArrowheads="1"/>
          </p:cNvSpPr>
          <p:nvPr/>
        </p:nvSpPr>
        <p:spPr bwMode="auto">
          <a:xfrm>
            <a:off x="5424488" y="4660900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31</a:t>
            </a:r>
          </a:p>
        </p:txBody>
      </p:sp>
      <p:sp>
        <p:nvSpPr>
          <p:cNvPr id="34851" name="Rectangle 30"/>
          <p:cNvSpPr>
            <a:spLocks noChangeArrowheads="1"/>
          </p:cNvSpPr>
          <p:nvPr/>
        </p:nvSpPr>
        <p:spPr bwMode="auto">
          <a:xfrm>
            <a:off x="5619750" y="1377950"/>
            <a:ext cx="1460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12</a:t>
            </a:r>
          </a:p>
        </p:txBody>
      </p:sp>
      <p:sp>
        <p:nvSpPr>
          <p:cNvPr id="34852" name="Rectangle 31"/>
          <p:cNvSpPr>
            <a:spLocks noChangeArrowheads="1"/>
          </p:cNvSpPr>
          <p:nvPr/>
        </p:nvSpPr>
        <p:spPr bwMode="auto">
          <a:xfrm>
            <a:off x="4814888" y="1377950"/>
            <a:ext cx="149225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21</a:t>
            </a:r>
          </a:p>
        </p:txBody>
      </p:sp>
      <p:sp>
        <p:nvSpPr>
          <p:cNvPr id="34853" name="Rectangle 5"/>
          <p:cNvSpPr>
            <a:spLocks noChangeArrowheads="1"/>
          </p:cNvSpPr>
          <p:nvPr/>
        </p:nvSpPr>
        <p:spPr bwMode="auto">
          <a:xfrm>
            <a:off x="4027488" y="1377950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30</a:t>
            </a:r>
          </a:p>
        </p:txBody>
      </p:sp>
      <p:sp>
        <p:nvSpPr>
          <p:cNvPr id="34854" name="Rectangle 5"/>
          <p:cNvSpPr>
            <a:spLocks noChangeArrowheads="1"/>
          </p:cNvSpPr>
          <p:nvPr/>
        </p:nvSpPr>
        <p:spPr bwMode="auto">
          <a:xfrm>
            <a:off x="3455988" y="1371600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38</a:t>
            </a:r>
          </a:p>
        </p:txBody>
      </p:sp>
      <p:sp>
        <p:nvSpPr>
          <p:cNvPr id="34855" name="Rectangle 14"/>
          <p:cNvSpPr>
            <a:spLocks noChangeArrowheads="1"/>
          </p:cNvSpPr>
          <p:nvPr/>
        </p:nvSpPr>
        <p:spPr bwMode="auto">
          <a:xfrm>
            <a:off x="3379788" y="2971800"/>
            <a:ext cx="869950" cy="92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/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512 entry</a:t>
            </a:r>
            <a:b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Page </a:t>
            </a:r>
            <a:b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Directory</a:t>
            </a:r>
          </a:p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Pointer</a:t>
            </a:r>
            <a:b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Table</a:t>
            </a:r>
          </a:p>
        </p:txBody>
      </p:sp>
      <p:sp>
        <p:nvSpPr>
          <p:cNvPr id="34856" name="Rectangle 15"/>
          <p:cNvSpPr>
            <a:spLocks noChangeArrowheads="1"/>
          </p:cNvSpPr>
          <p:nvPr/>
        </p:nvSpPr>
        <p:spPr bwMode="auto">
          <a:xfrm>
            <a:off x="3473450" y="3886200"/>
            <a:ext cx="717550" cy="1203325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57" name="Rectangle 16"/>
          <p:cNvSpPr>
            <a:spLocks noChangeArrowheads="1"/>
          </p:cNvSpPr>
          <p:nvPr/>
        </p:nvSpPr>
        <p:spPr bwMode="auto">
          <a:xfrm>
            <a:off x="3478213" y="4768850"/>
            <a:ext cx="706437" cy="168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18288" rIns="0" bIns="0" anchor="ctr"/>
          <a:lstStyle/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 sz="1100">
                <a:solidFill>
                  <a:srgbClr val="000000"/>
                </a:solidFill>
                <a:latin typeface="Arial" charset="0"/>
                <a:cs typeface="Arial" charset="0"/>
              </a:rPr>
              <a:t>PDP entry</a:t>
            </a:r>
          </a:p>
        </p:txBody>
      </p:sp>
      <p:sp>
        <p:nvSpPr>
          <p:cNvPr id="34858" name="Line 18"/>
          <p:cNvSpPr>
            <a:spLocks noChangeShapeType="1"/>
          </p:cNvSpPr>
          <p:nvPr/>
        </p:nvSpPr>
        <p:spPr bwMode="auto">
          <a:xfrm>
            <a:off x="4194175" y="4849813"/>
            <a:ext cx="419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59" name="Line 20"/>
          <p:cNvSpPr>
            <a:spLocks noChangeShapeType="1"/>
          </p:cNvSpPr>
          <p:nvPr/>
        </p:nvSpPr>
        <p:spPr bwMode="auto">
          <a:xfrm flipH="1">
            <a:off x="4321175" y="4808538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60" name="Rectangle 5"/>
          <p:cNvSpPr>
            <a:spLocks noChangeArrowheads="1"/>
          </p:cNvSpPr>
          <p:nvPr/>
        </p:nvSpPr>
        <p:spPr bwMode="auto">
          <a:xfrm>
            <a:off x="4311650" y="4911725"/>
            <a:ext cx="133350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31</a:t>
            </a:r>
          </a:p>
        </p:txBody>
      </p:sp>
      <p:sp>
        <p:nvSpPr>
          <p:cNvPr id="34861" name="Line 17"/>
          <p:cNvSpPr>
            <a:spLocks noChangeShapeType="1"/>
          </p:cNvSpPr>
          <p:nvPr/>
        </p:nvSpPr>
        <p:spPr bwMode="auto">
          <a:xfrm>
            <a:off x="3195638" y="2743200"/>
            <a:ext cx="0" cy="211931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62" name="Line 18"/>
          <p:cNvSpPr>
            <a:spLocks noChangeShapeType="1"/>
          </p:cNvSpPr>
          <p:nvPr/>
        </p:nvSpPr>
        <p:spPr bwMode="auto">
          <a:xfrm>
            <a:off x="3195638" y="4860925"/>
            <a:ext cx="2746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63" name="Line 19"/>
          <p:cNvSpPr>
            <a:spLocks noChangeShapeType="1"/>
          </p:cNvSpPr>
          <p:nvPr/>
        </p:nvSpPr>
        <p:spPr bwMode="auto">
          <a:xfrm>
            <a:off x="3200400" y="2749550"/>
            <a:ext cx="6318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64" name="Line 20"/>
          <p:cNvSpPr>
            <a:spLocks noChangeShapeType="1"/>
          </p:cNvSpPr>
          <p:nvPr/>
        </p:nvSpPr>
        <p:spPr bwMode="auto">
          <a:xfrm>
            <a:off x="3829050" y="1905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65" name="Line 20"/>
          <p:cNvSpPr>
            <a:spLocks noChangeShapeType="1"/>
          </p:cNvSpPr>
          <p:nvPr/>
        </p:nvSpPr>
        <p:spPr bwMode="auto">
          <a:xfrm flipH="1">
            <a:off x="3789363" y="2279650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66" name="Rectangle 5"/>
          <p:cNvSpPr>
            <a:spLocks noChangeArrowheads="1"/>
          </p:cNvSpPr>
          <p:nvPr/>
        </p:nvSpPr>
        <p:spPr bwMode="auto">
          <a:xfrm>
            <a:off x="3890963" y="2236788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9</a:t>
            </a:r>
          </a:p>
        </p:txBody>
      </p:sp>
      <p:sp>
        <p:nvSpPr>
          <p:cNvPr id="34867" name="Rectangle 6"/>
          <p:cNvSpPr>
            <a:spLocks noChangeArrowheads="1"/>
          </p:cNvSpPr>
          <p:nvPr/>
        </p:nvSpPr>
        <p:spPr bwMode="auto">
          <a:xfrm>
            <a:off x="3417888" y="1557338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PDP</a:t>
            </a:r>
          </a:p>
        </p:txBody>
      </p:sp>
      <p:sp>
        <p:nvSpPr>
          <p:cNvPr id="34868" name="Rectangle 6"/>
          <p:cNvSpPr>
            <a:spLocks noChangeArrowheads="1"/>
          </p:cNvSpPr>
          <p:nvPr/>
        </p:nvSpPr>
        <p:spPr bwMode="auto">
          <a:xfrm>
            <a:off x="2622550" y="1557338"/>
            <a:ext cx="793750" cy="3476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PML4</a:t>
            </a:r>
          </a:p>
        </p:txBody>
      </p:sp>
      <p:sp>
        <p:nvSpPr>
          <p:cNvPr id="34869" name="Rectangle 5"/>
          <p:cNvSpPr>
            <a:spLocks noChangeArrowheads="1"/>
          </p:cNvSpPr>
          <p:nvPr/>
        </p:nvSpPr>
        <p:spPr bwMode="auto">
          <a:xfrm>
            <a:off x="3232150" y="1371600"/>
            <a:ext cx="1476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39</a:t>
            </a:r>
          </a:p>
        </p:txBody>
      </p:sp>
      <p:sp>
        <p:nvSpPr>
          <p:cNvPr id="34870" name="Rectangle 5"/>
          <p:cNvSpPr>
            <a:spLocks noChangeArrowheads="1"/>
          </p:cNvSpPr>
          <p:nvPr/>
        </p:nvSpPr>
        <p:spPr bwMode="auto">
          <a:xfrm>
            <a:off x="2671763" y="1371600"/>
            <a:ext cx="147637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47</a:t>
            </a:r>
          </a:p>
        </p:txBody>
      </p:sp>
      <p:sp>
        <p:nvSpPr>
          <p:cNvPr id="34871" name="Rectangle 5"/>
          <p:cNvSpPr>
            <a:spLocks noChangeArrowheads="1"/>
          </p:cNvSpPr>
          <p:nvPr/>
        </p:nvSpPr>
        <p:spPr bwMode="auto">
          <a:xfrm>
            <a:off x="1828800" y="1371600"/>
            <a:ext cx="147638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63</a:t>
            </a:r>
          </a:p>
        </p:txBody>
      </p:sp>
      <p:sp>
        <p:nvSpPr>
          <p:cNvPr id="34872" name="Rectangle 14"/>
          <p:cNvSpPr>
            <a:spLocks noChangeArrowheads="1"/>
          </p:cNvSpPr>
          <p:nvPr/>
        </p:nvSpPr>
        <p:spPr bwMode="auto">
          <a:xfrm>
            <a:off x="2165350" y="3543300"/>
            <a:ext cx="86995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61912" tIns="31750" rIns="61912" bIns="31750" anchor="ctr">
            <a:spAutoFit/>
          </a:bodyPr>
          <a:lstStyle/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512 entry</a:t>
            </a:r>
            <a:b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PML4</a:t>
            </a:r>
            <a:b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</a:br>
            <a:r>
              <a:rPr lang="en-US">
                <a:solidFill>
                  <a:srgbClr val="000000"/>
                </a:solidFill>
                <a:latin typeface="Arial" charset="0"/>
                <a:cs typeface="Arial" charset="0"/>
              </a:rPr>
              <a:t>Table</a:t>
            </a:r>
          </a:p>
        </p:txBody>
      </p:sp>
      <p:sp>
        <p:nvSpPr>
          <p:cNvPr id="34873" name="Rectangle 15"/>
          <p:cNvSpPr>
            <a:spLocks noChangeArrowheads="1"/>
          </p:cNvSpPr>
          <p:nvPr/>
        </p:nvSpPr>
        <p:spPr bwMode="auto">
          <a:xfrm>
            <a:off x="2257425" y="4124325"/>
            <a:ext cx="717550" cy="1204913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he-IL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74" name="Rectangle 16"/>
          <p:cNvSpPr>
            <a:spLocks noChangeArrowheads="1"/>
          </p:cNvSpPr>
          <p:nvPr/>
        </p:nvSpPr>
        <p:spPr bwMode="auto">
          <a:xfrm>
            <a:off x="2263775" y="5008563"/>
            <a:ext cx="706438" cy="1682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0" tIns="18288" rIns="0" bIns="0" anchor="ctr"/>
          <a:lstStyle/>
          <a:p>
            <a:pPr algn="ctr" defTabSz="414338">
              <a:spcBef>
                <a:spcPct val="0"/>
              </a:spcBef>
              <a:buClrTx/>
              <a:buSzTx/>
              <a:buFontTx/>
              <a:buNone/>
            </a:pPr>
            <a:r>
              <a:rPr lang="en-US" sz="1100">
                <a:solidFill>
                  <a:srgbClr val="000000"/>
                </a:solidFill>
                <a:latin typeface="Arial" charset="0"/>
                <a:cs typeface="Arial" charset="0"/>
              </a:rPr>
              <a:t>PML4 entry</a:t>
            </a:r>
          </a:p>
        </p:txBody>
      </p:sp>
      <p:sp>
        <p:nvSpPr>
          <p:cNvPr id="34875" name="Line 17"/>
          <p:cNvSpPr>
            <a:spLocks noChangeShapeType="1"/>
          </p:cNvSpPr>
          <p:nvPr/>
        </p:nvSpPr>
        <p:spPr bwMode="auto">
          <a:xfrm>
            <a:off x="1981200" y="2743200"/>
            <a:ext cx="0" cy="2362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76" name="Line 18"/>
          <p:cNvSpPr>
            <a:spLocks noChangeShapeType="1"/>
          </p:cNvSpPr>
          <p:nvPr/>
        </p:nvSpPr>
        <p:spPr bwMode="auto">
          <a:xfrm>
            <a:off x="1981200" y="5099050"/>
            <a:ext cx="2746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77" name="Line 19"/>
          <p:cNvSpPr>
            <a:spLocks noChangeShapeType="1"/>
          </p:cNvSpPr>
          <p:nvPr/>
        </p:nvSpPr>
        <p:spPr bwMode="auto">
          <a:xfrm>
            <a:off x="1985963" y="2749550"/>
            <a:ext cx="10334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78" name="Line 20"/>
          <p:cNvSpPr>
            <a:spLocks noChangeShapeType="1"/>
          </p:cNvSpPr>
          <p:nvPr/>
        </p:nvSpPr>
        <p:spPr bwMode="auto">
          <a:xfrm>
            <a:off x="3016250" y="1905000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79" name="Line 20"/>
          <p:cNvSpPr>
            <a:spLocks noChangeShapeType="1"/>
          </p:cNvSpPr>
          <p:nvPr/>
        </p:nvSpPr>
        <p:spPr bwMode="auto">
          <a:xfrm flipH="1">
            <a:off x="2976563" y="2279650"/>
            <a:ext cx="77787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80" name="Rectangle 5"/>
          <p:cNvSpPr>
            <a:spLocks noChangeArrowheads="1"/>
          </p:cNvSpPr>
          <p:nvPr/>
        </p:nvSpPr>
        <p:spPr bwMode="auto">
          <a:xfrm>
            <a:off x="3068638" y="2209800"/>
            <a:ext cx="131762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9</a:t>
            </a:r>
          </a:p>
        </p:txBody>
      </p:sp>
      <p:sp>
        <p:nvSpPr>
          <p:cNvPr id="34881" name="Line 18"/>
          <p:cNvSpPr>
            <a:spLocks noChangeShapeType="1"/>
          </p:cNvSpPr>
          <p:nvPr/>
        </p:nvSpPr>
        <p:spPr bwMode="auto">
          <a:xfrm>
            <a:off x="2971800" y="5076825"/>
            <a:ext cx="4953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82" name="Line 20"/>
          <p:cNvSpPr>
            <a:spLocks noChangeShapeType="1"/>
          </p:cNvSpPr>
          <p:nvPr/>
        </p:nvSpPr>
        <p:spPr bwMode="auto">
          <a:xfrm flipH="1">
            <a:off x="3160713" y="5035550"/>
            <a:ext cx="79375" cy="82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sz="1200" b="1">
              <a:solidFill>
                <a:srgbClr val="000000"/>
              </a:solidFill>
              <a:latin typeface="Arial" charset="0"/>
              <a:cs typeface="Arial" charset="0"/>
            </a:endParaRPr>
          </a:p>
        </p:txBody>
      </p:sp>
      <p:sp>
        <p:nvSpPr>
          <p:cNvPr id="34883" name="Rectangle 5"/>
          <p:cNvSpPr>
            <a:spLocks noChangeArrowheads="1"/>
          </p:cNvSpPr>
          <p:nvPr/>
        </p:nvSpPr>
        <p:spPr bwMode="auto">
          <a:xfrm>
            <a:off x="3152775" y="5138738"/>
            <a:ext cx="131763" cy="20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7788" tIns="39688" rIns="77788" bIns="39688" anchor="ctr"/>
          <a:lstStyle/>
          <a:p>
            <a:pPr algn="ctr" defTabSz="661988">
              <a:spcBef>
                <a:spcPct val="0"/>
              </a:spcBef>
              <a:buClrTx/>
              <a:buSzTx/>
              <a:buFontTx/>
              <a:buNone/>
            </a:pPr>
            <a:r>
              <a:rPr lang="en-US" sz="1200">
                <a:solidFill>
                  <a:srgbClr val="000000"/>
                </a:solidFill>
                <a:latin typeface="Arial" charset="0"/>
                <a:cs typeface="Arial" charset="0"/>
              </a:rPr>
              <a:t>31</a:t>
            </a:r>
          </a:p>
        </p:txBody>
      </p:sp>
      <p:sp>
        <p:nvSpPr>
          <p:cNvPr id="87" name="Title 1"/>
          <p:cNvSpPr>
            <a:spLocks noGrp="1"/>
          </p:cNvSpPr>
          <p:nvPr>
            <p:ph type="title"/>
          </p:nvPr>
        </p:nvSpPr>
        <p:spPr>
          <a:xfrm>
            <a:off x="152400" y="66675"/>
            <a:ext cx="8839200" cy="619125"/>
          </a:xfrm>
        </p:spPr>
        <p:txBody>
          <a:bodyPr/>
          <a:lstStyle/>
          <a:p>
            <a:r>
              <a:rPr lang="en-US" dirty="0"/>
              <a:t>Reminder: x86 paging</a:t>
            </a:r>
          </a:p>
        </p:txBody>
      </p:sp>
    </p:spTree>
    <p:extLst>
      <p:ext uri="{BB962C8B-B14F-4D97-AF65-F5344CB8AC3E}">
        <p14:creationId xmlns:p14="http://schemas.microsoft.com/office/powerpoint/2010/main" val="1353188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Virtualizing the virtual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we previously had to translate</a:t>
            </a:r>
          </a:p>
          <a:p>
            <a:pPr lvl="1"/>
            <a:r>
              <a:rPr lang="en-US" dirty="0"/>
              <a:t>from: 	virtual addresses</a:t>
            </a:r>
          </a:p>
          <a:p>
            <a:pPr lvl="1"/>
            <a:r>
              <a:rPr lang="en-US" dirty="0"/>
              <a:t>to:	physical addresses</a:t>
            </a:r>
          </a:p>
          <a:p>
            <a:pPr lvl="1"/>
            <a:endParaRPr lang="en-US" dirty="0"/>
          </a:p>
          <a:p>
            <a:r>
              <a:rPr lang="en-US" dirty="0"/>
              <a:t>But the above is actually</a:t>
            </a:r>
          </a:p>
          <a:p>
            <a:pPr lvl="1"/>
            <a:r>
              <a:rPr lang="en-US" dirty="0"/>
              <a:t>from: 	guest virtual addresses (GVA)</a:t>
            </a:r>
          </a:p>
          <a:p>
            <a:pPr lvl="1"/>
            <a:r>
              <a:rPr lang="en-US" dirty="0"/>
              <a:t>to:	guest physical addresses (GPA)</a:t>
            </a:r>
          </a:p>
          <a:p>
            <a:endParaRPr lang="en-US" dirty="0"/>
          </a:p>
          <a:p>
            <a:r>
              <a:rPr lang="en-US" dirty="0"/>
              <a:t>Both GVA &amp; GPA aren’t real</a:t>
            </a:r>
          </a:p>
          <a:p>
            <a:pPr lvl="1"/>
            <a:r>
              <a:rPr lang="en-US" dirty="0"/>
              <a:t>Do not correspond to the physical memory</a:t>
            </a:r>
            <a:br>
              <a:rPr lang="en-US" dirty="0"/>
            </a:br>
            <a:endParaRPr lang="en-US" dirty="0"/>
          </a:p>
          <a:p>
            <a:r>
              <a:rPr lang="en-US" dirty="0"/>
              <a:t>Virtualization therefore requires another level of translation</a:t>
            </a:r>
          </a:p>
          <a:p>
            <a:pPr lvl="1"/>
            <a:r>
              <a:rPr lang="en-US" dirty="0"/>
              <a:t>from: 	guest physical (GPA)</a:t>
            </a:r>
          </a:p>
          <a:p>
            <a:pPr lvl="1"/>
            <a:r>
              <a:rPr lang="en-US" dirty="0"/>
              <a:t>to:	host physical (HPA)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692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Virtualizing the virtual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two ways to accomplish this additional level</a:t>
            </a:r>
          </a:p>
          <a:p>
            <a:pPr lvl="1"/>
            <a:r>
              <a:rPr lang="en-US" dirty="0"/>
              <a:t>With HW support (called EPT or NPT; E=extended; N=nested)</a:t>
            </a:r>
          </a:p>
          <a:p>
            <a:pPr lvl="1"/>
            <a:r>
              <a:rPr lang="en-US" dirty="0"/>
              <a:t>With “shadow page table”</a:t>
            </a:r>
          </a:p>
          <a:p>
            <a:pPr lvl="2"/>
            <a:r>
              <a:rPr lang="en-US" dirty="0"/>
              <a:t>Which requires no HW support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950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Hypervisor computes/builds </a:t>
            </a:r>
            <a:r>
              <a:rPr lang="en-US" dirty="0">
                <a:solidFill>
                  <a:srgbClr val="0000FF"/>
                </a:solidFill>
              </a:rPr>
              <a:t>GVA </a:t>
            </a:r>
            <a:r>
              <a:rPr lang="en-US" dirty="0">
                <a:solidFill>
                  <a:srgbClr val="0000FF"/>
                </a:solidFill>
                <a:sym typeface="Wingdings" pitchFamily="2" charset="2"/>
              </a:rPr>
              <a:t>to </a:t>
            </a:r>
            <a:r>
              <a:rPr lang="en-US" dirty="0">
                <a:solidFill>
                  <a:srgbClr val="0000FF"/>
                </a:solidFill>
              </a:rPr>
              <a:t>HPA</a:t>
            </a:r>
            <a:r>
              <a:rPr lang="en-US" dirty="0"/>
              <a:t> translations on the fly, in response to page faults</a:t>
            </a:r>
          </a:p>
          <a:p>
            <a:pPr lvl="1"/>
            <a:r>
              <a:rPr lang="en-US" dirty="0"/>
              <a:t>Storing them in a new set of page tables called 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shadow page tables</a:t>
            </a:r>
            <a:endParaRPr lang="en-US" dirty="0"/>
          </a:p>
          <a:p>
            <a:pPr lvl="1"/>
            <a:r>
              <a:rPr lang="en-US" dirty="0"/>
              <a:t>Used by hypervisor instead of guest’s inner page tables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To build/maintain shadow page table</a:t>
            </a:r>
          </a:p>
          <a:p>
            <a:pPr lvl="1"/>
            <a:r>
              <a:rPr lang="en-US" dirty="0"/>
              <a:t>Hypervisor traps-and-emulates all changes made by the guest to its page tables by write-protecting them</a:t>
            </a:r>
          </a:p>
          <a:p>
            <a:pPr lvl="2"/>
            <a:r>
              <a:rPr lang="en-US" dirty="0"/>
              <a:t>All page faults are trapped (hypervisor handles interrupts)</a:t>
            </a:r>
          </a:p>
          <a:p>
            <a:pPr lvl="1"/>
            <a:r>
              <a:rPr lang="en-US" dirty="0"/>
              <a:t>Hypervisor walks the original </a:t>
            </a:r>
            <a:r>
              <a:rPr lang="en-US" i="1" dirty="0"/>
              <a:t>guest</a:t>
            </a:r>
            <a:r>
              <a:rPr lang="en-US" dirty="0"/>
              <a:t> page table</a:t>
            </a:r>
          </a:p>
          <a:p>
            <a:pPr lvl="2"/>
            <a:r>
              <a:rPr lang="en-US" dirty="0"/>
              <a:t>If it’s a “guest page fault” (=no translation in guest page table): “inject” (=emulate) page fault to guest</a:t>
            </a:r>
          </a:p>
          <a:p>
            <a:pPr lvl="2"/>
            <a:r>
              <a:rPr lang="en-US" dirty="0"/>
              <a:t>Otherwise, we found a guest page table translation</a:t>
            </a:r>
            <a:br>
              <a:rPr lang="en-US" dirty="0"/>
            </a:br>
            <a:r>
              <a:rPr lang="en-US" dirty="0"/>
              <a:t>=&gt; Build missing entries in shadow page table using hypervisor’s</a:t>
            </a:r>
            <a:br>
              <a:rPr lang="en-US" dirty="0"/>
            </a:br>
            <a:r>
              <a:rPr lang="en-US" dirty="0"/>
              <a:t>      internal SW data structure that maps guest’s GPA to </a:t>
            </a:r>
            <a:r>
              <a:rPr lang="en-US" dirty="0" err="1"/>
              <a:t>HPA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3149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Challenges</a:t>
            </a:r>
          </a:p>
          <a:p>
            <a:pPr lvl="1"/>
            <a:r>
              <a:rPr lang="en-US" dirty="0"/>
              <a:t>Complex… e.g.,</a:t>
            </a:r>
          </a:p>
          <a:p>
            <a:pPr lvl="1"/>
            <a:r>
              <a:rPr lang="en-US" dirty="0"/>
              <a:t>Hypervisor must maintain access/dirty bits within guest PTEs</a:t>
            </a:r>
          </a:p>
          <a:p>
            <a:pPr lvl="1"/>
            <a:r>
              <a:rPr lang="en-US" dirty="0"/>
              <a:t>Hypervisor needs to support all x86 paging modes</a:t>
            </a:r>
          </a:p>
          <a:p>
            <a:pPr lvl="2"/>
            <a:r>
              <a:rPr lang="en-US" dirty="0"/>
              <a:t>real mode, 32bit, 36bit (“PAE”), and 64bit </a:t>
            </a:r>
          </a:p>
          <a:p>
            <a:pPr lvl="2"/>
            <a:r>
              <a:rPr lang="en-US" dirty="0"/>
              <a:t>(modes have different hierarchies, PTE sizes, and huge page sizes)</a:t>
            </a:r>
          </a:p>
        </p:txBody>
      </p:sp>
    </p:spTree>
    <p:extLst>
      <p:ext uri="{BB962C8B-B14F-4D97-AF65-F5344CB8AC3E}">
        <p14:creationId xmlns:p14="http://schemas.microsoft.com/office/powerpoint/2010/main" val="30277445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page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simplify, can start building shadow page from scratch on every cr3 change (= every context switch)</a:t>
            </a:r>
          </a:p>
          <a:p>
            <a:pPr lvl="1"/>
            <a:r>
              <a:rPr lang="en-US" dirty="0"/>
              <a:t>Caching is challenging because, e.g., the guest may start using the pages for other purposes (recall that they are write-protected)</a:t>
            </a:r>
          </a:p>
          <a:p>
            <a:pPr lvl="1"/>
            <a:endParaRPr lang="en-US" dirty="0"/>
          </a:p>
          <a:p>
            <a:r>
              <a:rPr lang="en-US" dirty="0"/>
              <a:t>Pro</a:t>
            </a:r>
          </a:p>
          <a:p>
            <a:pPr lvl="1"/>
            <a:r>
              <a:rPr lang="en-US" dirty="0"/>
              <a:t>As noted, requires no HW support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Complex</a:t>
            </a:r>
          </a:p>
          <a:p>
            <a:pPr lvl="1"/>
            <a:r>
              <a:rPr lang="en-US" dirty="0"/>
              <a:t>Can be slow due to all the overheads involved</a:t>
            </a:r>
          </a:p>
        </p:txBody>
      </p:sp>
    </p:spTree>
    <p:extLst>
      <p:ext uri="{BB962C8B-B14F-4D97-AF65-F5344CB8AC3E}">
        <p14:creationId xmlns:p14="http://schemas.microsoft.com/office/powerpoint/2010/main" val="380806264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2D/nested/extended page table </a:t>
            </a:r>
            <a:r>
              <a:rPr lang="en-US" sz="1600" dirty="0"/>
              <a:t>(EPT/NPT)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shadow page tables are complex and expensive</a:t>
            </a:r>
          </a:p>
          <a:p>
            <a:pPr lvl="1"/>
            <a:r>
              <a:rPr lang="en-US" dirty="0"/>
              <a:t>=&gt; HW support for 2</a:t>
            </a:r>
            <a:r>
              <a:rPr lang="en-US" baseline="30000" dirty="0"/>
              <a:t>nd</a:t>
            </a:r>
            <a:r>
              <a:rPr lang="en-US" dirty="0"/>
              <a:t> translation table</a:t>
            </a:r>
          </a:p>
          <a:p>
            <a:pPr marL="457200" lvl="1" indent="0">
              <a:buNone/>
            </a:pPr>
            <a:endParaRPr lang="en-US" dirty="0"/>
          </a:p>
          <a:p>
            <a:pPr lvl="0"/>
            <a:r>
              <a:rPr lang="en-US" dirty="0"/>
              <a:t>Processor support two level page tables:</a:t>
            </a:r>
          </a:p>
          <a:p>
            <a:pPr lvl="1"/>
            <a:r>
              <a:rPr lang="en-US" dirty="0"/>
              <a:t>Regular guest page table (GVA =&gt; GPA) maintained by guest OS</a:t>
            </a:r>
          </a:p>
          <a:p>
            <a:pPr lvl="1"/>
            <a:r>
              <a:rPr lang="en-US" dirty="0"/>
              <a:t>New second translation table (EPT) from guest physical address (GPA) to host physical address (HPA) maintained hypervisor</a:t>
            </a:r>
          </a:p>
          <a:p>
            <a:pPr lvl="1"/>
            <a:endParaRPr lang="en-US" dirty="0"/>
          </a:p>
          <a:p>
            <a:r>
              <a:rPr lang="en-US" dirty="0"/>
              <a:t>Schematically, translations looks as follows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In reality a bit more complex…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70088" y="4067888"/>
            <a:ext cx="8421840" cy="17528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660826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971" y="380326"/>
            <a:ext cx="7951318" cy="5922503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28600" y="4191000"/>
            <a:ext cx="1382430" cy="609398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>
                <a:latin typeface="+mn-lt"/>
              </a:rPr>
              <a:t>how many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mem refs upon</a:t>
            </a:r>
            <a:br>
              <a:rPr lang="en-US" dirty="0">
                <a:latin typeface="+mn-lt"/>
              </a:rPr>
            </a:br>
            <a:r>
              <a:rPr lang="en-US" dirty="0">
                <a:latin typeface="+mn-lt"/>
              </a:rPr>
              <a:t>TLB miss?</a:t>
            </a:r>
          </a:p>
        </p:txBody>
      </p:sp>
    </p:spTree>
    <p:extLst>
      <p:ext uri="{BB962C8B-B14F-4D97-AF65-F5344CB8AC3E}">
        <p14:creationId xmlns:p14="http://schemas.microsoft.com/office/powerpoint/2010/main" val="40813061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Shadow PT vs. 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Tradeoffs discussed to far</a:t>
            </a:r>
          </a:p>
          <a:p>
            <a:pPr lvl="1"/>
            <a:r>
              <a:rPr lang="en-US" dirty="0"/>
              <a:t>EPT requires HW support but</a:t>
            </a:r>
          </a:p>
          <a:p>
            <a:pPr lvl="2"/>
            <a:r>
              <a:rPr lang="en-US" dirty="0"/>
              <a:t>It makes things much simpler relative to shadow PT</a:t>
            </a:r>
          </a:p>
          <a:p>
            <a:pPr lvl="2"/>
            <a:r>
              <a:rPr lang="en-US" dirty="0"/>
              <a:t>And it eliminates much of the shadow PT overheads </a:t>
            </a:r>
          </a:p>
          <a:p>
            <a:endParaRPr lang="en-US" dirty="0"/>
          </a:p>
          <a:p>
            <a:r>
              <a:rPr lang="en-US" dirty="0"/>
              <a:t>Question</a:t>
            </a:r>
          </a:p>
          <a:p>
            <a:pPr lvl="1"/>
            <a:r>
              <a:rPr lang="en-US" dirty="0"/>
              <a:t>Is it possible that using shadow PT will yield performance superior to EPT?</a:t>
            </a:r>
          </a:p>
          <a:p>
            <a:r>
              <a:rPr lang="en-US" dirty="0"/>
              <a:t>Answer</a:t>
            </a:r>
          </a:p>
          <a:p>
            <a:pPr lvl="1"/>
            <a:r>
              <a:rPr lang="en-US" dirty="0"/>
              <a:t>Yes! (Think of why)</a:t>
            </a:r>
          </a:p>
        </p:txBody>
      </p:sp>
    </p:spTree>
    <p:extLst>
      <p:ext uri="{BB962C8B-B14F-4D97-AF65-F5344CB8AC3E}">
        <p14:creationId xmlns:p14="http://schemas.microsoft.com/office/powerpoint/2010/main" val="23713487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2D/nested/extended page table </a:t>
            </a:r>
            <a:r>
              <a:rPr lang="en-US" sz="1600" dirty="0"/>
              <a:t>(EPT/NPT)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1800" dirty="0"/>
              <a:t>Guest has full control over its page table</a:t>
            </a:r>
          </a:p>
          <a:p>
            <a:pPr lvl="1"/>
            <a:r>
              <a:rPr lang="en-US" sz="1800" dirty="0"/>
              <a:t>No need to trap changes in CR3, page faults, modification to guest PTs</a:t>
            </a:r>
          </a:p>
          <a:p>
            <a:pPr lvl="1"/>
            <a:endParaRPr lang="en-US" sz="1800" dirty="0"/>
          </a:p>
          <a:p>
            <a:pPr lvl="0"/>
            <a:r>
              <a:rPr lang="en-US" sz="1800" dirty="0"/>
              <a:t>EPT’s structure is similar to the x86 page table structure</a:t>
            </a:r>
          </a:p>
          <a:p>
            <a:pPr lvl="1"/>
            <a:r>
              <a:rPr lang="en-US" sz="1800" dirty="0"/>
              <a:t>One issue originally missing and later rectified: updates of access/dirty bits</a:t>
            </a:r>
          </a:p>
          <a:p>
            <a:pPr lvl="1"/>
            <a:endParaRPr lang="en-US" sz="1800" dirty="0"/>
          </a:p>
          <a:p>
            <a:pPr lvl="0"/>
            <a:r>
              <a:rPr lang="en-US" sz="1800" dirty="0"/>
              <a:t>EPT translation are cached on-chip </a:t>
            </a:r>
          </a:p>
          <a:p>
            <a:pPr lvl="1"/>
            <a:r>
              <a:rPr lang="en-US" sz="1800" dirty="0"/>
              <a:t>Similarly to TLB;  eliminates the need to walk the table in the common case</a:t>
            </a:r>
          </a:p>
          <a:p>
            <a:pPr lvl="1"/>
            <a:endParaRPr lang="en-US" sz="1800" dirty="0"/>
          </a:p>
          <a:p>
            <a:pPr lvl="0"/>
            <a:r>
              <a:rPr lang="en-US" sz="1800" dirty="0"/>
              <a:t>Note that</a:t>
            </a:r>
          </a:p>
          <a:p>
            <a:pPr lvl="1"/>
            <a:r>
              <a:rPr lang="en-US" sz="1800" dirty="0"/>
              <a:t>The EPT table changes less frequently than guest PTs</a:t>
            </a:r>
          </a:p>
          <a:p>
            <a:pPr lvl="1"/>
            <a:endParaRPr lang="en-US" sz="1800" dirty="0"/>
          </a:p>
          <a:p>
            <a:pPr lvl="0"/>
            <a:r>
              <a:rPr lang="en-US" sz="1800" dirty="0"/>
              <a:t>Interrupts to hypervisor</a:t>
            </a:r>
          </a:p>
          <a:p>
            <a:pPr lvl="1"/>
            <a:r>
              <a:rPr lang="en-US" dirty="0"/>
              <a:t>EPT violation – no translation for the guest physical address</a:t>
            </a:r>
          </a:p>
          <a:p>
            <a:pPr lvl="2"/>
            <a:r>
              <a:rPr lang="en-US" dirty="0"/>
              <a:t>How can we utilize such violations?</a:t>
            </a:r>
          </a:p>
          <a:p>
            <a:pPr lvl="1"/>
            <a:r>
              <a:rPr lang="en-US" dirty="0"/>
              <a:t>EPT misconfiguration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50872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run a VM?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 problem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OSes think/assume they control bare-metal HW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The solution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Hypervisor must lie to the guest and fake it:</a:t>
            </a:r>
            <a:br>
              <a:rPr lang="en-US" dirty="0">
                <a:solidFill>
                  <a:schemeClr val="bg1">
                    <a:lumMod val="8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make it appear as though the guest controls the HW</a:t>
            </a:r>
          </a:p>
          <a:p>
            <a:endParaRPr lang="en-US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How? A few alternatives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Emulation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Trap-and-emulate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Dynamic binary translation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Paravirtualization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Need to virtualize: (1) CPU; (2) memory; (3) I/O</a:t>
            </a:r>
          </a:p>
          <a:p>
            <a:pPr lvl="1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Let us first focus on the CPU…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403490" y="3532891"/>
            <a:ext cx="2187650" cy="1995073"/>
            <a:chOff x="2262736" y="3532891"/>
            <a:chExt cx="2187650" cy="1995073"/>
          </a:xfrm>
        </p:grpSpPr>
        <p:sp>
          <p:nvSpPr>
            <p:cNvPr id="10" name="TextBox 9"/>
            <p:cNvSpPr txBox="1"/>
            <p:nvPr/>
          </p:nvSpPr>
          <p:spPr>
            <a:xfrm>
              <a:off x="2262736" y="3532891"/>
              <a:ext cx="2187650" cy="40011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pPr>
                <a:lnSpc>
                  <a:spcPct val="100000"/>
                </a:lnSpc>
              </a:pPr>
              <a:r>
                <a:rPr lang="en-US" sz="2000">
                  <a:latin typeface="+mn-lt"/>
                </a:rPr>
                <a:t>Let’s focus on </a:t>
              </a:r>
              <a:r>
                <a:rPr lang="en-US" sz="2000" dirty="0">
                  <a:latin typeface="+mn-lt"/>
                </a:rPr>
                <a:t>I/O</a:t>
              </a:r>
            </a:p>
          </p:txBody>
        </p:sp>
        <p:cxnSp>
          <p:nvCxnSpPr>
            <p:cNvPr id="11" name="Straight Arrow Connector 10"/>
            <p:cNvCxnSpPr>
              <a:stCxn id="10" idx="2"/>
            </p:cNvCxnSpPr>
            <p:nvPr/>
          </p:nvCxnSpPr>
          <p:spPr bwMode="auto">
            <a:xfrm flipH="1">
              <a:off x="3291576" y="3933001"/>
              <a:ext cx="64985" cy="1594963"/>
            </a:xfrm>
            <a:prstGeom prst="straightConnector1">
              <a:avLst/>
            </a:prstGeom>
            <a:noFill/>
            <a:ln w="2857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7721078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Types of I/O</a:t>
            </a:r>
          </a:p>
          <a:p>
            <a:pPr lvl="1"/>
            <a:r>
              <a:rPr lang="en-US" dirty="0"/>
              <a:t>Block (e.g., HDD, SSD, </a:t>
            </a:r>
            <a:r>
              <a:rPr lang="en-US" dirty="0" err="1"/>
              <a:t>NVMe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Network (NIC = network interface card)</a:t>
            </a:r>
          </a:p>
          <a:p>
            <a:pPr lvl="1"/>
            <a:r>
              <a:rPr lang="en-US" dirty="0"/>
              <a:t>Accelerator (e.g., GPU, TPU)</a:t>
            </a:r>
          </a:p>
          <a:p>
            <a:pPr lvl="1"/>
            <a:r>
              <a:rPr lang="en-US" dirty="0"/>
              <a:t>Input (e.g., keyboard, mouse)</a:t>
            </a:r>
          </a:p>
          <a:p>
            <a:pPr lvl="1"/>
            <a:r>
              <a:rPr lang="en-US" dirty="0"/>
              <a:t>Sound</a:t>
            </a:r>
          </a:p>
          <a:p>
            <a:pPr lvl="1"/>
            <a:r>
              <a:rPr lang="en-US" dirty="0"/>
              <a:t>Video</a:t>
            </a:r>
          </a:p>
          <a:p>
            <a:pPr lvl="1"/>
            <a:endParaRPr lang="en-US" dirty="0"/>
          </a:p>
          <a:p>
            <a:r>
              <a:rPr lang="en-US" dirty="0"/>
              <a:t>Often performance-critical to servers</a:t>
            </a:r>
          </a:p>
          <a:p>
            <a:pPr lvl="1"/>
            <a:r>
              <a:rPr lang="en-US" dirty="0"/>
              <a:t>Network</a:t>
            </a:r>
          </a:p>
          <a:p>
            <a:pPr lvl="1"/>
            <a:r>
              <a:rPr lang="en-US" dirty="0"/>
              <a:t>Block</a:t>
            </a:r>
          </a:p>
        </p:txBody>
      </p:sp>
    </p:spTree>
    <p:extLst>
      <p:ext uri="{BB962C8B-B14F-4D97-AF65-F5344CB8AC3E}">
        <p14:creationId xmlns:p14="http://schemas.microsoft.com/office/powerpoint/2010/main" val="302532278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400" y="66675"/>
            <a:ext cx="8839200" cy="102676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Pseudo code of a physical NIC driver</a:t>
            </a:r>
            <a:br>
              <a:rPr lang="en-US" sz="4000" dirty="0"/>
            </a:br>
            <a:r>
              <a:rPr lang="en-US" sz="2200" dirty="0"/>
              <a:t>								(simplified)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Transmit path: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OS prepares packet to transmit in a buffer in memory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Driver writes start address of buffer to register X of the NIC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Driver writes length of buffer to register Y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Driver writes ‘1’ (GO!) into control register T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NIC reads packet from memory addresses [X,X+Y) and sends it on the wire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NIC sends interrupt to host (TX=transmit complete, can free buffer)</a:t>
            </a:r>
            <a:br>
              <a:rPr lang="en-US" dirty="0"/>
            </a:b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Receive path: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Driver prepares buffer to receive packet into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Driver writes start address of buffer to register X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Driver writes length of buffer to register Y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Driver writes ‘1’ (READY-TO-RECEIVE) into control register R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When packet arrives, NIC copies it into memory at [X,X+Y)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NIC interrupts host (RX=receive complete)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dirty="0"/>
              <a:t>OS processes packet (e.g., wake the waiting process up)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1183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252F7-55F1-B051-FD3D-841E93AF3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8A4B0C-6630-3E60-E5F9-4DD59688A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emulation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8263D9-5E83-F5CB-7246-FAE3A97D95FC}"/>
              </a:ext>
            </a:extLst>
          </p:cNvPr>
          <p:cNvSpPr txBox="1"/>
          <p:nvPr/>
        </p:nvSpPr>
        <p:spPr>
          <a:xfrm>
            <a:off x="3231597" y="3819400"/>
            <a:ext cx="1732290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97B179-1C77-8354-8449-5E2217E7B89E}"/>
              </a:ext>
            </a:extLst>
          </p:cNvPr>
          <p:cNvSpPr txBox="1"/>
          <p:nvPr/>
        </p:nvSpPr>
        <p:spPr>
          <a:xfrm>
            <a:off x="3226829" y="3314552"/>
            <a:ext cx="1737057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hypervisor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8393AE-75B0-160E-8CA3-C1D54A284BD8}"/>
              </a:ext>
            </a:extLst>
          </p:cNvPr>
          <p:cNvSpPr txBox="1"/>
          <p:nvPr/>
        </p:nvSpPr>
        <p:spPr>
          <a:xfrm>
            <a:off x="3222061" y="279541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126C1F-80CF-04A3-A65A-F078BC015F24}"/>
              </a:ext>
            </a:extLst>
          </p:cNvPr>
          <p:cNvSpPr txBox="1"/>
          <p:nvPr/>
        </p:nvSpPr>
        <p:spPr>
          <a:xfrm>
            <a:off x="4824667" y="280493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89FF57-9575-0CB1-2A4C-B6F227127DA0}"/>
              </a:ext>
            </a:extLst>
          </p:cNvPr>
          <p:cNvSpPr txBox="1"/>
          <p:nvPr/>
        </p:nvSpPr>
        <p:spPr>
          <a:xfrm>
            <a:off x="1933404" y="2787687"/>
            <a:ext cx="94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Guest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8EC41C53-CA53-F730-E96C-6F21A69C96E9}"/>
              </a:ext>
            </a:extLst>
          </p:cNvPr>
          <p:cNvSpPr/>
          <p:nvPr/>
        </p:nvSpPr>
        <p:spPr bwMode="auto">
          <a:xfrm>
            <a:off x="2970045" y="2795416"/>
            <a:ext cx="180576" cy="40011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487C60-BCAB-7265-36E3-FA361C31EDB0}"/>
              </a:ext>
            </a:extLst>
          </p:cNvPr>
          <p:cNvSpPr txBox="1"/>
          <p:nvPr/>
        </p:nvSpPr>
        <p:spPr>
          <a:xfrm>
            <a:off x="1933404" y="3554471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Host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B9388C32-3973-EDE3-1BB1-1343419B7DA9}"/>
              </a:ext>
            </a:extLst>
          </p:cNvPr>
          <p:cNvSpPr/>
          <p:nvPr/>
        </p:nvSpPr>
        <p:spPr bwMode="auto">
          <a:xfrm>
            <a:off x="2965277" y="3347880"/>
            <a:ext cx="180576" cy="87163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3624B5-D68C-49B7-DEC2-A95843CBF668}"/>
              </a:ext>
            </a:extLst>
          </p:cNvPr>
          <p:cNvSpPr txBox="1"/>
          <p:nvPr/>
        </p:nvSpPr>
        <p:spPr>
          <a:xfrm>
            <a:off x="5024035" y="3821019"/>
            <a:ext cx="1177393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Device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D2872E-3E68-66BD-A797-A72C8CCA4B3E}"/>
              </a:ext>
            </a:extLst>
          </p:cNvPr>
          <p:cNvSpPr txBox="1"/>
          <p:nvPr/>
        </p:nvSpPr>
        <p:spPr>
          <a:xfrm>
            <a:off x="5024038" y="3314552"/>
            <a:ext cx="1177392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lIns="36000" rIns="3600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“device”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8313976-ACC1-E50A-CD3C-91F0D1C1570E}"/>
              </a:ext>
            </a:extLst>
          </p:cNvPr>
          <p:cNvCxnSpPr>
            <a:cxnSpLocks/>
          </p:cNvCxnSpPr>
          <p:nvPr/>
        </p:nvCxnSpPr>
        <p:spPr bwMode="auto">
          <a:xfrm>
            <a:off x="5822303" y="3079102"/>
            <a:ext cx="0" cy="34989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EC95530-7302-0AD4-CF30-6CCA99C34F4C}"/>
              </a:ext>
            </a:extLst>
          </p:cNvPr>
          <p:cNvCxnSpPr>
            <a:cxnSpLocks/>
          </p:cNvCxnSpPr>
          <p:nvPr/>
        </p:nvCxnSpPr>
        <p:spPr bwMode="auto">
          <a:xfrm flipH="1">
            <a:off x="4816128" y="3082746"/>
            <a:ext cx="1006175" cy="43186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" name="Multiplication Sign 31">
            <a:extLst>
              <a:ext uri="{FF2B5EF4-FFF2-40B4-BE49-F238E27FC236}">
                <a16:creationId xmlns:a16="http://schemas.microsoft.com/office/drawing/2014/main" id="{C72B231F-217A-B885-548B-1C7E07CDEBE9}"/>
              </a:ext>
            </a:extLst>
          </p:cNvPr>
          <p:cNvSpPr/>
          <p:nvPr/>
        </p:nvSpPr>
        <p:spPr bwMode="auto">
          <a:xfrm>
            <a:off x="5666951" y="3075056"/>
            <a:ext cx="326569" cy="301704"/>
          </a:xfrm>
          <a:prstGeom prst="mathMultiply">
            <a:avLst>
              <a:gd name="adj1" fmla="val 4964"/>
            </a:avLst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IL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F5211B8-905B-3B53-8E89-44294F66492D}"/>
              </a:ext>
            </a:extLst>
          </p:cNvPr>
          <p:cNvCxnSpPr>
            <a:cxnSpLocks/>
          </p:cNvCxnSpPr>
          <p:nvPr/>
        </p:nvCxnSpPr>
        <p:spPr bwMode="auto">
          <a:xfrm>
            <a:off x="4844783" y="3654570"/>
            <a:ext cx="336407" cy="300011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19D9689-9B1F-5780-D6CF-50CA91338602}"/>
              </a:ext>
            </a:extLst>
          </p:cNvPr>
          <p:cNvGrpSpPr/>
          <p:nvPr/>
        </p:nvGrpSpPr>
        <p:grpSpPr>
          <a:xfrm>
            <a:off x="5024035" y="1666015"/>
            <a:ext cx="1735494" cy="1000016"/>
            <a:chOff x="5579706" y="1604865"/>
            <a:chExt cx="1735494" cy="1000016"/>
          </a:xfrm>
        </p:grpSpPr>
        <p:sp>
          <p:nvSpPr>
            <p:cNvPr id="38" name="Explosion: 8 Points 37">
              <a:extLst>
                <a:ext uri="{FF2B5EF4-FFF2-40B4-BE49-F238E27FC236}">
                  <a16:creationId xmlns:a16="http://schemas.microsoft.com/office/drawing/2014/main" id="{B05FA521-2EED-062C-767F-6C83DD3C290B}"/>
                </a:ext>
              </a:extLst>
            </p:cNvPr>
            <p:cNvSpPr/>
            <p:nvPr/>
          </p:nvSpPr>
          <p:spPr bwMode="auto">
            <a:xfrm>
              <a:off x="5579706" y="1604865"/>
              <a:ext cx="1735494" cy="1000016"/>
            </a:xfrm>
            <a:prstGeom prst="irregularSeal1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sm" len="sm"/>
            </a:ln>
            <a:effectLst/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742950" marR="0" indent="-285750" defTabSz="914400" rtl="0" eaLnBrk="0" fontAlgn="base" latinLnBrk="0" hangingPunct="0">
                <a:lnSpc>
                  <a:spcPct val="8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65000"/>
                <a:buFont typeface="Wingdings" pitchFamily="2" charset="2"/>
                <a:buNone/>
                <a:tabLst/>
              </a:pPr>
              <a:endParaRPr kumimoji="0" lang="en-IL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C0004E1-3324-618E-5B48-ADDBF13F4070}"/>
                </a:ext>
              </a:extLst>
            </p:cNvPr>
            <p:cNvSpPr txBox="1"/>
            <p:nvPr/>
          </p:nvSpPr>
          <p:spPr>
            <a:xfrm>
              <a:off x="5846893" y="1947907"/>
              <a:ext cx="1197764" cy="3139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Exception!</a:t>
              </a:r>
              <a:endParaRPr lang="en-IL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06691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 – emulation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715000"/>
          </a:xfrm>
        </p:spPr>
        <p:txBody>
          <a:bodyPr>
            <a:normAutofit/>
          </a:bodyPr>
          <a:lstStyle/>
          <a:p>
            <a:r>
              <a:rPr lang="en-US" dirty="0"/>
              <a:t>Emulation</a:t>
            </a:r>
          </a:p>
          <a:p>
            <a:pPr lvl="1"/>
            <a:r>
              <a:rPr lang="en-US" dirty="0"/>
              <a:t>Emulate some physical NIC in SW (all hypervisors emulate Intel e1000, all guests have an e1000 driver)</a:t>
            </a:r>
          </a:p>
          <a:p>
            <a:pPr lvl="1"/>
            <a:r>
              <a:rPr lang="en-US" dirty="0"/>
              <a:t>NIC’s emulated registers are mapped to Hypervisor’s memory</a:t>
            </a:r>
          </a:p>
          <a:p>
            <a:pPr lvl="1"/>
            <a:r>
              <a:rPr lang="en-US" dirty="0"/>
              <a:t>Mapped memory is R/W protected, so </a:t>
            </a:r>
            <a:r>
              <a:rPr lang="en-US" b="1" dirty="0"/>
              <a:t>every register access generates a trap </a:t>
            </a:r>
            <a:r>
              <a:rPr lang="en-US" dirty="0"/>
              <a:t>(so hypervisor can react like the NIC)</a:t>
            </a:r>
            <a:br>
              <a:rPr lang="en-US" dirty="0"/>
            </a:br>
            <a:r>
              <a:rPr lang="en-US" dirty="0"/>
              <a:t>Interrupts are injected by hypervisor to guest</a:t>
            </a:r>
          </a:p>
          <a:p>
            <a:r>
              <a:rPr lang="en-US" dirty="0"/>
              <a:t>Pros</a:t>
            </a:r>
          </a:p>
          <a:p>
            <a:pPr lvl="1"/>
            <a:r>
              <a:rPr lang="en-US" dirty="0"/>
              <a:t>Unmodified guests (all OSes already have a driver for e1000)</a:t>
            </a:r>
          </a:p>
          <a:p>
            <a:pPr lvl="1"/>
            <a:r>
              <a:rPr lang="en-US" dirty="0"/>
              <a:t>Use only one device =&gt; robust</a:t>
            </a:r>
          </a:p>
          <a:p>
            <a:pPr lvl="1"/>
            <a:r>
              <a:rPr lang="en-US" dirty="0"/>
              <a:t>Portable across HW &amp; hypervisors (and hence clouds)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Slow (traps on every register access)</a:t>
            </a:r>
          </a:p>
          <a:p>
            <a:pPr lvl="1"/>
            <a:r>
              <a:rPr lang="en-US" dirty="0"/>
              <a:t>Hypervisor needs to emulate overly complex HW that wasn’t designed with virtualization in mind (can be much simpler)</a:t>
            </a:r>
          </a:p>
          <a:p>
            <a:pPr lvl="1"/>
            <a:r>
              <a:rPr lang="en-US" dirty="0"/>
              <a:t>Real NIC may provide optimizations (e.g., IP offload)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48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I/O virtualization – paravirtualization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410200"/>
          </a:xfrm>
        </p:spPr>
        <p:txBody>
          <a:bodyPr>
            <a:normAutofit/>
          </a:bodyPr>
          <a:lstStyle/>
          <a:p>
            <a:r>
              <a:rPr lang="en-US" dirty="0"/>
              <a:t>Paravirtualization</a:t>
            </a:r>
          </a:p>
          <a:p>
            <a:pPr lvl="1"/>
            <a:r>
              <a:rPr lang="en-US" dirty="0"/>
              <a:t>Emulate a “new” device, which isn’t physical in any sense</a:t>
            </a:r>
          </a:p>
          <a:p>
            <a:pPr lvl="1"/>
            <a:r>
              <a:rPr lang="en-US" dirty="0"/>
              <a:t>Guest installs a host-specific device driver</a:t>
            </a:r>
          </a:p>
          <a:p>
            <a:pPr lvl="2"/>
            <a:r>
              <a:rPr lang="en-US" dirty="0"/>
              <a:t>Denoted: paravirtual device driver</a:t>
            </a:r>
          </a:p>
          <a:p>
            <a:pPr lvl="1"/>
            <a:r>
              <a:rPr lang="en-US" dirty="0"/>
              <a:t>Protocol between frontend (driver installed in guest) and backend (hypervisor) is optimized for efficiency</a:t>
            </a:r>
          </a:p>
          <a:p>
            <a:pPr lvl="2"/>
            <a:r>
              <a:rPr lang="en-US" dirty="0"/>
              <a:t>Higher abstraction levels (e.g., IP packets vs. Ethernet frame)</a:t>
            </a:r>
          </a:p>
          <a:p>
            <a:pPr lvl="1"/>
            <a:endParaRPr lang="en-US" dirty="0"/>
          </a:p>
          <a:p>
            <a:r>
              <a:rPr lang="en-US" dirty="0"/>
              <a:t>Protocol in emulation case</a:t>
            </a:r>
          </a:p>
          <a:p>
            <a:pPr lvl="1"/>
            <a:r>
              <a:rPr lang="en-US" dirty="0"/>
              <a:t>Guest writes registers X, Y, then writes to register T</a:t>
            </a:r>
          </a:p>
          <a:p>
            <a:pPr lvl="1"/>
            <a:r>
              <a:rPr lang="en-US" dirty="0"/>
              <a:t>=&gt; Hypervisor </a:t>
            </a:r>
            <a:r>
              <a:rPr lang="en-US" u="sng" dirty="0"/>
              <a:t>infers</a:t>
            </a:r>
            <a:r>
              <a:rPr lang="en-US" dirty="0"/>
              <a:t> guest wants to transmit packet</a:t>
            </a:r>
          </a:p>
          <a:p>
            <a:r>
              <a:rPr lang="en-US" dirty="0"/>
              <a:t>Protocol in paravirtual case</a:t>
            </a:r>
          </a:p>
          <a:p>
            <a:pPr lvl="1"/>
            <a:r>
              <a:rPr lang="en-US" dirty="0"/>
              <a:t>Guest does a hypercall, passes it start address and length as arguments; hypervisor </a:t>
            </a:r>
            <a:r>
              <a:rPr lang="en-US" i="1" dirty="0"/>
              <a:t>knows</a:t>
            </a:r>
            <a:r>
              <a:rPr lang="en-US" dirty="0"/>
              <a:t> what it should do</a:t>
            </a:r>
          </a:p>
        </p:txBody>
      </p:sp>
    </p:spTree>
    <p:extLst>
      <p:ext uri="{BB962C8B-B14F-4D97-AF65-F5344CB8AC3E}">
        <p14:creationId xmlns:p14="http://schemas.microsoft.com/office/powerpoint/2010/main" val="267303655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F3525-AA4C-22AF-F2C9-A606970DE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532F-3978-3A68-D557-5A9D590DD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paravirtualization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F77E8B-886A-4120-347A-D59F10B46B4A}"/>
              </a:ext>
            </a:extLst>
          </p:cNvPr>
          <p:cNvSpPr txBox="1"/>
          <p:nvPr/>
        </p:nvSpPr>
        <p:spPr>
          <a:xfrm>
            <a:off x="3231597" y="3819400"/>
            <a:ext cx="1732290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E65302-F4F1-E8FB-E929-047B9AD1DBA5}"/>
              </a:ext>
            </a:extLst>
          </p:cNvPr>
          <p:cNvSpPr txBox="1"/>
          <p:nvPr/>
        </p:nvSpPr>
        <p:spPr>
          <a:xfrm>
            <a:off x="3226829" y="3314552"/>
            <a:ext cx="1737057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hypervisor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7389B1-3ACA-0455-799E-051DEE5AE627}"/>
              </a:ext>
            </a:extLst>
          </p:cNvPr>
          <p:cNvSpPr txBox="1"/>
          <p:nvPr/>
        </p:nvSpPr>
        <p:spPr>
          <a:xfrm>
            <a:off x="3222061" y="279541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90F47F-E8DD-3F4D-E755-951F88712A66}"/>
              </a:ext>
            </a:extLst>
          </p:cNvPr>
          <p:cNvSpPr txBox="1"/>
          <p:nvPr/>
        </p:nvSpPr>
        <p:spPr>
          <a:xfrm>
            <a:off x="4824667" y="280493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E25309-176D-5175-49C8-D65075E7F947}"/>
              </a:ext>
            </a:extLst>
          </p:cNvPr>
          <p:cNvSpPr txBox="1"/>
          <p:nvPr/>
        </p:nvSpPr>
        <p:spPr>
          <a:xfrm>
            <a:off x="1933404" y="2787687"/>
            <a:ext cx="94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Guest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7AC2BBCC-E789-EFB0-2A76-110819130C39}"/>
              </a:ext>
            </a:extLst>
          </p:cNvPr>
          <p:cNvSpPr/>
          <p:nvPr/>
        </p:nvSpPr>
        <p:spPr bwMode="auto">
          <a:xfrm>
            <a:off x="2970045" y="2795416"/>
            <a:ext cx="180576" cy="40011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1A0787-BE78-863D-F901-D5908B449DC5}"/>
              </a:ext>
            </a:extLst>
          </p:cNvPr>
          <p:cNvSpPr txBox="1"/>
          <p:nvPr/>
        </p:nvSpPr>
        <p:spPr>
          <a:xfrm>
            <a:off x="1933404" y="3554471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Host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42740593-EF24-47E1-C69A-08D38BF624EC}"/>
              </a:ext>
            </a:extLst>
          </p:cNvPr>
          <p:cNvSpPr/>
          <p:nvPr/>
        </p:nvSpPr>
        <p:spPr bwMode="auto">
          <a:xfrm>
            <a:off x="2965277" y="3347880"/>
            <a:ext cx="180576" cy="87163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5B9C06-84DA-2352-4208-CEF6E4D9CC28}"/>
              </a:ext>
            </a:extLst>
          </p:cNvPr>
          <p:cNvSpPr txBox="1"/>
          <p:nvPr/>
        </p:nvSpPr>
        <p:spPr>
          <a:xfrm>
            <a:off x="5024035" y="3821019"/>
            <a:ext cx="1177393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Device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44D694-1EC7-2D78-C597-90C112411A9D}"/>
              </a:ext>
            </a:extLst>
          </p:cNvPr>
          <p:cNvSpPr txBox="1"/>
          <p:nvPr/>
        </p:nvSpPr>
        <p:spPr>
          <a:xfrm>
            <a:off x="5024038" y="3314552"/>
            <a:ext cx="1177392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lIns="36000" rIns="3600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“device”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009BA39-D1B6-6B8B-7B6A-4C6AE4BF5B87}"/>
              </a:ext>
            </a:extLst>
          </p:cNvPr>
          <p:cNvCxnSpPr>
            <a:cxnSpLocks/>
          </p:cNvCxnSpPr>
          <p:nvPr/>
        </p:nvCxnSpPr>
        <p:spPr bwMode="auto">
          <a:xfrm>
            <a:off x="5822303" y="3079102"/>
            <a:ext cx="0" cy="34989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8444162-4417-50C9-7796-D5E49C0FA9FF}"/>
              </a:ext>
            </a:extLst>
          </p:cNvPr>
          <p:cNvCxnSpPr>
            <a:cxnSpLocks/>
          </p:cNvCxnSpPr>
          <p:nvPr/>
        </p:nvCxnSpPr>
        <p:spPr bwMode="auto">
          <a:xfrm>
            <a:off x="5822303" y="3644451"/>
            <a:ext cx="0" cy="349898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41314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 – paravirtualization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Pros &amp; cons</a:t>
            </a:r>
          </a:p>
          <a:p>
            <a:pPr lvl="1"/>
            <a:r>
              <a:rPr lang="en-US" dirty="0"/>
              <a:t>Exactly like emulation, except that it is faster </a:t>
            </a:r>
            <a:r>
              <a:rPr lang="en-US" dirty="0">
                <a:sym typeface="Wingdings" panose="05000000000000000000" pitchFamily="2" charset="2"/>
              </a:rPr>
              <a:t>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R</a:t>
            </a:r>
            <a:r>
              <a:rPr lang="en-US" dirty="0"/>
              <a:t>equires guest modification, making it less portable </a:t>
            </a:r>
            <a:r>
              <a:rPr lang="en-US" dirty="0">
                <a:sym typeface="Wingdings" panose="05000000000000000000" pitchFamily="2" charset="2"/>
              </a:rPr>
              <a:t> 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Harder to move between cloud providers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(Every SW modification is a “risk”)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Still not as fast as using the actual HW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Because it’s a SW indirection layer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Difference between paravirtual I/O and paravirtual Guest?</a:t>
            </a:r>
          </a:p>
          <a:p>
            <a:pPr lvl="1"/>
            <a:r>
              <a:rPr lang="en-US" dirty="0"/>
              <a:t>Guest requires to modify whole OS (try do that to windows…)</a:t>
            </a:r>
          </a:p>
          <a:p>
            <a:pPr lvl="1"/>
            <a:r>
              <a:rPr lang="en-US" dirty="0"/>
              <a:t>I/O requires an addition of a single driver (much easier)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96618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 – direct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410200"/>
          </a:xfrm>
        </p:spPr>
        <p:txBody>
          <a:bodyPr>
            <a:normAutofit/>
          </a:bodyPr>
          <a:lstStyle/>
          <a:p>
            <a:r>
              <a:rPr lang="en-US" dirty="0"/>
              <a:t>Direct device assignment</a:t>
            </a:r>
          </a:p>
          <a:p>
            <a:pPr lvl="1"/>
            <a:r>
              <a:rPr lang="en-US" dirty="0"/>
              <a:t>Pull NIC out of host and plug it into the guest for its exclusive use</a:t>
            </a:r>
          </a:p>
          <a:p>
            <a:pPr lvl="1"/>
            <a:r>
              <a:rPr lang="en-US" dirty="0"/>
              <a:t>Guest accesses device directly without hypervisor intervention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7687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9A628-1B88-A049-9076-D01CED81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563E-CEAF-E142-2A33-9D9FCF4E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emulation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2F32F-B4D7-702D-6790-7420B6E5CDC5}"/>
              </a:ext>
            </a:extLst>
          </p:cNvPr>
          <p:cNvSpPr txBox="1"/>
          <p:nvPr/>
        </p:nvSpPr>
        <p:spPr>
          <a:xfrm>
            <a:off x="3231597" y="3819400"/>
            <a:ext cx="1443041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A0E0CA-900E-B168-1E77-36288ADC21B4}"/>
              </a:ext>
            </a:extLst>
          </p:cNvPr>
          <p:cNvSpPr txBox="1"/>
          <p:nvPr/>
        </p:nvSpPr>
        <p:spPr>
          <a:xfrm>
            <a:off x="3226830" y="3314552"/>
            <a:ext cx="1447808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hypervisor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F64BD14-09DA-6A3A-AA54-9F19DAC17424}"/>
              </a:ext>
            </a:extLst>
          </p:cNvPr>
          <p:cNvSpPr txBox="1"/>
          <p:nvPr/>
        </p:nvSpPr>
        <p:spPr>
          <a:xfrm>
            <a:off x="3222061" y="279541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8F675B-D46B-1CB7-311E-847FCCC022C9}"/>
              </a:ext>
            </a:extLst>
          </p:cNvPr>
          <p:cNvSpPr txBox="1"/>
          <p:nvPr/>
        </p:nvSpPr>
        <p:spPr>
          <a:xfrm>
            <a:off x="4871533" y="279541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A5D179-4056-AB52-7D57-F5667635CEDB}"/>
              </a:ext>
            </a:extLst>
          </p:cNvPr>
          <p:cNvSpPr txBox="1"/>
          <p:nvPr/>
        </p:nvSpPr>
        <p:spPr>
          <a:xfrm>
            <a:off x="1933404" y="2787687"/>
            <a:ext cx="94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Guest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3972DF10-204C-6DB2-BFFE-2BDAD91E0B69}"/>
              </a:ext>
            </a:extLst>
          </p:cNvPr>
          <p:cNvSpPr/>
          <p:nvPr/>
        </p:nvSpPr>
        <p:spPr bwMode="auto">
          <a:xfrm>
            <a:off x="2970045" y="2795416"/>
            <a:ext cx="180576" cy="40011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73C0EA5-593B-1671-8A64-02BCD2BC2791}"/>
              </a:ext>
            </a:extLst>
          </p:cNvPr>
          <p:cNvSpPr txBox="1"/>
          <p:nvPr/>
        </p:nvSpPr>
        <p:spPr>
          <a:xfrm>
            <a:off x="1933404" y="3554471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Host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816ED66F-45F9-7AC1-56BA-FFC1694769D3}"/>
              </a:ext>
            </a:extLst>
          </p:cNvPr>
          <p:cNvSpPr/>
          <p:nvPr/>
        </p:nvSpPr>
        <p:spPr bwMode="auto">
          <a:xfrm>
            <a:off x="2965277" y="3347880"/>
            <a:ext cx="180576" cy="87163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681B1D-3CC2-5142-973F-A408AFB41B96}"/>
              </a:ext>
            </a:extLst>
          </p:cNvPr>
          <p:cNvSpPr txBox="1"/>
          <p:nvPr/>
        </p:nvSpPr>
        <p:spPr>
          <a:xfrm>
            <a:off x="4723059" y="3817801"/>
            <a:ext cx="735248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36000" rIns="3600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Dev1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B053EC-0BC8-6726-9645-339F14A66BB1}"/>
              </a:ext>
            </a:extLst>
          </p:cNvPr>
          <p:cNvSpPr txBox="1"/>
          <p:nvPr/>
        </p:nvSpPr>
        <p:spPr>
          <a:xfrm>
            <a:off x="5513048" y="3817801"/>
            <a:ext cx="735248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36000" rIns="3600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Dev1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47D7802-F567-BACB-8EEC-B79383C34D95}"/>
              </a:ext>
            </a:extLst>
          </p:cNvPr>
          <p:cNvCxnSpPr>
            <a:stCxn id="12" idx="2"/>
            <a:endCxn id="10" idx="0"/>
          </p:cNvCxnSpPr>
          <p:nvPr/>
        </p:nvCxnSpPr>
        <p:spPr bwMode="auto">
          <a:xfrm>
            <a:off x="5559915" y="3195526"/>
            <a:ext cx="320757" cy="62227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AA19497-5C09-55D1-5ED5-57E51C19BB8E}"/>
              </a:ext>
            </a:extLst>
          </p:cNvPr>
          <p:cNvCxnSpPr>
            <a:cxnSpLocks/>
            <a:stCxn id="9" idx="2"/>
            <a:endCxn id="6" idx="0"/>
          </p:cNvCxnSpPr>
          <p:nvPr/>
        </p:nvCxnSpPr>
        <p:spPr bwMode="auto">
          <a:xfrm>
            <a:off x="3910443" y="3195526"/>
            <a:ext cx="1180240" cy="62227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37984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E02E0-3256-15C9-F5A1-905C2B9FB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963C5-E5D7-69FE-6624-064C84701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 – direct assignment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FF633-E547-8FEE-8135-D432A3E02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534400" cy="5410200"/>
          </a:xfrm>
        </p:spPr>
        <p:txBody>
          <a:bodyPr>
            <a:normAutofit/>
          </a:bodyPr>
          <a:lstStyle/>
          <a:p>
            <a:r>
              <a:rPr lang="en-US" dirty="0"/>
              <a:t>Direct device assignment</a:t>
            </a:r>
          </a:p>
          <a:p>
            <a:pPr lvl="1"/>
            <a:r>
              <a:rPr lang="en-US" dirty="0"/>
              <a:t>Pull NIC out of host and plug it into the guest for its exclusive use</a:t>
            </a:r>
          </a:p>
          <a:p>
            <a:pPr lvl="1"/>
            <a:r>
              <a:rPr lang="en-US" dirty="0"/>
              <a:t>Guest accesses device directly without hypervisor intervention</a:t>
            </a:r>
          </a:p>
          <a:p>
            <a:r>
              <a:rPr lang="en-US" dirty="0"/>
              <a:t>Pro</a:t>
            </a:r>
          </a:p>
          <a:p>
            <a:pPr lvl="1"/>
            <a:r>
              <a:rPr lang="en-US" dirty="0"/>
              <a:t>Much more performant than paravirtual I/O (which still induces many context switches)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Need to put many devices in host (one per guest)</a:t>
            </a:r>
          </a:p>
          <a:p>
            <a:pPr lvl="1"/>
            <a:r>
              <a:rPr lang="en-US" dirty="0"/>
              <a:t>And another one for the host</a:t>
            </a:r>
          </a:p>
          <a:p>
            <a:pPr lvl="1"/>
            <a:r>
              <a:rPr lang="en-US" dirty="0"/>
              <a:t>Can’t do I/O interposition</a:t>
            </a:r>
          </a:p>
          <a:p>
            <a:pPr lvl="2"/>
            <a:r>
              <a:rPr lang="en-US" dirty="0"/>
              <a:t>E.g., Monitor traffic, rate-limit VMs</a:t>
            </a:r>
          </a:p>
          <a:p>
            <a:pPr lvl="1"/>
            <a:r>
              <a:rPr lang="en-US" dirty="0"/>
              <a:t>Can’t let VMs directly manage DMA buffers </a:t>
            </a:r>
          </a:p>
        </p:txBody>
      </p:sp>
    </p:spTree>
    <p:extLst>
      <p:ext uri="{BB962C8B-B14F-4D97-AF65-F5344CB8AC3E}">
        <p14:creationId xmlns:p14="http://schemas.microsoft.com/office/powerpoint/2010/main" val="308608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 – HW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IOMMU (I/O memory management unit)</a:t>
            </a:r>
          </a:p>
          <a:p>
            <a:pPr lvl="1"/>
            <a:r>
              <a:rPr lang="en-US" dirty="0"/>
              <a:t>I/O devices (like our NIC) perform DMA ops</a:t>
            </a:r>
          </a:p>
          <a:p>
            <a:pPr lvl="2"/>
            <a:r>
              <a:rPr lang="en-US" dirty="0"/>
              <a:t>Access memory on their own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Traditionally, devices used physical addresses to do so</a:t>
            </a:r>
            <a:br>
              <a:rPr lang="en-US" dirty="0"/>
            </a:br>
            <a:endParaRPr lang="en-US" dirty="0"/>
          </a:p>
          <a:p>
            <a:pPr lvl="1"/>
            <a:r>
              <a:rPr lang="en-US" dirty="0"/>
              <a:t>This is seriously problematic in a setup where multiple untrusted guests are simultaneously running, sharing the same machine</a:t>
            </a:r>
          </a:p>
          <a:p>
            <a:pPr lvl="2"/>
            <a:r>
              <a:rPr lang="en-US" dirty="0"/>
              <a:t>What if a guest is malicious or buggy?</a:t>
            </a:r>
          </a:p>
          <a:p>
            <a:pPr lvl="2"/>
            <a:r>
              <a:rPr lang="en-US" dirty="0"/>
              <a:t>(Also, what if device is legacy and can use only 32bit addresses,</a:t>
            </a:r>
            <a:br>
              <a:rPr lang="en-US" dirty="0"/>
            </a:br>
            <a:r>
              <a:rPr lang="en-US" dirty="0"/>
              <a:t>yet the physical memory is much bigger)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541827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IOMMU translation</a:t>
            </a:r>
          </a:p>
        </p:txBody>
      </p:sp>
      <p:pic>
        <p:nvPicPr>
          <p:cNvPr id="94" name="Picture 9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446" y="1345360"/>
            <a:ext cx="7929555" cy="476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3974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 – HW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IOMMU (I/O memory management unit)</a:t>
            </a:r>
          </a:p>
          <a:p>
            <a:pPr lvl="1"/>
            <a:r>
              <a:rPr lang="en-US" dirty="0"/>
              <a:t>Allows hypervisor to arrange things such that devices use IOVAs (I/O virtual addresses) instead of PAs for their DMA ops</a:t>
            </a:r>
          </a:p>
          <a:p>
            <a:pPr lvl="1"/>
            <a:r>
              <a:rPr lang="en-US" dirty="0"/>
              <a:t>Like the MMU, the IOMMU knows how to walk the table</a:t>
            </a:r>
          </a:p>
          <a:p>
            <a:pPr lvl="1"/>
            <a:r>
              <a:rPr lang="en-US" dirty="0"/>
              <a:t>Has an IOTLB to cache recent mappings (like the MMU’s TLB)</a:t>
            </a:r>
          </a:p>
          <a:p>
            <a:pPr lvl="1"/>
            <a:endParaRPr lang="en-US" dirty="0"/>
          </a:p>
          <a:p>
            <a:r>
              <a:rPr lang="en-US" dirty="0"/>
              <a:t>Page faults are a problem</a:t>
            </a:r>
          </a:p>
          <a:p>
            <a:pPr lvl="1"/>
            <a:r>
              <a:rPr lang="en-US" dirty="0"/>
              <a:t>If a page is not mapped, IOMMU must interrupt hypervisor</a:t>
            </a:r>
          </a:p>
          <a:p>
            <a:pPr lvl="1"/>
            <a:r>
              <a:rPr lang="en-US" dirty="0"/>
              <a:t>What do we do with incoming traffic while hypervisor maps a page?</a:t>
            </a:r>
          </a:p>
          <a:p>
            <a:pPr lvl="2"/>
            <a:endParaRPr lang="en-US" dirty="0"/>
          </a:p>
          <a:p>
            <a:r>
              <a:rPr lang="en-US" dirty="0"/>
              <a:t>Nested IOMMU page walk were subsequently added</a:t>
            </a:r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280626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 – HW support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SRIOV</a:t>
            </a:r>
          </a:p>
          <a:p>
            <a:pPr lvl="1"/>
            <a:r>
              <a:rPr lang="en-US" dirty="0"/>
              <a:t>The ability of a device to appear to SW as multiple devices</a:t>
            </a:r>
          </a:p>
          <a:p>
            <a:pPr lvl="1"/>
            <a:r>
              <a:rPr lang="en-US" dirty="0"/>
              <a:t>Single root I/O virtualization</a:t>
            </a:r>
          </a:p>
          <a:p>
            <a:pPr lvl="1"/>
            <a:r>
              <a:rPr lang="en-US" dirty="0"/>
              <a:t>Contains a physical function controlled by the host, used to create virtual functions</a:t>
            </a:r>
          </a:p>
          <a:p>
            <a:pPr lvl="1"/>
            <a:r>
              <a:rPr lang="en-US" dirty="0"/>
              <a:t>Each virtual function is assigned to a guest (like in direct assignment)</a:t>
            </a:r>
          </a:p>
          <a:p>
            <a:pPr lvl="1"/>
            <a:r>
              <a:rPr lang="en-US" dirty="0"/>
              <a:t>Each guest thinks it has full control of NIC, accesses registers directly</a:t>
            </a:r>
          </a:p>
          <a:p>
            <a:pPr lvl="1"/>
            <a:r>
              <a:rPr lang="en-US" dirty="0"/>
              <a:t>Device does multiplexing/demultiplexing of traffic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75238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B8C4A-B8AA-91D5-BC7D-42C6E9F79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E6065-686D-F41A-8197-A61FD636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Device emulation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7D562C-1ABF-C3FC-8034-57A9549F6927}"/>
              </a:ext>
            </a:extLst>
          </p:cNvPr>
          <p:cNvSpPr txBox="1"/>
          <p:nvPr/>
        </p:nvSpPr>
        <p:spPr>
          <a:xfrm>
            <a:off x="3231597" y="3819400"/>
            <a:ext cx="1443041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E25F35-A66D-7321-0C53-822087D94334}"/>
              </a:ext>
            </a:extLst>
          </p:cNvPr>
          <p:cNvSpPr txBox="1"/>
          <p:nvPr/>
        </p:nvSpPr>
        <p:spPr>
          <a:xfrm>
            <a:off x="3226830" y="3314552"/>
            <a:ext cx="1447808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hypervisor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B57003-2681-F668-08B7-2BDD27D5745E}"/>
              </a:ext>
            </a:extLst>
          </p:cNvPr>
          <p:cNvSpPr txBox="1"/>
          <p:nvPr/>
        </p:nvSpPr>
        <p:spPr>
          <a:xfrm>
            <a:off x="3222061" y="279541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AAA92B-DAE1-AB35-5EA0-562B1EC0734D}"/>
              </a:ext>
            </a:extLst>
          </p:cNvPr>
          <p:cNvSpPr txBox="1"/>
          <p:nvPr/>
        </p:nvSpPr>
        <p:spPr>
          <a:xfrm>
            <a:off x="4871533" y="2795416"/>
            <a:ext cx="1376763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F62833-CBAC-43F8-FD2E-84A59D1D22A0}"/>
              </a:ext>
            </a:extLst>
          </p:cNvPr>
          <p:cNvSpPr txBox="1"/>
          <p:nvPr/>
        </p:nvSpPr>
        <p:spPr>
          <a:xfrm>
            <a:off x="1933404" y="2787687"/>
            <a:ext cx="947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Guest</a:t>
            </a: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6CFF1EA7-9CF6-3E71-7CB5-B401733F1EE9}"/>
              </a:ext>
            </a:extLst>
          </p:cNvPr>
          <p:cNvSpPr/>
          <p:nvPr/>
        </p:nvSpPr>
        <p:spPr bwMode="auto">
          <a:xfrm>
            <a:off x="2970045" y="2795416"/>
            <a:ext cx="180576" cy="40011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B2E40DD-5860-D9B0-542E-938852212915}"/>
              </a:ext>
            </a:extLst>
          </p:cNvPr>
          <p:cNvSpPr txBox="1"/>
          <p:nvPr/>
        </p:nvSpPr>
        <p:spPr>
          <a:xfrm>
            <a:off x="1933404" y="3554471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000" dirty="0">
                <a:latin typeface="+mn-lt"/>
              </a:rPr>
              <a:t>Host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8A8F9609-0D22-9B9A-98E0-9A74FEFC792D}"/>
              </a:ext>
            </a:extLst>
          </p:cNvPr>
          <p:cNvSpPr/>
          <p:nvPr/>
        </p:nvSpPr>
        <p:spPr bwMode="auto">
          <a:xfrm>
            <a:off x="2965277" y="3347880"/>
            <a:ext cx="180576" cy="87163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F9D81B-3DCB-1A05-EB55-ACBFD6A6F57F}"/>
              </a:ext>
            </a:extLst>
          </p:cNvPr>
          <p:cNvSpPr txBox="1"/>
          <p:nvPr/>
        </p:nvSpPr>
        <p:spPr>
          <a:xfrm>
            <a:off x="4723059" y="3817801"/>
            <a:ext cx="520486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lIns="36000" rIns="3600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Dev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953FB4-9182-317E-1FEB-5BED3D094FBC}"/>
              </a:ext>
            </a:extLst>
          </p:cNvPr>
          <p:cNvCxnSpPr>
            <a:cxnSpLocks/>
            <a:stCxn id="12" idx="2"/>
            <a:endCxn id="5" idx="0"/>
          </p:cNvCxnSpPr>
          <p:nvPr/>
        </p:nvCxnSpPr>
        <p:spPr bwMode="auto">
          <a:xfrm>
            <a:off x="5559915" y="3195526"/>
            <a:ext cx="473690" cy="62227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AA9FC36-9B58-39FA-0BA3-3FF0CA518C77}"/>
              </a:ext>
            </a:extLst>
          </p:cNvPr>
          <p:cNvCxnSpPr>
            <a:cxnSpLocks/>
            <a:stCxn id="9" idx="2"/>
            <a:endCxn id="4" idx="0"/>
          </p:cNvCxnSpPr>
          <p:nvPr/>
        </p:nvCxnSpPr>
        <p:spPr bwMode="auto">
          <a:xfrm>
            <a:off x="3910443" y="3195526"/>
            <a:ext cx="1593345" cy="622275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9C7C81C-154F-F2CC-0158-4B5C13C44393}"/>
              </a:ext>
            </a:extLst>
          </p:cNvPr>
          <p:cNvSpPr txBox="1"/>
          <p:nvPr/>
        </p:nvSpPr>
        <p:spPr>
          <a:xfrm>
            <a:off x="5243545" y="3817801"/>
            <a:ext cx="520486" cy="400110"/>
          </a:xfrm>
          <a:prstGeom prst="rect">
            <a:avLst/>
          </a:prstGeom>
          <a:solidFill>
            <a:srgbClr val="FF0000">
              <a:alpha val="49000"/>
            </a:srgbClr>
          </a:solidFill>
          <a:ln w="19050">
            <a:solidFill>
              <a:schemeClr val="tx1"/>
            </a:solidFill>
            <a:prstDash val="sysDot"/>
          </a:ln>
        </p:spPr>
        <p:txBody>
          <a:bodyPr wrap="square" lIns="36000" rIns="3600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Dev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2F26D1-752D-055B-CE85-5B7446D15AD3}"/>
              </a:ext>
            </a:extLst>
          </p:cNvPr>
          <p:cNvSpPr txBox="1"/>
          <p:nvPr/>
        </p:nvSpPr>
        <p:spPr>
          <a:xfrm>
            <a:off x="5773362" y="3817801"/>
            <a:ext cx="520486" cy="400110"/>
          </a:xfrm>
          <a:prstGeom prst="rect">
            <a:avLst/>
          </a:prstGeom>
          <a:solidFill>
            <a:srgbClr val="FF0000">
              <a:alpha val="49000"/>
            </a:srgbClr>
          </a:solidFill>
          <a:ln w="19050">
            <a:solidFill>
              <a:schemeClr val="tx1"/>
            </a:solidFill>
            <a:prstDash val="sysDot"/>
          </a:ln>
        </p:spPr>
        <p:txBody>
          <a:bodyPr wrap="square" lIns="36000" rIns="3600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Dev</a:t>
            </a:r>
          </a:p>
        </p:txBody>
      </p:sp>
    </p:spTree>
    <p:extLst>
      <p:ext uri="{BB962C8B-B14F-4D97-AF65-F5344CB8AC3E}">
        <p14:creationId xmlns:p14="http://schemas.microsoft.com/office/powerpoint/2010/main" val="308944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A556-BB79-8560-A5E4-3C6C74F44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2BB19-3BA3-2DA1-6966-C38968878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I/O virtualization – HW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A2008-353F-FA03-C5AA-9802B101B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SRIOV</a:t>
            </a:r>
          </a:p>
          <a:p>
            <a:pPr lvl="1"/>
            <a:r>
              <a:rPr lang="en-US" dirty="0"/>
              <a:t>The ability of a device to appear to SW as multiple devices</a:t>
            </a:r>
          </a:p>
          <a:p>
            <a:pPr lvl="1"/>
            <a:r>
              <a:rPr lang="en-US" dirty="0"/>
              <a:t>Single root I/O virtualization</a:t>
            </a:r>
          </a:p>
          <a:p>
            <a:pPr lvl="1"/>
            <a:r>
              <a:rPr lang="en-US" dirty="0"/>
              <a:t>Contains a physical function controlled by the host, used to create virtual functions</a:t>
            </a:r>
          </a:p>
          <a:p>
            <a:pPr lvl="1"/>
            <a:r>
              <a:rPr lang="en-US" dirty="0"/>
              <a:t>Each virtual function is assigned to a guest (like in direct assignment)</a:t>
            </a:r>
          </a:p>
          <a:p>
            <a:pPr lvl="1"/>
            <a:r>
              <a:rPr lang="en-US" dirty="0"/>
              <a:t>Each guest thinks it has full control of NIC, accesses registers directly</a:t>
            </a:r>
          </a:p>
          <a:p>
            <a:pPr lvl="1"/>
            <a:r>
              <a:rPr lang="en-US" dirty="0"/>
              <a:t>Device does multiplexing/demultiplexing of traffic</a:t>
            </a:r>
          </a:p>
          <a:p>
            <a:r>
              <a:rPr lang="en-US" dirty="0"/>
              <a:t>Pro:</a:t>
            </a:r>
          </a:p>
          <a:p>
            <a:pPr lvl="1"/>
            <a:r>
              <a:rPr lang="en-US" dirty="0"/>
              <a:t>Nearly </a:t>
            </a:r>
            <a:r>
              <a:rPr lang="en-US" b="1" dirty="0"/>
              <a:t>fast</a:t>
            </a:r>
            <a:r>
              <a:rPr lang="en-US" dirty="0"/>
              <a:t> as device assignment </a:t>
            </a:r>
          </a:p>
          <a:p>
            <a:pPr lvl="1"/>
            <a:r>
              <a:rPr lang="en-US" dirty="0"/>
              <a:t>And need only one NIC (as opposed to direct assignment)</a:t>
            </a:r>
          </a:p>
          <a:p>
            <a:r>
              <a:rPr lang="en-US" dirty="0"/>
              <a:t>Cons</a:t>
            </a:r>
          </a:p>
          <a:p>
            <a:pPr lvl="1"/>
            <a:r>
              <a:rPr lang="en-US" dirty="0"/>
              <a:t>Passes virtualization complexity to device</a:t>
            </a:r>
          </a:p>
          <a:p>
            <a:pPr lvl="1"/>
            <a:r>
              <a:rPr lang="en-US" dirty="0"/>
              <a:t>I/O interposition must be supported at the device level</a:t>
            </a:r>
          </a:p>
          <a:p>
            <a:pPr lvl="1"/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265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/>
              <a:t>x86 Virtualization Performance</a:t>
            </a:r>
          </a:p>
        </p:txBody>
      </p:sp>
      <p:sp>
        <p:nvSpPr>
          <p:cNvPr id="8194" name="Line 5"/>
          <p:cNvSpPr>
            <a:spLocks noChangeShapeType="1"/>
          </p:cNvSpPr>
          <p:nvPr/>
        </p:nvSpPr>
        <p:spPr bwMode="auto">
          <a:xfrm flipV="1">
            <a:off x="1116013" y="1700213"/>
            <a:ext cx="0" cy="3889375"/>
          </a:xfrm>
          <a:prstGeom prst="line">
            <a:avLst/>
          </a:prstGeom>
          <a:noFill/>
          <a:ln w="349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195" name="Line 8"/>
          <p:cNvSpPr>
            <a:spLocks noChangeShapeType="1"/>
          </p:cNvSpPr>
          <p:nvPr/>
        </p:nvSpPr>
        <p:spPr bwMode="auto">
          <a:xfrm>
            <a:off x="1042988" y="1700213"/>
            <a:ext cx="7681912" cy="0"/>
          </a:xfrm>
          <a:prstGeom prst="line">
            <a:avLst/>
          </a:prstGeom>
          <a:noFill/>
          <a:ln w="1587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56" name="Line 12"/>
          <p:cNvSpPr>
            <a:spLocks noChangeShapeType="1"/>
          </p:cNvSpPr>
          <p:nvPr/>
        </p:nvSpPr>
        <p:spPr bwMode="auto">
          <a:xfrm flipV="1">
            <a:off x="1243013" y="1755775"/>
            <a:ext cx="1730375" cy="2665413"/>
          </a:xfrm>
          <a:prstGeom prst="line">
            <a:avLst/>
          </a:prstGeom>
          <a:noFill/>
          <a:ln w="38100">
            <a:solidFill>
              <a:schemeClr val="fol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58" name="Line 14"/>
          <p:cNvSpPr>
            <a:spLocks noChangeShapeType="1"/>
          </p:cNvSpPr>
          <p:nvPr/>
        </p:nvSpPr>
        <p:spPr bwMode="auto">
          <a:xfrm flipV="1">
            <a:off x="1235075" y="3860800"/>
            <a:ext cx="1730375" cy="576263"/>
          </a:xfrm>
          <a:prstGeom prst="line">
            <a:avLst/>
          </a:prstGeom>
          <a:noFill/>
          <a:ln w="38100" cap="rnd">
            <a:solidFill>
              <a:srgbClr val="80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60" name="Line 16"/>
          <p:cNvSpPr>
            <a:spLocks noChangeShapeType="1"/>
          </p:cNvSpPr>
          <p:nvPr/>
        </p:nvSpPr>
        <p:spPr bwMode="auto">
          <a:xfrm flipV="1">
            <a:off x="1235075" y="3140075"/>
            <a:ext cx="1657350" cy="1296988"/>
          </a:xfrm>
          <a:prstGeom prst="line">
            <a:avLst/>
          </a:prstGeom>
          <a:noFill/>
          <a:ln w="31750">
            <a:solidFill>
              <a:schemeClr val="hlink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62" name="Line 18"/>
          <p:cNvSpPr>
            <a:spLocks noChangeShapeType="1"/>
          </p:cNvSpPr>
          <p:nvPr/>
        </p:nvSpPr>
        <p:spPr bwMode="auto">
          <a:xfrm flipV="1">
            <a:off x="3181350" y="3184525"/>
            <a:ext cx="1606550" cy="574675"/>
          </a:xfrm>
          <a:prstGeom prst="line">
            <a:avLst/>
          </a:prstGeom>
          <a:noFill/>
          <a:ln w="38100">
            <a:solidFill>
              <a:srgbClr val="800000"/>
            </a:solidFill>
            <a:prstDash val="lgDash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63" name="Line 19"/>
          <p:cNvSpPr>
            <a:spLocks noChangeShapeType="1"/>
          </p:cNvSpPr>
          <p:nvPr/>
        </p:nvSpPr>
        <p:spPr bwMode="auto">
          <a:xfrm flipV="1">
            <a:off x="4981575" y="2366963"/>
            <a:ext cx="2016125" cy="720725"/>
          </a:xfrm>
          <a:prstGeom prst="line">
            <a:avLst/>
          </a:prstGeom>
          <a:noFill/>
          <a:ln w="38100">
            <a:solidFill>
              <a:srgbClr val="800000"/>
            </a:solidFill>
            <a:prstDash val="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64" name="Line 20"/>
          <p:cNvSpPr>
            <a:spLocks noChangeShapeType="1"/>
          </p:cNvSpPr>
          <p:nvPr/>
        </p:nvSpPr>
        <p:spPr bwMode="auto">
          <a:xfrm flipV="1">
            <a:off x="7151688" y="1781175"/>
            <a:ext cx="1511300" cy="504825"/>
          </a:xfrm>
          <a:prstGeom prst="line">
            <a:avLst/>
          </a:prstGeom>
          <a:noFill/>
          <a:ln w="38100">
            <a:solidFill>
              <a:srgbClr val="8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66" name="Text Box 22"/>
          <p:cNvSpPr txBox="1">
            <a:spLocks noChangeArrowheads="1"/>
          </p:cNvSpPr>
          <p:nvPr/>
        </p:nvSpPr>
        <p:spPr bwMode="auto">
          <a:xfrm rot="-3435886">
            <a:off x="1124533" y="2167676"/>
            <a:ext cx="3441152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2000" b="1" dirty="0">
                <a:solidFill>
                  <a:schemeClr val="folHlink"/>
                </a:solidFill>
              </a:rPr>
              <a:t>CPU intensive</a:t>
            </a:r>
          </a:p>
        </p:txBody>
      </p:sp>
      <p:sp>
        <p:nvSpPr>
          <p:cNvPr id="364571" name="Text Box 27"/>
          <p:cNvSpPr txBox="1">
            <a:spLocks noChangeArrowheads="1"/>
          </p:cNvSpPr>
          <p:nvPr/>
        </p:nvSpPr>
        <p:spPr bwMode="auto">
          <a:xfrm rot="-2255533">
            <a:off x="1803372" y="3120729"/>
            <a:ext cx="232415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2000" b="1">
                <a:solidFill>
                  <a:schemeClr val="hlink"/>
                </a:solidFill>
              </a:rPr>
              <a:t>memory</a:t>
            </a:r>
            <a:endParaRPr lang="en-US" sz="2000" b="1" dirty="0">
              <a:solidFill>
                <a:schemeClr val="hlink"/>
              </a:solidFill>
            </a:endParaRPr>
          </a:p>
        </p:txBody>
      </p:sp>
      <p:sp>
        <p:nvSpPr>
          <p:cNvPr id="364573" name="Text Box 29"/>
          <p:cNvSpPr txBox="1">
            <a:spLocks noChangeArrowheads="1"/>
          </p:cNvSpPr>
          <p:nvPr/>
        </p:nvSpPr>
        <p:spPr bwMode="auto">
          <a:xfrm rot="-1143463">
            <a:off x="1723867" y="3576388"/>
            <a:ext cx="414000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2000" b="1" dirty="0">
                <a:solidFill>
                  <a:srgbClr val="990033"/>
                </a:solidFill>
              </a:rPr>
              <a:t>I/O intensive</a:t>
            </a:r>
          </a:p>
        </p:txBody>
      </p:sp>
      <p:sp>
        <p:nvSpPr>
          <p:cNvPr id="8206" name="Line 32"/>
          <p:cNvSpPr>
            <a:spLocks noChangeShapeType="1"/>
          </p:cNvSpPr>
          <p:nvPr/>
        </p:nvSpPr>
        <p:spPr bwMode="auto">
          <a:xfrm flipV="1">
            <a:off x="1116013" y="5589588"/>
            <a:ext cx="5832475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79" name="Text Box 35"/>
          <p:cNvSpPr txBox="1">
            <a:spLocks noChangeArrowheads="1"/>
          </p:cNvSpPr>
          <p:nvPr/>
        </p:nvSpPr>
        <p:spPr bwMode="auto">
          <a:xfrm>
            <a:off x="1377950" y="4797425"/>
            <a:ext cx="150495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/>
              <a:t>HW supports</a:t>
            </a:r>
          </a:p>
          <a:p>
            <a:pPr eaLnBrk="1" hangingPunct="1"/>
            <a:r>
              <a:rPr lang="en-US" sz="1800"/>
              <a:t>CPU virt</a:t>
            </a:r>
          </a:p>
        </p:txBody>
      </p:sp>
      <p:sp>
        <p:nvSpPr>
          <p:cNvPr id="364580" name="Text Box 36"/>
          <p:cNvSpPr txBox="1">
            <a:spLocks noChangeArrowheads="1"/>
          </p:cNvSpPr>
          <p:nvPr/>
        </p:nvSpPr>
        <p:spPr bwMode="auto">
          <a:xfrm>
            <a:off x="3243263" y="4797425"/>
            <a:ext cx="150495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/>
              <a:t>HW supports</a:t>
            </a:r>
          </a:p>
          <a:p>
            <a:pPr eaLnBrk="1" hangingPunct="1"/>
            <a:r>
              <a:rPr lang="en-US" sz="1800"/>
              <a:t>MMU virt</a:t>
            </a:r>
          </a:p>
        </p:txBody>
      </p:sp>
      <p:sp>
        <p:nvSpPr>
          <p:cNvPr id="364581" name="Text Box 37"/>
          <p:cNvSpPr txBox="1">
            <a:spLocks noChangeArrowheads="1"/>
          </p:cNvSpPr>
          <p:nvPr/>
        </p:nvSpPr>
        <p:spPr bwMode="auto">
          <a:xfrm>
            <a:off x="5281613" y="4819650"/>
            <a:ext cx="1504950" cy="62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dirty="0"/>
              <a:t>HW supports</a:t>
            </a:r>
          </a:p>
          <a:p>
            <a:pPr eaLnBrk="1" hangingPunct="1"/>
            <a:r>
              <a:rPr lang="en-US" sz="1800" dirty="0"/>
              <a:t>I/O </a:t>
            </a:r>
            <a:r>
              <a:rPr lang="en-US" sz="1800" dirty="0" err="1"/>
              <a:t>virt</a:t>
            </a:r>
            <a:endParaRPr lang="en-US" sz="1800" dirty="0"/>
          </a:p>
        </p:txBody>
      </p:sp>
      <p:sp>
        <p:nvSpPr>
          <p:cNvPr id="364582" name="Text Box 38"/>
          <p:cNvSpPr txBox="1">
            <a:spLocks noChangeArrowheads="1"/>
          </p:cNvSpPr>
          <p:nvPr/>
        </p:nvSpPr>
        <p:spPr bwMode="auto">
          <a:xfrm>
            <a:off x="7408150" y="4854575"/>
            <a:ext cx="1261884" cy="7571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1800" b="1" dirty="0">
                <a:solidFill>
                  <a:schemeClr val="accent1"/>
                </a:solidFill>
              </a:rPr>
              <a:t>Exitless</a:t>
            </a:r>
            <a:br>
              <a:rPr lang="en-US" sz="1800" b="1" dirty="0">
                <a:solidFill>
                  <a:schemeClr val="accent1"/>
                </a:solidFill>
              </a:rPr>
            </a:br>
            <a:r>
              <a:rPr lang="en-US" sz="1800" b="1" dirty="0">
                <a:solidFill>
                  <a:schemeClr val="accent1"/>
                </a:solidFill>
              </a:rPr>
              <a:t>Interrupts</a:t>
            </a:r>
            <a:br>
              <a:rPr lang="en-US" sz="1800" b="1" dirty="0">
                <a:solidFill>
                  <a:schemeClr val="accent1"/>
                </a:solidFill>
              </a:rPr>
            </a:br>
            <a:r>
              <a:rPr lang="en-US" sz="1800" b="1" dirty="0">
                <a:solidFill>
                  <a:schemeClr val="accent1"/>
                </a:solidFill>
              </a:rPr>
              <a:t>(ELI)</a:t>
            </a:r>
          </a:p>
        </p:txBody>
      </p:sp>
      <p:sp>
        <p:nvSpPr>
          <p:cNvPr id="8211" name="Text Box 39"/>
          <p:cNvSpPr txBox="1">
            <a:spLocks noChangeArrowheads="1"/>
          </p:cNvSpPr>
          <p:nvPr/>
        </p:nvSpPr>
        <p:spPr bwMode="auto">
          <a:xfrm>
            <a:off x="323850" y="1412875"/>
            <a:ext cx="827088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3200"/>
              <a:t> </a:t>
            </a:r>
            <a:r>
              <a:rPr lang="en-US" sz="3200">
                <a:sym typeface="Wingdings" pitchFamily="2" charset="2"/>
              </a:rPr>
              <a:t></a:t>
            </a:r>
            <a:endParaRPr lang="en-US" sz="3200"/>
          </a:p>
        </p:txBody>
      </p:sp>
      <p:sp>
        <p:nvSpPr>
          <p:cNvPr id="8212" name="Text Box 40"/>
          <p:cNvSpPr txBox="1">
            <a:spLocks noChangeArrowheads="1"/>
          </p:cNvSpPr>
          <p:nvPr/>
        </p:nvSpPr>
        <p:spPr bwMode="auto">
          <a:xfrm>
            <a:off x="517525" y="4219575"/>
            <a:ext cx="504825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3200">
                <a:sym typeface="Wingdings" pitchFamily="2" charset="2"/>
              </a:rPr>
              <a:t></a:t>
            </a:r>
            <a:endParaRPr lang="en-US" sz="3200"/>
          </a:p>
        </p:txBody>
      </p:sp>
      <p:sp>
        <p:nvSpPr>
          <p:cNvPr id="8213" name="Text Box 41"/>
          <p:cNvSpPr txBox="1">
            <a:spLocks noChangeArrowheads="1"/>
          </p:cNvSpPr>
          <p:nvPr/>
        </p:nvSpPr>
        <p:spPr bwMode="auto">
          <a:xfrm>
            <a:off x="444500" y="2779713"/>
            <a:ext cx="647700" cy="565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3200">
                <a:sym typeface="Wingdings" pitchFamily="2" charset="2"/>
              </a:rPr>
              <a:t></a:t>
            </a:r>
            <a:endParaRPr lang="en-US" sz="3200"/>
          </a:p>
        </p:txBody>
      </p:sp>
      <p:sp>
        <p:nvSpPr>
          <p:cNvPr id="8214" name="Text Box 42"/>
          <p:cNvSpPr txBox="1">
            <a:spLocks noChangeArrowheads="1"/>
          </p:cNvSpPr>
          <p:nvPr/>
        </p:nvSpPr>
        <p:spPr bwMode="auto">
          <a:xfrm>
            <a:off x="2859088" y="1170913"/>
            <a:ext cx="3989387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2800"/>
              <a:t>bare-metal performance</a:t>
            </a:r>
          </a:p>
        </p:txBody>
      </p:sp>
      <p:sp>
        <p:nvSpPr>
          <p:cNvPr id="8215" name="Line 43"/>
          <p:cNvSpPr>
            <a:spLocks noChangeShapeType="1"/>
          </p:cNvSpPr>
          <p:nvPr/>
        </p:nvSpPr>
        <p:spPr bwMode="auto">
          <a:xfrm>
            <a:off x="1020763" y="3068638"/>
            <a:ext cx="7704137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6" name="Line 44"/>
          <p:cNvSpPr>
            <a:spLocks noChangeShapeType="1"/>
          </p:cNvSpPr>
          <p:nvPr/>
        </p:nvSpPr>
        <p:spPr bwMode="auto">
          <a:xfrm>
            <a:off x="1022350" y="4468813"/>
            <a:ext cx="7704138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7" name="Line 45"/>
          <p:cNvSpPr>
            <a:spLocks noChangeShapeType="1"/>
          </p:cNvSpPr>
          <p:nvPr/>
        </p:nvSpPr>
        <p:spPr bwMode="auto">
          <a:xfrm>
            <a:off x="1022350" y="2347913"/>
            <a:ext cx="7704138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18" name="Line 46"/>
          <p:cNvSpPr>
            <a:spLocks noChangeShapeType="1"/>
          </p:cNvSpPr>
          <p:nvPr/>
        </p:nvSpPr>
        <p:spPr bwMode="auto">
          <a:xfrm>
            <a:off x="1022350" y="3836988"/>
            <a:ext cx="7704138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1" name="Oval 47"/>
          <p:cNvSpPr>
            <a:spLocks noChangeArrowheads="1"/>
          </p:cNvSpPr>
          <p:nvPr/>
        </p:nvSpPr>
        <p:spPr bwMode="auto">
          <a:xfrm>
            <a:off x="6950075" y="1612900"/>
            <a:ext cx="1943100" cy="86360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20" name="Text Box 48"/>
          <p:cNvSpPr txBox="1">
            <a:spLocks noChangeArrowheads="1"/>
          </p:cNvSpPr>
          <p:nvPr/>
        </p:nvSpPr>
        <p:spPr bwMode="auto">
          <a:xfrm rot="-5400000">
            <a:off x="-931218" y="3248595"/>
            <a:ext cx="2460930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dirty="0"/>
              <a:t>VM performance</a:t>
            </a:r>
          </a:p>
        </p:txBody>
      </p:sp>
      <p:sp>
        <p:nvSpPr>
          <p:cNvPr id="8221" name="Text Box 49"/>
          <p:cNvSpPr txBox="1">
            <a:spLocks noChangeArrowheads="1"/>
          </p:cNvSpPr>
          <p:nvPr/>
        </p:nvSpPr>
        <p:spPr bwMode="auto">
          <a:xfrm>
            <a:off x="2524125" y="5707063"/>
            <a:ext cx="3441700" cy="387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defTabSz="449263" eaLnBrk="0" hangingPunct="0"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algn="ctr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itchFamily="34" charset="0"/>
              <a:defRPr sz="2400">
                <a:solidFill>
                  <a:srgbClr val="000000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sz="2000"/>
              <a:t>HW support  for virtualization</a:t>
            </a:r>
          </a:p>
        </p:txBody>
      </p:sp>
      <p:sp>
        <p:nvSpPr>
          <p:cNvPr id="364594" name="AutoShape 50"/>
          <p:cNvSpPr>
            <a:spLocks/>
          </p:cNvSpPr>
          <p:nvPr/>
        </p:nvSpPr>
        <p:spPr bwMode="auto">
          <a:xfrm rot="5400000">
            <a:off x="1943100" y="3824288"/>
            <a:ext cx="360363" cy="1728787"/>
          </a:xfrm>
          <a:prstGeom prst="rightBrace">
            <a:avLst>
              <a:gd name="adj1" fmla="val 39978"/>
              <a:gd name="adj2" fmla="val 49079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5" name="AutoShape 51"/>
          <p:cNvSpPr>
            <a:spLocks/>
          </p:cNvSpPr>
          <p:nvPr/>
        </p:nvSpPr>
        <p:spPr bwMode="auto">
          <a:xfrm rot="5400000">
            <a:off x="3780631" y="3860007"/>
            <a:ext cx="360363" cy="1657350"/>
          </a:xfrm>
          <a:prstGeom prst="rightBrace">
            <a:avLst>
              <a:gd name="adj1" fmla="val 38326"/>
              <a:gd name="adj2" fmla="val 49079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6" name="AutoShape 52"/>
          <p:cNvSpPr>
            <a:spLocks/>
          </p:cNvSpPr>
          <p:nvPr/>
        </p:nvSpPr>
        <p:spPr bwMode="auto">
          <a:xfrm rot="5400000">
            <a:off x="5760244" y="3680619"/>
            <a:ext cx="360363" cy="2016125"/>
          </a:xfrm>
          <a:prstGeom prst="rightBrace">
            <a:avLst>
              <a:gd name="adj1" fmla="val 46623"/>
              <a:gd name="adj2" fmla="val 49079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4597" name="AutoShape 53"/>
          <p:cNvSpPr>
            <a:spLocks/>
          </p:cNvSpPr>
          <p:nvPr/>
        </p:nvSpPr>
        <p:spPr bwMode="auto">
          <a:xfrm rot="5400000">
            <a:off x="7777162" y="3824288"/>
            <a:ext cx="360363" cy="1728788"/>
          </a:xfrm>
          <a:prstGeom prst="rightBrace">
            <a:avLst>
              <a:gd name="adj1" fmla="val 39978"/>
              <a:gd name="adj2" fmla="val 49079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71DD6E-E991-0D0D-7D79-9C97D78EF2EF}"/>
              </a:ext>
            </a:extLst>
          </p:cNvPr>
          <p:cNvSpPr txBox="1"/>
          <p:nvPr/>
        </p:nvSpPr>
        <p:spPr>
          <a:xfrm>
            <a:off x="3638883" y="6033894"/>
            <a:ext cx="5577168" cy="3970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Amit et al., “Bare-metal performance for virtual machines </a:t>
            </a:r>
            <a:br>
              <a:rPr lang="en-US" sz="12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</a:br>
            <a:r>
              <a:rPr lang="en-US" sz="12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with </a:t>
            </a:r>
            <a:r>
              <a:rPr lang="en-US" sz="1200" b="0" i="0" dirty="0" err="1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exitless</a:t>
            </a:r>
            <a:r>
              <a:rPr lang="en-US" sz="1200" b="0" i="0" dirty="0">
                <a:solidFill>
                  <a:srgbClr val="333333"/>
                </a:solidFill>
                <a:effectLst/>
                <a:latin typeface="Courier New" panose="02070309020205020404" pitchFamily="49" charset="0"/>
              </a:rPr>
              <a:t> interrupts”. In Comm. ACM, Jan 2016</a:t>
            </a:r>
            <a:endParaRPr lang="en-IL" sz="1200" dirty="0"/>
          </a:p>
        </p:txBody>
      </p:sp>
    </p:spTree>
    <p:extLst>
      <p:ext uri="{BB962C8B-B14F-4D97-AF65-F5344CB8AC3E}">
        <p14:creationId xmlns:p14="http://schemas.microsoft.com/office/powerpoint/2010/main" val="3489869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45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45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64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64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64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645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645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64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645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645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4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4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645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645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364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64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6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6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45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45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64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64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645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645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645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645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64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64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3645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3645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64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64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36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4556" grpId="0" animBg="1"/>
      <p:bldP spid="364558" grpId="0" animBg="1"/>
      <p:bldP spid="364560" grpId="0" animBg="1"/>
      <p:bldP spid="364562" grpId="0" animBg="1"/>
      <p:bldP spid="364563" grpId="0" animBg="1"/>
      <p:bldP spid="364564" grpId="0" animBg="1"/>
      <p:bldP spid="364566" grpId="0"/>
      <p:bldP spid="364571" grpId="0"/>
      <p:bldP spid="364573" grpId="0"/>
      <p:bldP spid="364579" grpId="0"/>
      <p:bldP spid="364579" grpId="1"/>
      <p:bldP spid="364580" grpId="0"/>
      <p:bldP spid="364581" grpId="0"/>
      <p:bldP spid="364582" grpId="0"/>
      <p:bldP spid="364591" grpId="0" animBg="1"/>
      <p:bldP spid="364594" grpId="0" animBg="1"/>
      <p:bldP spid="364594" grpId="1" animBg="1"/>
      <p:bldP spid="364595" grpId="0" animBg="1"/>
      <p:bldP spid="364596" grpId="0" animBg="1"/>
      <p:bldP spid="364597" grpId="0" animBg="1"/>
      <p:bldP spid="2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CED36-0E94-ACFC-D109-247A43839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AE08B-638F-2247-870A-7911F68C5B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many cases, the guest OS is the same as the host OS</a:t>
            </a:r>
          </a:p>
          <a:p>
            <a:pPr lvl="1"/>
            <a:r>
              <a:rPr lang="en-US" dirty="0"/>
              <a:t>Typically Linux</a:t>
            </a:r>
          </a:p>
          <a:p>
            <a:pPr lvl="1"/>
            <a:endParaRPr lang="en-US" dirty="0"/>
          </a:p>
          <a:p>
            <a:r>
              <a:rPr lang="en-US" dirty="0"/>
              <a:t>Can we get rid of the guest VM altogether?</a:t>
            </a:r>
          </a:p>
          <a:p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CF8C2A-E6C5-09D1-6C7F-BC17A96A7D1A}"/>
              </a:ext>
            </a:extLst>
          </p:cNvPr>
          <p:cNvSpPr txBox="1"/>
          <p:nvPr/>
        </p:nvSpPr>
        <p:spPr>
          <a:xfrm>
            <a:off x="409370" y="5088053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D50CAA-5E36-825D-2C15-F78E63D0D18B}"/>
              </a:ext>
            </a:extLst>
          </p:cNvPr>
          <p:cNvSpPr txBox="1"/>
          <p:nvPr/>
        </p:nvSpPr>
        <p:spPr>
          <a:xfrm>
            <a:off x="404602" y="4583205"/>
            <a:ext cx="29674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5D2AC0-11CA-53ED-46FF-E4556CC010E9}"/>
              </a:ext>
            </a:extLst>
          </p:cNvPr>
          <p:cNvSpPr txBox="1"/>
          <p:nvPr/>
        </p:nvSpPr>
        <p:spPr>
          <a:xfrm>
            <a:off x="1893083" y="3591056"/>
            <a:ext cx="688381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BA230A-BB1E-001E-2C17-D0C2E73A2C6A}"/>
              </a:ext>
            </a:extLst>
          </p:cNvPr>
          <p:cNvSpPr txBox="1"/>
          <p:nvPr/>
        </p:nvSpPr>
        <p:spPr>
          <a:xfrm>
            <a:off x="2702703" y="3591056"/>
            <a:ext cx="688382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VM2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A0B57A03-4993-A6BA-2CBE-AEC129F8AF80}"/>
              </a:ext>
            </a:extLst>
          </p:cNvPr>
          <p:cNvSpPr/>
          <p:nvPr/>
        </p:nvSpPr>
        <p:spPr bwMode="auto">
          <a:xfrm flipH="1">
            <a:off x="3491436" y="3608523"/>
            <a:ext cx="194514" cy="40011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CBE9A415-1024-79BA-4287-1166E61D4620}"/>
              </a:ext>
            </a:extLst>
          </p:cNvPr>
          <p:cNvSpPr/>
          <p:nvPr/>
        </p:nvSpPr>
        <p:spPr bwMode="auto">
          <a:xfrm flipH="1">
            <a:off x="3491436" y="4204067"/>
            <a:ext cx="240888" cy="1284096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334208-FA63-8BDE-F6D4-E8217EAF6028}"/>
              </a:ext>
            </a:extLst>
          </p:cNvPr>
          <p:cNvSpPr txBox="1"/>
          <p:nvPr/>
        </p:nvSpPr>
        <p:spPr>
          <a:xfrm>
            <a:off x="3732324" y="4621357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n-lt"/>
              </a:rPr>
              <a:t>Host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F14D9-A457-6C4A-7FB5-A33806B02465}"/>
              </a:ext>
            </a:extLst>
          </p:cNvPr>
          <p:cNvSpPr txBox="1"/>
          <p:nvPr/>
        </p:nvSpPr>
        <p:spPr>
          <a:xfrm>
            <a:off x="1888315" y="4078357"/>
            <a:ext cx="149323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hypervisor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9F371-1FBD-1469-8DE4-D4979A2C6BBC}"/>
              </a:ext>
            </a:extLst>
          </p:cNvPr>
          <p:cNvSpPr txBox="1"/>
          <p:nvPr/>
        </p:nvSpPr>
        <p:spPr>
          <a:xfrm>
            <a:off x="409370" y="4078357"/>
            <a:ext cx="128626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6F7D12-B0F6-FCD5-DCE1-536E3201BDBC}"/>
              </a:ext>
            </a:extLst>
          </p:cNvPr>
          <p:cNvSpPr txBox="1"/>
          <p:nvPr/>
        </p:nvSpPr>
        <p:spPr>
          <a:xfrm>
            <a:off x="3770420" y="3604469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n-lt"/>
              </a:rPr>
              <a:t>Guest</a:t>
            </a:r>
          </a:p>
        </p:txBody>
      </p:sp>
    </p:spTree>
    <p:extLst>
      <p:ext uri="{BB962C8B-B14F-4D97-AF65-F5344CB8AC3E}">
        <p14:creationId xmlns:p14="http://schemas.microsoft.com/office/powerpoint/2010/main" val="5130464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0DD99-9FDA-9305-7469-2A48A44F0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1570-F5F9-7C3D-0064-90D3DE83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25DEF-7264-9BCB-996D-446DF053E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just get rid of the guest, we get individual processes</a:t>
            </a:r>
          </a:p>
          <a:p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F46902-84B5-B2D0-E325-CD8CDB320828}"/>
              </a:ext>
            </a:extLst>
          </p:cNvPr>
          <p:cNvSpPr txBox="1"/>
          <p:nvPr/>
        </p:nvSpPr>
        <p:spPr>
          <a:xfrm>
            <a:off x="409370" y="5088053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AFD938-525C-CD7D-67C7-4DF191C1D60E}"/>
              </a:ext>
            </a:extLst>
          </p:cNvPr>
          <p:cNvSpPr txBox="1"/>
          <p:nvPr/>
        </p:nvSpPr>
        <p:spPr>
          <a:xfrm>
            <a:off x="404602" y="4583205"/>
            <a:ext cx="29674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03DECD-3E5C-2286-4B21-BFA7E5CBAA2A}"/>
              </a:ext>
            </a:extLst>
          </p:cNvPr>
          <p:cNvSpPr txBox="1"/>
          <p:nvPr/>
        </p:nvSpPr>
        <p:spPr>
          <a:xfrm>
            <a:off x="1893083" y="3591056"/>
            <a:ext cx="688381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AA7F76-CC4D-85FA-0327-0FCED52FE5B5}"/>
              </a:ext>
            </a:extLst>
          </p:cNvPr>
          <p:cNvSpPr txBox="1"/>
          <p:nvPr/>
        </p:nvSpPr>
        <p:spPr>
          <a:xfrm>
            <a:off x="2702703" y="3591056"/>
            <a:ext cx="688382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VM2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1F46B47B-2FC4-E325-A895-4E101D63F94E}"/>
              </a:ext>
            </a:extLst>
          </p:cNvPr>
          <p:cNvSpPr/>
          <p:nvPr/>
        </p:nvSpPr>
        <p:spPr bwMode="auto">
          <a:xfrm flipH="1">
            <a:off x="3491436" y="3608523"/>
            <a:ext cx="194514" cy="400110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6F98694F-B722-B78E-188C-DF7504FA983C}"/>
              </a:ext>
            </a:extLst>
          </p:cNvPr>
          <p:cNvSpPr/>
          <p:nvPr/>
        </p:nvSpPr>
        <p:spPr bwMode="auto">
          <a:xfrm flipH="1">
            <a:off x="3491436" y="4204067"/>
            <a:ext cx="240888" cy="1284096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US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2B5E8F-82DA-5EAF-BEB5-5D3508D99038}"/>
              </a:ext>
            </a:extLst>
          </p:cNvPr>
          <p:cNvSpPr txBox="1"/>
          <p:nvPr/>
        </p:nvSpPr>
        <p:spPr>
          <a:xfrm>
            <a:off x="3732324" y="4621357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n-lt"/>
              </a:rPr>
              <a:t>Host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67D8E-7574-83C6-5E23-7DEE0B327730}"/>
              </a:ext>
            </a:extLst>
          </p:cNvPr>
          <p:cNvSpPr txBox="1"/>
          <p:nvPr/>
        </p:nvSpPr>
        <p:spPr>
          <a:xfrm>
            <a:off x="1888315" y="4078357"/>
            <a:ext cx="149323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hypervisor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BD56FE-230D-FF11-465B-955AC367090D}"/>
              </a:ext>
            </a:extLst>
          </p:cNvPr>
          <p:cNvSpPr txBox="1"/>
          <p:nvPr/>
        </p:nvSpPr>
        <p:spPr>
          <a:xfrm>
            <a:off x="409370" y="4078357"/>
            <a:ext cx="128626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825F36-3A65-DA49-A1B0-4DFA3575BE76}"/>
              </a:ext>
            </a:extLst>
          </p:cNvPr>
          <p:cNvSpPr txBox="1"/>
          <p:nvPr/>
        </p:nvSpPr>
        <p:spPr>
          <a:xfrm>
            <a:off x="3770420" y="3604469"/>
            <a:ext cx="9429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dirty="0">
                <a:latin typeface="+mn-lt"/>
              </a:rPr>
              <a:t>Guest</a:t>
            </a:r>
          </a:p>
        </p:txBody>
      </p:sp>
    </p:spTree>
    <p:extLst>
      <p:ext uri="{BB962C8B-B14F-4D97-AF65-F5344CB8AC3E}">
        <p14:creationId xmlns:p14="http://schemas.microsoft.com/office/powerpoint/2010/main" val="103508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A5975-E354-D31C-DAC6-5642B5C1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80713-17AC-491A-EB08-3C6AA4E1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AF038-572E-0C00-9597-6AC9789589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just get rid of the guest, we get individual processes</a:t>
            </a:r>
          </a:p>
          <a:p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FCEC0D-F167-35F5-C811-D1D0A88CD7DD}"/>
              </a:ext>
            </a:extLst>
          </p:cNvPr>
          <p:cNvSpPr txBox="1"/>
          <p:nvPr/>
        </p:nvSpPr>
        <p:spPr>
          <a:xfrm>
            <a:off x="409370" y="5088053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D61A3E-A6E9-3863-79B8-BD7CB192A582}"/>
              </a:ext>
            </a:extLst>
          </p:cNvPr>
          <p:cNvSpPr txBox="1"/>
          <p:nvPr/>
        </p:nvSpPr>
        <p:spPr>
          <a:xfrm>
            <a:off x="404602" y="4583205"/>
            <a:ext cx="29674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EE164-0317-553D-D464-37B971B36DA3}"/>
              </a:ext>
            </a:extLst>
          </p:cNvPr>
          <p:cNvSpPr txBox="1"/>
          <p:nvPr/>
        </p:nvSpPr>
        <p:spPr>
          <a:xfrm>
            <a:off x="1876404" y="4078357"/>
            <a:ext cx="688381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A097FC-487A-CBC4-5C99-13DFA0BA4FD5}"/>
              </a:ext>
            </a:extLst>
          </p:cNvPr>
          <p:cNvSpPr txBox="1"/>
          <p:nvPr/>
        </p:nvSpPr>
        <p:spPr>
          <a:xfrm>
            <a:off x="2683647" y="4078357"/>
            <a:ext cx="688382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5DD4E79-ADCE-E645-2937-6DE0B4C41A92}"/>
              </a:ext>
            </a:extLst>
          </p:cNvPr>
          <p:cNvSpPr txBox="1"/>
          <p:nvPr/>
        </p:nvSpPr>
        <p:spPr>
          <a:xfrm>
            <a:off x="409370" y="4078357"/>
            <a:ext cx="128626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process</a:t>
            </a:r>
          </a:p>
        </p:txBody>
      </p:sp>
    </p:spTree>
    <p:extLst>
      <p:ext uri="{BB962C8B-B14F-4D97-AF65-F5344CB8AC3E}">
        <p14:creationId xmlns:p14="http://schemas.microsoft.com/office/powerpoint/2010/main" val="69166833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17247-63B0-4C2E-449F-405B59193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A1F50-8432-7F5D-1701-EF5697E1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2A075-8279-A562-2D9F-D29FF5C75C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just get rid of the guest, we get individual processes</a:t>
            </a:r>
          </a:p>
          <a:p>
            <a:endParaRPr lang="en-US" dirty="0"/>
          </a:p>
          <a:p>
            <a:r>
              <a:rPr lang="en-US" dirty="0"/>
              <a:t>But to mimic VMs, we want wrap multiple processes </a:t>
            </a:r>
            <a:br>
              <a:rPr lang="en-US" dirty="0"/>
            </a:br>
            <a:r>
              <a:rPr lang="en-US" dirty="0"/>
              <a:t>in a VM-like container</a:t>
            </a:r>
          </a:p>
          <a:p>
            <a:pPr lvl="1"/>
            <a:r>
              <a:rPr lang="en-US" dirty="0"/>
              <a:t>And manage the container’s resources</a:t>
            </a:r>
            <a:endParaRPr lang="en-IL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7F191D-C58F-3027-DB2E-EE1D63737235}"/>
              </a:ext>
            </a:extLst>
          </p:cNvPr>
          <p:cNvSpPr txBox="1"/>
          <p:nvPr/>
        </p:nvSpPr>
        <p:spPr>
          <a:xfrm>
            <a:off x="409370" y="5088053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94A3D-AC63-98AF-28CB-CC2AE6E33C24}"/>
              </a:ext>
            </a:extLst>
          </p:cNvPr>
          <p:cNvSpPr txBox="1"/>
          <p:nvPr/>
        </p:nvSpPr>
        <p:spPr>
          <a:xfrm>
            <a:off x="404602" y="4583205"/>
            <a:ext cx="29674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B1B7AC-AFBA-DA86-FFE4-C9721EB163F3}"/>
              </a:ext>
            </a:extLst>
          </p:cNvPr>
          <p:cNvSpPr txBox="1"/>
          <p:nvPr/>
        </p:nvSpPr>
        <p:spPr>
          <a:xfrm>
            <a:off x="1876404" y="4078357"/>
            <a:ext cx="688381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607AE0-3D0C-3A7B-AFB6-EA7CE1F4C454}"/>
              </a:ext>
            </a:extLst>
          </p:cNvPr>
          <p:cNvSpPr txBox="1"/>
          <p:nvPr/>
        </p:nvSpPr>
        <p:spPr>
          <a:xfrm>
            <a:off x="2683647" y="4078357"/>
            <a:ext cx="688382" cy="400110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A108AD-BEF5-A05A-8D9A-4C304A6C833E}"/>
              </a:ext>
            </a:extLst>
          </p:cNvPr>
          <p:cNvSpPr txBox="1"/>
          <p:nvPr/>
        </p:nvSpPr>
        <p:spPr>
          <a:xfrm>
            <a:off x="409370" y="4078357"/>
            <a:ext cx="128626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process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D340C3-3CD4-C100-4315-AD5723212185}"/>
              </a:ext>
            </a:extLst>
          </p:cNvPr>
          <p:cNvSpPr txBox="1"/>
          <p:nvPr/>
        </p:nvSpPr>
        <p:spPr>
          <a:xfrm>
            <a:off x="5427059" y="5088053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3D3121-A5CD-82F1-06D4-67C9BD439E7B}"/>
              </a:ext>
            </a:extLst>
          </p:cNvPr>
          <p:cNvSpPr txBox="1"/>
          <p:nvPr/>
        </p:nvSpPr>
        <p:spPr>
          <a:xfrm>
            <a:off x="5422291" y="4583205"/>
            <a:ext cx="29674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D58CE3-32A9-7A03-DC2F-FCA29A2D0214}"/>
              </a:ext>
            </a:extLst>
          </p:cNvPr>
          <p:cNvSpPr txBox="1"/>
          <p:nvPr/>
        </p:nvSpPr>
        <p:spPr>
          <a:xfrm>
            <a:off x="6807831" y="3089520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6FB418-EA67-F976-234C-10A652772488}"/>
              </a:ext>
            </a:extLst>
          </p:cNvPr>
          <p:cNvSpPr txBox="1"/>
          <p:nvPr/>
        </p:nvSpPr>
        <p:spPr>
          <a:xfrm>
            <a:off x="5427059" y="4078357"/>
            <a:ext cx="128626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509F3C9-B992-4BED-3900-C8DCEB761ADE}"/>
              </a:ext>
            </a:extLst>
          </p:cNvPr>
          <p:cNvSpPr/>
          <p:nvPr/>
        </p:nvSpPr>
        <p:spPr bwMode="auto">
          <a:xfrm>
            <a:off x="6745849" y="2929387"/>
            <a:ext cx="806410" cy="161571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IL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E09C95-A9C2-929C-AF0E-719EC808C1C1}"/>
              </a:ext>
            </a:extLst>
          </p:cNvPr>
          <p:cNvSpPr txBox="1"/>
          <p:nvPr/>
        </p:nvSpPr>
        <p:spPr>
          <a:xfrm>
            <a:off x="7065026" y="3089519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7211B9-8B75-AFCB-5E19-311BAEFFA675}"/>
              </a:ext>
            </a:extLst>
          </p:cNvPr>
          <p:cNvSpPr txBox="1"/>
          <p:nvPr/>
        </p:nvSpPr>
        <p:spPr>
          <a:xfrm>
            <a:off x="7320942" y="3086647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DDDDAB2-918A-49C7-86AF-0085F6C9BF2F}"/>
              </a:ext>
            </a:extLst>
          </p:cNvPr>
          <p:cNvSpPr txBox="1"/>
          <p:nvPr/>
        </p:nvSpPr>
        <p:spPr>
          <a:xfrm>
            <a:off x="7638521" y="3089520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D97A95-030B-32B4-C69F-A41500E5DF9B}"/>
              </a:ext>
            </a:extLst>
          </p:cNvPr>
          <p:cNvSpPr txBox="1"/>
          <p:nvPr/>
        </p:nvSpPr>
        <p:spPr>
          <a:xfrm>
            <a:off x="7895716" y="3089519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5B6967D-FC20-240E-E301-F419B1AD83A3}"/>
              </a:ext>
            </a:extLst>
          </p:cNvPr>
          <p:cNvSpPr txBox="1"/>
          <p:nvPr/>
        </p:nvSpPr>
        <p:spPr>
          <a:xfrm>
            <a:off x="8151632" y="3086647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02D8DC9-A3ED-27E6-07BC-FC06A5FB696C}"/>
              </a:ext>
            </a:extLst>
          </p:cNvPr>
          <p:cNvSpPr/>
          <p:nvPr/>
        </p:nvSpPr>
        <p:spPr bwMode="auto">
          <a:xfrm>
            <a:off x="7608171" y="2929387"/>
            <a:ext cx="806410" cy="161571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IL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BC6D74-7971-237B-F19B-EC39F818A40E}"/>
              </a:ext>
            </a:extLst>
          </p:cNvPr>
          <p:cNvSpPr txBox="1"/>
          <p:nvPr/>
        </p:nvSpPr>
        <p:spPr>
          <a:xfrm>
            <a:off x="6379843" y="2653927"/>
            <a:ext cx="1258678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Container1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0E40D0-9464-DDC5-F2C2-FCDDE9016A08}"/>
              </a:ext>
            </a:extLst>
          </p:cNvPr>
          <p:cNvSpPr txBox="1"/>
          <p:nvPr/>
        </p:nvSpPr>
        <p:spPr>
          <a:xfrm>
            <a:off x="7584785" y="2660191"/>
            <a:ext cx="1258678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Container2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188067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82DAD-12E8-8110-2C52-21918D18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CE304-B203-84FD-4414-F4FC57EB8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EB65F-E391-51BA-A0DB-37E76AC55E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just get rid of the guest, we get individual processes</a:t>
            </a:r>
          </a:p>
          <a:p>
            <a:endParaRPr lang="en-US" dirty="0"/>
          </a:p>
          <a:p>
            <a:r>
              <a:rPr lang="en-US" dirty="0"/>
              <a:t>But to mimic VMs, we want wrap multiple processes </a:t>
            </a:r>
            <a:br>
              <a:rPr lang="en-US" dirty="0"/>
            </a:br>
            <a:r>
              <a:rPr lang="en-US" dirty="0"/>
              <a:t>in a VM-like container</a:t>
            </a:r>
          </a:p>
          <a:p>
            <a:endParaRPr lang="en-US" dirty="0"/>
          </a:p>
          <a:p>
            <a:r>
              <a:rPr lang="en-US" dirty="0"/>
              <a:t>Each container sees its own world:</a:t>
            </a:r>
          </a:p>
          <a:p>
            <a:pPr lvl="1"/>
            <a:r>
              <a:rPr lang="en-US" dirty="0"/>
              <a:t>Processes</a:t>
            </a:r>
          </a:p>
          <a:p>
            <a:pPr lvl="1"/>
            <a:r>
              <a:rPr lang="en-US" dirty="0"/>
              <a:t>Network</a:t>
            </a:r>
          </a:p>
          <a:p>
            <a:pPr lvl="1"/>
            <a:r>
              <a:rPr lang="en-US" dirty="0"/>
              <a:t>Filesystem (</a:t>
            </a:r>
            <a:r>
              <a:rPr lang="en-US" i="1" dirty="0"/>
              <a:t>chroot</a:t>
            </a:r>
            <a:r>
              <a:rPr lang="en-US" dirty="0"/>
              <a:t> for many </a:t>
            </a:r>
            <a:r>
              <a:rPr lang="en-US" dirty="0" err="1"/>
              <a:t>proceses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r>
              <a:rPr lang="en-US" dirty="0"/>
              <a:t>We can limit container’s resources:</a:t>
            </a:r>
          </a:p>
          <a:p>
            <a:pPr lvl="1"/>
            <a:r>
              <a:rPr lang="en-US" dirty="0"/>
              <a:t>Memory</a:t>
            </a:r>
          </a:p>
          <a:p>
            <a:pPr lvl="1"/>
            <a:r>
              <a:rPr lang="en-US" dirty="0"/>
              <a:t>Disk space</a:t>
            </a:r>
          </a:p>
          <a:p>
            <a:pPr lvl="1"/>
            <a:r>
              <a:rPr lang="en-US" dirty="0"/>
              <a:t>Memory usage</a:t>
            </a:r>
          </a:p>
          <a:p>
            <a:pPr lvl="1"/>
            <a:r>
              <a:rPr lang="en-US" dirty="0"/>
              <a:t>Network bandwidth</a:t>
            </a:r>
          </a:p>
          <a:p>
            <a:pPr lvl="1"/>
            <a:r>
              <a:rPr lang="en-US" dirty="0"/>
              <a:t>…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252DB-13F7-0B71-D6D9-7EAEA360430F}"/>
              </a:ext>
            </a:extLst>
          </p:cNvPr>
          <p:cNvSpPr txBox="1"/>
          <p:nvPr/>
        </p:nvSpPr>
        <p:spPr>
          <a:xfrm>
            <a:off x="5427059" y="5088053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496B40-3D98-784D-B5C7-9BE5C17C41D4}"/>
              </a:ext>
            </a:extLst>
          </p:cNvPr>
          <p:cNvSpPr txBox="1"/>
          <p:nvPr/>
        </p:nvSpPr>
        <p:spPr>
          <a:xfrm>
            <a:off x="5422291" y="4583205"/>
            <a:ext cx="29674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3BB5CF-347F-E6CB-54F4-9F6026F4E439}"/>
              </a:ext>
            </a:extLst>
          </p:cNvPr>
          <p:cNvSpPr txBox="1"/>
          <p:nvPr/>
        </p:nvSpPr>
        <p:spPr>
          <a:xfrm>
            <a:off x="6807831" y="3089520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F1F24E-730E-F4DE-F19D-E67F1B26F20E}"/>
              </a:ext>
            </a:extLst>
          </p:cNvPr>
          <p:cNvSpPr txBox="1"/>
          <p:nvPr/>
        </p:nvSpPr>
        <p:spPr>
          <a:xfrm>
            <a:off x="5427059" y="4078357"/>
            <a:ext cx="128626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F50C7A-B6B7-69DB-6A2E-64CA5B8309B7}"/>
              </a:ext>
            </a:extLst>
          </p:cNvPr>
          <p:cNvSpPr/>
          <p:nvPr/>
        </p:nvSpPr>
        <p:spPr bwMode="auto">
          <a:xfrm>
            <a:off x="6745849" y="2929387"/>
            <a:ext cx="806410" cy="161571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IL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8AF5DC-CA8F-2867-EE67-E8C2F0DE0B54}"/>
              </a:ext>
            </a:extLst>
          </p:cNvPr>
          <p:cNvSpPr txBox="1"/>
          <p:nvPr/>
        </p:nvSpPr>
        <p:spPr>
          <a:xfrm>
            <a:off x="7065026" y="3089519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2B4677-BC7B-7011-5A32-93FD46A779D4}"/>
              </a:ext>
            </a:extLst>
          </p:cNvPr>
          <p:cNvSpPr txBox="1"/>
          <p:nvPr/>
        </p:nvSpPr>
        <p:spPr>
          <a:xfrm>
            <a:off x="7320942" y="3086647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882D86-327B-D9FF-D9DF-825FF000CC1A}"/>
              </a:ext>
            </a:extLst>
          </p:cNvPr>
          <p:cNvSpPr txBox="1"/>
          <p:nvPr/>
        </p:nvSpPr>
        <p:spPr>
          <a:xfrm>
            <a:off x="7638521" y="3089520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3A05D4-AD81-A2A1-6D9E-3C8DF979A5EE}"/>
              </a:ext>
            </a:extLst>
          </p:cNvPr>
          <p:cNvSpPr txBox="1"/>
          <p:nvPr/>
        </p:nvSpPr>
        <p:spPr>
          <a:xfrm>
            <a:off x="7895716" y="3089519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33FF97-E3A1-08D9-88A4-43AB5967E8B2}"/>
              </a:ext>
            </a:extLst>
          </p:cNvPr>
          <p:cNvSpPr txBox="1"/>
          <p:nvPr/>
        </p:nvSpPr>
        <p:spPr>
          <a:xfrm>
            <a:off x="8151632" y="3086647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D42DE3-1DBF-0726-5D73-9EAFCE7FADF3}"/>
              </a:ext>
            </a:extLst>
          </p:cNvPr>
          <p:cNvSpPr/>
          <p:nvPr/>
        </p:nvSpPr>
        <p:spPr bwMode="auto">
          <a:xfrm>
            <a:off x="7608171" y="2929387"/>
            <a:ext cx="806410" cy="161571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IL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D2EE34-F941-4DC9-FE39-0D3E30D38F12}"/>
              </a:ext>
            </a:extLst>
          </p:cNvPr>
          <p:cNvSpPr txBox="1"/>
          <p:nvPr/>
        </p:nvSpPr>
        <p:spPr>
          <a:xfrm>
            <a:off x="6379843" y="2653927"/>
            <a:ext cx="1258678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Container1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37860E-35F3-0CED-4A09-6117529BFB45}"/>
              </a:ext>
            </a:extLst>
          </p:cNvPr>
          <p:cNvSpPr txBox="1"/>
          <p:nvPr/>
        </p:nvSpPr>
        <p:spPr>
          <a:xfrm>
            <a:off x="7584785" y="2660191"/>
            <a:ext cx="1258678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Container2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2918661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5AAD4-1744-91BB-D4D1-A5832978A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A72FE-6514-DB98-083D-141AE9D19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A97BF-F613-5B36-576F-63211A1E8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715000"/>
          </a:xfrm>
        </p:spPr>
        <p:txBody>
          <a:bodyPr/>
          <a:lstStyle/>
          <a:p>
            <a:r>
              <a:rPr lang="en-US" dirty="0"/>
              <a:t>Need OS support to manage groups of processes</a:t>
            </a:r>
          </a:p>
          <a:p>
            <a:endParaRPr lang="en-US" dirty="0"/>
          </a:p>
          <a:p>
            <a:r>
              <a:rPr lang="en-US" dirty="0"/>
              <a:t>Main mechanisms:</a:t>
            </a:r>
          </a:p>
          <a:p>
            <a:pPr lvl="1"/>
            <a:r>
              <a:rPr lang="en-US" b="1" dirty="0"/>
              <a:t>Namespaces:</a:t>
            </a:r>
          </a:p>
          <a:p>
            <a:pPr lvl="2"/>
            <a:r>
              <a:rPr lang="en-US" dirty="0"/>
              <a:t>A container has a namespace</a:t>
            </a:r>
          </a:p>
          <a:p>
            <a:pPr lvl="2"/>
            <a:r>
              <a:rPr lang="en-US" dirty="0"/>
              <a:t>Resources are assigned to a namespace</a:t>
            </a:r>
          </a:p>
          <a:p>
            <a:pPr lvl="3"/>
            <a:r>
              <a:rPr lang="en-US" dirty="0"/>
              <a:t>Each resource has internal and </a:t>
            </a:r>
            <a:r>
              <a:rPr lang="en-US"/>
              <a:t>external names</a:t>
            </a:r>
            <a:endParaRPr lang="en-US" dirty="0"/>
          </a:p>
          <a:p>
            <a:pPr lvl="2"/>
            <a:r>
              <a:rPr lang="en-US" dirty="0"/>
              <a:t>Processes only see what’s in their namespace</a:t>
            </a:r>
          </a:p>
          <a:p>
            <a:pPr lvl="1"/>
            <a:endParaRPr lang="en-US" dirty="0"/>
          </a:p>
          <a:p>
            <a:pPr lvl="1"/>
            <a:r>
              <a:rPr lang="en-US" b="1" dirty="0" err="1"/>
              <a:t>cgroups</a:t>
            </a:r>
            <a:r>
              <a:rPr lang="en-US" b="1" dirty="0"/>
              <a:t>: Control groups</a:t>
            </a:r>
          </a:p>
          <a:p>
            <a:pPr lvl="2"/>
            <a:r>
              <a:rPr lang="en-US" dirty="0"/>
              <a:t>Control a namespace’s resources</a:t>
            </a:r>
          </a:p>
          <a:p>
            <a:pPr lvl="2"/>
            <a:r>
              <a:rPr lang="en-US" dirty="0"/>
              <a:t>Total amount of memory,</a:t>
            </a:r>
            <a:br>
              <a:rPr lang="en-US" dirty="0"/>
            </a:br>
            <a:r>
              <a:rPr lang="en-US" dirty="0"/>
              <a:t>network BW, disk space, etc.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Layered filesystem</a:t>
            </a:r>
          </a:p>
          <a:p>
            <a:pPr lvl="2"/>
            <a:r>
              <a:rPr lang="en-US" dirty="0"/>
              <a:t>Each container can see its own disk replica of a common image</a:t>
            </a:r>
          </a:p>
          <a:p>
            <a:pPr lvl="2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25403F-17D9-217A-01C5-3B5EE0073690}"/>
              </a:ext>
            </a:extLst>
          </p:cNvPr>
          <p:cNvSpPr txBox="1"/>
          <p:nvPr/>
        </p:nvSpPr>
        <p:spPr>
          <a:xfrm>
            <a:off x="5427059" y="5088053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hardware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87D7CC-5CF6-041C-C7C7-BD96961975D6}"/>
              </a:ext>
            </a:extLst>
          </p:cNvPr>
          <p:cNvSpPr txBox="1"/>
          <p:nvPr/>
        </p:nvSpPr>
        <p:spPr>
          <a:xfrm>
            <a:off x="5422291" y="4583205"/>
            <a:ext cx="2967427" cy="40011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E4165B-20D7-DBDA-1777-E2A4CAF92415}"/>
              </a:ext>
            </a:extLst>
          </p:cNvPr>
          <p:cNvSpPr txBox="1"/>
          <p:nvPr/>
        </p:nvSpPr>
        <p:spPr>
          <a:xfrm>
            <a:off x="6807831" y="3089520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FD37094-678B-7711-5083-6310DAEB9314}"/>
              </a:ext>
            </a:extLst>
          </p:cNvPr>
          <p:cNvSpPr txBox="1"/>
          <p:nvPr/>
        </p:nvSpPr>
        <p:spPr>
          <a:xfrm>
            <a:off x="5427059" y="4078357"/>
            <a:ext cx="1286264" cy="40011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process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D3EF28-CE98-35AF-FB55-D882702F1817}"/>
              </a:ext>
            </a:extLst>
          </p:cNvPr>
          <p:cNvSpPr/>
          <p:nvPr/>
        </p:nvSpPr>
        <p:spPr bwMode="auto">
          <a:xfrm>
            <a:off x="6745849" y="2929387"/>
            <a:ext cx="806410" cy="161571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IL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7681AC-4D20-C108-9D86-E40D0A38909C}"/>
              </a:ext>
            </a:extLst>
          </p:cNvPr>
          <p:cNvSpPr txBox="1"/>
          <p:nvPr/>
        </p:nvSpPr>
        <p:spPr>
          <a:xfrm>
            <a:off x="7065026" y="3089519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69B280-6B2F-F4CC-A51E-B97F83CD1BAA}"/>
              </a:ext>
            </a:extLst>
          </p:cNvPr>
          <p:cNvSpPr txBox="1"/>
          <p:nvPr/>
        </p:nvSpPr>
        <p:spPr>
          <a:xfrm>
            <a:off x="7320942" y="3086647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9B38D8-B70C-3C46-3112-6342EFC4FE51}"/>
              </a:ext>
            </a:extLst>
          </p:cNvPr>
          <p:cNvSpPr txBox="1"/>
          <p:nvPr/>
        </p:nvSpPr>
        <p:spPr>
          <a:xfrm>
            <a:off x="7638521" y="3089520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28D02-5A08-9912-4A93-9956ACDF4CEB}"/>
              </a:ext>
            </a:extLst>
          </p:cNvPr>
          <p:cNvSpPr txBox="1"/>
          <p:nvPr/>
        </p:nvSpPr>
        <p:spPr>
          <a:xfrm>
            <a:off x="7895716" y="3089519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0FC584-E416-507A-E424-064C71867251}"/>
              </a:ext>
            </a:extLst>
          </p:cNvPr>
          <p:cNvSpPr txBox="1"/>
          <p:nvPr/>
        </p:nvSpPr>
        <p:spPr>
          <a:xfrm>
            <a:off x="8151632" y="3086647"/>
            <a:ext cx="231317" cy="1388947"/>
          </a:xfrm>
          <a:prstGeom prst="rect">
            <a:avLst/>
          </a:prstGeom>
          <a:solidFill>
            <a:srgbClr val="00B0F0"/>
          </a:solidFill>
          <a:ln>
            <a:solidFill>
              <a:schemeClr val="tx1"/>
            </a:solidFill>
          </a:ln>
        </p:spPr>
        <p:txBody>
          <a:bodyPr vert="vert" wrap="square" lIns="36000" tIns="36000" rIns="36000" bIns="36000" rtlCol="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latin typeface="+mn-lt"/>
              </a:rPr>
              <a:t>P1.3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7A66761-0126-5BB0-28DB-142996B96F73}"/>
              </a:ext>
            </a:extLst>
          </p:cNvPr>
          <p:cNvSpPr/>
          <p:nvPr/>
        </p:nvSpPr>
        <p:spPr bwMode="auto">
          <a:xfrm>
            <a:off x="7608171" y="2929387"/>
            <a:ext cx="806410" cy="1615718"/>
          </a:xfrm>
          <a:prstGeom prst="rect">
            <a:avLst/>
          </a:prstGeom>
          <a:noFill/>
          <a:ln w="28575" cap="flat" cmpd="sng" algn="ctr">
            <a:solidFill>
              <a:schemeClr val="tx1"/>
            </a:solidFill>
            <a:prstDash val="sysDot"/>
            <a:round/>
            <a:headEnd type="none" w="med" len="med"/>
            <a:tailEnd type="none" w="sm" len="sm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742950" marR="0" indent="-285750" algn="l" defTabSz="914400" rtl="0" eaLnBrk="0" fontAlgn="base" latinLnBrk="0" hangingPunct="0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65000"/>
              <a:buFont typeface="Wingdings" pitchFamily="2" charset="2"/>
              <a:buNone/>
              <a:tabLst/>
            </a:pPr>
            <a:endParaRPr kumimoji="0" lang="en-IL" sz="1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7DF4D5-9FA3-A7DA-A393-2B8658F2E31F}"/>
              </a:ext>
            </a:extLst>
          </p:cNvPr>
          <p:cNvSpPr txBox="1"/>
          <p:nvPr/>
        </p:nvSpPr>
        <p:spPr>
          <a:xfrm>
            <a:off x="6379843" y="2653927"/>
            <a:ext cx="1258678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Container1</a:t>
            </a:r>
            <a:endParaRPr lang="en-IL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E9133B-FF2A-80E8-F53F-4EBCD79BF14A}"/>
              </a:ext>
            </a:extLst>
          </p:cNvPr>
          <p:cNvSpPr txBox="1"/>
          <p:nvPr/>
        </p:nvSpPr>
        <p:spPr>
          <a:xfrm>
            <a:off x="7584785" y="2660191"/>
            <a:ext cx="1258678" cy="2754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Container2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82692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58EE3-AD7A-FDC6-8A25-28143EFA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416C8-19A9-9574-574A-3462CC3F1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Containers: Layered/Union filesystem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F715-F1DC-2077-F1EB-11463E9E4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715000"/>
          </a:xfrm>
        </p:spPr>
        <p:txBody>
          <a:bodyPr/>
          <a:lstStyle/>
          <a:p>
            <a:r>
              <a:rPr lang="en-US" dirty="0"/>
              <a:t>Each container starts with a base disk image</a:t>
            </a:r>
          </a:p>
          <a:p>
            <a:pPr lvl="1"/>
            <a:r>
              <a:rPr lang="en-US" dirty="0"/>
              <a:t>In reality, the base image is composed </a:t>
            </a:r>
            <a:r>
              <a:rPr lang="en-US"/>
              <a:t>of multiple layers </a:t>
            </a:r>
            <a:r>
              <a:rPr lang="en-US" dirty="0"/>
              <a:t>of images</a:t>
            </a:r>
          </a:p>
          <a:p>
            <a:endParaRPr lang="en-US" dirty="0"/>
          </a:p>
          <a:p>
            <a:r>
              <a:rPr lang="en-US" dirty="0"/>
              <a:t>Since the disk image is used by many containers, it’s RO</a:t>
            </a:r>
          </a:p>
          <a:p>
            <a:endParaRPr lang="en-US" dirty="0"/>
          </a:p>
          <a:p>
            <a:r>
              <a:rPr lang="en-US" dirty="0"/>
              <a:t>But the container should be able to write files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1F697-975E-8C83-34CD-6AA546FA4E51}"/>
              </a:ext>
            </a:extLst>
          </p:cNvPr>
          <p:cNvSpPr txBox="1"/>
          <p:nvPr/>
        </p:nvSpPr>
        <p:spPr>
          <a:xfrm>
            <a:off x="5237278" y="5571132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Base disk image</a:t>
            </a:r>
          </a:p>
        </p:txBody>
      </p:sp>
    </p:spTree>
    <p:extLst>
      <p:ext uri="{BB962C8B-B14F-4D97-AF65-F5344CB8AC3E}">
        <p14:creationId xmlns:p14="http://schemas.microsoft.com/office/powerpoint/2010/main" val="274749676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F6DE2F-42B5-400A-938D-67F84EE1C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3CF8B-201A-DE51-E7A2-8FA989BA3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Containers: Layered/Union filesystem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CC041-059F-661E-9D12-161693221F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715000"/>
          </a:xfrm>
        </p:spPr>
        <p:txBody>
          <a:bodyPr/>
          <a:lstStyle/>
          <a:p>
            <a:r>
              <a:rPr lang="en-US" dirty="0"/>
              <a:t>Each container starts with a base disk image</a:t>
            </a:r>
          </a:p>
          <a:p>
            <a:pPr lvl="1"/>
            <a:r>
              <a:rPr lang="en-US" dirty="0"/>
              <a:t>In reality, the base image comprises of layers of images</a:t>
            </a:r>
          </a:p>
          <a:p>
            <a:endParaRPr lang="en-US" dirty="0"/>
          </a:p>
          <a:p>
            <a:r>
              <a:rPr lang="en-US" dirty="0"/>
              <a:t>Since the disk image is used by many containers, it’s RO</a:t>
            </a:r>
          </a:p>
          <a:p>
            <a:endParaRPr lang="en-US" dirty="0"/>
          </a:p>
          <a:p>
            <a:r>
              <a:rPr lang="en-US" dirty="0"/>
              <a:t>But the container should be able to write files</a:t>
            </a:r>
          </a:p>
          <a:p>
            <a:endParaRPr lang="en-US" dirty="0"/>
          </a:p>
          <a:p>
            <a:r>
              <a:rPr lang="en-US" dirty="0"/>
              <a:t>So, we add a writable layer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5C5A42-234C-193F-C019-C3E20B1C0EC6}"/>
              </a:ext>
            </a:extLst>
          </p:cNvPr>
          <p:cNvSpPr txBox="1"/>
          <p:nvPr/>
        </p:nvSpPr>
        <p:spPr>
          <a:xfrm>
            <a:off x="5237278" y="5571132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Base disk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3DC241-B086-EC4E-B1B2-DD19CC92EA96}"/>
              </a:ext>
            </a:extLst>
          </p:cNvPr>
          <p:cNvSpPr txBox="1"/>
          <p:nvPr/>
        </p:nvSpPr>
        <p:spPr>
          <a:xfrm>
            <a:off x="5237277" y="5132922"/>
            <a:ext cx="2967427" cy="40011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Writable layer</a:t>
            </a:r>
          </a:p>
        </p:txBody>
      </p:sp>
    </p:spTree>
    <p:extLst>
      <p:ext uri="{BB962C8B-B14F-4D97-AF65-F5344CB8AC3E}">
        <p14:creationId xmlns:p14="http://schemas.microsoft.com/office/powerpoint/2010/main" val="38503083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79563-F2B9-FAAA-6125-EE2A14930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E1B0B9-759C-34BD-AAE1-FC0D2F4D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Containers: Layered/Union filesystem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214CC-ABAE-036E-2453-59B2BA4C9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715000"/>
          </a:xfrm>
        </p:spPr>
        <p:txBody>
          <a:bodyPr/>
          <a:lstStyle/>
          <a:p>
            <a:r>
              <a:rPr lang="en-US" dirty="0"/>
              <a:t>Each container starts with a base disk image</a:t>
            </a:r>
          </a:p>
          <a:p>
            <a:endParaRPr lang="en-US" dirty="0"/>
          </a:p>
          <a:p>
            <a:r>
              <a:rPr lang="en-US" dirty="0"/>
              <a:t>Since the disk image is used by many containers, it’s RO</a:t>
            </a:r>
          </a:p>
          <a:p>
            <a:endParaRPr lang="en-US" dirty="0"/>
          </a:p>
          <a:p>
            <a:r>
              <a:rPr lang="en-US" dirty="0"/>
              <a:t>But the container should be able to write files</a:t>
            </a:r>
          </a:p>
          <a:p>
            <a:endParaRPr lang="en-US" dirty="0"/>
          </a:p>
          <a:p>
            <a:r>
              <a:rPr lang="en-US" dirty="0"/>
              <a:t>So, we add a writable layer</a:t>
            </a:r>
          </a:p>
          <a:p>
            <a:endParaRPr lang="en-US" dirty="0"/>
          </a:p>
          <a:p>
            <a:r>
              <a:rPr lang="en-US" dirty="0"/>
              <a:t>Data is only written to the writable layer</a:t>
            </a:r>
          </a:p>
          <a:p>
            <a:endParaRPr lang="en-US" dirty="0"/>
          </a:p>
          <a:p>
            <a:r>
              <a:rPr lang="en-US" dirty="0"/>
              <a:t>Data is read from the most</a:t>
            </a:r>
            <a:br>
              <a:rPr lang="en-US" dirty="0"/>
            </a:br>
            <a:r>
              <a:rPr lang="en-US" dirty="0"/>
              <a:t>up-to-date layer</a:t>
            </a:r>
          </a:p>
          <a:p>
            <a:endParaRPr lang="en-US" dirty="0"/>
          </a:p>
          <a:p>
            <a:r>
              <a:rPr lang="en-US" dirty="0"/>
              <a:t>In practice, each layer is split</a:t>
            </a:r>
            <a:br>
              <a:rPr lang="en-US" dirty="0"/>
            </a:br>
            <a:r>
              <a:rPr lang="en-US" dirty="0"/>
              <a:t>into more layers so </a:t>
            </a:r>
            <a:r>
              <a:rPr lang="en-US"/>
              <a:t>save space</a:t>
            </a:r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CE7C1F-4DD5-06DC-C922-59F41DA29BD3}"/>
              </a:ext>
            </a:extLst>
          </p:cNvPr>
          <p:cNvSpPr txBox="1"/>
          <p:nvPr/>
        </p:nvSpPr>
        <p:spPr>
          <a:xfrm>
            <a:off x="5237278" y="5571132"/>
            <a:ext cx="2967427" cy="40011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Base disk 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3DD4B77-2F31-6BFB-0792-581D63C39562}"/>
              </a:ext>
            </a:extLst>
          </p:cNvPr>
          <p:cNvSpPr txBox="1"/>
          <p:nvPr/>
        </p:nvSpPr>
        <p:spPr>
          <a:xfrm>
            <a:off x="5237277" y="5132922"/>
            <a:ext cx="2967427" cy="400110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2000" dirty="0">
                <a:latin typeface="+mn-lt"/>
              </a:rPr>
              <a:t>Writable layer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E1730E1-4F28-BFD5-F166-6D8FCB67655B}"/>
              </a:ext>
            </a:extLst>
          </p:cNvPr>
          <p:cNvCxnSpPr>
            <a:cxnSpLocks/>
          </p:cNvCxnSpPr>
          <p:nvPr/>
        </p:nvCxnSpPr>
        <p:spPr bwMode="auto">
          <a:xfrm>
            <a:off x="7823200" y="4663440"/>
            <a:ext cx="0" cy="46948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ECE3CBB-E163-B5C4-218B-044089BD4260}"/>
              </a:ext>
            </a:extLst>
          </p:cNvPr>
          <p:cNvCxnSpPr>
            <a:cxnSpLocks/>
          </p:cNvCxnSpPr>
          <p:nvPr/>
        </p:nvCxnSpPr>
        <p:spPr bwMode="auto">
          <a:xfrm>
            <a:off x="6583680" y="4663440"/>
            <a:ext cx="0" cy="46948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lg" len="lg"/>
            <a:tailEnd type="none" w="lg" len="lg"/>
          </a:ln>
          <a:effectLst/>
        </p:spPr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065180F-9EE6-086B-6B02-52ECF76A1D38}"/>
              </a:ext>
            </a:extLst>
          </p:cNvPr>
          <p:cNvSpPr txBox="1"/>
          <p:nvPr/>
        </p:nvSpPr>
        <p:spPr>
          <a:xfrm>
            <a:off x="7593009" y="4335658"/>
            <a:ext cx="46038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WR</a:t>
            </a:r>
            <a:endParaRPr lang="en-IL" sz="1800" b="1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8985EC8-D873-650E-38A4-8C10B3D74038}"/>
              </a:ext>
            </a:extLst>
          </p:cNvPr>
          <p:cNvCxnSpPr>
            <a:cxnSpLocks/>
          </p:cNvCxnSpPr>
          <p:nvPr/>
        </p:nvCxnSpPr>
        <p:spPr bwMode="auto">
          <a:xfrm>
            <a:off x="6583680" y="5101650"/>
            <a:ext cx="0" cy="469482"/>
          </a:xfrm>
          <a:prstGeom prst="straightConnector1">
            <a:avLst/>
          </a:prstGeom>
          <a:noFill/>
          <a:ln w="28575" cap="flat" cmpd="sng" algn="ctr">
            <a:solidFill>
              <a:schemeClr val="tx1"/>
            </a:solidFill>
            <a:prstDash val="solid"/>
            <a:round/>
            <a:headEnd type="triangle" w="lg" len="lg"/>
            <a:tailEnd type="none" w="lg" len="lg"/>
          </a:ln>
          <a:effectLst/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90E4204-A06C-68EB-7DB2-F2BE036DB679}"/>
              </a:ext>
            </a:extLst>
          </p:cNvPr>
          <p:cNvSpPr txBox="1"/>
          <p:nvPr/>
        </p:nvSpPr>
        <p:spPr>
          <a:xfrm>
            <a:off x="6363803" y="4335658"/>
            <a:ext cx="460382" cy="3277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/>
              <a:t>RD</a:t>
            </a:r>
            <a:endParaRPr lang="en-IL" sz="1800" b="1" dirty="0"/>
          </a:p>
        </p:txBody>
      </p:sp>
    </p:spTree>
    <p:extLst>
      <p:ext uri="{BB962C8B-B14F-4D97-AF65-F5344CB8AC3E}">
        <p14:creationId xmlns:p14="http://schemas.microsoft.com/office/powerpoint/2010/main" val="17366417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F9E0C-01CB-9139-730E-A79729EB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Containers: Summary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04813-6F96-8415-827C-C7E3E2779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5715000"/>
          </a:xfrm>
        </p:spPr>
        <p:txBody>
          <a:bodyPr/>
          <a:lstStyle/>
          <a:p>
            <a:r>
              <a:rPr lang="en-US" dirty="0"/>
              <a:t>Useful when user needs the same OS in the guest and host</a:t>
            </a:r>
          </a:p>
          <a:p>
            <a:pPr lvl="1"/>
            <a:r>
              <a:rPr lang="en-US" dirty="0"/>
              <a:t>A very common use case</a:t>
            </a:r>
          </a:p>
          <a:p>
            <a:endParaRPr lang="en-US" dirty="0"/>
          </a:p>
          <a:p>
            <a:r>
              <a:rPr lang="en-US" dirty="0"/>
              <a:t>Avoid some of the overheads of virtualization</a:t>
            </a:r>
          </a:p>
          <a:p>
            <a:pPr lvl="1"/>
            <a:r>
              <a:rPr lang="en-US" dirty="0"/>
              <a:t>Faster startup: No need to boot a VM</a:t>
            </a:r>
          </a:p>
          <a:p>
            <a:pPr lvl="1"/>
            <a:r>
              <a:rPr lang="en-US" dirty="0"/>
              <a:t>Faster execution: No </a:t>
            </a:r>
            <a:r>
              <a:rPr lang="en-US" dirty="0" err="1"/>
              <a:t>vmexit</a:t>
            </a:r>
            <a:r>
              <a:rPr lang="en-US" dirty="0"/>
              <a:t>/</a:t>
            </a:r>
            <a:r>
              <a:rPr lang="en-US" dirty="0" err="1"/>
              <a:t>vmenter</a:t>
            </a:r>
            <a:r>
              <a:rPr lang="en-US" dirty="0"/>
              <a:t> on protected instructions</a:t>
            </a:r>
          </a:p>
          <a:p>
            <a:pPr lvl="1"/>
            <a:endParaRPr lang="en-US" dirty="0"/>
          </a:p>
          <a:p>
            <a:r>
              <a:rPr lang="en-US" dirty="0"/>
              <a:t>Allow control over a machine-line abstraction</a:t>
            </a:r>
          </a:p>
          <a:p>
            <a:pPr lvl="1"/>
            <a:r>
              <a:rPr lang="en-US" dirty="0"/>
              <a:t>Resource limits, disk view, network</a:t>
            </a:r>
          </a:p>
          <a:p>
            <a:pPr lvl="1"/>
            <a:r>
              <a:rPr lang="en-US" dirty="0"/>
              <a:t>These still incurs some overheads</a:t>
            </a:r>
          </a:p>
          <a:p>
            <a:endParaRPr lang="en-US" dirty="0"/>
          </a:p>
          <a:p>
            <a:r>
              <a:rPr lang="en-US" dirty="0"/>
              <a:t>Open infrastructure to manage images and fleets of containers</a:t>
            </a:r>
          </a:p>
          <a:p>
            <a:pPr lvl="1"/>
            <a:r>
              <a:rPr lang="en-US" dirty="0"/>
              <a:t>Images: Docker, </a:t>
            </a:r>
            <a:r>
              <a:rPr lang="en-US" dirty="0" err="1"/>
              <a:t>containerd</a:t>
            </a:r>
            <a:r>
              <a:rPr lang="en-US" dirty="0"/>
              <a:t>; Fleets: Kubernetes </a:t>
            </a:r>
          </a:p>
          <a:p>
            <a:endParaRPr lang="en-US" dirty="0"/>
          </a:p>
          <a:p>
            <a:r>
              <a:rPr lang="en-US" dirty="0"/>
              <a:t>We only scratched the surface, especially about HW/SW disparity</a:t>
            </a:r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93601764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F2E224E-4A2C-7AC9-57DA-8F445DADA9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 </a:t>
            </a:r>
            <a:r>
              <a:rPr lang="en-US" dirty="0">
                <a:sym typeface="Wingdings" panose="05000000000000000000" pitchFamily="2" charset="2"/>
              </a:rPr>
              <a:t></a:t>
            </a:r>
            <a:endParaRPr lang="en-IL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702AB28-67D4-02C6-77E0-6A86F8E095D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/>
              <a:t>Questions?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2516115434"/>
      </p:ext>
    </p:extLst>
  </p:cSld>
  <p:clrMapOvr>
    <a:masterClrMapping/>
  </p:clrMapOvr>
</p:sld>
</file>

<file path=ppt/theme/theme1.xml><?xml version="1.0" encoding="utf-8"?>
<a:theme xmlns:a="http://schemas.openxmlformats.org/drawingml/2006/main" name="NHM Template">
  <a:themeElements>
    <a:clrScheme name="NHM Template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NHM Template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sm" len="sm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742950" marR="0" indent="-285750" algn="l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>
            <a:srgbClr val="009900"/>
          </a:buClr>
          <a:buSzPct val="65000"/>
          <a:buFont typeface="Wingdings" pitchFamily="2" charset="2"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Courier New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8575" cap="flat" cmpd="sng" algn="ctr">
          <a:solidFill>
            <a:schemeClr val="tx1"/>
          </a:solidFill>
          <a:prstDash val="solid"/>
          <a:round/>
          <a:headEnd type="none" w="med" len="med"/>
          <a:tailEnd type="none" w="sm" len="sm"/>
        </a:ln>
        <a:effectLst/>
      </a:spPr>
      <a:bodyPr vert="horz" wrap="none" lIns="0" tIns="0" rIns="0" bIns="0" numCol="1" anchor="ctr" anchorCtr="0" compatLnSpc="1">
        <a:prstTxWarp prst="textNoShape">
          <a:avLst/>
        </a:prstTxWarp>
      </a:bodyPr>
      <a:lstStyle>
        <a:defPPr marL="742950" marR="0" indent="-285750" algn="l" defTabSz="914400" rtl="0" eaLnBrk="0" fontAlgn="base" latinLnBrk="0" hangingPunct="0">
          <a:lnSpc>
            <a:spcPct val="80000"/>
          </a:lnSpc>
          <a:spcBef>
            <a:spcPct val="20000"/>
          </a:spcBef>
          <a:spcAft>
            <a:spcPct val="0"/>
          </a:spcAft>
          <a:buClr>
            <a:srgbClr val="009900"/>
          </a:buClr>
          <a:buSzPct val="65000"/>
          <a:buFont typeface="Wingdings" pitchFamily="2" charset="2"/>
          <a:buNone/>
          <a:tabLst/>
          <a:defRPr kumimoji="0" lang="en-US" sz="1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itchFamily="49" charset="0"/>
            <a:cs typeface="Courier New" pitchFamily="49" charset="0"/>
          </a:defRPr>
        </a:defPPr>
      </a:lstStyle>
    </a:lnDef>
  </a:objectDefaults>
  <a:extraClrSchemeLst>
    <a:extraClrScheme>
      <a:clrScheme name="NHM Template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HM 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HM Template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HM Template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HM Template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HM Template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HM Template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6_ooo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L6_oooe.pp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stealth" w="med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stealth" w="med" len="lg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2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L6_oooe.pp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6_oooe.pp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6_oooe.pp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6_oooe.pp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6_oooe.pp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6_oooe.pp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6_oooe.pp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NHM Template</Template>
  <TotalTime>134351</TotalTime>
  <Words>4651</Words>
  <Application>Microsoft Office PowerPoint</Application>
  <PresentationFormat>On-screen Show (4:3)</PresentationFormat>
  <Paragraphs>807</Paragraphs>
  <Slides>66</Slides>
  <Notes>3</Notes>
  <HiddenSlides>11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66</vt:i4>
      </vt:variant>
    </vt:vector>
  </HeadingPairs>
  <TitlesOfParts>
    <vt:vector size="77" baseType="lpstr">
      <vt:lpstr>Aptos</vt:lpstr>
      <vt:lpstr>Arial</vt:lpstr>
      <vt:lpstr>Courier New</vt:lpstr>
      <vt:lpstr>Monotype Sorts</vt:lpstr>
      <vt:lpstr>Symbol</vt:lpstr>
      <vt:lpstr>Tahoma</vt:lpstr>
      <vt:lpstr>Times New Roman</vt:lpstr>
      <vt:lpstr>Trebuchet MS</vt:lpstr>
      <vt:lpstr>Wingdings</vt:lpstr>
      <vt:lpstr>NHM Template</vt:lpstr>
      <vt:lpstr>L6_oooe</vt:lpstr>
      <vt:lpstr>Virtual Machines</vt:lpstr>
      <vt:lpstr>What is virtualization?</vt:lpstr>
      <vt:lpstr>Benefits</vt:lpstr>
      <vt:lpstr>Benefits</vt:lpstr>
      <vt:lpstr>Benefits</vt:lpstr>
      <vt:lpstr>Definitions</vt:lpstr>
      <vt:lpstr>Hypervisor Types </vt:lpstr>
      <vt:lpstr>Hypervisor Types </vt:lpstr>
      <vt:lpstr>Hypervisor Types </vt:lpstr>
      <vt:lpstr>How virtualization works</vt:lpstr>
      <vt:lpstr>The basic concept: Trap &amp; Emulate</vt:lpstr>
      <vt:lpstr>Trap &amp; Emulate</vt:lpstr>
      <vt:lpstr>Implementing Trap &amp; Emulate</vt:lpstr>
      <vt:lpstr>SW emulation</vt:lpstr>
      <vt:lpstr>Dynamic binary translation</vt:lpstr>
      <vt:lpstr>Dynamic binary translation</vt:lpstr>
      <vt:lpstr>Dynamic binary translation</vt:lpstr>
      <vt:lpstr>Paravirtualization</vt:lpstr>
      <vt:lpstr>Hardware Support</vt:lpstr>
      <vt:lpstr>Hardware Support</vt:lpstr>
      <vt:lpstr>Hardware support</vt:lpstr>
      <vt:lpstr>vmenter/vmexit</vt:lpstr>
      <vt:lpstr>Nested virtualization</vt:lpstr>
      <vt:lpstr>Mitigating the overheads of vmexit</vt:lpstr>
      <vt:lpstr>Prevailing trend</vt:lpstr>
      <vt:lpstr>How to run a VM?</vt:lpstr>
      <vt:lpstr>Reminder: x86 paging</vt:lpstr>
      <vt:lpstr>Reminder: x86 paging</vt:lpstr>
      <vt:lpstr>Virtualizing the virtual memory</vt:lpstr>
      <vt:lpstr>Virtualizing the virtual memory</vt:lpstr>
      <vt:lpstr>Shadow page table</vt:lpstr>
      <vt:lpstr>Shadow page table</vt:lpstr>
      <vt:lpstr>Shadow page table</vt:lpstr>
      <vt:lpstr>2D/nested/extended page table (EPT/NPT)</vt:lpstr>
      <vt:lpstr>PowerPoint Presentation</vt:lpstr>
      <vt:lpstr>Shadow PT vs. EPT</vt:lpstr>
      <vt:lpstr>2D/nested/extended page table (EPT/NPT)</vt:lpstr>
      <vt:lpstr>How to run a VM?</vt:lpstr>
      <vt:lpstr>I/O virtualization</vt:lpstr>
      <vt:lpstr>Pseudo code of a physical NIC driver         (simplified)</vt:lpstr>
      <vt:lpstr>Device emulation</vt:lpstr>
      <vt:lpstr>I/O virtualization – emulation</vt:lpstr>
      <vt:lpstr>I/O virtualization – paravirtualization</vt:lpstr>
      <vt:lpstr>Device paravirtualization</vt:lpstr>
      <vt:lpstr>I/O virtualization – paravirtualization</vt:lpstr>
      <vt:lpstr>I/O virtualization – direct assignment</vt:lpstr>
      <vt:lpstr>Device emulation</vt:lpstr>
      <vt:lpstr>I/O virtualization – direct assignment</vt:lpstr>
      <vt:lpstr>I/O virtualization – HW support</vt:lpstr>
      <vt:lpstr>IOMMU translation</vt:lpstr>
      <vt:lpstr>I/O virtualization – HW support</vt:lpstr>
      <vt:lpstr>I/O virtualization – HW support</vt:lpstr>
      <vt:lpstr>Device emulation</vt:lpstr>
      <vt:lpstr>I/O virtualization – HW support</vt:lpstr>
      <vt:lpstr>x86 Virtualization Performance</vt:lpstr>
      <vt:lpstr>Containers</vt:lpstr>
      <vt:lpstr>Containers</vt:lpstr>
      <vt:lpstr>Containers</vt:lpstr>
      <vt:lpstr>Containers</vt:lpstr>
      <vt:lpstr>Containers</vt:lpstr>
      <vt:lpstr>Containers</vt:lpstr>
      <vt:lpstr>Containers: Layered/Union filesystem</vt:lpstr>
      <vt:lpstr>Containers: Layered/Union filesystem</vt:lpstr>
      <vt:lpstr>Containers: Layered/Union filesystem</vt:lpstr>
      <vt:lpstr>Containers: Summary</vt:lpstr>
      <vt:lpstr>Thank you </vt:lpstr>
    </vt:vector>
  </TitlesOfParts>
  <Company>Technion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creator>Dan Tsafrir</dc:creator>
  <cp:lastModifiedBy>Yoav Etsion</cp:lastModifiedBy>
  <cp:revision>2805</cp:revision>
  <dcterms:created xsi:type="dcterms:W3CDTF">2002-03-26T17:20:55Z</dcterms:created>
  <dcterms:modified xsi:type="dcterms:W3CDTF">2026-06-21T14:37:01Z</dcterms:modified>
</cp:coreProperties>
</file>