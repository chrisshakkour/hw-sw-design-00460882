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94" r:id="rId4"/>
    <p:sldId id="259" r:id="rId5"/>
    <p:sldId id="260" r:id="rId6"/>
    <p:sldId id="258" r:id="rId7"/>
    <p:sldId id="296" r:id="rId8"/>
    <p:sldId id="297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69" r:id="rId21"/>
    <p:sldId id="274" r:id="rId22"/>
    <p:sldId id="273" r:id="rId23"/>
    <p:sldId id="288" r:id="rId24"/>
    <p:sldId id="289" r:id="rId25"/>
    <p:sldId id="278" r:id="rId26"/>
    <p:sldId id="279" r:id="rId27"/>
    <p:sldId id="282" r:id="rId28"/>
    <p:sldId id="285" r:id="rId29"/>
    <p:sldId id="286" r:id="rId30"/>
    <p:sldId id="290" r:id="rId31"/>
    <p:sldId id="298" r:id="rId32"/>
    <p:sldId id="299" r:id="rId33"/>
    <p:sldId id="291" r:id="rId34"/>
    <p:sldId id="292" r:id="rId35"/>
    <p:sldId id="293" r:id="rId36"/>
    <p:sldId id="295" r:id="rId3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49C2A-DCD4-4456-B32F-0DF342A19C9F}" v="26" dt="2026-04-12T13:10:14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3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custSel modSld">
      <pc:chgData name="Yoav Etsion" userId="6817d923-c30e-4d6b-be87-a47c131a91a7" providerId="ADAL" clId="{687D8E6A-57AF-45AE-B177-36E0AC6490D8}" dt="2026-04-12T13:18:52.477" v="595" actId="20577"/>
      <pc:docMkLst>
        <pc:docMk/>
      </pc:docMkLst>
      <pc:sldChg chg="modSp mod">
        <pc:chgData name="Yoav Etsion" userId="6817d923-c30e-4d6b-be87-a47c131a91a7" providerId="ADAL" clId="{687D8E6A-57AF-45AE-B177-36E0AC6490D8}" dt="2026-04-12T12:52:42.960" v="230" actId="20577"/>
        <pc:sldMkLst>
          <pc:docMk/>
          <pc:sldMk cId="4197848285" sldId="257"/>
        </pc:sldMkLst>
        <pc:spChg chg="mod">
          <ac:chgData name="Yoav Etsion" userId="6817d923-c30e-4d6b-be87-a47c131a91a7" providerId="ADAL" clId="{687D8E6A-57AF-45AE-B177-36E0AC6490D8}" dt="2026-04-12T12:52:42.960" v="230" actId="20577"/>
          <ac:spMkLst>
            <pc:docMk/>
            <pc:sldMk cId="4197848285" sldId="257"/>
            <ac:spMk id="3" creationId="{3BEBE429-2B67-CD0F-E384-C3130FE84854}"/>
          </ac:spMkLst>
        </pc:spChg>
      </pc:sldChg>
      <pc:sldChg chg="modSp mod">
        <pc:chgData name="Yoav Etsion" userId="6817d923-c30e-4d6b-be87-a47c131a91a7" providerId="ADAL" clId="{687D8E6A-57AF-45AE-B177-36E0AC6490D8}" dt="2026-04-12T12:54:00.255" v="246" actId="6549"/>
        <pc:sldMkLst>
          <pc:docMk/>
          <pc:sldMk cId="90384425" sldId="258"/>
        </pc:sldMkLst>
        <pc:spChg chg="mod">
          <ac:chgData name="Yoav Etsion" userId="6817d923-c30e-4d6b-be87-a47c131a91a7" providerId="ADAL" clId="{687D8E6A-57AF-45AE-B177-36E0AC6490D8}" dt="2026-04-12T12:54:00.255" v="246" actId="6549"/>
          <ac:spMkLst>
            <pc:docMk/>
            <pc:sldMk cId="90384425" sldId="258"/>
            <ac:spMk id="3" creationId="{85BA07F0-42AD-0497-3F13-75666C724DC5}"/>
          </ac:spMkLst>
        </pc:spChg>
      </pc:sldChg>
      <pc:sldChg chg="addSp modSp mod modAnim">
        <pc:chgData name="Yoav Etsion" userId="6817d923-c30e-4d6b-be87-a47c131a91a7" providerId="ADAL" clId="{687D8E6A-57AF-45AE-B177-36E0AC6490D8}" dt="2026-04-12T12:58:06.012" v="298"/>
        <pc:sldMkLst>
          <pc:docMk/>
          <pc:sldMk cId="119584531" sldId="265"/>
        </pc:sldMkLst>
        <pc:spChg chg="add mod">
          <ac:chgData name="Yoav Etsion" userId="6817d923-c30e-4d6b-be87-a47c131a91a7" providerId="ADAL" clId="{687D8E6A-57AF-45AE-B177-36E0AC6490D8}" dt="2026-04-12T12:57:22" v="297" actId="20577"/>
          <ac:spMkLst>
            <pc:docMk/>
            <pc:sldMk cId="119584531" sldId="265"/>
            <ac:spMk id="4" creationId="{07DA6695-DBE5-9F26-F086-F8FA6D55AA36}"/>
          </ac:spMkLst>
        </pc:spChg>
      </pc:sldChg>
      <pc:sldChg chg="modSp mod">
        <pc:chgData name="Yoav Etsion" userId="6817d923-c30e-4d6b-be87-a47c131a91a7" providerId="ADAL" clId="{687D8E6A-57AF-45AE-B177-36E0AC6490D8}" dt="2026-04-12T12:58:30.989" v="301" actId="20577"/>
        <pc:sldMkLst>
          <pc:docMk/>
          <pc:sldMk cId="2380333553" sldId="266"/>
        </pc:sldMkLst>
        <pc:spChg chg="mod">
          <ac:chgData name="Yoav Etsion" userId="6817d923-c30e-4d6b-be87-a47c131a91a7" providerId="ADAL" clId="{687D8E6A-57AF-45AE-B177-36E0AC6490D8}" dt="2026-04-12T12:58:30.989" v="301" actId="20577"/>
          <ac:spMkLst>
            <pc:docMk/>
            <pc:sldMk cId="2380333553" sldId="266"/>
            <ac:spMk id="3" creationId="{23D6AE29-474B-B4EC-A463-0E679A735240}"/>
          </ac:spMkLst>
        </pc:spChg>
      </pc:sldChg>
      <pc:sldChg chg="modSp mod">
        <pc:chgData name="Yoav Etsion" userId="6817d923-c30e-4d6b-be87-a47c131a91a7" providerId="ADAL" clId="{687D8E6A-57AF-45AE-B177-36E0AC6490D8}" dt="2026-04-12T13:13:42.160" v="518" actId="20577"/>
        <pc:sldMkLst>
          <pc:docMk/>
          <pc:sldMk cId="4035068134" sldId="292"/>
        </pc:sldMkLst>
        <pc:graphicFrameChg chg="modGraphic">
          <ac:chgData name="Yoav Etsion" userId="6817d923-c30e-4d6b-be87-a47c131a91a7" providerId="ADAL" clId="{687D8E6A-57AF-45AE-B177-36E0AC6490D8}" dt="2026-04-12T13:13:42.160" v="518" actId="20577"/>
          <ac:graphicFrameMkLst>
            <pc:docMk/>
            <pc:sldMk cId="4035068134" sldId="292"/>
            <ac:graphicFrameMk id="6" creationId="{0784FC0C-2B2B-57CF-DB85-CFEC996C76F3}"/>
          </ac:graphicFrameMkLst>
        </pc:graphicFrameChg>
      </pc:sldChg>
      <pc:sldChg chg="modSp mod">
        <pc:chgData name="Yoav Etsion" userId="6817d923-c30e-4d6b-be87-a47c131a91a7" providerId="ADAL" clId="{687D8E6A-57AF-45AE-B177-36E0AC6490D8}" dt="2026-04-12T13:18:52.477" v="595" actId="20577"/>
        <pc:sldMkLst>
          <pc:docMk/>
          <pc:sldMk cId="2758166688" sldId="293"/>
        </pc:sldMkLst>
        <pc:graphicFrameChg chg="modGraphic">
          <ac:chgData name="Yoav Etsion" userId="6817d923-c30e-4d6b-be87-a47c131a91a7" providerId="ADAL" clId="{687D8E6A-57AF-45AE-B177-36E0AC6490D8}" dt="2026-04-12T13:18:52.477" v="595" actId="20577"/>
          <ac:graphicFrameMkLst>
            <pc:docMk/>
            <pc:sldMk cId="2758166688" sldId="293"/>
            <ac:graphicFrameMk id="6" creationId="{69A35488-7B71-953C-0ADD-747065384573}"/>
          </ac:graphicFrameMkLst>
        </pc:graphicFrameChg>
      </pc:sldChg>
      <pc:sldChg chg="modSp mod">
        <pc:chgData name="Yoav Etsion" userId="6817d923-c30e-4d6b-be87-a47c131a91a7" providerId="ADAL" clId="{687D8E6A-57AF-45AE-B177-36E0AC6490D8}" dt="2026-04-12T12:53:05.248" v="245" actId="20577"/>
        <pc:sldMkLst>
          <pc:docMk/>
          <pc:sldMk cId="296494902" sldId="294"/>
        </pc:sldMkLst>
        <pc:spChg chg="mod">
          <ac:chgData name="Yoav Etsion" userId="6817d923-c30e-4d6b-be87-a47c131a91a7" providerId="ADAL" clId="{687D8E6A-57AF-45AE-B177-36E0AC6490D8}" dt="2026-04-12T12:53:05.248" v="245" actId="20577"/>
          <ac:spMkLst>
            <pc:docMk/>
            <pc:sldMk cId="296494902" sldId="294"/>
            <ac:spMk id="3" creationId="{374DCE56-0078-3384-E9C2-0FC2F14D9AE5}"/>
          </ac:spMkLst>
        </pc:spChg>
      </pc:sldChg>
      <pc:sldChg chg="modSp mod addAnim delAnim modAnim">
        <pc:chgData name="Yoav Etsion" userId="6817d923-c30e-4d6b-be87-a47c131a91a7" providerId="ADAL" clId="{687D8E6A-57AF-45AE-B177-36E0AC6490D8}" dt="2026-04-12T13:10:21.160" v="315"/>
        <pc:sldMkLst>
          <pc:docMk/>
          <pc:sldMk cId="1423571494" sldId="299"/>
        </pc:sldMkLst>
        <pc:spChg chg="mod">
          <ac:chgData name="Yoav Etsion" userId="6817d923-c30e-4d6b-be87-a47c131a91a7" providerId="ADAL" clId="{687D8E6A-57AF-45AE-B177-36E0AC6490D8}" dt="2026-04-12T13:08:48.243" v="306" actId="20577"/>
          <ac:spMkLst>
            <pc:docMk/>
            <pc:sldMk cId="1423571494" sldId="299"/>
            <ac:spMk id="14" creationId="{8078657A-427F-5A25-6336-1DCA06E2CD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12/04/2026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HW/SW Co-design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Yoav Etsion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6555-A997-ABF0-01B8-4DC022A5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E429-2B67-CD0F-E384-C3130FE84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Welcome to the course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Grading: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Two home assignment (25%)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Project: Analyze workload and propose potential HW acceleration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Project is graded by: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Implementation and final report (45%)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Presentation (45%)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Projects will be given in the last month of semester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Presentations after MoedA period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Feel free to use whatever AI tools you want in the assignments and project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But you are responsible to fully understand all AI products!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BB608-61F2-B915-2601-E271FA6B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AAD7A2-D45B-06F3-5AA3-C993394F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9784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8F4A-B7EA-32A1-F4F5-62F6FF35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CE56-0078-3384-E9C2-0FC2F14D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Classic books on HW/SW co-design focus on embedded systems</a:t>
            </a:r>
          </a:p>
          <a:p>
            <a:pPr lvl="1"/>
            <a:r>
              <a:rPr lang="en-US" dirty="0"/>
              <a:t>Tune hardware for application</a:t>
            </a:r>
          </a:p>
          <a:p>
            <a:pPr lvl="1"/>
            <a:r>
              <a:rPr lang="en-US" dirty="0"/>
              <a:t>Tune application for hardware</a:t>
            </a:r>
          </a:p>
          <a:p>
            <a:endParaRPr lang="en-US" dirty="0"/>
          </a:p>
          <a:p>
            <a:r>
              <a:rPr lang="en-US" dirty="0"/>
              <a:t>Not very relevant for this course</a:t>
            </a:r>
          </a:p>
          <a:p>
            <a:endParaRPr lang="en-US" dirty="0"/>
          </a:p>
          <a:p>
            <a:r>
              <a:rPr lang="en-US" dirty="0"/>
              <a:t>Some of the topics in the course are covered by Hennesey and Patterson, some by HW specs (e.g., PCIe, perf. counters), and many in recent literature</a:t>
            </a:r>
          </a:p>
          <a:p>
            <a:pPr lvl="1"/>
            <a:r>
              <a:rPr lang="en-US" dirty="0"/>
              <a:t>We will try to properly cite the papers so you can read them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89115-B355-2D8E-DDDC-450F02BE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B2D94-34C1-7963-A21A-3FFC4844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649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8CA7-4CCF-18B2-9B5B-8819DD99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way we commonly see HW/SW boundary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28D5-D941-8312-E7F7-376EFB3D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5945961" cy="21761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often split the computer system into SW and HW</a:t>
            </a:r>
          </a:p>
          <a:p>
            <a:endParaRPr lang="en-US" dirty="0"/>
          </a:p>
          <a:p>
            <a:r>
              <a:rPr lang="en-US" dirty="0"/>
              <a:t>We have “SW engineers” and “HW engineers”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E70F8-043F-C378-AA93-8E5E2A78EFD6}"/>
              </a:ext>
            </a:extLst>
          </p:cNvPr>
          <p:cNvSpPr/>
          <p:nvPr/>
        </p:nvSpPr>
        <p:spPr>
          <a:xfrm>
            <a:off x="7687733" y="4121827"/>
            <a:ext cx="3124200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4419A4-848D-DF64-439F-4B40ED99BA06}"/>
              </a:ext>
            </a:extLst>
          </p:cNvPr>
          <p:cNvSpPr/>
          <p:nvPr/>
        </p:nvSpPr>
        <p:spPr>
          <a:xfrm>
            <a:off x="9381067" y="3194963"/>
            <a:ext cx="1430866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F9BBC4-9409-238D-9F17-EB12EDFF36B7}"/>
              </a:ext>
            </a:extLst>
          </p:cNvPr>
          <p:cNvSpPr/>
          <p:nvPr/>
        </p:nvSpPr>
        <p:spPr>
          <a:xfrm>
            <a:off x="7687733" y="2268100"/>
            <a:ext cx="3124200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2B665B-F042-CEDC-94CB-1AFD07399845}"/>
              </a:ext>
            </a:extLst>
          </p:cNvPr>
          <p:cNvCxnSpPr>
            <a:cxnSpLocks/>
          </p:cNvCxnSpPr>
          <p:nvPr/>
        </p:nvCxnSpPr>
        <p:spPr>
          <a:xfrm>
            <a:off x="8407400" y="2911567"/>
            <a:ext cx="0" cy="121026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73EDA7-DE1D-DF6F-1EFE-63406467364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096500" y="3838430"/>
            <a:ext cx="0" cy="28339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C3230D-DA73-1028-3D2B-89A131F7287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096500" y="2911567"/>
            <a:ext cx="0" cy="28339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F993CAF-089E-64D5-A15C-862979E6E88F}"/>
              </a:ext>
            </a:extLst>
          </p:cNvPr>
          <p:cNvCxnSpPr>
            <a:cxnSpLocks/>
          </p:cNvCxnSpPr>
          <p:nvPr/>
        </p:nvCxnSpPr>
        <p:spPr>
          <a:xfrm flipH="1">
            <a:off x="6643991" y="4099831"/>
            <a:ext cx="448445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FB97D5-3A8B-BAFE-787E-E6252BF06046}"/>
              </a:ext>
            </a:extLst>
          </p:cNvPr>
          <p:cNvSpPr txBox="1"/>
          <p:nvPr/>
        </p:nvSpPr>
        <p:spPr>
          <a:xfrm>
            <a:off x="6784177" y="3726739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</a:t>
            </a:r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32C4C-5605-DFC0-F283-0A0DE3F5CAF2}"/>
              </a:ext>
            </a:extLst>
          </p:cNvPr>
          <p:cNvSpPr txBox="1"/>
          <p:nvPr/>
        </p:nvSpPr>
        <p:spPr>
          <a:xfrm>
            <a:off x="6764814" y="412182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  <a:endParaRPr lang="en-IL" dirty="0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C097AF33-B976-B86E-21D0-F648DAE5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0E6C315-F963-F5D4-8F3F-A3A2098D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3286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F7E48-DD62-6A3A-CA3A-B3C3930A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073C-0C7E-A14A-BC92-0E5C6274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way we commonly see HW/SW boundary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BFF2-92CE-5A02-8980-93B579626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4596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often split the computer system into SW and HW</a:t>
            </a:r>
          </a:p>
          <a:p>
            <a:endParaRPr lang="en-US" dirty="0"/>
          </a:p>
          <a:p>
            <a:r>
              <a:rPr lang="en-US" dirty="0"/>
              <a:t>We have “SW engineers” and “HW engineers”</a:t>
            </a:r>
          </a:p>
          <a:p>
            <a:endParaRPr lang="en-US" dirty="0"/>
          </a:p>
          <a:p>
            <a:r>
              <a:rPr lang="en-US" b="1" dirty="0"/>
              <a:t>Very few engineers have good understanding of both HW and SW</a:t>
            </a:r>
          </a:p>
          <a:p>
            <a:endParaRPr lang="en-US" b="1" dirty="0"/>
          </a:p>
          <a:p>
            <a:r>
              <a:rPr lang="en-US" dirty="0"/>
              <a:t>Ignorance breeds a blame game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F40AE-5D5C-E1F8-C8F9-96DB846C9AE8}"/>
              </a:ext>
            </a:extLst>
          </p:cNvPr>
          <p:cNvSpPr/>
          <p:nvPr/>
        </p:nvSpPr>
        <p:spPr>
          <a:xfrm>
            <a:off x="7687733" y="4121827"/>
            <a:ext cx="3124200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D4A508-1F73-D88C-EF7D-9BF213463E6B}"/>
              </a:ext>
            </a:extLst>
          </p:cNvPr>
          <p:cNvSpPr/>
          <p:nvPr/>
        </p:nvSpPr>
        <p:spPr>
          <a:xfrm>
            <a:off x="9381067" y="3194963"/>
            <a:ext cx="1430866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16E36-4C4E-01B2-7FD2-9FAC8E734A6C}"/>
              </a:ext>
            </a:extLst>
          </p:cNvPr>
          <p:cNvSpPr/>
          <p:nvPr/>
        </p:nvSpPr>
        <p:spPr>
          <a:xfrm>
            <a:off x="7687733" y="2268100"/>
            <a:ext cx="3124200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3E78F5-B8B2-50C2-8573-BE90258BCEE0}"/>
              </a:ext>
            </a:extLst>
          </p:cNvPr>
          <p:cNvCxnSpPr>
            <a:cxnSpLocks/>
          </p:cNvCxnSpPr>
          <p:nvPr/>
        </p:nvCxnSpPr>
        <p:spPr>
          <a:xfrm>
            <a:off x="8407400" y="2911567"/>
            <a:ext cx="0" cy="121026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C3B899-02E0-4E9E-FC5F-41395866F09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096500" y="3838430"/>
            <a:ext cx="0" cy="28339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AAD3BA-92FD-34AC-B0D3-9A2100400BF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096500" y="2911567"/>
            <a:ext cx="0" cy="28339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F170A3-17D0-BC41-32F6-40C0DD387CE5}"/>
              </a:ext>
            </a:extLst>
          </p:cNvPr>
          <p:cNvCxnSpPr>
            <a:cxnSpLocks/>
          </p:cNvCxnSpPr>
          <p:nvPr/>
        </p:nvCxnSpPr>
        <p:spPr>
          <a:xfrm flipH="1">
            <a:off x="6643991" y="4099831"/>
            <a:ext cx="448445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223998-B506-AD9E-D5CF-661B281C5BD3}"/>
              </a:ext>
            </a:extLst>
          </p:cNvPr>
          <p:cNvSpPr txBox="1"/>
          <p:nvPr/>
        </p:nvSpPr>
        <p:spPr>
          <a:xfrm>
            <a:off x="6784177" y="3726739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</a:t>
            </a:r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AD7942-42C2-7332-025F-BE6104FA7F4A}"/>
              </a:ext>
            </a:extLst>
          </p:cNvPr>
          <p:cNvSpPr txBox="1"/>
          <p:nvPr/>
        </p:nvSpPr>
        <p:spPr>
          <a:xfrm>
            <a:off x="6764814" y="412182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  <a:endParaRPr lang="en-IL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752C8FB-8556-903D-9832-59F253C7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81CC62E-0671-1AE8-A6BE-CF9DB529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7359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65A7-BD45-ED8E-50CC-3538BBB0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way we commonly see HW/SW boundary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A07F0-42AD-0497-3F13-75666C724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6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 hardware designer should be allowed to produce any piece of   hardware until three software guys have signed off on it”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		 				- </a:t>
            </a:r>
            <a:r>
              <a:rPr lang="en-US" sz="2000" dirty="0"/>
              <a:t>Prof. Andrew Tanenbaum (SW/OS person)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theorists invent algorithms that solve important problems and analyze their asymptotic behavior (e.g. O(</a:t>
            </a:r>
            <a:r>
              <a:rPr lang="en-US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O(N</a:t>
            </a:r>
            <a:r>
              <a:rPr lang="en-US" b="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 </a:t>
            </a:r>
            <a:b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architects </a:t>
            </a:r>
            <a:r>
              <a:rPr lang="en-US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constant factors for these algorithms…”</a:t>
            </a:r>
          </a:p>
          <a:p>
            <a:pPr marL="0" indent="0">
              <a:buNone/>
            </a:pPr>
            <a:r>
              <a:rPr lang="en-US" sz="2800" b="0" dirty="0"/>
              <a:t>						- </a:t>
            </a:r>
            <a:r>
              <a:rPr lang="en-US" sz="2000" b="0" dirty="0"/>
              <a:t>Prof. Christos </a:t>
            </a:r>
            <a:r>
              <a:rPr lang="en-US" sz="2000" b="0" dirty="0" err="1"/>
              <a:t>Kozyrakis</a:t>
            </a:r>
            <a:r>
              <a:rPr lang="en-US" sz="2000" b="0" dirty="0"/>
              <a:t> (HW Architect)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4C9849-4A20-0E36-3ACE-DC8A80D1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6EFA4-E35F-E39A-5EB2-87488A32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038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0D71-A58E-B623-22E9-5CAAED83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view: Look at the big picture</a:t>
            </a:r>
            <a:endParaRPr lang="en-IL" dirty="0"/>
          </a:p>
        </p:txBody>
      </p:sp>
      <p:pic>
        <p:nvPicPr>
          <p:cNvPr id="7" name="Content Placeholder 6" descr="A hallway with rows of computer equipment&#10;&#10;AI-generated content may be incorrect.">
            <a:extLst>
              <a:ext uri="{FF2B5EF4-FFF2-40B4-BE49-F238E27FC236}">
                <a16:creationId xmlns:a16="http://schemas.microsoft.com/office/drawing/2014/main" id="{8695E9A4-8B96-F0C1-7A33-4DBA37A09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004" y="1701444"/>
            <a:ext cx="4973992" cy="497399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AA91-F2AA-37CA-E654-E98CD8D8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9FCC0-4503-8BAA-EACB-07C90514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9629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5A041-7DCB-0CB2-88B9-2F6D917F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5EAD-8CC2-6870-EEB9-D386E4FF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view: Look at the big picture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33B5-6649-3166-E8A5-85B90400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DB977-514A-20DE-6555-04B9B69B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18C8A-7286-D1A6-A2E1-F3964E7C9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Modern systems are humongous and complex</a:t>
            </a:r>
          </a:p>
          <a:p>
            <a:endParaRPr lang="en-US" dirty="0"/>
          </a:p>
          <a:p>
            <a:r>
              <a:rPr lang="en-US" dirty="0"/>
              <a:t>Typical events are handled by many servers, HW+SW</a:t>
            </a:r>
          </a:p>
          <a:p>
            <a:endParaRPr lang="en-US" dirty="0"/>
          </a:p>
          <a:p>
            <a:r>
              <a:rPr lang="en-US" dirty="0"/>
              <a:t>Different software layers (app, libs, OS, hypervisor)</a:t>
            </a:r>
          </a:p>
          <a:p>
            <a:endParaRPr lang="en-US" dirty="0"/>
          </a:p>
          <a:p>
            <a:r>
              <a:rPr lang="en-US" dirty="0"/>
              <a:t>Different hardware layers (CPU, GPU, memory)</a:t>
            </a:r>
          </a:p>
          <a:p>
            <a:endParaRPr lang="en-US" dirty="0"/>
          </a:p>
          <a:p>
            <a:r>
              <a:rPr lang="en-US" dirty="0"/>
              <a:t>Different networking layers (Ethernet, PCIe, </a:t>
            </a:r>
            <a:r>
              <a:rPr lang="en-US" dirty="0" err="1"/>
              <a:t>DDRx</a:t>
            </a:r>
            <a:r>
              <a:rPr lang="en-US" dirty="0"/>
              <a:t>, </a:t>
            </a:r>
            <a:r>
              <a:rPr lang="en-US" dirty="0" err="1"/>
              <a:t>NVLink</a:t>
            </a:r>
            <a:r>
              <a:rPr lang="en-US" dirty="0"/>
              <a:t>)</a:t>
            </a:r>
            <a:endParaRPr lang="en-IL" dirty="0"/>
          </a:p>
        </p:txBody>
      </p:sp>
      <p:pic>
        <p:nvPicPr>
          <p:cNvPr id="8" name="Content Placeholder 6" descr="A hallway with rows of computer equipment&#10;&#10;AI-generated content may be incorrect.">
            <a:extLst>
              <a:ext uri="{FF2B5EF4-FFF2-40B4-BE49-F238E27FC236}">
                <a16:creationId xmlns:a16="http://schemas.microsoft.com/office/drawing/2014/main" id="{A45BD98A-8512-554C-0980-6EB13600B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382" y="1027906"/>
            <a:ext cx="2332036" cy="233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9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3EDB-5704-1F27-49E4-E6AEFCEB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CFA9B-F85A-2F24-6E7E-DC93D99D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4643" cy="1325563"/>
          </a:xfrm>
        </p:spPr>
        <p:txBody>
          <a:bodyPr/>
          <a:lstStyle/>
          <a:p>
            <a:r>
              <a:rPr lang="en-US" dirty="0"/>
              <a:t>The goal of this course: Look at the entire system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00F2E-CA95-2DE2-E636-81B33CB46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4596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hope to give you a good understanding of HW/SW interplay</a:t>
            </a:r>
          </a:p>
          <a:p>
            <a:endParaRPr lang="en-US" dirty="0"/>
          </a:p>
          <a:p>
            <a:r>
              <a:rPr lang="en-US" dirty="0"/>
              <a:t>We will examine some of the evolving requirements and constraints of both HW and SW</a:t>
            </a:r>
          </a:p>
          <a:p>
            <a:endParaRPr lang="en-US" dirty="0"/>
          </a:p>
          <a:p>
            <a:r>
              <a:rPr lang="en-US" b="1" dirty="0"/>
              <a:t>Understanding the entire system makes you better engineers</a:t>
            </a:r>
          </a:p>
          <a:p>
            <a:endParaRPr lang="en-US" b="1" dirty="0"/>
          </a:p>
          <a:p>
            <a:r>
              <a:rPr lang="en-US" dirty="0"/>
              <a:t>Knowledge breeds job security ;-)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14350-B7A1-E9BF-F4BF-0108EE9E529E}"/>
              </a:ext>
            </a:extLst>
          </p:cNvPr>
          <p:cNvSpPr/>
          <p:nvPr/>
        </p:nvSpPr>
        <p:spPr>
          <a:xfrm>
            <a:off x="7687733" y="4121827"/>
            <a:ext cx="3124200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 / GPU / NIC / Switch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037859-74A7-C1F0-FB0A-8940BCD9958D}"/>
              </a:ext>
            </a:extLst>
          </p:cNvPr>
          <p:cNvSpPr/>
          <p:nvPr/>
        </p:nvSpPr>
        <p:spPr>
          <a:xfrm>
            <a:off x="9381067" y="3194963"/>
            <a:ext cx="1430866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E4F8EF-4F40-2150-484E-492615B07D88}"/>
              </a:ext>
            </a:extLst>
          </p:cNvPr>
          <p:cNvSpPr/>
          <p:nvPr/>
        </p:nvSpPr>
        <p:spPr>
          <a:xfrm>
            <a:off x="7687733" y="2268100"/>
            <a:ext cx="3124200" cy="643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BC00BA-FA57-DEF9-4ACF-059AD828B601}"/>
              </a:ext>
            </a:extLst>
          </p:cNvPr>
          <p:cNvCxnSpPr>
            <a:cxnSpLocks/>
          </p:cNvCxnSpPr>
          <p:nvPr/>
        </p:nvCxnSpPr>
        <p:spPr>
          <a:xfrm>
            <a:off x="8407400" y="2911567"/>
            <a:ext cx="0" cy="121026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33CF9D-661B-5C3B-856E-B5F9D530C49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0096500" y="3838430"/>
            <a:ext cx="0" cy="28339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A37CD5-B65A-164B-C72A-10F26956AAE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096500" y="2911567"/>
            <a:ext cx="0" cy="28339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41C392-1458-042B-36E3-539B1BDB4C2B}"/>
              </a:ext>
            </a:extLst>
          </p:cNvPr>
          <p:cNvCxnSpPr>
            <a:cxnSpLocks/>
          </p:cNvCxnSpPr>
          <p:nvPr/>
        </p:nvCxnSpPr>
        <p:spPr>
          <a:xfrm flipH="1">
            <a:off x="6643991" y="4099831"/>
            <a:ext cx="448445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416A4D9-71E2-D9FF-03E2-3B417A0B5F78}"/>
              </a:ext>
            </a:extLst>
          </p:cNvPr>
          <p:cNvSpPr txBox="1"/>
          <p:nvPr/>
        </p:nvSpPr>
        <p:spPr>
          <a:xfrm>
            <a:off x="6784177" y="3726739"/>
            <a:ext cx="51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</a:t>
            </a:r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FE1366-8049-6270-C7C6-0601FE190E92}"/>
              </a:ext>
            </a:extLst>
          </p:cNvPr>
          <p:cNvSpPr txBox="1"/>
          <p:nvPr/>
        </p:nvSpPr>
        <p:spPr>
          <a:xfrm>
            <a:off x="6764814" y="412182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</a:t>
            </a:r>
            <a:endParaRPr lang="en-IL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B0E5F46-418F-5FCB-F22B-A9623B10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2F98015-0158-266F-1852-1DD2C847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09118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9174-D91C-1631-D8DF-0FB15C02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different view of computer systems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CE6FC-175A-FFD9-2241-735861647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52053" cy="4351338"/>
          </a:xfrm>
        </p:spPr>
        <p:txBody>
          <a:bodyPr/>
          <a:lstStyle/>
          <a:p>
            <a:r>
              <a:rPr lang="en-US" dirty="0"/>
              <a:t>Computers are built to solve problems</a:t>
            </a:r>
          </a:p>
          <a:p>
            <a:endParaRPr lang="en-US" dirty="0"/>
          </a:p>
          <a:p>
            <a:r>
              <a:rPr lang="en-US" dirty="0"/>
              <a:t>But all solutions have constraints</a:t>
            </a:r>
          </a:p>
          <a:p>
            <a:endParaRPr lang="en-US" dirty="0"/>
          </a:p>
          <a:p>
            <a:r>
              <a:rPr lang="en-US" dirty="0"/>
              <a:t>Both the problem and constraints are moving targets and are co-dependent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4CC1D6-A632-1947-6F2F-ACE8E6DC2DF7}"/>
              </a:ext>
            </a:extLst>
          </p:cNvPr>
          <p:cNvSpPr/>
          <p:nvPr/>
        </p:nvSpPr>
        <p:spPr>
          <a:xfrm>
            <a:off x="8610600" y="1488326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Problem</a:t>
            </a:r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9852D1-FD32-B4F4-D4D1-9A465383EF88}"/>
              </a:ext>
            </a:extLst>
          </p:cNvPr>
          <p:cNvSpPr/>
          <p:nvPr/>
        </p:nvSpPr>
        <p:spPr>
          <a:xfrm>
            <a:off x="8610600" y="2243838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Algorithm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3059DA-C976-9CA5-D9DB-EBB3526BF1A7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9762517" y="1935799"/>
            <a:ext cx="0" cy="30803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5C14F6E-468B-7A79-6266-952F16FF0821}"/>
              </a:ext>
            </a:extLst>
          </p:cNvPr>
          <p:cNvSpPr/>
          <p:nvPr/>
        </p:nvSpPr>
        <p:spPr>
          <a:xfrm>
            <a:off x="8608838" y="2994510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Software</a:t>
            </a:r>
            <a:endParaRPr lang="en-I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30884D-77DA-1DA1-E67B-C15DF123DD85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V="1">
            <a:off x="9760755" y="2691311"/>
            <a:ext cx="1762" cy="30319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46CEB16-31E1-7AB4-7DED-1A0D51A0EC98}"/>
              </a:ext>
            </a:extLst>
          </p:cNvPr>
          <p:cNvSpPr/>
          <p:nvPr/>
        </p:nvSpPr>
        <p:spPr>
          <a:xfrm>
            <a:off x="8608838" y="3745182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Hardware/Arch.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8A203A-0302-D8DB-02BA-FE11BA545CC0}"/>
              </a:ext>
            </a:extLst>
          </p:cNvPr>
          <p:cNvCxnSpPr>
            <a:cxnSpLocks/>
            <a:stCxn id="17" idx="0"/>
            <a:endCxn id="13" idx="2"/>
          </p:cNvCxnSpPr>
          <p:nvPr/>
        </p:nvCxnSpPr>
        <p:spPr>
          <a:xfrm flipV="1">
            <a:off x="9760755" y="3441983"/>
            <a:ext cx="0" cy="30319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Crown outline">
            <a:extLst>
              <a:ext uri="{FF2B5EF4-FFF2-40B4-BE49-F238E27FC236}">
                <a16:creationId xmlns:a16="http://schemas.microsoft.com/office/drawing/2014/main" id="{E9E687E9-1FF0-576D-D712-7340685DD6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98997">
            <a:off x="10455472" y="896613"/>
            <a:ext cx="914400" cy="914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A3799C-122A-89F1-26C0-2F07F785BAF7}"/>
              </a:ext>
            </a:extLst>
          </p:cNvPr>
          <p:cNvSpPr/>
          <p:nvPr/>
        </p:nvSpPr>
        <p:spPr>
          <a:xfrm>
            <a:off x="8608838" y="4495854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VLSI flow</a:t>
            </a:r>
            <a:endParaRPr lang="en-IL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38B62-9617-E8E6-5E40-256CBE307300}"/>
              </a:ext>
            </a:extLst>
          </p:cNvPr>
          <p:cNvSpPr/>
          <p:nvPr/>
        </p:nvSpPr>
        <p:spPr>
          <a:xfrm>
            <a:off x="8608838" y="5246526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Devices</a:t>
            </a:r>
            <a:endParaRPr lang="en-IL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B30FAD-1100-BF06-01AC-62F4BBB8C898}"/>
              </a:ext>
            </a:extLst>
          </p:cNvPr>
          <p:cNvSpPr/>
          <p:nvPr/>
        </p:nvSpPr>
        <p:spPr>
          <a:xfrm>
            <a:off x="8610803" y="5997198"/>
            <a:ext cx="2303834" cy="4474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Physics</a:t>
            </a:r>
            <a:endParaRPr lang="en-IL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2D543D-F72D-A9B8-5414-CDD8F9FF2B81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9760755" y="4192655"/>
            <a:ext cx="0" cy="3031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58CF859-747B-DF3E-90BE-162D139D5C17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9760755" y="4943327"/>
            <a:ext cx="0" cy="3031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FB2A86-C32F-45B1-65AF-91B490AB2399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9760755" y="5693999"/>
            <a:ext cx="1965" cy="303199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AC3068AB-3F6D-1696-2188-24D684E0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A6B43024-19CC-F91D-4695-BA745125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4641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3" grpId="0" animBg="1"/>
      <p:bldP spid="17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3253-E9C7-9A1F-CDFF-48660810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CBD7-9B3D-5624-5CBD-E09A5033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AI as a co-design 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31F0E-B57D-34F9-F96F-0EDE0A7F9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854736" cy="4351338"/>
          </a:xfrm>
        </p:spPr>
        <p:txBody>
          <a:bodyPr/>
          <a:lstStyle/>
          <a:p>
            <a:r>
              <a:rPr lang="en-US" dirty="0"/>
              <a:t>AI is an example of how HW and SW helped shape the problem itself</a:t>
            </a:r>
          </a:p>
          <a:p>
            <a:endParaRPr lang="en-US" dirty="0"/>
          </a:p>
          <a:p>
            <a:r>
              <a:rPr lang="en-US" dirty="0"/>
              <a:t>Neural networks have been around for decades, but hardware could not support large nets</a:t>
            </a:r>
          </a:p>
          <a:p>
            <a:endParaRPr lang="en-US" dirty="0"/>
          </a:p>
          <a:p>
            <a:r>
              <a:rPr lang="en-US" dirty="0"/>
              <a:t>The ImageNet challenge triggered a change</a:t>
            </a: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7D098D-1B97-4AB1-F324-163774EDABDA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1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791E94-ED5A-8763-C40C-E16C57AEE650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7CA8A9-43B5-78A9-256C-92FDCD300C38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6B8562-B98B-BE87-80FF-862F787250B6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FE34C8-A47C-4D8C-5A12-A8D0905EE434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59A15AF-B946-2EE0-EF80-05503CD063A1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40E5F1-FEAA-4519-45A6-91FC7AE526E4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A9F4E9E-EBB1-9DC2-BC59-98A9DD49E6BD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DF05F0AA-52A7-3B07-6AD8-E78948A10E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C5CB596-2789-4007-17A3-4EDE8903FB4A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FFA65B-EDC8-0286-D80B-51AA5B3999C0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47AB663-AD1D-4897-143C-9282106279EC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68EF50-957A-C9C4-4DA6-3E1C0E776077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6262F53-DAC3-130E-0A24-EEB99ABEEB5A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5AFEFB7-AB7F-1BCA-D4AA-93D45318D586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94B3AC06-AEF3-D9B2-C453-4E90D65F7DAF}"/>
                </a:ext>
              </a:extLst>
            </p:cNvPr>
            <p:cNvSpPr/>
            <p:nvPr/>
          </p:nvSpPr>
          <p:spPr>
            <a:xfrm>
              <a:off x="8030183" y="1444669"/>
              <a:ext cx="625126" cy="276703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75C8A91-0C58-970D-3510-58E90A0E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7FE361-838A-2C23-70D5-B4B795C0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3865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5BDA-8042-4210-9DC3-BCFC2A96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2458-9F88-1FE4-3D35-EC1AD6C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ImageNet sets a challenge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83E7-9530-7A30-3880-3558FC6C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359042" cy="4351338"/>
          </a:xfrm>
        </p:spPr>
        <p:txBody>
          <a:bodyPr/>
          <a:lstStyle/>
          <a:p>
            <a:r>
              <a:rPr lang="en-US" dirty="0"/>
              <a:t>In 2006 Prof. Fei-Fei Li of UIUC started curating a database of images to be used for research</a:t>
            </a:r>
          </a:p>
          <a:p>
            <a:pPr lvl="1"/>
            <a:r>
              <a:rPr lang="en-US" dirty="0"/>
              <a:t>Inspired by Princeton’s WordNet</a:t>
            </a:r>
          </a:p>
          <a:p>
            <a:endParaRPr lang="en-US" dirty="0"/>
          </a:p>
          <a:p>
            <a:r>
              <a:rPr lang="en-US" dirty="0"/>
              <a:t>In 2010 the first ImageNet challenge was presented:</a:t>
            </a:r>
            <a:br>
              <a:rPr lang="en-US" dirty="0"/>
            </a:br>
            <a:r>
              <a:rPr lang="en-US" dirty="0"/>
              <a:t>classify images to a set of predefined classes</a:t>
            </a:r>
          </a:p>
          <a:p>
            <a:pPr lvl="1"/>
            <a:r>
              <a:rPr lang="en-US" dirty="0"/>
              <a:t>e.g., cats, dogs, cars</a:t>
            </a: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32112D-7217-8AAC-FD2D-C3356BCDA96D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1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686B17-1FD6-473F-EEC7-04D34475D33C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3936FB-4032-1E5D-8B80-A4528D300A88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7DC09B3-D6EE-C6C5-4679-6A01A1A5D954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7CFBEE-D270-D86C-D5CD-B520880614CB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F3B7F59-7A2E-517E-A989-700C9B9877E7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5FCC935-E65A-6DDB-69BC-50DCCF39683A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DEE71DF-BC4F-7CB9-6664-5FF16B461EE5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39907553-C3E5-18D4-F191-04EC24B1EB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C707A0-18A5-960E-FB30-BE0C35B86915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C35768C-E191-8E48-9AA0-B802D8E1A8AA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365ACAD-941C-22D9-6E8A-5B9E25DE20F4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3E8C0A3-45D9-82F3-0EDD-8065666E4917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AE1DE6A-20FC-65A2-7537-89601C595B09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E34015C-EAFC-952D-2704-E25FDF408306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D839BF1F-D8D3-178A-5081-2C0FE09DCAFA}"/>
                </a:ext>
              </a:extLst>
            </p:cNvPr>
            <p:cNvSpPr/>
            <p:nvPr/>
          </p:nvSpPr>
          <p:spPr>
            <a:xfrm>
              <a:off x="8030183" y="1444669"/>
              <a:ext cx="625126" cy="276703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83F2BDC-BF98-124A-CDEF-D51C1E93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BCE4EA4-4DEF-029C-6F21-C7F62D5E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95450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6D6D8-0705-AC3E-3BA3-E5037EA5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CF46-95D6-25C6-92C3-ADC6C28B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 found to be a good match for GPUs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6A7368-605B-61BE-1317-4C282D0F56F2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1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3E58E8-69CA-67A1-5564-A70D2E613EA3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5D1A12-3F01-6070-1E57-F758D60A3B1A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C6B634C-58F2-31E6-B24A-813A32F81E82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A0027F-D5F8-7CD1-2318-B865E8009625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1B3DAAA-F717-AB3F-3D3E-06C40C65C031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107625-3DC9-D9A5-FC41-16A1B72FB05A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7B7A8F0-552E-543F-8F3E-863E62BD21D4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364221F8-7C6E-8D12-E167-E13734CAD7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85931FE-60B3-A839-6351-BD40D71AE73D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82670E-8A94-3BDA-89CD-C8562D7CDDA8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B7BD668-8B37-F17D-48DF-BBC5D7D0D494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71AB5FC-A45C-2672-8A28-883AE121C1D0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E94349E-5CE9-7A24-9218-44E0FE196F43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1199341-D19F-23E5-8047-BF220EB2160F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FDA3E8AB-ED8A-6A3F-6EEC-34C7F87456BD}"/>
                </a:ext>
              </a:extLst>
            </p:cNvPr>
            <p:cNvSpPr/>
            <p:nvPr/>
          </p:nvSpPr>
          <p:spPr>
            <a:xfrm>
              <a:off x="8030183" y="1444669"/>
              <a:ext cx="625126" cy="276703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1026" name="Picture 2" descr="AlexNet triggers a wave of better solutions to the ImageNet classification problem. Source: von Zitzewitz 2017, fig. 11.">
            <a:extLst>
              <a:ext uri="{FF2B5EF4-FFF2-40B4-BE49-F238E27FC236}">
                <a16:creationId xmlns:a16="http://schemas.microsoft.com/office/drawing/2014/main" id="{0F8520EE-B50F-8850-5249-00C022D89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1646238"/>
            <a:ext cx="73437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9C9E86-6BA6-0BB1-2DB6-D3E1CB4149B0}"/>
              </a:ext>
            </a:extLst>
          </p:cNvPr>
          <p:cNvSpPr txBox="1"/>
          <p:nvPr/>
        </p:nvSpPr>
        <p:spPr>
          <a:xfrm rot="3238423">
            <a:off x="1738311" y="5908014"/>
            <a:ext cx="162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SVM on CPU</a:t>
            </a:r>
            <a:endParaRPr lang="en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FB051F-BF52-879E-56CF-65A86953143B}"/>
              </a:ext>
            </a:extLst>
          </p:cNvPr>
          <p:cNvSpPr txBox="1"/>
          <p:nvPr/>
        </p:nvSpPr>
        <p:spPr>
          <a:xfrm rot="3238423">
            <a:off x="2459165" y="5908013"/>
            <a:ext cx="162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CNN on GPU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1C1B8-EB48-1EDB-3D37-7D7F70D8A408}"/>
              </a:ext>
            </a:extLst>
          </p:cNvPr>
          <p:cNvSpPr txBox="1"/>
          <p:nvPr/>
        </p:nvSpPr>
        <p:spPr>
          <a:xfrm rot="3238423">
            <a:off x="3387642" y="5908014"/>
            <a:ext cx="162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CNN on GPU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D1FB85-D911-F652-BE68-EDC2933D3046}"/>
              </a:ext>
            </a:extLst>
          </p:cNvPr>
          <p:cNvSpPr txBox="1"/>
          <p:nvPr/>
        </p:nvSpPr>
        <p:spPr>
          <a:xfrm rot="3238423">
            <a:off x="4331283" y="5908012"/>
            <a:ext cx="162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CNN on GPU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4185D8-B12D-6233-81F1-CD64E7DF7B9A}"/>
              </a:ext>
            </a:extLst>
          </p:cNvPr>
          <p:cNvSpPr txBox="1"/>
          <p:nvPr/>
        </p:nvSpPr>
        <p:spPr>
          <a:xfrm rot="3238423">
            <a:off x="5205622" y="5908013"/>
            <a:ext cx="162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CNN on GPU</a:t>
            </a:r>
            <a:endParaRPr lang="en-IL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FE0C5B-935D-D71E-2B6D-2AAE8C5A3E56}"/>
              </a:ext>
            </a:extLst>
          </p:cNvPr>
          <p:cNvSpPr txBox="1"/>
          <p:nvPr/>
        </p:nvSpPr>
        <p:spPr>
          <a:xfrm>
            <a:off x="7395171" y="5211762"/>
            <a:ext cx="1624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  <a:endParaRPr lang="en-IL" sz="6000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4CABAD4-7254-3968-1113-4241921E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34D2B82-9C7C-432C-39FB-36CD770C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A6695-DBE5-9F26-F086-F8FA6D55AA36}"/>
              </a:ext>
            </a:extLst>
          </p:cNvPr>
          <p:cNvSpPr txBox="1"/>
          <p:nvPr/>
        </p:nvSpPr>
        <p:spPr>
          <a:xfrm rot="16200000">
            <a:off x="423313" y="3371333"/>
            <a:ext cx="162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rate [%]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958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0" grpId="0"/>
      <p:bldP spid="21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69AC-776D-E440-0054-E4F444B6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EBB25-FF46-EA8A-E4F5-6A589281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AI accelerator: Google TPU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6AE29-474B-B4EC-A463-0E679A735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engineers realized that Tensors are a </a:t>
            </a:r>
            <a:br>
              <a:rPr lang="en-US" dirty="0"/>
            </a:br>
            <a:r>
              <a:rPr lang="en-US" dirty="0"/>
              <a:t>fundamental primitive for AI</a:t>
            </a:r>
          </a:p>
          <a:p>
            <a:r>
              <a:rPr lang="en-US" dirty="0"/>
              <a:t>In 2015 they introduced the Tensor Processing Unit</a:t>
            </a:r>
          </a:p>
          <a:p>
            <a:pPr lvl="1"/>
            <a:r>
              <a:rPr lang="en-US" dirty="0"/>
              <a:t>aka, a matrix multiplier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25A742-C540-63EA-0C4A-3B7254DB6444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1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9A71E1-8FCA-0E3B-1B48-62308169CE15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82C14F-DE7A-D0E2-ED6A-811C953FEA44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74512B-7594-3263-56EA-D588F6D24F60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D6D99B4-F1D9-D7EE-C067-E704FC2B1179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659C4B7-58F4-C463-E9D0-47F149663187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C0DFC6-AE1B-A044-6EE5-2F172B7ADAB1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E34CB10-5FF9-E9E9-F36B-0A326D63553A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B7422859-9D0F-F56C-931C-3A2E8F761B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449F82-4861-1D56-0126-336B9F4E6AAB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4EABAD-4333-2605-4CA0-E4AF2E2905C2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3EC2673-D819-E8E1-6CD0-BB0A16F4C23A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5417E1A-F8EF-9BE5-8D95-45D487B588E2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7CEC5C1-58E8-D9DC-10D8-CAF73365F69A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548668E-C1E5-8F0C-3470-01089B82D523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3065C5C1-2D7D-1933-FBC0-49E6E376C21C}"/>
                </a:ext>
              </a:extLst>
            </p:cNvPr>
            <p:cNvSpPr/>
            <p:nvPr/>
          </p:nvSpPr>
          <p:spPr>
            <a:xfrm>
              <a:off x="8030183" y="1444669"/>
              <a:ext cx="625126" cy="276703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11" name="Picture 4" descr="A picture containing electronics, circuit&#10;&#10;Description generated with very high confidence">
            <a:extLst>
              <a:ext uri="{FF2B5EF4-FFF2-40B4-BE49-F238E27FC236}">
                <a16:creationId xmlns:a16="http://schemas.microsoft.com/office/drawing/2014/main" id="{837D36FF-5E13-1FED-277F-7E9C7C631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141" y="3640596"/>
            <a:ext cx="41910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3189E62D-A6A5-C6B0-44D8-2BF9E180B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8541" y="3640596"/>
            <a:ext cx="373380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5DAB6E46-4BA3-12D2-CCB2-2CDC2467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CEB1EDFF-2B11-683C-30AD-499331CE3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80333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4C0B-D2D4-61E0-6C00-CD7D900A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2A0E-8EDE-EEC8-0871-956E35D30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AI HW/SW co-design boom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14195-866E-7648-3246-563D09D7D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that, AI drove many HW efforts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B8E3A3-2570-94CB-0C46-782DE8EC22B5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1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CE3D9C-5810-3B69-9C4A-1B280D113EBE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96B78F-5EF8-6659-BCBE-10334FF9C4BA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48C5669-D47B-39B2-7526-0681517ACD8A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E94F681-EE3C-D1EC-62AF-891FD4EE787E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8F8715B-0C6A-24E2-BEF3-0F4A52248BB3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644E21-A594-EAF0-07A0-ED83F43EC6B1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3A064F3-49E2-F63F-0AAE-CA367FD62E4E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9E08AB41-7031-A853-FF3D-C817B44AA5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B3985B1-3DCD-90CF-6A3F-BA60764F1B3F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9E340EE-250C-7CEA-E11C-F7B96E2EE801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EE8DA6E-86FF-5693-B8C1-FE821B376EC4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6015A05-D795-2601-FED5-30E9C5092256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2D7E426-575E-8D79-E215-0752F2A42FA9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2033F-1D09-2F94-D419-63607B9D0C4B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D51BD78B-5227-FDFF-6B89-CBCA4AE88DAA}"/>
                </a:ext>
              </a:extLst>
            </p:cNvPr>
            <p:cNvSpPr/>
            <p:nvPr/>
          </p:nvSpPr>
          <p:spPr>
            <a:xfrm>
              <a:off x="8030183" y="1444669"/>
              <a:ext cx="625126" cy="276703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2050" name="Picture 2" descr="Nvidia Blackwell and GTC 2024">
            <a:extLst>
              <a:ext uri="{FF2B5EF4-FFF2-40B4-BE49-F238E27FC236}">
                <a16:creationId xmlns:a16="http://schemas.microsoft.com/office/drawing/2014/main" id="{0364BB02-DB18-72C4-D92A-BA0DC3815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1" r="23350"/>
          <a:stretch/>
        </p:blipFill>
        <p:spPr bwMode="auto">
          <a:xfrm>
            <a:off x="6818963" y="1927105"/>
            <a:ext cx="2196000" cy="233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ogos &amp; Brand Guidelines | NVIDIA">
            <a:extLst>
              <a:ext uri="{FF2B5EF4-FFF2-40B4-BE49-F238E27FC236}">
                <a16:creationId xmlns:a16="http://schemas.microsoft.com/office/drawing/2014/main" id="{409567B3-38F8-B9B0-E0BD-46878ADB2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9" r="21946"/>
          <a:stretch/>
        </p:blipFill>
        <p:spPr bwMode="auto">
          <a:xfrm>
            <a:off x="3005439" y="2291170"/>
            <a:ext cx="2614606" cy="247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abana Labs logo">
            <a:extLst>
              <a:ext uri="{FF2B5EF4-FFF2-40B4-BE49-F238E27FC236}">
                <a16:creationId xmlns:a16="http://schemas.microsoft.com/office/drawing/2014/main" id="{12E1597E-8851-9CC2-959D-1F74265E0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30" y="4610948"/>
            <a:ext cx="1549810" cy="154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MD logo and the history of the company | LogoMyWay">
            <a:extLst>
              <a:ext uri="{FF2B5EF4-FFF2-40B4-BE49-F238E27FC236}">
                <a16:creationId xmlns:a16="http://schemas.microsoft.com/office/drawing/2014/main" id="{D6F7CA3A-2C21-7F07-F0CA-D1C0296CE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671" y="4845853"/>
            <a:ext cx="1929813" cy="169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SambaNova Systems | Revolutionize AI Workloads">
            <a:extLst>
              <a:ext uri="{FF2B5EF4-FFF2-40B4-BE49-F238E27FC236}">
                <a16:creationId xmlns:a16="http://schemas.microsoft.com/office/drawing/2014/main" id="{4DB7FBEA-844E-4F68-FE0D-2DA05C26F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813" y="5450109"/>
            <a:ext cx="1087761" cy="108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ailo - Israeli Startup | Startup Nation Finder">
            <a:extLst>
              <a:ext uri="{FF2B5EF4-FFF2-40B4-BE49-F238E27FC236}">
                <a16:creationId xmlns:a16="http://schemas.microsoft.com/office/drawing/2014/main" id="{8DBE64FB-EAF9-2E52-F9B0-823C2F4477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0" t="28783" r="1280" b="32525"/>
          <a:stretch/>
        </p:blipFill>
        <p:spPr bwMode="auto">
          <a:xfrm>
            <a:off x="7734707" y="4845853"/>
            <a:ext cx="13955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Tenstorrent Unveils Industry's First Dynamic Architecture ...">
            <a:extLst>
              <a:ext uri="{FF2B5EF4-FFF2-40B4-BE49-F238E27FC236}">
                <a16:creationId xmlns:a16="http://schemas.microsoft.com/office/drawing/2014/main" id="{384B2206-5F29-FAD2-53E5-F779F5184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9" t="35304" r="15562" b="34701"/>
          <a:stretch/>
        </p:blipFill>
        <p:spPr bwMode="auto">
          <a:xfrm>
            <a:off x="7798942" y="5627767"/>
            <a:ext cx="2432042" cy="55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35C4A35-F5B8-DB58-1BA8-9F3014EF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09DA2FD-BB73-9C69-BDE1-590E7B1D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4686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ADEC-4B11-0ADD-1717-D0A86356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6D6A-9A92-C01F-59AC-BBB0E9313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it started with evolving constraints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4BBAD-A3D9-7650-B791-7AAA04089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Moore’s Law and Dennard’s scaling</a:t>
            </a:r>
          </a:p>
          <a:p>
            <a:endParaRPr lang="en-US" dirty="0"/>
          </a:p>
          <a:p>
            <a:r>
              <a:rPr lang="en-US" dirty="0"/>
              <a:t>Moore’s Law: Transistor size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transistors/mm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doubles every 18mo.”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Dennard’s Scaling: Power density</a:t>
            </a: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power of transistors/mm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constant”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transistor power scales with Moore’s Law)</a:t>
            </a:r>
            <a:endPara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571FE5-72F7-FD21-F836-0E803EFCB5D9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272264"/>
            <a:chOff x="8030183" y="896613"/>
            <a:chExt cx="3339689" cy="56886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B3AC70-AB8A-7117-5086-FCB5995A3A94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C8E1C3-41E7-4792-0D64-F776EEFFB8EA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0210FFE-2A31-8245-F1D7-A7FFF6617BF1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08CE7E-D8F6-0834-2509-725BA92FE02D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4AEE533-B3CB-BA20-B93F-ACE3E1A0DD75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C3D828-F381-4084-51FA-E6FD889466E1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DD116A9-91B4-EAEA-FE34-24238FB2CD46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4A4A9681-E06F-0525-31C4-DF1E7C1F21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BD5FF15-B543-2E5A-6B1D-BE9851AA85A2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6B0F57-C91A-A7DA-3BA5-AA83BAA921FD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5250FB-CE89-9DA8-91AD-21AA682EA69C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56B6244-1123-3823-0771-65075F398A7E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80CF59-9A53-CD8D-E8D2-86C79FF28F0D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1DCF7E7-8120-C876-C729-70F4FA37AD37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EECE7A50-F22D-7E8F-DA50-EF7BCEFCBB25}"/>
                </a:ext>
              </a:extLst>
            </p:cNvPr>
            <p:cNvSpPr/>
            <p:nvPr/>
          </p:nvSpPr>
          <p:spPr>
            <a:xfrm>
              <a:off x="8030183" y="5085463"/>
              <a:ext cx="625126" cy="149981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B2ABA68-F01D-EAD2-09D6-A563CCCC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113FC6-DA2D-0E09-0077-AABCF58A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48431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2CF1-6110-A208-3546-8ED6494E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91BF-3A31-7C0A-A146-AD1373B6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Dennard’s scaling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775ED-5CAC-B8CB-818B-77CCC3F8B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power consumed by a digital circuit: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 = </a:t>
            </a:r>
            <a:r>
              <a:rPr lang="el-GR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α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*C*V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*f</a:t>
            </a:r>
          </a:p>
          <a:p>
            <a:endParaRPr lang="en-US" dirty="0"/>
          </a:p>
          <a:p>
            <a:r>
              <a:rPr lang="en-US" dirty="0"/>
              <a:t>Dennard projection:</a:t>
            </a:r>
          </a:p>
          <a:p>
            <a:pPr lvl="1"/>
            <a:r>
              <a:rPr lang="en-US" dirty="0"/>
              <a:t>Voltage scales down</a:t>
            </a:r>
          </a:p>
          <a:p>
            <a:pPr lvl="1"/>
            <a:r>
              <a:rPr lang="en-US" dirty="0"/>
              <a:t>Capacitance scales down (smaller devices)</a:t>
            </a:r>
          </a:p>
          <a:p>
            <a:pPr lvl="1"/>
            <a:r>
              <a:rPr lang="en-US" dirty="0"/>
              <a:t>Frequency increases without consuming more power</a:t>
            </a:r>
          </a:p>
          <a:p>
            <a:pPr lvl="1"/>
            <a:endParaRPr lang="en-US" dirty="0"/>
          </a:p>
          <a:p>
            <a:r>
              <a:rPr lang="en-US" dirty="0"/>
              <a:t>It worked well, until it didn’t…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3F2FF1-D836-0240-87BD-5F26A91D7A85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272264"/>
            <a:chOff x="8030183" y="896613"/>
            <a:chExt cx="3339689" cy="56886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513583-53AD-A447-F9AF-3ED40B173F7E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F55724-26C4-9EA7-6664-55C17341FBA4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AF524E9-5923-B21C-3F64-0BB08AD35239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EF3B5D-0D2F-1B0F-119E-15D1F99419F3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201C27-5BEC-2279-0593-755ACE3A55EA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0E3CE5-0BC4-A82D-0C15-71F706B493AF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05C23E2-053A-07B8-37BC-1B45ACBD81CA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433A7898-2E97-43D6-0F4C-46EDDE9CF2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47D1F3-E96D-A1E0-2248-8D5D2C7C640C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9ED6A3-474A-3268-8961-C659EE445EDE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0C155E1-F6F7-A67F-4F5E-9D46386CED0C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0ECF620-A01D-A65F-D952-8E5CF1C347AD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7ABDF6A-4FB7-1985-C6DA-F6BEC1F2C6AC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D352034-287B-FA83-DF85-F72467050187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6FDC5564-BC8B-AB82-39EF-7B1E7DD60C84}"/>
                </a:ext>
              </a:extLst>
            </p:cNvPr>
            <p:cNvSpPr/>
            <p:nvPr/>
          </p:nvSpPr>
          <p:spPr>
            <a:xfrm>
              <a:off x="8030183" y="5085463"/>
              <a:ext cx="625126" cy="149981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5BFA4B5-DCED-2555-D1D0-4AAEFB7AE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46905E-47EC-06AB-0BC6-ADF65C11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86471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CE05-E399-57C4-A048-52D7404F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3AC5-00E1-B0D6-90C3-4D805F18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Dennard, Moore, and performance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19E4EA-9F79-61C2-34B6-AA0A492D88F4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272264"/>
            <a:chOff x="8030183" y="896613"/>
            <a:chExt cx="3339689" cy="56886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883963-F264-FC5F-1697-55111C1FF30B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A85C7C-3C42-E7B5-22C6-47F1B80A45CD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FD99A07-B6C7-2EA1-F8D0-89312D29FE7F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8D528E-627E-D96B-E8F2-73C1573E62D0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58356C8-D0CE-A2A2-B672-5E3BA26655BD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4A95A0-5663-6B3A-BF47-D9F6B60F97CE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CBF04F4-2CC3-F9BE-4E8A-84F5D0387A57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89115113-24B9-19F7-2F72-998A60CBAA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19D372-72FE-96B0-6AF6-9E6FAC2316CD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11C482D-9ADE-90C1-C975-3F1E340D250D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1A4755F-1AA3-F4CC-ED90-62CC6601BAF4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8473360-B8C4-8883-30AE-28BACF2ADEA4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85B64C8-7FAC-D0DF-FF2E-DDE90225CA33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F8396AC-161D-9FF8-CED7-03DB89A13CF3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4D803A9E-3301-E922-D3D0-60A526630743}"/>
                </a:ext>
              </a:extLst>
            </p:cNvPr>
            <p:cNvSpPr/>
            <p:nvPr/>
          </p:nvSpPr>
          <p:spPr>
            <a:xfrm>
              <a:off x="8030183" y="5085463"/>
              <a:ext cx="625126" cy="149981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535634B3-7AFC-A033-0E8B-48E66DA030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74839" y="1502666"/>
            <a:ext cx="7135761" cy="4750990"/>
          </a:xfr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25D4BB0-4EFF-D6B3-723C-4343A191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59D98F0-78EA-BDCF-3182-2BBAA6BB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99671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F1B4-4AB3-9147-2364-4F3273BC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4037-E617-AA5F-9028-AD0C774E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Dennard, Moore, and performance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E27CF3-3617-54C8-0F3E-B2F80E1EE2F3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272264"/>
            <a:chOff x="8030183" y="896613"/>
            <a:chExt cx="3339689" cy="56886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549884-9952-F632-76C8-24DBA995357D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D2EEC6-7CD0-7E0F-C7F5-2840B5D4921B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6E09DA-D193-D680-C686-632C464E1DCF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0422FA-7843-91C9-180F-875CE582B5FA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6BA3ACF-B213-A580-2535-53E416AB63C4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B7CF94-8784-027D-4E91-A7F552F67701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2B2AC1F-610C-BC6F-66E1-056613514A92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BFF55131-EF6E-E8A3-61CA-DC3EB0D68E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0E983C-44C4-34E5-1D54-F8F1BD0D4B28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EB37D5-57EB-C9F1-9A61-47AA52A4ECDC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D3E5441-F3FB-3C22-B44A-1C368CADCAEC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54FFABC-B8FC-D2B1-94D5-77FC9EBD3127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B31DE78-3956-0286-9598-D532BBF090E3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FEB7386-CAF9-4CBE-B28F-7188799B0157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199FA75B-797E-6636-78F6-3F47A4BAFA36}"/>
                </a:ext>
              </a:extLst>
            </p:cNvPr>
            <p:cNvSpPr/>
            <p:nvPr/>
          </p:nvSpPr>
          <p:spPr>
            <a:xfrm>
              <a:off x="8030183" y="5085463"/>
              <a:ext cx="625126" cy="149981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2747AFA-00B2-BC18-17CD-8F35011E6F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2" b="-325"/>
          <a:stretch/>
        </p:blipFill>
        <p:spPr>
          <a:xfrm>
            <a:off x="917001" y="1491925"/>
            <a:ext cx="7698327" cy="49160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AD06C-3380-DBB2-06DF-EC958D00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4ED6A1-63E5-30AE-A6A1-5C464DE2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1757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F0B74-FA73-C5C4-6FBE-BB8F2141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A470-3692-CB90-5013-15278B75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CPUs are limited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788276-C0F3-5750-5EE3-8F1D2B837E26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272264"/>
            <a:chOff x="8030183" y="896613"/>
            <a:chExt cx="3339689" cy="56886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D928A0-7BFC-29AF-19D5-2826BBE46530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34CBEF-7BA0-B2C4-855F-2D2414403F75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4E0CD2-202D-D653-2CDB-E7AFBB7C7020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AB43079-F21D-24CB-3832-C653688261DE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69AA0FD-BA7A-CA99-DC36-AF85A51BD87C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0F25D29-CA5A-3A35-2CC2-675C48F4D1E2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195AA78-7E9A-9871-64E1-2E236632F9A4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241A3601-000F-96EC-761E-083CC059D0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6D081D-55F8-2F5F-6B1D-9B40E016B8F4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028747-B6CA-A07C-66C5-CDC1BF250242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CB86F39-3A36-6396-F13B-8D1C7BBE3C49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B50D591-92F2-802C-5B28-F181C71E146C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D0D54BF-8BB4-1AD8-C835-904CC331C0F6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0839844-C5B4-5312-67E5-8AFB1CDB3F7C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D1FB7C2A-5AF5-79DB-1466-C5415C293A3E}"/>
                </a:ext>
              </a:extLst>
            </p:cNvPr>
            <p:cNvSpPr/>
            <p:nvPr/>
          </p:nvSpPr>
          <p:spPr>
            <a:xfrm>
              <a:off x="8030183" y="5085463"/>
              <a:ext cx="625126" cy="149981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11" name="Picture 6">
            <a:extLst>
              <a:ext uri="{FF2B5EF4-FFF2-40B4-BE49-F238E27FC236}">
                <a16:creationId xmlns:a16="http://schemas.microsoft.com/office/drawing/2014/main" id="{648CC55F-7B3E-38F2-B922-634A0D543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8144" y="4601560"/>
            <a:ext cx="1394170" cy="1816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5" descr="תוצאת תמונה עבור ‪moore's law 2019‬‏">
            <a:extLst>
              <a:ext uri="{FF2B5EF4-FFF2-40B4-BE49-F238E27FC236}">
                <a16:creationId xmlns:a16="http://schemas.microsoft.com/office/drawing/2014/main" id="{4B0A2472-0723-C344-CED8-682ED1A19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79882" y="1474133"/>
            <a:ext cx="7606308" cy="501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7FC22067-814D-6C1B-E43E-993D6AE8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068E0D9-8FDC-067C-98C5-4235CEB6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97276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B509-5D78-1075-9CC8-5F58F2B7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66FD-50FA-94DA-5B9D-9702243D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growth is killing us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3EB774-EB86-F46D-0103-E04CAAF4D765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272264"/>
            <a:chOff x="8030183" y="896613"/>
            <a:chExt cx="3339689" cy="56886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DBF135-5428-0204-793B-1AC0BA352C1E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2C2B2D-CE97-525B-E523-319EB122E95E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CBA8D8E-26C4-93F0-DA66-8FCB9CE64B7D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6E1B21-8CC3-18FD-F774-BFE6A36EE40D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B1B4F4-706A-EA70-E38F-32151CA1A142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896893-288C-F750-F5CD-1CE9B643E8BA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67E4541-B875-2C2D-D93E-6B090D672674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DDF7D109-A1EC-1D98-1DE5-255B9944D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B3B1F54-8889-E3F1-A824-2AB94F61B16A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89C3B1-ED3F-0399-1B95-35E5C7B27DB5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989E03E-0F81-5AC0-240E-792074A3D04D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30DFA82-2BBD-7AFF-B5FE-B0F10286D986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7DE3E0C-CA43-92AC-A53F-922584E8B0A9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38A527C-8977-F2D9-9A86-BB8E3FD233B7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6CCA9F25-C202-DFB6-4FC9-EC553165F9AE}"/>
                </a:ext>
              </a:extLst>
            </p:cNvPr>
            <p:cNvSpPr/>
            <p:nvPr/>
          </p:nvSpPr>
          <p:spPr>
            <a:xfrm>
              <a:off x="8030183" y="5085463"/>
              <a:ext cx="625126" cy="149981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pic>
        <p:nvPicPr>
          <p:cNvPr id="12" name="Content Placeholder 11" descr="Harnessing the Big Data Opportunity - Trends Magazine">
            <a:extLst>
              <a:ext uri="{FF2B5EF4-FFF2-40B4-BE49-F238E27FC236}">
                <a16:creationId xmlns:a16="http://schemas.microsoft.com/office/drawing/2014/main" id="{6DAC9513-4FFC-5634-EAFB-BB0064AD21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13948" y="1584136"/>
            <a:ext cx="5566723" cy="49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D567B0C2-2C4E-E0E4-74EC-EC9638AF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085A431-37DF-DB01-CB9D-5899603D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7534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E0A0-8514-62A9-354B-DC758D56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7A09-4CF2-378E-39E4-BEA046939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accelerators always the answer?</a:t>
            </a:r>
            <a:endParaRPr lang="en-IL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192E1A-04C3-8349-B6A5-D8076CEF2E0D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0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27263D-7349-DEB5-E2AE-2660AC9BD0FF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1AA4E5-6E4F-D39A-B521-603A4A1FC51D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E006F84-0A2E-CB58-25AB-850F9ACEB72F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FD1FB1-23F7-A720-F7BB-001719390A08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C542BA2-C52F-DB51-5CE7-1B839597CEB1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72E33DD-4743-84B6-47B1-148C836CFEB7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A0C2BDB-AA6C-5B3B-EDCA-82F40776BCC9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9D2623A3-8416-0BBB-23C5-60349DEB92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B888D2-E432-BCF2-0CBB-3BB802C80037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348F264-07C9-4253-B819-00363005A1BC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9632484-6D12-F642-4307-8EE15756A935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B71EDC6-800B-1FA9-EE0D-E9D6CBD20688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B7CAF5A-146A-8F22-3C4E-F5D7678D759F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9740DC8-4B9A-953B-5A91-FBFE4DD74F96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253ECF1A-5D23-4CD5-09B8-3832E4033AF2}"/>
                </a:ext>
              </a:extLst>
            </p:cNvPr>
            <p:cNvSpPr/>
            <p:nvPr/>
          </p:nvSpPr>
          <p:spPr>
            <a:xfrm>
              <a:off x="8030183" y="4384655"/>
              <a:ext cx="625126" cy="6377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4CD7ECC-6396-88EE-2128-54657BCD9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 (even if we ignore the high manufacturing costs)</a:t>
            </a:r>
          </a:p>
          <a:p>
            <a:endParaRPr lang="en-US" dirty="0"/>
          </a:p>
          <a:p>
            <a:r>
              <a:rPr lang="en-US" b="1" dirty="0"/>
              <a:t>The complexity of HW designs is getting out of hand,</a:t>
            </a:r>
            <a:br>
              <a:rPr lang="en-US" b="1" dirty="0"/>
            </a:br>
            <a:r>
              <a:rPr lang="en-US" b="1" dirty="0"/>
              <a:t>and the broken VLSI tool flow cannot cope</a:t>
            </a:r>
          </a:p>
          <a:p>
            <a:endParaRPr lang="en-US" dirty="0"/>
          </a:p>
          <a:p>
            <a:r>
              <a:rPr lang="en-US" dirty="0"/>
              <a:t>Kernighan's Law on software:</a:t>
            </a:r>
            <a:br>
              <a:rPr lang="en-US" dirty="0"/>
            </a:br>
            <a:r>
              <a:rPr lang="en-US" i="1" dirty="0"/>
              <a:t>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twice as hard as writing the code in the first place.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if you write the code as cleverly as possible, you are, by definition, not smart enough to debug it.”</a:t>
            </a:r>
          </a:p>
          <a:p>
            <a:endParaRPr lang="en-US" dirty="0"/>
          </a:p>
          <a:p>
            <a:r>
              <a:rPr lang="en-US" dirty="0"/>
              <a:t>Especially if the tool flow is broken</a:t>
            </a:r>
          </a:p>
          <a:p>
            <a:endParaRPr lang="en-IL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1E3ADC4-955F-C638-E811-A36FB5E0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18B64E-6278-BDDC-BDC7-5D8B7E8E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4079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6B73-D595-D7C1-E4C1-FE3F71B9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D7738E-537A-9656-B18C-9F96D7CE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broken VLSI tool flow: Verification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7B1942-EA0F-3A22-D192-B0E988890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57155" cy="4890485"/>
          </a:xfrm>
        </p:spPr>
        <p:txBody>
          <a:bodyPr>
            <a:noAutofit/>
          </a:bodyPr>
          <a:lstStyle/>
          <a:p>
            <a:r>
              <a:rPr lang="en-US" sz="2600" dirty="0"/>
              <a:t>Hardware complexity is limited by our verification tools</a:t>
            </a:r>
          </a:p>
          <a:p>
            <a:r>
              <a:rPr lang="en-US" sz="2600" dirty="0"/>
              <a:t>Formal verification is limited</a:t>
            </a:r>
          </a:p>
          <a:p>
            <a:pPr marL="685800" lvl="2">
              <a:spcBef>
                <a:spcPts val="1000"/>
              </a:spcBef>
            </a:pPr>
            <a:r>
              <a:rPr lang="en-US" sz="2200" dirty="0"/>
              <a:t>Hard to generate formal specification</a:t>
            </a:r>
          </a:p>
          <a:p>
            <a:pPr marL="685800" lvl="2">
              <a:spcBef>
                <a:spcPts val="1000"/>
              </a:spcBef>
            </a:pPr>
            <a:r>
              <a:rPr lang="en-US" sz="2200" dirty="0"/>
              <a:t>Computation explodes very fast, especially if there’s state </a:t>
            </a:r>
            <a:br>
              <a:rPr lang="en-US" sz="2200" dirty="0"/>
            </a:br>
            <a:r>
              <a:rPr lang="en-US" sz="2200" dirty="0"/>
              <a:t>(SAT is NP-complete)</a:t>
            </a:r>
          </a:p>
          <a:p>
            <a:pPr marL="228600" lvl="1">
              <a:spcBef>
                <a:spcPts val="1000"/>
              </a:spcBef>
            </a:pPr>
            <a:r>
              <a:rPr lang="en-US" sz="2600" dirty="0"/>
              <a:t>Functional verification still rules</a:t>
            </a:r>
          </a:p>
          <a:p>
            <a:pPr marL="685800" lvl="2">
              <a:spcBef>
                <a:spcPts val="1000"/>
              </a:spcBef>
            </a:pPr>
            <a:r>
              <a:rPr lang="en-US" sz="2200" dirty="0"/>
              <a:t>Coverage is the major limitation of functional verification</a:t>
            </a:r>
            <a:endParaRPr lang="en-US" sz="2600" dirty="0"/>
          </a:p>
          <a:p>
            <a:pPr marL="228600" lvl="1">
              <a:spcBef>
                <a:spcPts val="1000"/>
              </a:spcBef>
            </a:pPr>
            <a:endParaRPr lang="en-US" sz="2600" dirty="0"/>
          </a:p>
          <a:p>
            <a:pPr marL="228600" lvl="1">
              <a:spcBef>
                <a:spcPts val="1000"/>
              </a:spcBef>
            </a:pPr>
            <a:r>
              <a:rPr lang="en-US" sz="2600" dirty="0"/>
              <a:t>Result: We need 2-4 verification engineers for each designer</a:t>
            </a:r>
          </a:p>
          <a:p>
            <a:pPr marL="685800" lvl="2">
              <a:spcBef>
                <a:spcPts val="1000"/>
              </a:spcBef>
            </a:pPr>
            <a:endParaRPr lang="en-US" sz="2200" dirty="0"/>
          </a:p>
          <a:p>
            <a:pPr marL="228600" lvl="1">
              <a:spcBef>
                <a:spcPts val="1000"/>
              </a:spcBef>
            </a:pPr>
            <a:r>
              <a:rPr lang="en-US" sz="2600" dirty="0"/>
              <a:t>Engineering cost is the major expense of HW design</a:t>
            </a:r>
          </a:p>
          <a:p>
            <a:endParaRPr lang="en-US" sz="26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6C26A5C-628D-75CC-304E-521C024896F3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0"/>
            <a:chOff x="8030183" y="896613"/>
            <a:chExt cx="3339689" cy="554805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B72962-C4C3-8478-9CDA-36A1EEF383C8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A939B4C-8F52-0AF8-3DCC-9BA00D72B603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E4F918F-87C7-16BF-39F9-D6DDF57BB0F8}"/>
                </a:ext>
              </a:extLst>
            </p:cNvPr>
            <p:cNvCxnSpPr>
              <a:cxnSpLocks/>
              <a:stCxn id="22" idx="0"/>
              <a:endCxn id="21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14ACC-6F4F-42BD-D591-65076070D533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80164BD-7EF6-994D-6D45-E4EC2B6BF563}"/>
                </a:ext>
              </a:extLst>
            </p:cNvPr>
            <p:cNvCxnSpPr>
              <a:cxnSpLocks/>
              <a:stCxn id="24" idx="0"/>
              <a:endCxn id="22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61C136-694F-8D16-B39B-905FDDBD91C3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3AFDBC2-DB59-B184-BDCE-AF99B4D78836}"/>
                </a:ext>
              </a:extLst>
            </p:cNvPr>
            <p:cNvCxnSpPr>
              <a:cxnSpLocks/>
              <a:stCxn id="26" idx="0"/>
              <a:endCxn id="24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Graphic 27" descr="Crown outline">
              <a:extLst>
                <a:ext uri="{FF2B5EF4-FFF2-40B4-BE49-F238E27FC236}">
                  <a16:creationId xmlns:a16="http://schemas.microsoft.com/office/drawing/2014/main" id="{3A7B18E9-7467-73F9-C3DB-F9E9792885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409960E-5825-A988-0C33-D4F2EC876720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56EBAF-72CC-4284-0CC6-B1F87AF015C8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D1E92FA-798D-6AD1-5FA4-688A1D295CBC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B88CE2C-A49F-33A4-2A04-2638F70286E7}"/>
                </a:ext>
              </a:extLst>
            </p:cNvPr>
            <p:cNvCxnSpPr>
              <a:cxnSpLocks/>
              <a:stCxn id="26" idx="2"/>
              <a:endCxn id="29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887CB43-600B-9CD1-4C68-C545C475B0AA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A53E77D-0344-15A8-2AB7-75A56C6277F9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Left Brace 34">
              <a:extLst>
                <a:ext uri="{FF2B5EF4-FFF2-40B4-BE49-F238E27FC236}">
                  <a16:creationId xmlns:a16="http://schemas.microsoft.com/office/drawing/2014/main" id="{AF76CE01-E8A2-728B-4053-F73BD30B56B5}"/>
                </a:ext>
              </a:extLst>
            </p:cNvPr>
            <p:cNvSpPr/>
            <p:nvPr/>
          </p:nvSpPr>
          <p:spPr>
            <a:xfrm>
              <a:off x="8030183" y="4384655"/>
              <a:ext cx="625126" cy="6377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957D5301-1A16-769E-65FC-46B93D5C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55BB6AA0-6CBF-CBA7-6D4A-5531FC9C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984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45639-0011-12DD-7987-3B637F855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F0EFCF-8D8D-53C8-531F-1C3F878B2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broken VLSI tool flow: Verification</a:t>
            </a: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0A92F7-B5B5-22BA-D8DA-B81959F50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57155" cy="4890485"/>
          </a:xfrm>
        </p:spPr>
        <p:txBody>
          <a:bodyPr>
            <a:noAutofit/>
          </a:bodyPr>
          <a:lstStyle/>
          <a:p>
            <a:r>
              <a:rPr lang="en-US" sz="2600" dirty="0"/>
              <a:t>How can we scale hardware verification to manage </a:t>
            </a:r>
            <a:br>
              <a:rPr lang="en-US" sz="2600" dirty="0"/>
            </a:br>
            <a:r>
              <a:rPr lang="en-US" sz="2600" dirty="0"/>
              <a:t>more complex designs?</a:t>
            </a:r>
          </a:p>
          <a:p>
            <a:pPr marL="685800" lvl="2">
              <a:spcBef>
                <a:spcPts val="1000"/>
              </a:spcBef>
            </a:pPr>
            <a:r>
              <a:rPr lang="en-US" sz="2200" dirty="0"/>
              <a:t>Open question…</a:t>
            </a:r>
          </a:p>
          <a:p>
            <a:pPr marL="685800" lvl="2">
              <a:spcBef>
                <a:spcPts val="1000"/>
              </a:spcBef>
            </a:pPr>
            <a:r>
              <a:rPr lang="en-US" sz="2200" dirty="0"/>
              <a:t>GenAI for coverage?</a:t>
            </a:r>
          </a:p>
          <a:p>
            <a:pPr marL="685800" lvl="2">
              <a:spcBef>
                <a:spcPts val="1000"/>
              </a:spcBef>
            </a:pPr>
            <a:r>
              <a:rPr lang="en-US" sz="2200" dirty="0" err="1"/>
              <a:t>GenAI</a:t>
            </a:r>
            <a:r>
              <a:rPr lang="en-US" sz="2200" dirty="0"/>
              <a:t> for formal spec (active research field)</a:t>
            </a:r>
          </a:p>
          <a:p>
            <a:endParaRPr lang="en-US" sz="2600" dirty="0"/>
          </a:p>
          <a:p>
            <a:r>
              <a:rPr lang="en-US" sz="2600" dirty="0"/>
              <a:t>We tend to try GenAI when we run out of algorithmic ideas…</a:t>
            </a:r>
            <a:endParaRPr lang="en-IL" sz="2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4D11B3-B30C-E195-AB0A-F88E6F9122DE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0"/>
            <a:chOff x="8030183" y="896613"/>
            <a:chExt cx="3339689" cy="55480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2DEAF04-E2DF-DF25-8431-9CED688127B0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761E5B0-5275-1DD9-4A3C-757DCA529B2A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B23D38E-63D3-5C39-E679-F54890909188}"/>
                </a:ext>
              </a:extLst>
            </p:cNvPr>
            <p:cNvCxnSpPr>
              <a:cxnSpLocks/>
              <a:stCxn id="6" idx="0"/>
              <a:endCxn id="3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7251F3-64F7-FD28-1EEB-A93E15C10F5A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1C8B82F-2977-811C-AEFF-62AB2EC7F19C}"/>
                </a:ext>
              </a:extLst>
            </p:cNvPr>
            <p:cNvCxnSpPr>
              <a:cxnSpLocks/>
              <a:stCxn id="8" idx="0"/>
              <a:endCxn id="6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5A054A-1F73-B204-E18D-E42CC98DF746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4FD92FC-D8DA-BB1C-6C09-695866372CB3}"/>
                </a:ext>
              </a:extLst>
            </p:cNvPr>
            <p:cNvCxnSpPr>
              <a:cxnSpLocks/>
              <a:stCxn id="10" idx="0"/>
              <a:endCxn id="8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phic 11" descr="Crown outline">
              <a:extLst>
                <a:ext uri="{FF2B5EF4-FFF2-40B4-BE49-F238E27FC236}">
                  <a16:creationId xmlns:a16="http://schemas.microsoft.com/office/drawing/2014/main" id="{0D924328-EABF-1930-97F0-5519247919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7AD745-82E9-13BA-EFC8-821B3942C9F9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B94D74-74D7-A25D-3EA5-01BA3B27BD26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955F38-8525-AE4E-E1AD-9C0A5C8FEF8D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E28C364-F10F-57E1-5C74-AEF986C78600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E904345-0B55-81FF-695F-9B1F1EC1F8EB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D291474-37CE-0FCA-7F64-8A17C6742361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EFAC38F-016B-883C-478D-A4C19BD2328F}"/>
                </a:ext>
              </a:extLst>
            </p:cNvPr>
            <p:cNvSpPr/>
            <p:nvPr/>
          </p:nvSpPr>
          <p:spPr>
            <a:xfrm>
              <a:off x="8030183" y="4384655"/>
              <a:ext cx="625126" cy="6377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B60A3BC6-2D0E-7A64-687B-B0DAB4D9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7EC053E-9C00-C76A-1DA9-24AB787C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7217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8053-41F4-B024-29C6-E6F08F806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DBAF-03EB-8B72-B11A-79332C66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broken VLSI tool flow: The full flow</a:t>
            </a:r>
            <a:endParaRPr lang="en-IL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986CF2-1D1D-69BE-3BA3-BE0A8B1CFE62}"/>
              </a:ext>
            </a:extLst>
          </p:cNvPr>
          <p:cNvGrpSpPr/>
          <p:nvPr/>
        </p:nvGrpSpPr>
        <p:grpSpPr>
          <a:xfrm>
            <a:off x="966439" y="2022835"/>
            <a:ext cx="4235758" cy="1057364"/>
            <a:chOff x="966439" y="2022835"/>
            <a:chExt cx="4235758" cy="1057364"/>
          </a:xfrm>
        </p:grpSpPr>
        <p:pic>
          <p:nvPicPr>
            <p:cNvPr id="7" name="Graphic 6" descr="Programmer male with solid fill">
              <a:extLst>
                <a:ext uri="{FF2B5EF4-FFF2-40B4-BE49-F238E27FC236}">
                  <a16:creationId xmlns:a16="http://schemas.microsoft.com/office/drawing/2014/main" id="{F9ABCDD7-E797-F8C2-898E-CC2252BEE7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2022835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D0C3B5-D7EF-C022-D59A-20C1599B1F16}"/>
                </a:ext>
              </a:extLst>
            </p:cNvPr>
            <p:cNvSpPr txBox="1"/>
            <p:nvPr/>
          </p:nvSpPr>
          <p:spPr>
            <a:xfrm>
              <a:off x="1880839" y="2249202"/>
              <a:ext cx="33213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Architect writes </a:t>
              </a:r>
              <a:br>
                <a:rPr lang="en-US" sz="2400" dirty="0"/>
              </a:br>
              <a:r>
                <a:rPr lang="en-US" sz="2400" dirty="0"/>
                <a:t>arch. Specification doc.</a:t>
              </a:r>
              <a:endParaRPr lang="en-IL" sz="2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D7CAFD-0A67-3972-F31D-59AC06197F4F}"/>
              </a:ext>
            </a:extLst>
          </p:cNvPr>
          <p:cNvGrpSpPr/>
          <p:nvPr/>
        </p:nvGrpSpPr>
        <p:grpSpPr>
          <a:xfrm>
            <a:off x="966439" y="5578475"/>
            <a:ext cx="4510769" cy="1057364"/>
            <a:chOff x="966439" y="5578475"/>
            <a:chExt cx="4510769" cy="1057364"/>
          </a:xfrm>
        </p:grpSpPr>
        <p:pic>
          <p:nvPicPr>
            <p:cNvPr id="11" name="Graphic 10" descr="Programmer male with solid fill">
              <a:extLst>
                <a:ext uri="{FF2B5EF4-FFF2-40B4-BE49-F238E27FC236}">
                  <a16:creationId xmlns:a16="http://schemas.microsoft.com/office/drawing/2014/main" id="{C7C12D7A-46AF-4BF0-8E89-6E2584CF2E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5578475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2EE801-DC34-34DC-A470-752E759646B4}"/>
                </a:ext>
              </a:extLst>
            </p:cNvPr>
            <p:cNvSpPr txBox="1"/>
            <p:nvPr/>
          </p:nvSpPr>
          <p:spPr>
            <a:xfrm>
              <a:off x="1880839" y="5804842"/>
              <a:ext cx="359636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Verification engineer</a:t>
              </a:r>
              <a:br>
                <a:rPr lang="en-US" sz="2400" dirty="0"/>
              </a:br>
              <a:r>
                <a:rPr lang="en-US" sz="2400" dirty="0"/>
                <a:t>needs to understand both</a:t>
              </a:r>
              <a:endParaRPr lang="en-IL" sz="2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08A543-DE71-46FD-0328-78A887BA2CD9}"/>
              </a:ext>
            </a:extLst>
          </p:cNvPr>
          <p:cNvGrpSpPr/>
          <p:nvPr/>
        </p:nvGrpSpPr>
        <p:grpSpPr>
          <a:xfrm>
            <a:off x="709715" y="3440846"/>
            <a:ext cx="1544590" cy="1830415"/>
            <a:chOff x="716784" y="3689934"/>
            <a:chExt cx="1544590" cy="1830415"/>
          </a:xfrm>
        </p:grpSpPr>
        <p:pic>
          <p:nvPicPr>
            <p:cNvPr id="22" name="Graphic 21" descr="Programmer male with solid fill">
              <a:extLst>
                <a:ext uri="{FF2B5EF4-FFF2-40B4-BE49-F238E27FC236}">
                  <a16:creationId xmlns:a16="http://schemas.microsoft.com/office/drawing/2014/main" id="{473B2C05-4466-75C6-912D-58F85AABED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3689934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35B24A-EB9F-E4EE-D02D-82B076005750}"/>
                </a:ext>
              </a:extLst>
            </p:cNvPr>
            <p:cNvSpPr txBox="1"/>
            <p:nvPr/>
          </p:nvSpPr>
          <p:spPr>
            <a:xfrm>
              <a:off x="716784" y="4689352"/>
              <a:ext cx="15445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Designer </a:t>
              </a:r>
              <a:br>
                <a:rPr lang="en-US" sz="2400" dirty="0"/>
              </a:br>
              <a:r>
                <a:rPr lang="en-US" sz="2400" dirty="0"/>
                <a:t>codes RTL</a:t>
              </a:r>
              <a:endParaRPr lang="en-IL" sz="2400" dirty="0"/>
            </a:p>
          </p:txBody>
        </p:sp>
      </p:grpSp>
      <p:sp>
        <p:nvSpPr>
          <p:cNvPr id="24" name="Arrow: Down 23">
            <a:extLst>
              <a:ext uri="{FF2B5EF4-FFF2-40B4-BE49-F238E27FC236}">
                <a16:creationId xmlns:a16="http://schemas.microsoft.com/office/drawing/2014/main" id="{395C3A96-EA17-4B65-D44D-25188DF29FF0}"/>
              </a:ext>
            </a:extLst>
          </p:cNvPr>
          <p:cNvSpPr/>
          <p:nvPr/>
        </p:nvSpPr>
        <p:spPr>
          <a:xfrm>
            <a:off x="1264481" y="3046202"/>
            <a:ext cx="280539" cy="38301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EA300D-0DF8-5FD0-1ABE-BF4D672CA80B}"/>
              </a:ext>
            </a:extLst>
          </p:cNvPr>
          <p:cNvGrpSpPr/>
          <p:nvPr/>
        </p:nvGrpSpPr>
        <p:grpSpPr>
          <a:xfrm>
            <a:off x="2868650" y="3545615"/>
            <a:ext cx="1774845" cy="2068639"/>
            <a:chOff x="76574" y="3789079"/>
            <a:chExt cx="1774845" cy="2068639"/>
          </a:xfrm>
        </p:grpSpPr>
        <p:pic>
          <p:nvPicPr>
            <p:cNvPr id="26" name="Graphic 25" descr="Programmer male with solid fill">
              <a:extLst>
                <a:ext uri="{FF2B5EF4-FFF2-40B4-BE49-F238E27FC236}">
                  <a16:creationId xmlns:a16="http://schemas.microsoft.com/office/drawing/2014/main" id="{0DF47557-4721-FFA7-2851-839396845C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45302" y="3789079"/>
              <a:ext cx="914400" cy="914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2D07F9-2DFB-2B73-36AE-DE6C077C01C1}"/>
                </a:ext>
              </a:extLst>
            </p:cNvPr>
            <p:cNvSpPr txBox="1"/>
            <p:nvPr/>
          </p:nvSpPr>
          <p:spPr>
            <a:xfrm>
              <a:off x="76574" y="4657389"/>
              <a:ext cx="177484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SW writes </a:t>
              </a:r>
              <a:br>
                <a:rPr lang="en-US" sz="2400" dirty="0"/>
              </a:br>
              <a:r>
                <a:rPr lang="en-US" sz="2400" dirty="0" err="1"/>
                <a:t>func+timing</a:t>
              </a:r>
              <a:br>
                <a:rPr lang="en-US" sz="2400" dirty="0"/>
              </a:br>
              <a:r>
                <a:rPr lang="en-US" sz="2400" dirty="0"/>
                <a:t> simulators</a:t>
              </a:r>
              <a:endParaRPr lang="en-IL" sz="2400" dirty="0"/>
            </a:p>
          </p:txBody>
        </p:sp>
      </p:grpSp>
      <p:sp>
        <p:nvSpPr>
          <p:cNvPr id="28" name="Arrow: Down 27">
            <a:extLst>
              <a:ext uri="{FF2B5EF4-FFF2-40B4-BE49-F238E27FC236}">
                <a16:creationId xmlns:a16="http://schemas.microsoft.com/office/drawing/2014/main" id="{490A944E-3616-B6A4-6B7C-490363A0F384}"/>
              </a:ext>
            </a:extLst>
          </p:cNvPr>
          <p:cNvSpPr/>
          <p:nvPr/>
        </p:nvSpPr>
        <p:spPr>
          <a:xfrm rot="18269990">
            <a:off x="2555068" y="2894571"/>
            <a:ext cx="274767" cy="84749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31EF001C-03E8-B209-C238-54C1F0180840}"/>
              </a:ext>
            </a:extLst>
          </p:cNvPr>
          <p:cNvSpPr/>
          <p:nvPr/>
        </p:nvSpPr>
        <p:spPr>
          <a:xfrm>
            <a:off x="1256818" y="5244005"/>
            <a:ext cx="280539" cy="38301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C1FDE1-0958-32CA-1B66-8D8E9458A573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0"/>
            <a:chOff x="8030183" y="896613"/>
            <a:chExt cx="3339689" cy="55480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F9AE59-DEC0-6953-63FB-EC9BC51FF94C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EB99A4-37B6-2158-FC85-365BD6FD7F50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098E865-F8C9-B94D-E881-9CFDB1106735}"/>
                </a:ext>
              </a:extLst>
            </p:cNvPr>
            <p:cNvCxnSpPr>
              <a:cxnSpLocks/>
              <a:stCxn id="5" idx="0"/>
              <a:endCxn id="4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461B0A-7F1F-61B9-2329-FEAE3B9701AE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51B095A-D059-EB23-BFD6-ADB0A3B92EEE}"/>
                </a:ext>
              </a:extLst>
            </p:cNvPr>
            <p:cNvCxnSpPr>
              <a:cxnSpLocks/>
              <a:stCxn id="9" idx="0"/>
              <a:endCxn id="5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841ECC-97DE-5602-22F3-11C4220B3091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3B85708-3627-3E82-AE07-C36822DD77F0}"/>
                </a:ext>
              </a:extLst>
            </p:cNvPr>
            <p:cNvCxnSpPr>
              <a:cxnSpLocks/>
              <a:stCxn id="13" idx="0"/>
              <a:endCxn id="9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Graphic 16" descr="Crown outline">
              <a:extLst>
                <a:ext uri="{FF2B5EF4-FFF2-40B4-BE49-F238E27FC236}">
                  <a16:creationId xmlns:a16="http://schemas.microsoft.com/office/drawing/2014/main" id="{8C967E44-7529-03F0-278C-01C94233E3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C6D0992-6647-F6B7-4554-ADC6216B9230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B0FC0A1-8436-AC35-B50E-922421DEE793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EEB645-4136-EEC6-1D5D-26AE1DDBB571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99C76A5-E83F-C03D-6DA4-13B564FB575F}"/>
                </a:ext>
              </a:extLst>
            </p:cNvPr>
            <p:cNvCxnSpPr>
              <a:cxnSpLocks/>
              <a:stCxn id="13" idx="2"/>
              <a:endCxn id="18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1CF40EC-99BE-B143-3C90-4A246125C547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40A6D5B-9E3A-16DB-D7EC-8605BBC2B3FC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AC251345-8CE7-C912-1ECD-E474438B7A76}"/>
                </a:ext>
              </a:extLst>
            </p:cNvPr>
            <p:cNvSpPr/>
            <p:nvPr/>
          </p:nvSpPr>
          <p:spPr>
            <a:xfrm>
              <a:off x="8030183" y="4384655"/>
              <a:ext cx="625126" cy="6377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9C0B50CD-7A79-633B-0C79-4F3CF5D7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979BEC05-4339-9EAC-B975-F54ED500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8398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2097-AACF-62E5-585A-6D957E9E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9F0C-F03B-9196-E153-B0606186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broken VLSI tool flow: The full flow</a:t>
            </a:r>
            <a:endParaRPr lang="en-IL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1BE780-065B-BABB-3372-63C6AC468EDD}"/>
              </a:ext>
            </a:extLst>
          </p:cNvPr>
          <p:cNvGrpSpPr/>
          <p:nvPr/>
        </p:nvGrpSpPr>
        <p:grpSpPr>
          <a:xfrm>
            <a:off x="966439" y="2022835"/>
            <a:ext cx="4235758" cy="1057364"/>
            <a:chOff x="966439" y="2022835"/>
            <a:chExt cx="4235758" cy="1057364"/>
          </a:xfrm>
        </p:grpSpPr>
        <p:pic>
          <p:nvPicPr>
            <p:cNvPr id="7" name="Graphic 6" descr="Programmer male with solid fill">
              <a:extLst>
                <a:ext uri="{FF2B5EF4-FFF2-40B4-BE49-F238E27FC236}">
                  <a16:creationId xmlns:a16="http://schemas.microsoft.com/office/drawing/2014/main" id="{38E8D56D-1E56-12BD-21CF-D91A1B9C22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2022835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B96BFC-D049-4828-F2B8-B620E586A359}"/>
                </a:ext>
              </a:extLst>
            </p:cNvPr>
            <p:cNvSpPr txBox="1"/>
            <p:nvPr/>
          </p:nvSpPr>
          <p:spPr>
            <a:xfrm>
              <a:off x="1880839" y="2249202"/>
              <a:ext cx="33213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Architect writes </a:t>
              </a:r>
              <a:br>
                <a:rPr lang="en-US" sz="2400" dirty="0"/>
              </a:br>
              <a:r>
                <a:rPr lang="en-US" sz="2400" dirty="0"/>
                <a:t>arch. Specification doc.</a:t>
              </a:r>
              <a:endParaRPr lang="en-IL" sz="2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6F3831-7BF1-5FF1-786F-7780F8891719}"/>
              </a:ext>
            </a:extLst>
          </p:cNvPr>
          <p:cNvGrpSpPr/>
          <p:nvPr/>
        </p:nvGrpSpPr>
        <p:grpSpPr>
          <a:xfrm>
            <a:off x="709715" y="3440846"/>
            <a:ext cx="1544590" cy="1830415"/>
            <a:chOff x="716784" y="3689934"/>
            <a:chExt cx="1544590" cy="1830415"/>
          </a:xfrm>
        </p:grpSpPr>
        <p:pic>
          <p:nvPicPr>
            <p:cNvPr id="9" name="Graphic 8" descr="Programmer male with solid fill">
              <a:extLst>
                <a:ext uri="{FF2B5EF4-FFF2-40B4-BE49-F238E27FC236}">
                  <a16:creationId xmlns:a16="http://schemas.microsoft.com/office/drawing/2014/main" id="{353A9AAB-F621-A2E8-703C-66B4BC778D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3689934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1C994C-1859-1CEC-9332-C1518E2B02E0}"/>
                </a:ext>
              </a:extLst>
            </p:cNvPr>
            <p:cNvSpPr txBox="1"/>
            <p:nvPr/>
          </p:nvSpPr>
          <p:spPr>
            <a:xfrm>
              <a:off x="716784" y="4689352"/>
              <a:ext cx="15445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Designer </a:t>
              </a:r>
              <a:br>
                <a:rPr lang="en-US" sz="2400" dirty="0"/>
              </a:br>
              <a:r>
                <a:rPr lang="en-US" sz="2400" dirty="0"/>
                <a:t>codes RTL</a:t>
              </a:r>
              <a:endParaRPr lang="en-IL" sz="2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AB41A3-8D5A-BC08-4E64-48F5E1DF6186}"/>
              </a:ext>
            </a:extLst>
          </p:cNvPr>
          <p:cNvGrpSpPr/>
          <p:nvPr/>
        </p:nvGrpSpPr>
        <p:grpSpPr>
          <a:xfrm>
            <a:off x="966439" y="5578475"/>
            <a:ext cx="4510769" cy="1057364"/>
            <a:chOff x="966439" y="5578475"/>
            <a:chExt cx="4510769" cy="1057364"/>
          </a:xfrm>
        </p:grpSpPr>
        <p:pic>
          <p:nvPicPr>
            <p:cNvPr id="11" name="Graphic 10" descr="Programmer male with solid fill">
              <a:extLst>
                <a:ext uri="{FF2B5EF4-FFF2-40B4-BE49-F238E27FC236}">
                  <a16:creationId xmlns:a16="http://schemas.microsoft.com/office/drawing/2014/main" id="{11D25D99-4875-E922-9840-200EEA90FB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5578475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9D2E16-DA48-EC23-33E1-6EF220EFC488}"/>
                </a:ext>
              </a:extLst>
            </p:cNvPr>
            <p:cNvSpPr txBox="1"/>
            <p:nvPr/>
          </p:nvSpPr>
          <p:spPr>
            <a:xfrm>
              <a:off x="1880839" y="5804842"/>
              <a:ext cx="359636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Verification engineer</a:t>
              </a:r>
              <a:br>
                <a:rPr lang="en-US" sz="2400" dirty="0"/>
              </a:br>
              <a:r>
                <a:rPr lang="en-US" sz="2400" dirty="0"/>
                <a:t>needs to understand both</a:t>
              </a:r>
              <a:endParaRPr lang="en-IL" sz="2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549317-07A5-9F0E-A438-8D362D568388}"/>
              </a:ext>
            </a:extLst>
          </p:cNvPr>
          <p:cNvGrpSpPr/>
          <p:nvPr/>
        </p:nvGrpSpPr>
        <p:grpSpPr>
          <a:xfrm>
            <a:off x="5623034" y="1823186"/>
            <a:ext cx="2512966" cy="2081927"/>
            <a:chOff x="6146629" y="1565293"/>
            <a:chExt cx="2512966" cy="2081927"/>
          </a:xfrm>
        </p:grpSpPr>
        <p:pic>
          <p:nvPicPr>
            <p:cNvPr id="18" name="Picture 17" descr="A cartoon of a turtle&#10;&#10;Description automatically generated">
              <a:extLst>
                <a:ext uri="{FF2B5EF4-FFF2-40B4-BE49-F238E27FC236}">
                  <a16:creationId xmlns:a16="http://schemas.microsoft.com/office/drawing/2014/main" id="{72DD7042-03CF-CC50-7323-57E3C2935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9384" y="1565293"/>
              <a:ext cx="1479393" cy="147939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9EBC42-3D2E-999A-BA56-0CB76E6F9152}"/>
                </a:ext>
              </a:extLst>
            </p:cNvPr>
            <p:cNvSpPr txBox="1"/>
            <p:nvPr/>
          </p:nvSpPr>
          <p:spPr>
            <a:xfrm>
              <a:off x="6146629" y="2816223"/>
              <a:ext cx="25129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RTL SW simulator</a:t>
              </a:r>
              <a:br>
                <a:rPr lang="en-US" sz="2400" dirty="0"/>
              </a:br>
              <a:r>
                <a:rPr lang="en-US" sz="2400" dirty="0"/>
                <a:t>(~1000 cy/s)</a:t>
              </a:r>
              <a:endParaRPr lang="en-IL" sz="2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BDA4A6F-BB02-044F-959F-9383DC35C41F}"/>
              </a:ext>
            </a:extLst>
          </p:cNvPr>
          <p:cNvGrpSpPr/>
          <p:nvPr/>
        </p:nvGrpSpPr>
        <p:grpSpPr>
          <a:xfrm>
            <a:off x="5522045" y="4000748"/>
            <a:ext cx="2851166" cy="2696258"/>
            <a:chOff x="5522045" y="4000748"/>
            <a:chExt cx="2851166" cy="2696258"/>
          </a:xfrm>
        </p:grpSpPr>
        <p:pic>
          <p:nvPicPr>
            <p:cNvPr id="6" name="Picture 5" descr="A machine with pipes and a screen&#10;&#10;Description automatically generated">
              <a:extLst>
                <a:ext uri="{FF2B5EF4-FFF2-40B4-BE49-F238E27FC236}">
                  <a16:creationId xmlns:a16="http://schemas.microsoft.com/office/drawing/2014/main" id="{25BE2F39-7E43-DAD5-94ED-585AC4D0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0122" y="4000748"/>
              <a:ext cx="1990725" cy="199072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BCD58B5-1B92-CFFB-1083-65E7F77874D9}"/>
                </a:ext>
              </a:extLst>
            </p:cNvPr>
            <p:cNvSpPr txBox="1"/>
            <p:nvPr/>
          </p:nvSpPr>
          <p:spPr>
            <a:xfrm>
              <a:off x="5522045" y="5866009"/>
              <a:ext cx="285116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Emulator</a:t>
              </a:r>
              <a:br>
                <a:rPr lang="en-US" sz="2400" dirty="0"/>
              </a:br>
              <a:r>
                <a:rPr lang="en-US" sz="2400" dirty="0"/>
                <a:t>(limited, ~100k cy/s)</a:t>
              </a:r>
              <a:endParaRPr lang="en-IL" sz="24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D8E17E-833A-CF9C-B006-44DD66C19A2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543425" y="3489615"/>
            <a:ext cx="1079609" cy="2088860"/>
          </a:xfrm>
          <a:prstGeom prst="straightConnector1">
            <a:avLst/>
          </a:prstGeom>
          <a:ln w="38100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A77E1B-458A-8279-A8FE-845E6DF1CE5B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569495" y="4996111"/>
            <a:ext cx="1310627" cy="582364"/>
          </a:xfrm>
          <a:prstGeom prst="straightConnector1">
            <a:avLst/>
          </a:prstGeom>
          <a:ln w="38100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667EED-544C-AFF7-DBF9-E5BE2644C51B}"/>
              </a:ext>
            </a:extLst>
          </p:cNvPr>
          <p:cNvGrpSpPr/>
          <p:nvPr/>
        </p:nvGrpSpPr>
        <p:grpSpPr>
          <a:xfrm>
            <a:off x="10201275" y="2685503"/>
            <a:ext cx="1990725" cy="2308965"/>
            <a:chOff x="10087329" y="2710867"/>
            <a:chExt cx="1990725" cy="2308965"/>
          </a:xfrm>
        </p:grpSpPr>
        <p:pic>
          <p:nvPicPr>
            <p:cNvPr id="26" name="Picture 25" descr="A black box with wires coming out of it&#10;&#10;Description automatically generated">
              <a:extLst>
                <a:ext uri="{FF2B5EF4-FFF2-40B4-BE49-F238E27FC236}">
                  <a16:creationId xmlns:a16="http://schemas.microsoft.com/office/drawing/2014/main" id="{4417AB75-7E67-EE58-4AC8-29BF4C7F0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7329" y="2710867"/>
              <a:ext cx="1990725" cy="199072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A0F69A4-256C-15B1-37E9-F8FF7E969427}"/>
                </a:ext>
              </a:extLst>
            </p:cNvPr>
            <p:cNvSpPr txBox="1"/>
            <p:nvPr/>
          </p:nvSpPr>
          <p:spPr>
            <a:xfrm>
              <a:off x="10211021" y="4188835"/>
              <a:ext cx="16591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External IP</a:t>
              </a:r>
              <a:br>
                <a:rPr lang="en-US" sz="2400" dirty="0"/>
              </a:br>
              <a:r>
                <a:rPr lang="en-US" sz="2400" dirty="0"/>
                <a:t>(gate-level)</a:t>
              </a:r>
              <a:endParaRPr lang="en-IL" sz="2400" dirty="0"/>
            </a:p>
          </p:txBody>
        </p:sp>
      </p:grpSp>
      <p:sp>
        <p:nvSpPr>
          <p:cNvPr id="32" name="Arrow: Down 31">
            <a:extLst>
              <a:ext uri="{FF2B5EF4-FFF2-40B4-BE49-F238E27FC236}">
                <a16:creationId xmlns:a16="http://schemas.microsoft.com/office/drawing/2014/main" id="{B49C3468-EBF4-F375-8BCE-F37C0BC34DE7}"/>
              </a:ext>
            </a:extLst>
          </p:cNvPr>
          <p:cNvSpPr/>
          <p:nvPr/>
        </p:nvSpPr>
        <p:spPr>
          <a:xfrm>
            <a:off x="1264481" y="3046202"/>
            <a:ext cx="280539" cy="38301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E1613320-2D08-9499-B787-FAF2115AB990}"/>
              </a:ext>
            </a:extLst>
          </p:cNvPr>
          <p:cNvSpPr/>
          <p:nvPr/>
        </p:nvSpPr>
        <p:spPr>
          <a:xfrm rot="3693698">
            <a:off x="9695775" y="4596540"/>
            <a:ext cx="276274" cy="49434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54F864-CAE8-7373-871A-A2F79514DA74}"/>
              </a:ext>
            </a:extLst>
          </p:cNvPr>
          <p:cNvGrpSpPr/>
          <p:nvPr/>
        </p:nvGrpSpPr>
        <p:grpSpPr>
          <a:xfrm>
            <a:off x="8008976" y="2412000"/>
            <a:ext cx="1451295" cy="1213744"/>
            <a:chOff x="7914386" y="2412000"/>
            <a:chExt cx="1451295" cy="1213744"/>
          </a:xfrm>
        </p:grpSpPr>
        <p:pic>
          <p:nvPicPr>
            <p:cNvPr id="31" name="Picture 30" descr="A black box with wires&#10;&#10;Description automatically generated">
              <a:extLst>
                <a:ext uri="{FF2B5EF4-FFF2-40B4-BE49-F238E27FC236}">
                  <a16:creationId xmlns:a16="http://schemas.microsoft.com/office/drawing/2014/main" id="{C2143CC8-FB79-C9BE-C442-E4CB8D045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" t="28442" r="-360" b="21562"/>
            <a:stretch/>
          </p:blipFill>
          <p:spPr>
            <a:xfrm>
              <a:off x="7956000" y="2412000"/>
              <a:ext cx="1368067" cy="684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205FB6-58F3-EBC2-05B0-878487A6AF71}"/>
                </a:ext>
              </a:extLst>
            </p:cNvPr>
            <p:cNvSpPr txBox="1"/>
            <p:nvPr/>
          </p:nvSpPr>
          <p:spPr>
            <a:xfrm>
              <a:off x="7914386" y="2979413"/>
              <a:ext cx="14512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IP model </a:t>
              </a:r>
              <a:br>
                <a:rPr lang="en-US" dirty="0"/>
              </a:br>
              <a:r>
                <a:rPr lang="en-US" dirty="0"/>
                <a:t>for simulator</a:t>
              </a:r>
              <a:endParaRPr lang="en-IL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DE9D6B0-6338-9D90-94B2-95EC570F0814}"/>
              </a:ext>
            </a:extLst>
          </p:cNvPr>
          <p:cNvGrpSpPr/>
          <p:nvPr/>
        </p:nvGrpSpPr>
        <p:grpSpPr>
          <a:xfrm>
            <a:off x="7908912" y="4676228"/>
            <a:ext cx="1406411" cy="1448760"/>
            <a:chOff x="7900797" y="4860000"/>
            <a:chExt cx="1406411" cy="1448760"/>
          </a:xfrm>
        </p:grpSpPr>
        <p:pic>
          <p:nvPicPr>
            <p:cNvPr id="35" name="Picture 34" descr="A cartoon of a black box with brown wires&#10;&#10;Description automatically generated">
              <a:extLst>
                <a:ext uri="{FF2B5EF4-FFF2-40B4-BE49-F238E27FC236}">
                  <a16:creationId xmlns:a16="http://schemas.microsoft.com/office/drawing/2014/main" id="{E79A8C7A-DA9D-6BDA-E554-EA26ABC8D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9" t="6115" r="13420" b="8113"/>
            <a:stretch/>
          </p:blipFill>
          <p:spPr>
            <a:xfrm rot="16200000">
              <a:off x="8190000" y="4806000"/>
              <a:ext cx="828000" cy="936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779A8E2-1D05-1B20-CB91-8ABE8E9EF18B}"/>
                </a:ext>
              </a:extLst>
            </p:cNvPr>
            <p:cNvSpPr txBox="1"/>
            <p:nvPr/>
          </p:nvSpPr>
          <p:spPr>
            <a:xfrm>
              <a:off x="7900797" y="5662429"/>
              <a:ext cx="14064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IP model</a:t>
              </a:r>
              <a:br>
                <a:rPr lang="en-US" dirty="0"/>
              </a:br>
              <a:r>
                <a:rPr lang="en-US" dirty="0"/>
                <a:t>for emulator</a:t>
              </a:r>
              <a:endParaRPr lang="en-IL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AC7E93-438E-4AA9-8E4B-69C519A067F7}"/>
              </a:ext>
            </a:extLst>
          </p:cNvPr>
          <p:cNvGrpSpPr/>
          <p:nvPr/>
        </p:nvGrpSpPr>
        <p:grpSpPr>
          <a:xfrm>
            <a:off x="2868650" y="3545615"/>
            <a:ext cx="1774845" cy="2068639"/>
            <a:chOff x="76574" y="3789079"/>
            <a:chExt cx="1774845" cy="2068639"/>
          </a:xfrm>
        </p:grpSpPr>
        <p:pic>
          <p:nvPicPr>
            <p:cNvPr id="45" name="Graphic 44" descr="Programmer male with solid fill">
              <a:extLst>
                <a:ext uri="{FF2B5EF4-FFF2-40B4-BE49-F238E27FC236}">
                  <a16:creationId xmlns:a16="http://schemas.microsoft.com/office/drawing/2014/main" id="{176CC1A1-C817-3A11-77BA-83291CF507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45302" y="3789079"/>
              <a:ext cx="914400" cy="9144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A8FBDEB-B48B-E5EB-ECAD-7713165B2912}"/>
                </a:ext>
              </a:extLst>
            </p:cNvPr>
            <p:cNvSpPr txBox="1"/>
            <p:nvPr/>
          </p:nvSpPr>
          <p:spPr>
            <a:xfrm>
              <a:off x="76574" y="4657389"/>
              <a:ext cx="177484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SW writes </a:t>
              </a:r>
              <a:br>
                <a:rPr lang="en-US" sz="2400" dirty="0"/>
              </a:br>
              <a:r>
                <a:rPr lang="en-US" sz="2400" dirty="0" err="1"/>
                <a:t>func+timing</a:t>
              </a:r>
              <a:br>
                <a:rPr lang="en-US" sz="2400" dirty="0"/>
              </a:br>
              <a:r>
                <a:rPr lang="en-US" sz="2400" dirty="0"/>
                <a:t> simulators</a:t>
              </a:r>
              <a:endParaRPr lang="en-IL" sz="2400" dirty="0"/>
            </a:p>
          </p:txBody>
        </p:sp>
      </p:grpSp>
      <p:sp>
        <p:nvSpPr>
          <p:cNvPr id="47" name="Arrow: Down 46">
            <a:extLst>
              <a:ext uri="{FF2B5EF4-FFF2-40B4-BE49-F238E27FC236}">
                <a16:creationId xmlns:a16="http://schemas.microsoft.com/office/drawing/2014/main" id="{8A96E4AD-D935-A8B3-9EE3-763AB728ACD2}"/>
              </a:ext>
            </a:extLst>
          </p:cNvPr>
          <p:cNvSpPr/>
          <p:nvPr/>
        </p:nvSpPr>
        <p:spPr>
          <a:xfrm rot="6182057">
            <a:off x="9804395" y="3123072"/>
            <a:ext cx="276274" cy="49434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B17570AB-C936-27AE-F463-BF35DF24E7CC}"/>
              </a:ext>
            </a:extLst>
          </p:cNvPr>
          <p:cNvSpPr/>
          <p:nvPr/>
        </p:nvSpPr>
        <p:spPr>
          <a:xfrm rot="18269990">
            <a:off x="2555068" y="2894571"/>
            <a:ext cx="274767" cy="84749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09DE3396-08D3-1FE4-8193-72363F3DADE6}"/>
              </a:ext>
            </a:extLst>
          </p:cNvPr>
          <p:cNvSpPr/>
          <p:nvPr/>
        </p:nvSpPr>
        <p:spPr>
          <a:xfrm>
            <a:off x="1256818" y="5244005"/>
            <a:ext cx="280539" cy="38301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C221C6B-AEB4-0072-0A0C-58747ED6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79AB60C-34A5-D0EF-B511-03FBEBC1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8145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A8BCF-3ABD-402C-3354-A699045A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C71E-4248-9BD9-F815-23306AE6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broken VLSI tool flow: The full flow</a:t>
            </a:r>
            <a:endParaRPr lang="en-IL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9EADC9-81B0-EB19-0C9B-07D4870FFECF}"/>
              </a:ext>
            </a:extLst>
          </p:cNvPr>
          <p:cNvGrpSpPr/>
          <p:nvPr/>
        </p:nvGrpSpPr>
        <p:grpSpPr>
          <a:xfrm>
            <a:off x="966439" y="2022835"/>
            <a:ext cx="4235758" cy="1057364"/>
            <a:chOff x="966439" y="2022835"/>
            <a:chExt cx="4235758" cy="1057364"/>
          </a:xfrm>
        </p:grpSpPr>
        <p:pic>
          <p:nvPicPr>
            <p:cNvPr id="7" name="Graphic 6" descr="Programmer male with solid fill">
              <a:extLst>
                <a:ext uri="{FF2B5EF4-FFF2-40B4-BE49-F238E27FC236}">
                  <a16:creationId xmlns:a16="http://schemas.microsoft.com/office/drawing/2014/main" id="{7B91761F-5A69-3925-B0ED-C8F9F008AE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2022835"/>
              <a:ext cx="914400" cy="9144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C041FC-7FD7-6875-EC50-2BF9E9093BB0}"/>
                </a:ext>
              </a:extLst>
            </p:cNvPr>
            <p:cNvSpPr txBox="1"/>
            <p:nvPr/>
          </p:nvSpPr>
          <p:spPr>
            <a:xfrm>
              <a:off x="1880839" y="2249202"/>
              <a:ext cx="33213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Architect writes </a:t>
              </a:r>
              <a:br>
                <a:rPr lang="en-US" sz="2400" dirty="0"/>
              </a:br>
              <a:r>
                <a:rPr lang="en-US" sz="2400" dirty="0"/>
                <a:t>arch. Specification doc.</a:t>
              </a:r>
              <a:endParaRPr lang="en-IL" sz="2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1AC982-6E8E-37B3-555F-37E2A0855F88}"/>
              </a:ext>
            </a:extLst>
          </p:cNvPr>
          <p:cNvGrpSpPr/>
          <p:nvPr/>
        </p:nvGrpSpPr>
        <p:grpSpPr>
          <a:xfrm>
            <a:off x="709715" y="3440846"/>
            <a:ext cx="1544590" cy="1830415"/>
            <a:chOff x="716784" y="3689934"/>
            <a:chExt cx="1544590" cy="1830415"/>
          </a:xfrm>
        </p:grpSpPr>
        <p:pic>
          <p:nvPicPr>
            <p:cNvPr id="9" name="Graphic 8" descr="Programmer male with solid fill">
              <a:extLst>
                <a:ext uri="{FF2B5EF4-FFF2-40B4-BE49-F238E27FC236}">
                  <a16:creationId xmlns:a16="http://schemas.microsoft.com/office/drawing/2014/main" id="{97C9EE1E-05AF-BACD-C43B-A58EDC7322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3689934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D10D41-1733-F88D-9A0E-7B5E08FF0E83}"/>
                </a:ext>
              </a:extLst>
            </p:cNvPr>
            <p:cNvSpPr txBox="1"/>
            <p:nvPr/>
          </p:nvSpPr>
          <p:spPr>
            <a:xfrm>
              <a:off x="716784" y="4689352"/>
              <a:ext cx="15445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Designer </a:t>
              </a:r>
              <a:br>
                <a:rPr lang="en-US" sz="2400" dirty="0"/>
              </a:br>
              <a:r>
                <a:rPr lang="en-US" sz="2400" dirty="0"/>
                <a:t>codes RTL</a:t>
              </a:r>
              <a:endParaRPr lang="en-IL" sz="2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35FFA7-5AAF-C1DF-15C4-295F486FA772}"/>
              </a:ext>
            </a:extLst>
          </p:cNvPr>
          <p:cNvGrpSpPr/>
          <p:nvPr/>
        </p:nvGrpSpPr>
        <p:grpSpPr>
          <a:xfrm>
            <a:off x="966439" y="5578475"/>
            <a:ext cx="4510769" cy="1057364"/>
            <a:chOff x="966439" y="5578475"/>
            <a:chExt cx="4510769" cy="1057364"/>
          </a:xfrm>
        </p:grpSpPr>
        <p:pic>
          <p:nvPicPr>
            <p:cNvPr id="11" name="Graphic 10" descr="Programmer male with solid fill">
              <a:extLst>
                <a:ext uri="{FF2B5EF4-FFF2-40B4-BE49-F238E27FC236}">
                  <a16:creationId xmlns:a16="http://schemas.microsoft.com/office/drawing/2014/main" id="{70B0C5EE-3F76-745F-0E86-2C625C0141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6439" y="5578475"/>
              <a:ext cx="914400" cy="914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5CF4CA-8E3E-B126-C986-81BCF632BE17}"/>
                </a:ext>
              </a:extLst>
            </p:cNvPr>
            <p:cNvSpPr txBox="1"/>
            <p:nvPr/>
          </p:nvSpPr>
          <p:spPr>
            <a:xfrm>
              <a:off x="1880839" y="5804842"/>
              <a:ext cx="359636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Verification engineer</a:t>
              </a:r>
              <a:br>
                <a:rPr lang="en-US" sz="2400" dirty="0"/>
              </a:br>
              <a:r>
                <a:rPr lang="en-US" sz="2400" dirty="0"/>
                <a:t>needs to understand both</a:t>
              </a:r>
              <a:endParaRPr lang="en-IL" sz="2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4C570C-1D92-9460-FFB1-CAAF0F3C755B}"/>
              </a:ext>
            </a:extLst>
          </p:cNvPr>
          <p:cNvGrpSpPr/>
          <p:nvPr/>
        </p:nvGrpSpPr>
        <p:grpSpPr>
          <a:xfrm>
            <a:off x="5623034" y="1823186"/>
            <a:ext cx="2512966" cy="2081927"/>
            <a:chOff x="6146629" y="1565293"/>
            <a:chExt cx="2512966" cy="2081927"/>
          </a:xfrm>
        </p:grpSpPr>
        <p:pic>
          <p:nvPicPr>
            <p:cNvPr id="18" name="Picture 17" descr="A cartoon of a turtle&#10;&#10;Description automatically generated">
              <a:extLst>
                <a:ext uri="{FF2B5EF4-FFF2-40B4-BE49-F238E27FC236}">
                  <a16:creationId xmlns:a16="http://schemas.microsoft.com/office/drawing/2014/main" id="{2379B490-4023-789A-1B98-2BB48BD05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9384" y="1565293"/>
              <a:ext cx="1479393" cy="147939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D5FAE06-91DD-C7B7-2D27-531421F23BB6}"/>
                </a:ext>
              </a:extLst>
            </p:cNvPr>
            <p:cNvSpPr txBox="1"/>
            <p:nvPr/>
          </p:nvSpPr>
          <p:spPr>
            <a:xfrm>
              <a:off x="6146629" y="2816223"/>
              <a:ext cx="25129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RTL SW simulator</a:t>
              </a:r>
              <a:br>
                <a:rPr lang="en-US" sz="2400" dirty="0"/>
              </a:br>
              <a:r>
                <a:rPr lang="en-US" sz="2400" dirty="0"/>
                <a:t>(~1000 cy/s)</a:t>
              </a:r>
              <a:endParaRPr lang="en-IL" sz="2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8D09163-F299-951F-C9AC-C734E48FE3BA}"/>
              </a:ext>
            </a:extLst>
          </p:cNvPr>
          <p:cNvGrpSpPr/>
          <p:nvPr/>
        </p:nvGrpSpPr>
        <p:grpSpPr>
          <a:xfrm>
            <a:off x="5522045" y="4000748"/>
            <a:ext cx="2851166" cy="2696258"/>
            <a:chOff x="5522045" y="4000748"/>
            <a:chExt cx="2851166" cy="2696258"/>
          </a:xfrm>
        </p:grpSpPr>
        <p:pic>
          <p:nvPicPr>
            <p:cNvPr id="6" name="Picture 5" descr="A machine with pipes and a screen&#10;&#10;Description automatically generated">
              <a:extLst>
                <a:ext uri="{FF2B5EF4-FFF2-40B4-BE49-F238E27FC236}">
                  <a16:creationId xmlns:a16="http://schemas.microsoft.com/office/drawing/2014/main" id="{319BB541-285A-69E8-079E-C20B4E28A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0122" y="4000748"/>
              <a:ext cx="1990725" cy="199072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48A276-CD65-A584-2FB6-A5C1124341D5}"/>
                </a:ext>
              </a:extLst>
            </p:cNvPr>
            <p:cNvSpPr txBox="1"/>
            <p:nvPr/>
          </p:nvSpPr>
          <p:spPr>
            <a:xfrm>
              <a:off x="5522045" y="5866009"/>
              <a:ext cx="285116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Emulator</a:t>
              </a:r>
              <a:br>
                <a:rPr lang="en-US" sz="2400" dirty="0"/>
              </a:br>
              <a:r>
                <a:rPr lang="en-US" sz="2400" dirty="0"/>
                <a:t>(limited, ~100k cy/s)</a:t>
              </a:r>
              <a:endParaRPr lang="en-IL" sz="2400" dirty="0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39099D-BB46-5213-97F1-46A75F4C1FCF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543425" y="3489615"/>
            <a:ext cx="1079609" cy="2088860"/>
          </a:xfrm>
          <a:prstGeom prst="straightConnector1">
            <a:avLst/>
          </a:prstGeom>
          <a:ln w="38100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D2F314-D133-0F20-3559-DEE00B94674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569495" y="4996111"/>
            <a:ext cx="1310627" cy="582364"/>
          </a:xfrm>
          <a:prstGeom prst="straightConnector1">
            <a:avLst/>
          </a:prstGeom>
          <a:ln w="38100"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7B70DE-D64A-1DF6-35EA-E1295E29914D}"/>
              </a:ext>
            </a:extLst>
          </p:cNvPr>
          <p:cNvGrpSpPr/>
          <p:nvPr/>
        </p:nvGrpSpPr>
        <p:grpSpPr>
          <a:xfrm>
            <a:off x="10201275" y="2685503"/>
            <a:ext cx="1990725" cy="2308965"/>
            <a:chOff x="10087329" y="2710867"/>
            <a:chExt cx="1990725" cy="2308965"/>
          </a:xfrm>
        </p:grpSpPr>
        <p:pic>
          <p:nvPicPr>
            <p:cNvPr id="26" name="Picture 25" descr="A black box with wires coming out of it&#10;&#10;Description automatically generated">
              <a:extLst>
                <a:ext uri="{FF2B5EF4-FFF2-40B4-BE49-F238E27FC236}">
                  <a16:creationId xmlns:a16="http://schemas.microsoft.com/office/drawing/2014/main" id="{A0F20019-ACF1-2F70-EEDF-635BA3C31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87329" y="2710867"/>
              <a:ext cx="1990725" cy="199072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DB86A6-564F-AA04-BF59-07B405C09F28}"/>
                </a:ext>
              </a:extLst>
            </p:cNvPr>
            <p:cNvSpPr txBox="1"/>
            <p:nvPr/>
          </p:nvSpPr>
          <p:spPr>
            <a:xfrm>
              <a:off x="10211021" y="4188835"/>
              <a:ext cx="16591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External IP</a:t>
              </a:r>
              <a:br>
                <a:rPr lang="en-US" sz="2400" dirty="0"/>
              </a:br>
              <a:r>
                <a:rPr lang="en-US" sz="2400" dirty="0"/>
                <a:t>(gate-level)</a:t>
              </a:r>
              <a:endParaRPr lang="en-IL" sz="2400" dirty="0"/>
            </a:p>
          </p:txBody>
        </p:sp>
      </p:grpSp>
      <p:sp>
        <p:nvSpPr>
          <p:cNvPr id="32" name="Arrow: Down 31">
            <a:extLst>
              <a:ext uri="{FF2B5EF4-FFF2-40B4-BE49-F238E27FC236}">
                <a16:creationId xmlns:a16="http://schemas.microsoft.com/office/drawing/2014/main" id="{7612BD68-A2B7-BDD2-078A-5F3BD9D6C8D6}"/>
              </a:ext>
            </a:extLst>
          </p:cNvPr>
          <p:cNvSpPr/>
          <p:nvPr/>
        </p:nvSpPr>
        <p:spPr>
          <a:xfrm>
            <a:off x="1264481" y="3046202"/>
            <a:ext cx="280539" cy="38301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F39E22A9-031F-5ED3-CFD7-6BF0C27698AB}"/>
              </a:ext>
            </a:extLst>
          </p:cNvPr>
          <p:cNvSpPr/>
          <p:nvPr/>
        </p:nvSpPr>
        <p:spPr>
          <a:xfrm rot="3693698">
            <a:off x="9695775" y="4596540"/>
            <a:ext cx="276274" cy="49434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AED38F-DFA0-BC7C-A54E-19AD084EF764}"/>
              </a:ext>
            </a:extLst>
          </p:cNvPr>
          <p:cNvGrpSpPr/>
          <p:nvPr/>
        </p:nvGrpSpPr>
        <p:grpSpPr>
          <a:xfrm>
            <a:off x="8008976" y="2412000"/>
            <a:ext cx="1451295" cy="1213744"/>
            <a:chOff x="7914386" y="2412000"/>
            <a:chExt cx="1451295" cy="1213744"/>
          </a:xfrm>
        </p:grpSpPr>
        <p:pic>
          <p:nvPicPr>
            <p:cNvPr id="31" name="Picture 30" descr="A black box with wires&#10;&#10;Description automatically generated">
              <a:extLst>
                <a:ext uri="{FF2B5EF4-FFF2-40B4-BE49-F238E27FC236}">
                  <a16:creationId xmlns:a16="http://schemas.microsoft.com/office/drawing/2014/main" id="{CDBB99A3-6782-19AA-3E71-4ED00A5F2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0" t="28442" r="-360" b="21562"/>
            <a:stretch/>
          </p:blipFill>
          <p:spPr>
            <a:xfrm>
              <a:off x="7956000" y="2412000"/>
              <a:ext cx="1368067" cy="6840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3A94614-59CB-1571-8A21-952C3A754DF1}"/>
                </a:ext>
              </a:extLst>
            </p:cNvPr>
            <p:cNvSpPr txBox="1"/>
            <p:nvPr/>
          </p:nvSpPr>
          <p:spPr>
            <a:xfrm>
              <a:off x="7914386" y="2979413"/>
              <a:ext cx="14512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IP model </a:t>
              </a:r>
              <a:br>
                <a:rPr lang="en-US" dirty="0"/>
              </a:br>
              <a:r>
                <a:rPr lang="en-US" dirty="0"/>
                <a:t>for simulator</a:t>
              </a:r>
              <a:endParaRPr lang="en-IL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166966C-469C-AF48-5174-F6607D5D438C}"/>
              </a:ext>
            </a:extLst>
          </p:cNvPr>
          <p:cNvGrpSpPr/>
          <p:nvPr/>
        </p:nvGrpSpPr>
        <p:grpSpPr>
          <a:xfrm>
            <a:off x="7908912" y="4676228"/>
            <a:ext cx="1406411" cy="1448760"/>
            <a:chOff x="7900797" y="4860000"/>
            <a:chExt cx="1406411" cy="1448760"/>
          </a:xfrm>
        </p:grpSpPr>
        <p:pic>
          <p:nvPicPr>
            <p:cNvPr id="35" name="Picture 34" descr="A cartoon of a black box with brown wires&#10;&#10;Description automatically generated">
              <a:extLst>
                <a:ext uri="{FF2B5EF4-FFF2-40B4-BE49-F238E27FC236}">
                  <a16:creationId xmlns:a16="http://schemas.microsoft.com/office/drawing/2014/main" id="{E69172D2-3676-1FC4-587C-D4446639E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9" t="6115" r="13420" b="8113"/>
            <a:stretch/>
          </p:blipFill>
          <p:spPr>
            <a:xfrm rot="16200000">
              <a:off x="8190000" y="4806000"/>
              <a:ext cx="828000" cy="9360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D47C956-FF3C-EFF8-13E1-2AF984E934D4}"/>
                </a:ext>
              </a:extLst>
            </p:cNvPr>
            <p:cNvSpPr txBox="1"/>
            <p:nvPr/>
          </p:nvSpPr>
          <p:spPr>
            <a:xfrm>
              <a:off x="7900797" y="5662429"/>
              <a:ext cx="14064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IP model</a:t>
              </a:r>
              <a:br>
                <a:rPr lang="en-US" dirty="0"/>
              </a:br>
              <a:r>
                <a:rPr lang="en-US" dirty="0"/>
                <a:t>for emulator</a:t>
              </a:r>
              <a:endParaRPr lang="en-IL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551CD5-8B26-6C84-6FE6-44A19FEA7654}"/>
              </a:ext>
            </a:extLst>
          </p:cNvPr>
          <p:cNvGrpSpPr/>
          <p:nvPr/>
        </p:nvGrpSpPr>
        <p:grpSpPr>
          <a:xfrm>
            <a:off x="2868650" y="3545615"/>
            <a:ext cx="1774845" cy="2068639"/>
            <a:chOff x="76574" y="3789079"/>
            <a:chExt cx="1774845" cy="2068639"/>
          </a:xfrm>
        </p:grpSpPr>
        <p:pic>
          <p:nvPicPr>
            <p:cNvPr id="45" name="Graphic 44" descr="Programmer male with solid fill">
              <a:extLst>
                <a:ext uri="{FF2B5EF4-FFF2-40B4-BE49-F238E27FC236}">
                  <a16:creationId xmlns:a16="http://schemas.microsoft.com/office/drawing/2014/main" id="{88D89CCF-F9F4-1FAC-531D-ACBB96F953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45302" y="3789079"/>
              <a:ext cx="914400" cy="9144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B580CC7-1F22-5129-C486-9C0CA7D26561}"/>
                </a:ext>
              </a:extLst>
            </p:cNvPr>
            <p:cNvSpPr txBox="1"/>
            <p:nvPr/>
          </p:nvSpPr>
          <p:spPr>
            <a:xfrm>
              <a:off x="76574" y="4657389"/>
              <a:ext cx="177484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SW writes </a:t>
              </a:r>
              <a:br>
                <a:rPr lang="en-US" sz="2400" dirty="0"/>
              </a:br>
              <a:r>
                <a:rPr lang="en-US" sz="2400" dirty="0" err="1"/>
                <a:t>func+timing</a:t>
              </a:r>
              <a:br>
                <a:rPr lang="en-US" sz="2400" dirty="0"/>
              </a:br>
              <a:r>
                <a:rPr lang="en-US" sz="2400" dirty="0"/>
                <a:t> simulators</a:t>
              </a:r>
              <a:endParaRPr lang="en-IL" sz="2400" dirty="0"/>
            </a:p>
          </p:txBody>
        </p:sp>
      </p:grpSp>
      <p:sp>
        <p:nvSpPr>
          <p:cNvPr id="47" name="Arrow: Down 46">
            <a:extLst>
              <a:ext uri="{FF2B5EF4-FFF2-40B4-BE49-F238E27FC236}">
                <a16:creationId xmlns:a16="http://schemas.microsoft.com/office/drawing/2014/main" id="{90860C19-B79C-1899-9D20-EDBB22DA20B7}"/>
              </a:ext>
            </a:extLst>
          </p:cNvPr>
          <p:cNvSpPr/>
          <p:nvPr/>
        </p:nvSpPr>
        <p:spPr>
          <a:xfrm rot="6182057">
            <a:off x="9804395" y="3123072"/>
            <a:ext cx="276274" cy="49434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1F8FE6CA-19FE-1D0E-4623-7BF378BFE0C2}"/>
              </a:ext>
            </a:extLst>
          </p:cNvPr>
          <p:cNvSpPr/>
          <p:nvPr/>
        </p:nvSpPr>
        <p:spPr>
          <a:xfrm rot="18269990">
            <a:off x="2555068" y="2894571"/>
            <a:ext cx="274767" cy="847490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5011E130-36AF-6ADD-4334-808507E00029}"/>
              </a:ext>
            </a:extLst>
          </p:cNvPr>
          <p:cNvSpPr/>
          <p:nvPr/>
        </p:nvSpPr>
        <p:spPr>
          <a:xfrm>
            <a:off x="1256818" y="5244005"/>
            <a:ext cx="280539" cy="38301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3" name="Graphic 12" descr="Bug with solid fill">
            <a:extLst>
              <a:ext uri="{FF2B5EF4-FFF2-40B4-BE49-F238E27FC236}">
                <a16:creationId xmlns:a16="http://schemas.microsoft.com/office/drawing/2014/main" id="{6679F8DF-11CC-A8B1-23EF-CCA0E1E1339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4028">
            <a:off x="947550" y="2758762"/>
            <a:ext cx="914400" cy="914400"/>
          </a:xfrm>
          <a:prstGeom prst="rect">
            <a:avLst/>
          </a:prstGeom>
        </p:spPr>
      </p:pic>
      <p:pic>
        <p:nvPicPr>
          <p:cNvPr id="22" name="Graphic 21" descr="Bug with solid fill">
            <a:extLst>
              <a:ext uri="{FF2B5EF4-FFF2-40B4-BE49-F238E27FC236}">
                <a16:creationId xmlns:a16="http://schemas.microsoft.com/office/drawing/2014/main" id="{C82F1D10-DDD7-A420-76F3-41DED66F9ED7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4028">
            <a:off x="2346216" y="2897618"/>
            <a:ext cx="914400" cy="914400"/>
          </a:xfrm>
          <a:prstGeom prst="rect">
            <a:avLst/>
          </a:prstGeom>
        </p:spPr>
      </p:pic>
      <p:pic>
        <p:nvPicPr>
          <p:cNvPr id="23" name="Graphic 22" descr="Bug with solid fill">
            <a:extLst>
              <a:ext uri="{FF2B5EF4-FFF2-40B4-BE49-F238E27FC236}">
                <a16:creationId xmlns:a16="http://schemas.microsoft.com/office/drawing/2014/main" id="{205827D0-2A3E-F393-300C-E9E5C2B5B8AD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4028">
            <a:off x="1002807" y="4899078"/>
            <a:ext cx="914400" cy="914400"/>
          </a:xfrm>
          <a:prstGeom prst="rect">
            <a:avLst/>
          </a:prstGeom>
        </p:spPr>
      </p:pic>
      <p:pic>
        <p:nvPicPr>
          <p:cNvPr id="24" name="Graphic 23" descr="Bug with solid fill">
            <a:extLst>
              <a:ext uri="{FF2B5EF4-FFF2-40B4-BE49-F238E27FC236}">
                <a16:creationId xmlns:a16="http://schemas.microsoft.com/office/drawing/2014/main" id="{B8B33590-8427-FA09-4887-15F84339E5D3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4028">
            <a:off x="9469383" y="2845377"/>
            <a:ext cx="914400" cy="914400"/>
          </a:xfrm>
          <a:prstGeom prst="rect">
            <a:avLst/>
          </a:prstGeom>
        </p:spPr>
      </p:pic>
      <p:pic>
        <p:nvPicPr>
          <p:cNvPr id="25" name="Graphic 24" descr="Bug with solid fill">
            <a:extLst>
              <a:ext uri="{FF2B5EF4-FFF2-40B4-BE49-F238E27FC236}">
                <a16:creationId xmlns:a16="http://schemas.microsoft.com/office/drawing/2014/main" id="{2D739DA4-29CD-F36C-BEFC-DB4272A2F6AA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4028">
            <a:off x="9407456" y="4352200"/>
            <a:ext cx="914400" cy="914400"/>
          </a:xfrm>
          <a:prstGeom prst="rect">
            <a:avLst/>
          </a:prstGeom>
        </p:spPr>
      </p:pic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3C9D8A3A-10DD-DF4E-D8AA-60BBCA3A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F9E5CE60-BFD5-FBCF-7E46-401ADEC9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3877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10B4-A366-6C9A-5A7B-E19BBEDF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Some inalienable truths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5EB9-5C1E-69DC-8129-5DF172A4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RTFM</a:t>
            </a:r>
          </a:p>
          <a:p>
            <a:pPr marL="0" indent="0" algn="ctr">
              <a:buNone/>
            </a:pPr>
            <a:endParaRPr lang="en-US" sz="4000" dirty="0"/>
          </a:p>
          <a:p>
            <a:pPr marL="0" indent="0" algn="ctr">
              <a:buNone/>
            </a:pPr>
            <a:r>
              <a:rPr lang="en-US" sz="4000" b="1" dirty="0"/>
              <a:t>PEBKAC</a:t>
            </a:r>
          </a:p>
          <a:p>
            <a:pPr marL="0" indent="0" algn="ctr">
              <a:buNone/>
            </a:pPr>
            <a:r>
              <a:rPr lang="en-US" sz="4000" b="1" dirty="0"/>
              <a:t>P</a:t>
            </a:r>
            <a:r>
              <a:rPr lang="en-US" sz="4000" dirty="0"/>
              <a:t>roblem </a:t>
            </a:r>
            <a:r>
              <a:rPr lang="en-US" sz="4000" b="1" dirty="0"/>
              <a:t>E</a:t>
            </a:r>
            <a:r>
              <a:rPr lang="en-US" sz="4000" dirty="0"/>
              <a:t>xists </a:t>
            </a:r>
            <a:r>
              <a:rPr lang="en-US" sz="4000" b="1" dirty="0"/>
              <a:t>B</a:t>
            </a:r>
            <a:r>
              <a:rPr lang="en-US" sz="4000" dirty="0"/>
              <a:t>etween </a:t>
            </a:r>
            <a:r>
              <a:rPr lang="en-US" sz="4000" b="1" dirty="0"/>
              <a:t>K</a:t>
            </a:r>
            <a:r>
              <a:rPr lang="en-US" sz="4000" dirty="0"/>
              <a:t>eyboard </a:t>
            </a:r>
            <a:r>
              <a:rPr lang="en-US" sz="4000" b="1" dirty="0"/>
              <a:t>A</a:t>
            </a:r>
            <a:r>
              <a:rPr lang="en-US" sz="4000" dirty="0"/>
              <a:t>nd </a:t>
            </a:r>
            <a:r>
              <a:rPr lang="en-US" sz="4000" b="1" dirty="0"/>
              <a:t>C</a:t>
            </a:r>
            <a:r>
              <a:rPr lang="en-US" sz="4000" dirty="0"/>
              <a:t>hair</a:t>
            </a:r>
            <a:endParaRPr lang="en-IL" sz="4000" dirty="0"/>
          </a:p>
        </p:txBody>
      </p:sp>
      <p:pic>
        <p:nvPicPr>
          <p:cNvPr id="2050" name="Picture 2" descr="What Exactly Does a Programmer Do ...">
            <a:extLst>
              <a:ext uri="{FF2B5EF4-FFF2-40B4-BE49-F238E27FC236}">
                <a16:creationId xmlns:a16="http://schemas.microsoft.com/office/drawing/2014/main" id="{A8BAF074-21F3-322E-4868-0B61D48D2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54" y="5178242"/>
            <a:ext cx="2116292" cy="140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63D71C9-9574-14FC-EA2E-644AF65B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330B5-93D5-6605-0B91-8D47E34E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0760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EEA8-AED7-A7AC-F852-9C9D9D5F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broken VLSI tool flow: Humans…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403B9-2337-4FBB-0F60-3F64E959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86031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Architecture documents have bugs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Designs are manually coded and are therefore buggy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Simulators are manually coded and are therefore buggy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2400"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2400" dirty="0"/>
              <a:t>IP models are manually coded from IP spec. and are buggy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We found bugs in functionality, timing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RTL simulator/emulator too slow for complex test case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SW simulators are decoupled from RTL implementation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Limited use for functional/performance verification</a:t>
            </a:r>
          </a:p>
          <a:p>
            <a:pPr>
              <a:lnSpc>
                <a:spcPct val="11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IL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3408EF-390E-A15A-7D06-1625C430CB58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0"/>
            <a:chOff x="8030183" y="896613"/>
            <a:chExt cx="3339689" cy="55480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9BFEDA-4EFB-DBBF-EB34-A711135E6EF2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BEF81B-869C-CD98-B465-7A4E8009A623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42827E8-EAF5-ED1C-DA0B-572CC6396512}"/>
                </a:ext>
              </a:extLst>
            </p:cNvPr>
            <p:cNvCxnSpPr>
              <a:cxnSpLocks/>
              <a:stCxn id="6" idx="0"/>
              <a:endCxn id="5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94839-CBDB-870C-2B20-2B9D081A28B5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4ABCB67-293D-87B7-FA3E-801A223740DA}"/>
                </a:ext>
              </a:extLst>
            </p:cNvPr>
            <p:cNvCxnSpPr>
              <a:cxnSpLocks/>
              <a:stCxn id="8" idx="0"/>
              <a:endCxn id="6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9B8403-D94A-6384-32F6-B93667AB7A95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9F45E64-AF77-A0BF-32E1-76C20D0796C5}"/>
                </a:ext>
              </a:extLst>
            </p:cNvPr>
            <p:cNvCxnSpPr>
              <a:cxnSpLocks/>
              <a:stCxn id="10" idx="0"/>
              <a:endCxn id="8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phic 11" descr="Crown outline">
              <a:extLst>
                <a:ext uri="{FF2B5EF4-FFF2-40B4-BE49-F238E27FC236}">
                  <a16:creationId xmlns:a16="http://schemas.microsoft.com/office/drawing/2014/main" id="{78900D71-1274-F4D4-21F5-D4B35E3214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1F8CCE-141D-ABA3-C6DC-B0FA4BE50E91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4CA2FA-CEEC-24D4-C8C6-415B65D1FDB8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FD239D3-0B35-F626-8809-A377501F49BC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F44E8A1-A5F3-F5C6-2D2E-6C584DC6E046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1F3AD03-1EA2-AEBD-3AE0-C5CEAB70F7AD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C4B23FE-9B11-91B8-FF21-BD9EF4236760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8E9600C2-77F8-735C-EB0D-E95349FC5C35}"/>
                </a:ext>
              </a:extLst>
            </p:cNvPr>
            <p:cNvSpPr/>
            <p:nvPr/>
          </p:nvSpPr>
          <p:spPr>
            <a:xfrm>
              <a:off x="8030183" y="4384655"/>
              <a:ext cx="625126" cy="6377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5D43B47C-14C1-BC46-FE3B-D73C48E0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5387A97-2B46-176B-55D5-2E682DD0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8456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821C-BF60-0E83-7088-8112E689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5AE4-20E2-A67C-7DD9-204248BB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broken VLSI tool flow: RTL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29C81-0CD9-2317-D84E-6C15054B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49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register transfer language (RTL) abstraction </a:t>
            </a:r>
            <a:br>
              <a:rPr lang="en-US" dirty="0"/>
            </a:br>
            <a:r>
              <a:rPr lang="en-US" dirty="0"/>
              <a:t>is too low level</a:t>
            </a:r>
          </a:p>
          <a:p>
            <a:pPr lvl="1"/>
            <a:r>
              <a:rPr lang="en-US" dirty="0"/>
              <a:t>Forces designers to focus on mapping functionality to </a:t>
            </a:r>
            <a:br>
              <a:rPr lang="en-US" dirty="0"/>
            </a:br>
            <a:r>
              <a:rPr lang="en-US" dirty="0"/>
              <a:t>registers and wires, not getting the functionality right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&gt;80% of code is just connecting wires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Verilog, </a:t>
            </a:r>
            <a:r>
              <a:rPr lang="en-US" sz="2400" dirty="0" err="1"/>
              <a:t>SystemVerilog</a:t>
            </a:r>
            <a:r>
              <a:rPr lang="en-US" sz="2400" dirty="0"/>
              <a:t>, </a:t>
            </a:r>
            <a:r>
              <a:rPr lang="en-US" sz="2400" dirty="0" err="1"/>
              <a:t>Chiesel</a:t>
            </a:r>
            <a:r>
              <a:rPr lang="en-US" sz="2400" dirty="0"/>
              <a:t>, </a:t>
            </a:r>
            <a:r>
              <a:rPr lang="en-US" sz="2400" dirty="0" err="1"/>
              <a:t>PyRTL</a:t>
            </a:r>
            <a:r>
              <a:rPr lang="en-US" sz="2400" dirty="0"/>
              <a:t>, …</a:t>
            </a:r>
          </a:p>
          <a:p>
            <a:endParaRPr lang="en-US" dirty="0"/>
          </a:p>
          <a:p>
            <a:r>
              <a:rPr lang="en-US" dirty="0"/>
              <a:t>Akin to writing MS Office in assembly language</a:t>
            </a:r>
          </a:p>
          <a:p>
            <a:r>
              <a:rPr lang="en-US" dirty="0"/>
              <a:t>New High-level synthesis languages are no match either 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Use incompatible SW constructs (e.g., arrays, loops) so </a:t>
            </a:r>
            <a:br>
              <a:rPr lang="en-US" sz="2400" dirty="0"/>
            </a:br>
            <a:r>
              <a:rPr lang="en-US" sz="2400" dirty="0"/>
              <a:t>abstractions are not consistent across transformations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E.g., Xilinx/AMD </a:t>
            </a:r>
            <a:r>
              <a:rPr lang="en-US" sz="2400" dirty="0" err="1"/>
              <a:t>Vivado</a:t>
            </a:r>
            <a:r>
              <a:rPr lang="en-US" sz="2400" dirty="0"/>
              <a:t>, Cadence Stratus, Synopsys Symphony</a:t>
            </a:r>
          </a:p>
          <a:p>
            <a:pPr marL="685800" lvl="2">
              <a:spcBef>
                <a:spcPts val="1000"/>
              </a:spcBef>
            </a:pPr>
            <a:endParaRPr lang="en-US" sz="2400" dirty="0"/>
          </a:p>
          <a:p>
            <a:pPr marL="228600" lvl="1">
              <a:spcBef>
                <a:spcPts val="1000"/>
              </a:spcBef>
            </a:pPr>
            <a:r>
              <a:rPr lang="en-US" sz="2800" b="1" dirty="0"/>
              <a:t>End result: Existing VLSI tool flow restricts HW complexity</a:t>
            </a:r>
            <a:endParaRPr lang="en-IL" sz="2800" b="1" dirty="0"/>
          </a:p>
          <a:p>
            <a:pPr marL="228600" lvl="1">
              <a:spcBef>
                <a:spcPts val="1000"/>
              </a:spcBef>
            </a:pPr>
            <a:endParaRPr lang="en-US" sz="2800" dirty="0"/>
          </a:p>
          <a:p>
            <a:pPr marL="0" indent="0">
              <a:buNone/>
            </a:pPr>
            <a:endParaRPr lang="en-IL" sz="4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6A719C-8874-7B2C-4890-06818FD9D6C1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0"/>
            <a:chOff x="8030183" y="896613"/>
            <a:chExt cx="3339689" cy="55480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5142E7-9BF5-C00E-CF3C-16DC1134D267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C78F30-250C-FFA9-7F4D-C2CFDFFE6FD9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FDEF61B-398C-4865-2056-0789409D5E28}"/>
                </a:ext>
              </a:extLst>
            </p:cNvPr>
            <p:cNvCxnSpPr>
              <a:cxnSpLocks/>
              <a:stCxn id="6" idx="0"/>
              <a:endCxn id="5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A1147-9F70-CBD7-88A5-B0338525940D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5BAE2C9-5436-A56A-EEF6-12DB5D6DA07C}"/>
                </a:ext>
              </a:extLst>
            </p:cNvPr>
            <p:cNvCxnSpPr>
              <a:cxnSpLocks/>
              <a:stCxn id="8" idx="0"/>
              <a:endCxn id="6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0E784F-4B84-1702-DF2F-5FAFAE17EF4A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DE3CE27-4E91-5C67-DBE7-C934C69EAECF}"/>
                </a:ext>
              </a:extLst>
            </p:cNvPr>
            <p:cNvCxnSpPr>
              <a:cxnSpLocks/>
              <a:stCxn id="10" idx="0"/>
              <a:endCxn id="8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Graphic 11" descr="Crown outline">
              <a:extLst>
                <a:ext uri="{FF2B5EF4-FFF2-40B4-BE49-F238E27FC236}">
                  <a16:creationId xmlns:a16="http://schemas.microsoft.com/office/drawing/2014/main" id="{168D3FE6-2DA9-AED3-FA67-764F70D9F0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4935FD-D4D1-E6B6-4AC8-66534E58D381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856C50-4929-2B52-323A-BE8C2531CCBE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B62E39-F296-CB35-06A4-91023A0353C5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6D6FDCA-FA2B-A36F-F4E1-27935B368D76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266FADF-DB3F-3A7A-CEEA-621BE9338A32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FF237DC-1ED3-D376-165D-AEC267E06D60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E3493BE2-51FD-C86E-3E81-10DFA53112F9}"/>
                </a:ext>
              </a:extLst>
            </p:cNvPr>
            <p:cNvSpPr/>
            <p:nvPr/>
          </p:nvSpPr>
          <p:spPr>
            <a:xfrm>
              <a:off x="8030183" y="4384655"/>
              <a:ext cx="625126" cy="6377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81EB897-210B-3E45-9E3E-3673CD00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CD29DC6-5D9B-0266-2917-9FD02E22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5958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A2CD-DF6C-E82B-1386-2D10C5A3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4713-7DC0-39F6-8773-95FA7D82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in-/near-storage: </a:t>
            </a:r>
            <a:br>
              <a:rPr lang="en-US" dirty="0"/>
            </a:br>
            <a:r>
              <a:rPr lang="en-US" dirty="0"/>
              <a:t>When the solution to the gap is unclear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FFE0E-11DE-572D-DD3F-245EA28EB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443818" cy="4351338"/>
          </a:xfrm>
        </p:spPr>
        <p:txBody>
          <a:bodyPr/>
          <a:lstStyle/>
          <a:p>
            <a:r>
              <a:rPr lang="en-US" dirty="0"/>
              <a:t>Axiom 1: Most of the data resides in storage</a:t>
            </a:r>
          </a:p>
          <a:p>
            <a:r>
              <a:rPr lang="en-US" dirty="0"/>
              <a:t>Axiom 2: Moving data to the processor is expensive</a:t>
            </a:r>
          </a:p>
          <a:p>
            <a:endParaRPr lang="en-US" dirty="0"/>
          </a:p>
          <a:p>
            <a:r>
              <a:rPr lang="en-US" dirty="0"/>
              <a:t>Obvious solution:</a:t>
            </a:r>
            <a:br>
              <a:rPr lang="en-US" dirty="0"/>
            </a:br>
            <a:r>
              <a:rPr lang="en-US" dirty="0"/>
              <a:t>Let’s move the computation inside or near storage</a:t>
            </a:r>
          </a:p>
          <a:p>
            <a:endParaRPr lang="en-US" dirty="0"/>
          </a:p>
          <a:p>
            <a:r>
              <a:rPr lang="en-US" dirty="0"/>
              <a:t>But it turns out to be not so obvious</a:t>
            </a: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C02569-FFE8-658C-19C2-F40066E5BCD4}"/>
              </a:ext>
            </a:extLst>
          </p:cNvPr>
          <p:cNvGrpSpPr>
            <a:grpSpLocks noChangeAspect="1"/>
          </p:cNvGrpSpPr>
          <p:nvPr/>
        </p:nvGrpSpPr>
        <p:grpSpPr>
          <a:xfrm>
            <a:off x="9448800" y="896613"/>
            <a:ext cx="1921072" cy="3191381"/>
            <a:chOff x="8030183" y="896613"/>
            <a:chExt cx="3339689" cy="55480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E0E5F2-7A37-A0AB-86F0-5857A1E59D1C}"/>
                </a:ext>
              </a:extLst>
            </p:cNvPr>
            <p:cNvSpPr/>
            <p:nvPr/>
          </p:nvSpPr>
          <p:spPr>
            <a:xfrm>
              <a:off x="8610600" y="14883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Problem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B323ED-B2DB-6A55-D7C0-C6138EC21B6E}"/>
                </a:ext>
              </a:extLst>
            </p:cNvPr>
            <p:cNvSpPr/>
            <p:nvPr/>
          </p:nvSpPr>
          <p:spPr>
            <a:xfrm>
              <a:off x="8610600" y="224383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Algorithm</a:t>
              </a:r>
              <a:endParaRPr lang="en-IL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03FD497-6B75-894B-9259-96FACC6697F0}"/>
                </a:ext>
              </a:extLst>
            </p:cNvPr>
            <p:cNvCxnSpPr>
              <a:cxnSpLocks/>
              <a:stCxn id="7" idx="0"/>
              <a:endCxn id="6" idx="2"/>
            </p:cNvCxnSpPr>
            <p:nvPr/>
          </p:nvCxnSpPr>
          <p:spPr>
            <a:xfrm flipV="1">
              <a:off x="9762517" y="1935799"/>
              <a:ext cx="0" cy="30803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831549-4B8D-4FE7-EC24-E436093B2E5C}"/>
                </a:ext>
              </a:extLst>
            </p:cNvPr>
            <p:cNvSpPr/>
            <p:nvPr/>
          </p:nvSpPr>
          <p:spPr>
            <a:xfrm>
              <a:off x="8608838" y="2994510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Software</a:t>
              </a:r>
              <a:endParaRPr lang="en-IL" sz="1200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436A5F2-41CA-0A8B-5C31-C0F962239E06}"/>
                </a:ext>
              </a:extLst>
            </p:cNvPr>
            <p:cNvCxnSpPr>
              <a:cxnSpLocks/>
              <a:stCxn id="13" idx="0"/>
              <a:endCxn id="7" idx="2"/>
            </p:cNvCxnSpPr>
            <p:nvPr/>
          </p:nvCxnSpPr>
          <p:spPr>
            <a:xfrm flipV="1">
              <a:off x="9760755" y="2691311"/>
              <a:ext cx="1762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F12F93-FD07-05DF-7162-C0F94CFADB69}"/>
                </a:ext>
              </a:extLst>
            </p:cNvPr>
            <p:cNvSpPr/>
            <p:nvPr/>
          </p:nvSpPr>
          <p:spPr>
            <a:xfrm>
              <a:off x="8608838" y="3745182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Hardware/Arch.</a:t>
              </a:r>
              <a:endParaRPr lang="en-IL" sz="1200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85E0E6A-65C4-E222-1054-4ACCB8F89250}"/>
                </a:ext>
              </a:extLst>
            </p:cNvPr>
            <p:cNvCxnSpPr>
              <a:cxnSpLocks/>
              <a:stCxn id="17" idx="0"/>
              <a:endCxn id="13" idx="2"/>
            </p:cNvCxnSpPr>
            <p:nvPr/>
          </p:nvCxnSpPr>
          <p:spPr>
            <a:xfrm flipV="1">
              <a:off x="9760755" y="3441983"/>
              <a:ext cx="0" cy="3031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Graphic 21" descr="Crown outline">
              <a:extLst>
                <a:ext uri="{FF2B5EF4-FFF2-40B4-BE49-F238E27FC236}">
                  <a16:creationId xmlns:a16="http://schemas.microsoft.com/office/drawing/2014/main" id="{F505EB86-D229-86D5-A7F5-800394438F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98997">
              <a:off x="10455472" y="896613"/>
              <a:ext cx="914400" cy="9144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C8E963-6DDA-0820-0981-414829C629BE}"/>
                </a:ext>
              </a:extLst>
            </p:cNvPr>
            <p:cNvSpPr/>
            <p:nvPr/>
          </p:nvSpPr>
          <p:spPr>
            <a:xfrm>
              <a:off x="8608838" y="4495854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VLSI flow</a:t>
              </a:r>
              <a:endParaRPr lang="en-IL" sz="12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4A26210-E081-4E2F-5B36-27ED3F10DBD7}"/>
                </a:ext>
              </a:extLst>
            </p:cNvPr>
            <p:cNvSpPr/>
            <p:nvPr/>
          </p:nvSpPr>
          <p:spPr>
            <a:xfrm>
              <a:off x="8608838" y="5246526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Devices</a:t>
              </a:r>
              <a:endParaRPr lang="en-IL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9E1B792-4CB2-394D-87D4-55F3E5F3ED2B}"/>
                </a:ext>
              </a:extLst>
            </p:cNvPr>
            <p:cNvSpPr/>
            <p:nvPr/>
          </p:nvSpPr>
          <p:spPr>
            <a:xfrm>
              <a:off x="8610803" y="5997198"/>
              <a:ext cx="2303834" cy="4474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Physics</a:t>
              </a:r>
              <a:endParaRPr lang="en-IL" sz="1200" dirty="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809AF4-1719-ED70-2434-C1C300B8D007}"/>
                </a:ext>
              </a:extLst>
            </p:cNvPr>
            <p:cNvCxnSpPr>
              <a:cxnSpLocks/>
              <a:stCxn id="17" idx="2"/>
              <a:endCxn id="26" idx="0"/>
            </p:cNvCxnSpPr>
            <p:nvPr/>
          </p:nvCxnSpPr>
          <p:spPr>
            <a:xfrm>
              <a:off x="9760755" y="4192655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DD34385-D0B9-0830-70DB-67BC6970B344}"/>
                </a:ext>
              </a:extLst>
            </p:cNvPr>
            <p:cNvCxnSpPr>
              <a:cxnSpLocks/>
              <a:stCxn id="26" idx="2"/>
              <a:endCxn id="27" idx="0"/>
            </p:cNvCxnSpPr>
            <p:nvPr/>
          </p:nvCxnSpPr>
          <p:spPr>
            <a:xfrm>
              <a:off x="9760755" y="4943327"/>
              <a:ext cx="0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3707D66-C136-9FED-909E-A698B8F32DB4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9760755" y="5693999"/>
              <a:ext cx="1965" cy="303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75EC8E55-3D6E-39C2-125A-9AF0777A455A}"/>
                </a:ext>
              </a:extLst>
            </p:cNvPr>
            <p:cNvSpPr/>
            <p:nvPr/>
          </p:nvSpPr>
          <p:spPr>
            <a:xfrm>
              <a:off x="8030183" y="2965199"/>
              <a:ext cx="625126" cy="2728801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 sz="1200"/>
            </a:p>
          </p:txBody>
        </p:sp>
      </p:grp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2267A0B-ABF3-15F8-F964-83438796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E9192C1-BDEA-AEA5-28AE-ABC5B295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9637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F6D40D-AE15-2B16-A532-F645534D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Is processing in/near storage going really feasible?</a:t>
            </a:r>
            <a:endParaRPr lang="en-IL" sz="400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078657A-427F-5A25-6336-1DCA06E2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365166" cy="480935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is aggressively compressed</a:t>
            </a:r>
          </a:p>
          <a:p>
            <a:pPr lvl="1"/>
            <a:r>
              <a:rPr lang="en-US" dirty="0"/>
              <a:t>DB tables: type-specific encoding + compression</a:t>
            </a:r>
          </a:p>
          <a:p>
            <a:pPr lvl="1"/>
            <a:r>
              <a:rPr lang="en-US" dirty="0"/>
              <a:t>Images: JPEG, PNG (LZ), …</a:t>
            </a:r>
          </a:p>
          <a:p>
            <a:pPr lvl="1"/>
            <a:r>
              <a:rPr lang="en-US" dirty="0"/>
              <a:t>Video: H265, …</a:t>
            </a:r>
          </a:p>
          <a:p>
            <a:pPr lvl="1"/>
            <a:endParaRPr lang="en-US" dirty="0"/>
          </a:p>
          <a:p>
            <a:r>
              <a:rPr lang="en-US" dirty="0"/>
              <a:t>Any processing must decompress data</a:t>
            </a:r>
            <a:br>
              <a:rPr lang="en-US" dirty="0"/>
            </a:br>
            <a:r>
              <a:rPr lang="en-US" dirty="0"/>
              <a:t>before processing, then compress again</a:t>
            </a:r>
          </a:p>
          <a:p>
            <a:pPr lvl="1"/>
            <a:r>
              <a:rPr lang="en-US" dirty="0"/>
              <a:t>At high bandwidth</a:t>
            </a:r>
          </a:p>
          <a:p>
            <a:endParaRPr lang="en-US" dirty="0"/>
          </a:p>
          <a:p>
            <a:r>
              <a:rPr lang="en-US" b="1" dirty="0"/>
              <a:t>In-storage</a:t>
            </a:r>
            <a:r>
              <a:rPr lang="en-US" dirty="0"/>
              <a:t>: (de)compress inside memory array?</a:t>
            </a:r>
          </a:p>
          <a:p>
            <a:r>
              <a:rPr lang="en-US" b="1" dirty="0"/>
              <a:t>Near storage</a:t>
            </a:r>
            <a:r>
              <a:rPr lang="en-US" dirty="0"/>
              <a:t>: must keep controller dirt-chip</a:t>
            </a:r>
          </a:p>
          <a:p>
            <a:r>
              <a:rPr lang="en-US" b="1" dirty="0"/>
              <a:t>In server: </a:t>
            </a:r>
            <a:r>
              <a:rPr lang="en-US" dirty="0"/>
              <a:t>OS operation (e.g., </a:t>
            </a:r>
            <a:r>
              <a:rPr lang="en-US" dirty="0" err="1"/>
              <a:t>dedup</a:t>
            </a:r>
            <a:r>
              <a:rPr lang="en-US" dirty="0"/>
              <a:t>), custom DBs</a:t>
            </a:r>
            <a:endParaRPr lang="en-IL" dirty="0"/>
          </a:p>
        </p:txBody>
      </p:sp>
      <p:pic>
        <p:nvPicPr>
          <p:cNvPr id="15" name="Content Placeholder 4" descr="A black rectangular object with a black rectangular object with a black rectangular object with a black rectangular object with a black rectangular object with a black rectangular object with a black rectangular object with a black rectangular object&#10;&#10;Description automatically generated">
            <a:extLst>
              <a:ext uri="{FF2B5EF4-FFF2-40B4-BE49-F238E27FC236}">
                <a16:creationId xmlns:a16="http://schemas.microsoft.com/office/drawing/2014/main" id="{D63DD1B2-7C93-97A9-D868-195B8496B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96" b="36902"/>
          <a:stretch/>
        </p:blipFill>
        <p:spPr>
          <a:xfrm>
            <a:off x="7840662" y="3919071"/>
            <a:ext cx="4351338" cy="118800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5C47971-7FA0-52DB-F8EF-9B7174718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773" y="2049120"/>
            <a:ext cx="4115116" cy="1667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liops Extreme Data Processor">
            <a:extLst>
              <a:ext uri="{FF2B5EF4-FFF2-40B4-BE49-F238E27FC236}">
                <a16:creationId xmlns:a16="http://schemas.microsoft.com/office/drawing/2014/main" id="{34CB2826-32E3-9A32-89B8-28F5D461A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5000" y="5061421"/>
            <a:ext cx="2902661" cy="193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57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63D2-13AE-2477-9C70-029DF6FD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at the entire system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0780B-1C48-3F0F-D474-3F2DAE9B9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see the bigger picture</a:t>
            </a:r>
          </a:p>
          <a:p>
            <a:endParaRPr lang="en-US" dirty="0"/>
          </a:p>
          <a:p>
            <a:r>
              <a:rPr lang="en-US" dirty="0"/>
              <a:t>Learn about evolving HW and SW trends </a:t>
            </a:r>
          </a:p>
          <a:p>
            <a:endParaRPr lang="en-US" dirty="0"/>
          </a:p>
          <a:p>
            <a:r>
              <a:rPr lang="en-US" dirty="0"/>
              <a:t>Learn about evolving HW and SW constraints</a:t>
            </a:r>
          </a:p>
          <a:p>
            <a:endParaRPr lang="en-US" dirty="0"/>
          </a:p>
          <a:p>
            <a:r>
              <a:rPr lang="en-US" dirty="0"/>
              <a:t>Understand how the entire system works</a:t>
            </a:r>
            <a:endParaRPr lang="en-IL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CC0C0-7AED-0302-9247-89F05274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6233D-E298-82E4-5C5E-95C631D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5103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6894-131F-DC3C-8C30-FDA6F68A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outline</a:t>
            </a:r>
            <a:endParaRPr lang="en-IL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784FC0C-2B2B-57CF-DB85-CFEC996C7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56954"/>
              </p:ext>
            </p:extLst>
          </p:nvPr>
        </p:nvGraphicFramePr>
        <p:xfrm>
          <a:off x="838200" y="1825625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277">
                  <a:extLst>
                    <a:ext uri="{9D8B030D-6E8A-4147-A177-3AD203B41FA5}">
                      <a16:colId xmlns:a16="http://schemas.microsoft.com/office/drawing/2014/main" val="1637013754"/>
                    </a:ext>
                  </a:extLst>
                </a:gridCol>
                <a:gridCol w="9623323">
                  <a:extLst>
                    <a:ext uri="{9D8B030D-6E8A-4147-A177-3AD203B41FA5}">
                      <a16:colId xmlns:a16="http://schemas.microsoft.com/office/drawing/2014/main" val="3338016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1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Principles of performance evaluation: </a:t>
                      </a:r>
                      <a:br>
                        <a:rPr lang="en-US" dirty="0"/>
                      </a:br>
                      <a:r>
                        <a:rPr lang="en-US" dirty="0"/>
                        <a:t>Throughput, latency, arrival rate, service time, Little’s Law 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41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performance counters:     </a:t>
                      </a:r>
                      <a:r>
                        <a:rPr lang="en-US" i="1" dirty="0"/>
                        <a:t>(guest speaker: Anton Hanna, Intel)</a:t>
                      </a:r>
                    </a:p>
                    <a:p>
                      <a:r>
                        <a:rPr lang="en-US" dirty="0"/>
                        <a:t>Usage, hierarchical performance analysis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875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Identifying bottlenecks: </a:t>
                      </a:r>
                      <a:br>
                        <a:rPr lang="en-US" dirty="0"/>
                      </a:br>
                      <a:r>
                        <a:rPr lang="en-US" dirty="0"/>
                        <a:t>Call graph, flame graph common suspects: memory, network, storage 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6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Accelerator patterns and design concepts: </a:t>
                      </a:r>
                      <a:br>
                        <a:rPr lang="en-US" dirty="0"/>
                      </a:br>
                      <a:r>
                        <a:rPr lang="en-US" dirty="0"/>
                        <a:t>Systolic arrays (Google TPU), static/dynamic dataflow in CGRA (</a:t>
                      </a:r>
                      <a:r>
                        <a:rPr lang="en-US" dirty="0" err="1"/>
                        <a:t>Speedata</a:t>
                      </a:r>
                      <a:r>
                        <a:rPr lang="en-US" dirty="0"/>
                        <a:t> APU)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20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design concepts: </a:t>
                      </a:r>
                      <a:br>
                        <a:rPr lang="en-US" dirty="0"/>
                      </a:br>
                      <a:r>
                        <a:rPr lang="en-US" dirty="0"/>
                        <a:t>PCIe interconnect, architecture, interfaces, performance, PCIe-based accelerators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32275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F43A2-AAE0-7031-63F9-74B829354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59845-0570-D490-5762-127C7F9C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35068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4289-BF27-6D9A-BCFC-677452DB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BF23-CDF6-9514-A410-63198D68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outline</a:t>
            </a:r>
            <a:endParaRPr lang="en-IL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9A35488-7B71-953C-0ADD-7470653845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960005"/>
              </p:ext>
            </p:extLst>
          </p:nvPr>
        </p:nvGraphicFramePr>
        <p:xfrm>
          <a:off x="838200" y="1825625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277">
                  <a:extLst>
                    <a:ext uri="{9D8B030D-6E8A-4147-A177-3AD203B41FA5}">
                      <a16:colId xmlns:a16="http://schemas.microsoft.com/office/drawing/2014/main" val="1637013754"/>
                    </a:ext>
                  </a:extLst>
                </a:gridCol>
                <a:gridCol w="9623323">
                  <a:extLst>
                    <a:ext uri="{9D8B030D-6E8A-4147-A177-3AD203B41FA5}">
                      <a16:colId xmlns:a16="http://schemas.microsoft.com/office/drawing/2014/main" val="3338016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Topic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1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Cloud workload challenges: </a:t>
                      </a:r>
                      <a:br>
                        <a:rPr lang="en-US" dirty="0"/>
                      </a:br>
                      <a:r>
                        <a:rPr lang="en-US" dirty="0"/>
                        <a:t>Virtual machines, containers, HW offload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86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Cloud workload challenges: </a:t>
                      </a:r>
                      <a:br>
                        <a:rPr lang="en-US" dirty="0"/>
                      </a:br>
                      <a:r>
                        <a:rPr lang="en-US" dirty="0"/>
                        <a:t>Virtual memory, 2D page walk, performance impact, HW offload proposals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workload challenges: </a:t>
                      </a:r>
                      <a:br>
                        <a:rPr lang="en-US" dirty="0"/>
                      </a:br>
                      <a:r>
                        <a:rPr lang="en-US" dirty="0"/>
                        <a:t>Advanced virtual memory, TLBs, </a:t>
                      </a:r>
                      <a:r>
                        <a:rPr lang="en-US"/>
                        <a:t>TLB shootdown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41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workload challenges: </a:t>
                      </a:r>
                      <a:br>
                        <a:rPr lang="en-US" dirty="0"/>
                      </a:br>
                      <a:r>
                        <a:rPr lang="en-US" dirty="0"/>
                        <a:t>Microservices, Lambda/Function programming, HW/SW disparity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875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DRAM: </a:t>
                      </a:r>
                      <a:br>
                        <a:rPr lang="en-US" dirty="0"/>
                      </a:br>
                      <a:r>
                        <a:rPr lang="en-US" dirty="0"/>
                        <a:t>How it works, performance and power limitations, security issues (</a:t>
                      </a:r>
                      <a:r>
                        <a:rPr lang="en-US" dirty="0" err="1"/>
                        <a:t>RowHammer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6798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38ECF-43A9-3626-6593-0C7DCB02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789BF-0825-B8E2-32B1-C5EF8360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58166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33DEFB-7114-4065-6E31-F45051E1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 </a:t>
            </a:r>
            <a:br>
              <a:rPr lang="en-US"/>
            </a:br>
            <a:br>
              <a:rPr lang="en-US"/>
            </a:br>
            <a:r>
              <a:rPr lang="en-US"/>
              <a:t>Questions</a:t>
            </a:r>
            <a:r>
              <a:rPr lang="en-US" dirty="0"/>
              <a:t>?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D032B0-0FE5-A768-5826-9210D4B26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02241-2CF0-23B3-5404-BB7C493F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25C87-034F-F3CC-D3D3-600C4682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47883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5453</TotalTime>
  <Words>2275</Words>
  <Application>Microsoft Office PowerPoint</Application>
  <PresentationFormat>Widescreen</PresentationFormat>
  <Paragraphs>464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Intro to HW/SW Co-design</vt:lpstr>
      <vt:lpstr>Admin</vt:lpstr>
      <vt:lpstr>Books</vt:lpstr>
      <vt:lpstr>The way we commonly see HW/SW boundary</vt:lpstr>
      <vt:lpstr>The way we commonly see HW/SW boundary</vt:lpstr>
      <vt:lpstr>The way we commonly see HW/SW boundary</vt:lpstr>
      <vt:lpstr>System view: Look at the big picture</vt:lpstr>
      <vt:lpstr>System view: Look at the big picture</vt:lpstr>
      <vt:lpstr>The goal of this course: Look at the entire system</vt:lpstr>
      <vt:lpstr>A different view of computer systems</vt:lpstr>
      <vt:lpstr>The rise of AI as a co-design example</vt:lpstr>
      <vt:lpstr>ImageNet sets a challenge</vt:lpstr>
      <vt:lpstr>CNNs found to be a good match for GPUs</vt:lpstr>
      <vt:lpstr>The first AI accelerator: Google TPU</vt:lpstr>
      <vt:lpstr>The AI HW/SW co-design boom</vt:lpstr>
      <vt:lpstr>But it started with evolving constraints </vt:lpstr>
      <vt:lpstr>Dennard’s scaling</vt:lpstr>
      <vt:lpstr>Dennard, Moore, and performance</vt:lpstr>
      <vt:lpstr>Dennard, Moore, and performance</vt:lpstr>
      <vt:lpstr>CPUs are limited</vt:lpstr>
      <vt:lpstr>Data growth is killing us</vt:lpstr>
      <vt:lpstr>Are accelerators always the answer?</vt:lpstr>
      <vt:lpstr>The broken VLSI tool flow: Verification</vt:lpstr>
      <vt:lpstr>The broken VLSI tool flow: Verification</vt:lpstr>
      <vt:lpstr>The broken VLSI tool flow: The full flow</vt:lpstr>
      <vt:lpstr>The broken VLSI tool flow: The full flow</vt:lpstr>
      <vt:lpstr>The broken VLSI tool flow: The full flow</vt:lpstr>
      <vt:lpstr>Some inalienable truths</vt:lpstr>
      <vt:lpstr>The broken VLSI tool flow: Humans…</vt:lpstr>
      <vt:lpstr>The broken VLSI tool flow: RTL</vt:lpstr>
      <vt:lpstr>Processing in-/near-storage:  When the solution to the gap is unclear</vt:lpstr>
      <vt:lpstr>Is processing in/near storage going really feasible?</vt:lpstr>
      <vt:lpstr>Looking at the entire system</vt:lpstr>
      <vt:lpstr>Tentative outline</vt:lpstr>
      <vt:lpstr>Tentative outline</vt:lpstr>
      <vt:lpstr>Thank you 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1</cp:revision>
  <dcterms:created xsi:type="dcterms:W3CDTF">2025-03-20T10:33:10Z</dcterms:created>
  <dcterms:modified xsi:type="dcterms:W3CDTF">2026-04-12T13:18:53Z</dcterms:modified>
</cp:coreProperties>
</file>