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301" r:id="rId4"/>
    <p:sldId id="302" r:id="rId5"/>
    <p:sldId id="303" r:id="rId6"/>
    <p:sldId id="304" r:id="rId7"/>
    <p:sldId id="307" r:id="rId8"/>
    <p:sldId id="305" r:id="rId9"/>
    <p:sldId id="306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7" r:id="rId19"/>
    <p:sldId id="296" r:id="rId20"/>
    <p:sldId id="316" r:id="rId21"/>
    <p:sldId id="319" r:id="rId22"/>
    <p:sldId id="318" r:id="rId23"/>
    <p:sldId id="320" r:id="rId24"/>
    <p:sldId id="614" r:id="rId25"/>
    <p:sldId id="321" r:id="rId26"/>
    <p:sldId id="322" r:id="rId27"/>
    <p:sldId id="323" r:id="rId28"/>
    <p:sldId id="324" r:id="rId29"/>
    <p:sldId id="325" r:id="rId30"/>
    <p:sldId id="326" r:id="rId31"/>
    <p:sldId id="297" r:id="rId32"/>
    <p:sldId id="596" r:id="rId33"/>
    <p:sldId id="597" r:id="rId34"/>
    <p:sldId id="598" r:id="rId35"/>
    <p:sldId id="599" r:id="rId36"/>
    <p:sldId id="601" r:id="rId37"/>
    <p:sldId id="298" r:id="rId38"/>
    <p:sldId id="611" r:id="rId39"/>
    <p:sldId id="600" r:id="rId40"/>
    <p:sldId id="602" r:id="rId41"/>
    <p:sldId id="603" r:id="rId42"/>
    <p:sldId id="604" r:id="rId43"/>
    <p:sldId id="605" r:id="rId44"/>
    <p:sldId id="606" r:id="rId45"/>
    <p:sldId id="609" r:id="rId46"/>
    <p:sldId id="607" r:id="rId47"/>
    <p:sldId id="608" r:id="rId48"/>
    <p:sldId id="610" r:id="rId49"/>
    <p:sldId id="300" r:id="rId50"/>
    <p:sldId id="544" r:id="rId51"/>
    <p:sldId id="545" r:id="rId52"/>
    <p:sldId id="546" r:id="rId53"/>
    <p:sldId id="547" r:id="rId54"/>
    <p:sldId id="548" r:id="rId55"/>
    <p:sldId id="262" r:id="rId56"/>
    <p:sldId id="578" r:id="rId57"/>
    <p:sldId id="579" r:id="rId58"/>
    <p:sldId id="580" r:id="rId59"/>
    <p:sldId id="327" r:id="rId60"/>
    <p:sldId id="332" r:id="rId61"/>
    <p:sldId id="613" r:id="rId62"/>
    <p:sldId id="328" r:id="rId63"/>
    <p:sldId id="329" r:id="rId64"/>
    <p:sldId id="330" r:id="rId65"/>
    <p:sldId id="331" r:id="rId66"/>
    <p:sldId id="333" r:id="rId67"/>
    <p:sldId id="550" r:id="rId68"/>
    <p:sldId id="549" r:id="rId69"/>
    <p:sldId id="551" r:id="rId70"/>
    <p:sldId id="552" r:id="rId71"/>
    <p:sldId id="553" r:id="rId72"/>
    <p:sldId id="581" r:id="rId73"/>
    <p:sldId id="554" r:id="rId74"/>
    <p:sldId id="582" r:id="rId75"/>
    <p:sldId id="583" r:id="rId76"/>
    <p:sldId id="584" r:id="rId77"/>
    <p:sldId id="585" r:id="rId78"/>
    <p:sldId id="587" r:id="rId79"/>
    <p:sldId id="588" r:id="rId80"/>
    <p:sldId id="589" r:id="rId81"/>
    <p:sldId id="590" r:id="rId82"/>
    <p:sldId id="591" r:id="rId83"/>
    <p:sldId id="594" r:id="rId84"/>
    <p:sldId id="592" r:id="rId85"/>
    <p:sldId id="593" r:id="rId86"/>
    <p:sldId id="595" r:id="rId87"/>
    <p:sldId id="612" r:id="rId88"/>
    <p:sldId id="295" r:id="rId8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CD35D4-FEC4-4527-B086-B686B7672BDC}" v="70" dt="2026-05-24T15:09:11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microsoft.com/office/2015/10/relationships/revisionInfo" Target="revisionInfo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0706D-918D-40D4-AB56-D905264A97A2}" type="datetimeFigureOut">
              <a:rPr lang="en-IL" smtClean="0"/>
              <a:t>05/25/2026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00DA0-B09A-4B1E-A976-B5CA6AE4163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521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40AAE-C72B-A4AE-9E09-A4F4AA61B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55BFF-969A-2343-38F5-7F3CDC946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6888C64-DF02-80A3-F18A-3B044661C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7D92455-BD50-2E5E-3C5C-E463B43A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3BC2F51-D5C7-9AF1-3B66-90A715A6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083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BFA3-5D52-EDD5-7282-4798E34B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91D7B-E466-6DF4-7347-D0435C99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2F19EE44-3524-1645-E735-26E60E9E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1EE952B-0D34-8C33-1DA9-74062F9A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73A26AE-074D-75D6-D7B1-18FC1F29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8290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716B7-A5E9-C1A1-D40A-45CCFF53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95AC6-BAA5-907F-298B-21E2DE690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DA6B36A-CA1E-1A3B-05FB-96918B9D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142F3F1-3B8B-CB9F-A746-2619B931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3585D94-8C0D-746C-7FC2-A29E58D8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040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FD71-857F-8F28-8198-68818BD0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30F2-7392-B2F1-BB58-6C1C56C82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CF7C4-E529-C1AB-85CF-44F24940B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581B15D-4F72-8297-E394-12F7A538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7F0B058-F855-75B2-1843-04B368EA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8F12C73-D7DC-FF51-C6D7-7D1667A1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6315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BE20-BA00-706C-61EA-9174E307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9403-4C5E-3354-5C30-7D4E2925A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D5139-909F-6B30-3FA7-969A0C119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4A7D5-B179-C674-6D5F-F4E4DFB17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F0444-D600-6215-2ADA-B26694475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A0602A0-01AD-FF9B-F7B2-D1498707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4BA96CB-BBA6-6A93-AC9D-AA166AEA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4E9F31C-D6E9-AB33-CBE9-370E42F4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009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F1B8-3A4A-D5E3-729D-10C24A43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EF24AA7-E476-E26F-9F60-92086DAA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DF8AD36-04E6-BF32-A8FC-7305D459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F238118-9265-B874-CD9F-21F6E742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431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5ECDCC-7D89-091E-65CE-498FB266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C568ECC-FD4D-DCB0-296B-826E2B0C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E3DC3CB-A195-399D-930F-664F9106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644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D7F3-5D4A-168E-36A4-1C307561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A9E0C-AA3E-02E8-1C67-21ADBFC0F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6FD66-0C17-432B-383C-D06ECB0BD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771A27E-8E69-8A75-C5F1-D9954073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A8C14F3-490D-5ADD-7A7C-7563BC08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E428FA5-C5D1-87A4-4111-808AA3F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451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A75F-FAFD-BF02-59AA-299A924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88E22-BC4D-21D5-DA0E-0AF1FECF4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06F6D-EAD6-92D7-6351-B54A98091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48695FE-02D2-98FF-14FB-3DFD9316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7891E57-D6C1-C04C-3001-D5E9B5D4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78774E6-7092-7366-98A2-6F62A51D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6375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FA8A-8790-ADD8-00FD-80AF7ECB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3F95E-D280-39F8-2EDF-A5DC96382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F4D0463-7251-0765-5362-9F50EBBC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2A3BB21-D240-6C0E-3984-2B0FBF83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8A22F75-421A-68AC-CB9D-060C18F5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104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7A53B3-FC3E-EAC4-8B6B-8A9A6A1D4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A8611-A906-6FF4-A129-F79CC05E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0B80C7A-EC15-9F17-7DE7-8746CE0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5A8DADC-84C6-DDFC-FC63-C0B9A682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62A1489-95DA-675B-C7CC-6F5CB5E5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2496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96638-FD88-6646-70D6-5FD30DCB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F1199-8706-7CE9-4ED2-95917AB88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144B-36F4-A435-4A51-30BC3AA82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/>
              <a:t>@Yoav Etsion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3A061-AF03-BE50-D5FA-4CB9F3D3E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C41B3-42FB-8EDD-632C-CB2237D75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893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rendangregg.com/flamegraphs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yoav.net.technion.ac.il/files/2016/05/MemReq-IISWC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m.wikipedia.org/wiki/Block_matrix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Join_(SQL)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yoav.net.technion.ac.il/files/2016/05/CTJ-EDBT2017.pdf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hyperlink" Target="https://yoav.net.technion.ac.il/files/2016/05/CTJ-EDBT2017.pdf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yoav.net.technion.ac.il/files/2016/05/CTJ-EDBT2017.pdf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D095-6BC7-9E5A-AE81-0E40B914F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Identifying Performance Bottlenecks</a:t>
            </a:r>
            <a:endParaRPr lang="en-IL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2F5A9-0273-791C-8450-7DB78DF58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Yoav Etsion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770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6555-A997-ABF0-01B8-4DC022A5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BE429-2B67-CD0F-E384-C3130FE84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Bottleneck visualization methods</a:t>
            </a:r>
          </a:p>
          <a:p>
            <a:pPr lvl="1"/>
            <a:r>
              <a:rPr lang="en-US"/>
              <a:t>Flame graph</a:t>
            </a:r>
          </a:p>
          <a:p>
            <a:pPr lvl="1"/>
            <a:r>
              <a:rPr lang="en-US"/>
              <a:t>CPI stack</a:t>
            </a:r>
          </a:p>
          <a:p>
            <a:r>
              <a:rPr lang="en-US"/>
              <a:t>Common bottlenecks</a:t>
            </a:r>
          </a:p>
          <a:p>
            <a:pPr lvl="1"/>
            <a:r>
              <a:rPr lang="en-US"/>
              <a:t>Storage</a:t>
            </a:r>
          </a:p>
          <a:p>
            <a:pPr lvl="1"/>
            <a:r>
              <a:rPr lang="en-US"/>
              <a:t>Network</a:t>
            </a:r>
          </a:p>
          <a:p>
            <a:pPr lvl="1"/>
            <a:r>
              <a:rPr lang="en-US"/>
              <a:t>Memory (it’s always the memory)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BB608-61F2-B915-2601-E271FA6B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AAD7A2-D45B-06F3-5AA3-C993394F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784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6375C-A03D-7019-F4C3-731D846EC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9250C-5247-F73C-4539-A1BA41B5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1C6B5-2D9D-21D5-A967-08E69E844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Bottleneck visualization methods</a:t>
            </a:r>
          </a:p>
          <a:p>
            <a:pPr lvl="1"/>
            <a:r>
              <a:rPr lang="en-US" b="1"/>
              <a:t>Flame graph</a:t>
            </a:r>
          </a:p>
          <a:p>
            <a:pPr lvl="1"/>
            <a:r>
              <a:rPr lang="en-US"/>
              <a:t>CPI stack</a:t>
            </a:r>
          </a:p>
          <a:p>
            <a:r>
              <a:rPr lang="en-US"/>
              <a:t>Common bottlenecks</a:t>
            </a:r>
          </a:p>
          <a:p>
            <a:pPr lvl="1"/>
            <a:r>
              <a:rPr lang="en-US"/>
              <a:t>Storage</a:t>
            </a:r>
          </a:p>
          <a:p>
            <a:pPr lvl="1"/>
            <a:r>
              <a:rPr lang="en-US"/>
              <a:t>Network</a:t>
            </a:r>
          </a:p>
          <a:p>
            <a:pPr lvl="1"/>
            <a:r>
              <a:rPr lang="en-US"/>
              <a:t>Memory (it’s always the memory)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88867-64B4-4BF5-A1AC-98DE94FE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F3CE284-B0DF-ED70-E637-A1CA6577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636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102F-64C6-DC4D-A628-90768CCFB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73AC9-E224-3442-DA97-92B1A093E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Effective method to visualize where applications spend their time</a:t>
            </a:r>
          </a:p>
          <a:p>
            <a:endParaRPr lang="en-US"/>
          </a:p>
          <a:p>
            <a:r>
              <a:rPr lang="en-US"/>
              <a:t>Tells us </a:t>
            </a:r>
            <a:r>
              <a:rPr lang="en-US" b="1"/>
              <a:t>where</a:t>
            </a:r>
            <a:r>
              <a:rPr lang="en-US"/>
              <a:t> the bottlenecks likely are, not </a:t>
            </a:r>
            <a:r>
              <a:rPr lang="en-US" b="1"/>
              <a:t>what </a:t>
            </a:r>
            <a:r>
              <a:rPr lang="en-US"/>
              <a:t>causes them</a:t>
            </a:r>
          </a:p>
          <a:p>
            <a:endParaRPr lang="en-US"/>
          </a:p>
          <a:p>
            <a:r>
              <a:rPr lang="en-US"/>
              <a:t>Developed by Brendan Gregg</a:t>
            </a:r>
          </a:p>
          <a:p>
            <a:pPr lvl="1"/>
            <a:r>
              <a:rPr lang="en-US">
                <a:hlinkClick r:id="rId2"/>
              </a:rPr>
              <a:t>https://www.brendangregg.com/flamegraphs.html</a:t>
            </a:r>
            <a:endParaRPr lang="en-US"/>
          </a:p>
          <a:p>
            <a:pPr lvl="1"/>
            <a:endParaRPr lang="en-US"/>
          </a:p>
          <a:p>
            <a:r>
              <a:rPr lang="en-US"/>
              <a:t>Many performance tools generate them</a:t>
            </a:r>
          </a:p>
          <a:p>
            <a:pPr lvl="1"/>
            <a:r>
              <a:rPr lang="en-US"/>
              <a:t>Typically, by passing the right text format to a flame graph library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3DE30-4FFC-CFE3-98DC-8E035902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57145-3811-4A75-C97B-19DA8C2B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484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2C22-11C2-8236-E633-87089D84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Graphs</a:t>
            </a:r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A1FAFAD-8206-4CDA-EC04-5E146A2272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0490" y="1825625"/>
            <a:ext cx="6951019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81772-1384-E47C-CE66-A3AB195C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9882D-6682-F4C2-7E4D-6CE36C3D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59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8143A-7CAE-FA15-0D0D-9CEF221DC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A339-44AF-8576-31C6-A56FC5B66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Graphs</a:t>
            </a:r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67E44F-B030-1D7B-BEAC-85948FF18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0490" y="1825625"/>
            <a:ext cx="6951019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69436-A446-DA26-2F56-940CF64C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9A837-3782-5557-76D6-11CA83D1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5AAC13-6818-1733-DF75-DF8AAAB57D87}"/>
              </a:ext>
            </a:extLst>
          </p:cNvPr>
          <p:cNvCxnSpPr/>
          <p:nvPr/>
        </p:nvCxnSpPr>
        <p:spPr>
          <a:xfrm>
            <a:off x="2620490" y="6329680"/>
            <a:ext cx="69510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4BFB80-7D59-F921-FB83-E945A2E61AD9}"/>
              </a:ext>
            </a:extLst>
          </p:cNvPr>
          <p:cNvCxnSpPr>
            <a:cxnSpLocks/>
          </p:cNvCxnSpPr>
          <p:nvPr/>
        </p:nvCxnSpPr>
        <p:spPr>
          <a:xfrm flipV="1">
            <a:off x="2442149" y="1825625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56895E-060D-7601-3B31-7679D7B939BE}"/>
              </a:ext>
            </a:extLst>
          </p:cNvPr>
          <p:cNvSpPr txBox="1"/>
          <p:nvPr/>
        </p:nvSpPr>
        <p:spPr>
          <a:xfrm>
            <a:off x="5223752" y="6329680"/>
            <a:ext cx="2193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 run time</a:t>
            </a:r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12AE05-1CDA-D31B-1A18-5417C8821D79}"/>
              </a:ext>
            </a:extLst>
          </p:cNvPr>
          <p:cNvSpPr txBox="1"/>
          <p:nvPr/>
        </p:nvSpPr>
        <p:spPr>
          <a:xfrm rot="16200000">
            <a:off x="1592100" y="3722449"/>
            <a:ext cx="117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Call stack</a:t>
            </a:r>
            <a:endParaRPr lang="en-IL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8377E3-5DD4-90F3-BE37-56CC90B4B6B7}"/>
              </a:ext>
            </a:extLst>
          </p:cNvPr>
          <p:cNvCxnSpPr>
            <a:cxnSpLocks/>
          </p:cNvCxnSpPr>
          <p:nvPr/>
        </p:nvCxnSpPr>
        <p:spPr>
          <a:xfrm flipV="1">
            <a:off x="2442149" y="1804153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141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96C3-E24B-DF9E-859E-6DB385B8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0797-77FC-E4E2-5928-F02C7334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Graphs</a:t>
            </a:r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64F3DE-2D93-FC90-6729-E51B99EB0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0490" y="1825625"/>
            <a:ext cx="6951019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3984B-54EB-B844-6145-99C3A668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F0D81-5AE2-15F7-C55A-272C6D42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DE4155-5483-4830-35E1-FDBB78E0FE62}"/>
              </a:ext>
            </a:extLst>
          </p:cNvPr>
          <p:cNvCxnSpPr/>
          <p:nvPr/>
        </p:nvCxnSpPr>
        <p:spPr>
          <a:xfrm>
            <a:off x="2620490" y="6329680"/>
            <a:ext cx="69510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32A9FC-A079-C7E5-5487-53BBB8F1DC67}"/>
              </a:ext>
            </a:extLst>
          </p:cNvPr>
          <p:cNvCxnSpPr>
            <a:cxnSpLocks/>
          </p:cNvCxnSpPr>
          <p:nvPr/>
        </p:nvCxnSpPr>
        <p:spPr>
          <a:xfrm flipV="1">
            <a:off x="2442149" y="1825625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7D97388-B636-78C3-1164-CB17F850A582}"/>
              </a:ext>
            </a:extLst>
          </p:cNvPr>
          <p:cNvSpPr txBox="1"/>
          <p:nvPr/>
        </p:nvSpPr>
        <p:spPr>
          <a:xfrm>
            <a:off x="5223752" y="6329680"/>
            <a:ext cx="2193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 run time</a:t>
            </a:r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5185C7-5DEB-4B4D-2780-58156615808D}"/>
              </a:ext>
            </a:extLst>
          </p:cNvPr>
          <p:cNvSpPr txBox="1"/>
          <p:nvPr/>
        </p:nvSpPr>
        <p:spPr>
          <a:xfrm rot="16200000">
            <a:off x="1592100" y="3722449"/>
            <a:ext cx="117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Call stack</a:t>
            </a:r>
            <a:endParaRPr lang="en-IL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DF9A4E-58D5-D5AD-28D3-D51F277906CB}"/>
              </a:ext>
            </a:extLst>
          </p:cNvPr>
          <p:cNvCxnSpPr>
            <a:cxnSpLocks/>
          </p:cNvCxnSpPr>
          <p:nvPr/>
        </p:nvCxnSpPr>
        <p:spPr>
          <a:xfrm flipV="1">
            <a:off x="2442149" y="1804153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C06C053-C68D-87A1-E547-026C2D8EFB8D}"/>
              </a:ext>
            </a:extLst>
          </p:cNvPr>
          <p:cNvSpPr txBox="1"/>
          <p:nvPr/>
        </p:nvSpPr>
        <p:spPr>
          <a:xfrm rot="2563458">
            <a:off x="7778710" y="2072939"/>
            <a:ext cx="3585597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800" b="1"/>
              <a:t>Colors are random </a:t>
            </a:r>
            <a:r>
              <a:rPr lang="en-US" sz="2800" b="1">
                <a:sym typeface="Wingdings" panose="05000000000000000000" pitchFamily="2" charset="2"/>
              </a:rPr>
              <a:t></a:t>
            </a:r>
            <a:endParaRPr lang="en-IL" sz="2800" b="1"/>
          </a:p>
        </p:txBody>
      </p:sp>
    </p:spTree>
    <p:extLst>
      <p:ext uri="{BB962C8B-B14F-4D97-AF65-F5344CB8AC3E}">
        <p14:creationId xmlns:p14="http://schemas.microsoft.com/office/powerpoint/2010/main" val="388802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2705-6515-2FED-0A66-BBF68692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graph: Example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8119F-C06B-688C-BA37-1A276902C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5749" cy="4351338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foo();</a:t>
            </a:r>
          </a:p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// do something</a:t>
            </a:r>
          </a:p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bar();</a:t>
            </a:r>
          </a:p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L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38286-7935-A2D2-105F-1F233AA29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E18A6-F41E-327E-C491-820EED7A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709756-4809-1A98-6909-B000A7D83020}"/>
              </a:ext>
            </a:extLst>
          </p:cNvPr>
          <p:cNvSpPr txBox="1">
            <a:spLocks/>
          </p:cNvSpPr>
          <p:nvPr/>
        </p:nvSpPr>
        <p:spPr>
          <a:xfrm>
            <a:off x="6720211" y="1825625"/>
            <a:ext cx="47357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void foo(){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foo.0();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foo.1();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void bar(){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bar.0();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bar.1();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L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L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85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A83D3-A269-38AE-3C5D-5955367F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graph: Example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C73C5-A977-1226-F7E5-EC2014FFD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C2D54-7675-8043-CA26-504BF4144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2455DD-8001-7711-7A68-3F7A6F649114}"/>
              </a:ext>
            </a:extLst>
          </p:cNvPr>
          <p:cNvCxnSpPr/>
          <p:nvPr/>
        </p:nvCxnSpPr>
        <p:spPr>
          <a:xfrm>
            <a:off x="2620490" y="6329680"/>
            <a:ext cx="69510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42DA8F-4701-DA0B-5E58-A36743F3B66E}"/>
              </a:ext>
            </a:extLst>
          </p:cNvPr>
          <p:cNvCxnSpPr>
            <a:cxnSpLocks/>
          </p:cNvCxnSpPr>
          <p:nvPr/>
        </p:nvCxnSpPr>
        <p:spPr>
          <a:xfrm flipV="1">
            <a:off x="2442149" y="1804153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DEEEDC-6C25-7CAA-E066-6C70457FE6CE}"/>
              </a:ext>
            </a:extLst>
          </p:cNvPr>
          <p:cNvSpPr txBox="1"/>
          <p:nvPr/>
        </p:nvSpPr>
        <p:spPr>
          <a:xfrm>
            <a:off x="5223752" y="6308208"/>
            <a:ext cx="2193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 run time</a:t>
            </a:r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2CF0E6-8409-80B7-7FF1-337C606705A0}"/>
              </a:ext>
            </a:extLst>
          </p:cNvPr>
          <p:cNvSpPr txBox="1"/>
          <p:nvPr/>
        </p:nvSpPr>
        <p:spPr>
          <a:xfrm rot="16200000">
            <a:off x="1592100" y="3700977"/>
            <a:ext cx="117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Call stack</a:t>
            </a:r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2F43B6-05DA-BA1D-26D1-2FF377EC4A8C}"/>
              </a:ext>
            </a:extLst>
          </p:cNvPr>
          <p:cNvSpPr/>
          <p:nvPr/>
        </p:nvSpPr>
        <p:spPr>
          <a:xfrm>
            <a:off x="2620490" y="5960349"/>
            <a:ext cx="6737509" cy="2361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main()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9835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70D8B-788D-BB82-942B-2BAFB427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1E58-CD76-587A-B670-92781D4B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graph: Example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B6F7-88EE-4AED-B4A2-71A7BCA6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2B3CF-60E1-9278-9C90-CA661336B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E79315-7BB2-A55A-D560-9EF9A313956F}"/>
              </a:ext>
            </a:extLst>
          </p:cNvPr>
          <p:cNvCxnSpPr/>
          <p:nvPr/>
        </p:nvCxnSpPr>
        <p:spPr>
          <a:xfrm>
            <a:off x="2620490" y="6329680"/>
            <a:ext cx="69510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55F94D-DBB8-D8BD-BC6A-C768E0C01DB2}"/>
              </a:ext>
            </a:extLst>
          </p:cNvPr>
          <p:cNvCxnSpPr>
            <a:cxnSpLocks/>
          </p:cNvCxnSpPr>
          <p:nvPr/>
        </p:nvCxnSpPr>
        <p:spPr>
          <a:xfrm flipV="1">
            <a:off x="2442149" y="1804153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8A78B5-40D7-A7AD-177B-BE58451F17AF}"/>
              </a:ext>
            </a:extLst>
          </p:cNvPr>
          <p:cNvSpPr txBox="1"/>
          <p:nvPr/>
        </p:nvSpPr>
        <p:spPr>
          <a:xfrm>
            <a:off x="5223752" y="6308208"/>
            <a:ext cx="2193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 run time</a:t>
            </a:r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8C70D-0661-D550-889A-022643B148F9}"/>
              </a:ext>
            </a:extLst>
          </p:cNvPr>
          <p:cNvSpPr txBox="1"/>
          <p:nvPr/>
        </p:nvSpPr>
        <p:spPr>
          <a:xfrm rot="16200000">
            <a:off x="1592100" y="3700977"/>
            <a:ext cx="117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Call stack</a:t>
            </a:r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3DEB45-D87D-2FD6-5FBA-D241ED99889B}"/>
              </a:ext>
            </a:extLst>
          </p:cNvPr>
          <p:cNvSpPr/>
          <p:nvPr/>
        </p:nvSpPr>
        <p:spPr>
          <a:xfrm>
            <a:off x="2620490" y="5960349"/>
            <a:ext cx="6737509" cy="2361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main()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6C816-25BB-3C59-7F1A-60CD03B55CE2}"/>
              </a:ext>
            </a:extLst>
          </p:cNvPr>
          <p:cNvSpPr/>
          <p:nvPr/>
        </p:nvSpPr>
        <p:spPr>
          <a:xfrm>
            <a:off x="2798830" y="5724180"/>
            <a:ext cx="2493017" cy="2361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foo()</a:t>
            </a:r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913F9D-8EE7-5902-CDB4-A5C502CB2BB4}"/>
              </a:ext>
            </a:extLst>
          </p:cNvPr>
          <p:cNvSpPr/>
          <p:nvPr/>
        </p:nvSpPr>
        <p:spPr>
          <a:xfrm>
            <a:off x="7179733" y="5724181"/>
            <a:ext cx="1642724" cy="236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bar()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4390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F5B5-58AB-64B5-4CD7-A87762BD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07D7-85DE-E597-4A74-60CB4471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graph: Example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721EF-42F1-D97D-C5E3-9C018EB1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3D37B-B7B9-76A9-95DC-A5CBEAF7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18C9C6-759D-4FE4-45EE-C0B944332A24}"/>
              </a:ext>
            </a:extLst>
          </p:cNvPr>
          <p:cNvCxnSpPr/>
          <p:nvPr/>
        </p:nvCxnSpPr>
        <p:spPr>
          <a:xfrm>
            <a:off x="2620490" y="6329680"/>
            <a:ext cx="69510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EEADDD-D4D9-F508-D5FF-331BFFA3BBBF}"/>
              </a:ext>
            </a:extLst>
          </p:cNvPr>
          <p:cNvCxnSpPr>
            <a:cxnSpLocks/>
          </p:cNvCxnSpPr>
          <p:nvPr/>
        </p:nvCxnSpPr>
        <p:spPr>
          <a:xfrm flipV="1">
            <a:off x="2442149" y="1804153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6C45735-E894-7116-EE1E-B7DFA2B7439F}"/>
              </a:ext>
            </a:extLst>
          </p:cNvPr>
          <p:cNvSpPr txBox="1"/>
          <p:nvPr/>
        </p:nvSpPr>
        <p:spPr>
          <a:xfrm>
            <a:off x="5223752" y="6308208"/>
            <a:ext cx="2193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 run time</a:t>
            </a:r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D378A-71A3-5D52-B1ED-323C01C9C9E9}"/>
              </a:ext>
            </a:extLst>
          </p:cNvPr>
          <p:cNvSpPr txBox="1"/>
          <p:nvPr/>
        </p:nvSpPr>
        <p:spPr>
          <a:xfrm rot="16200000">
            <a:off x="1592100" y="3700977"/>
            <a:ext cx="117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Call stack</a:t>
            </a:r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C5DC0C-633D-5225-ADA8-B7C8998739A5}"/>
              </a:ext>
            </a:extLst>
          </p:cNvPr>
          <p:cNvSpPr/>
          <p:nvPr/>
        </p:nvSpPr>
        <p:spPr>
          <a:xfrm>
            <a:off x="2620490" y="5960349"/>
            <a:ext cx="6737509" cy="2361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main()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1557CF-F826-1D96-4563-7420CF1ECA4B}"/>
              </a:ext>
            </a:extLst>
          </p:cNvPr>
          <p:cNvSpPr/>
          <p:nvPr/>
        </p:nvSpPr>
        <p:spPr>
          <a:xfrm>
            <a:off x="2798830" y="5724180"/>
            <a:ext cx="2493017" cy="2361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foo()</a:t>
            </a:r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9FF095-7786-07D1-5B85-5F6E7D838BA4}"/>
              </a:ext>
            </a:extLst>
          </p:cNvPr>
          <p:cNvSpPr/>
          <p:nvPr/>
        </p:nvSpPr>
        <p:spPr>
          <a:xfrm>
            <a:off x="7179733" y="5724181"/>
            <a:ext cx="1642724" cy="236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bar()</a:t>
            </a:r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8B7569-48EF-9169-B24B-E1E4AC132B12}"/>
              </a:ext>
            </a:extLst>
          </p:cNvPr>
          <p:cNvSpPr/>
          <p:nvPr/>
        </p:nvSpPr>
        <p:spPr>
          <a:xfrm>
            <a:off x="2951231" y="5487112"/>
            <a:ext cx="604770" cy="236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foo.0()</a:t>
            </a:r>
            <a:endParaRPr lang="en-IL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EF369B-C36A-A4D6-7C64-8D0FE4B77858}"/>
              </a:ext>
            </a:extLst>
          </p:cNvPr>
          <p:cNvSpPr/>
          <p:nvPr/>
        </p:nvSpPr>
        <p:spPr>
          <a:xfrm>
            <a:off x="5122875" y="5487109"/>
            <a:ext cx="84128" cy="236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sz="1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AD75F-3008-0B49-4435-C0F89D9A3132}"/>
              </a:ext>
            </a:extLst>
          </p:cNvPr>
          <p:cNvSpPr/>
          <p:nvPr/>
        </p:nvSpPr>
        <p:spPr>
          <a:xfrm>
            <a:off x="7272878" y="5487109"/>
            <a:ext cx="436515" cy="2361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/>
              <a:t>bar.0()</a:t>
            </a:r>
            <a:endParaRPr lang="en-IL" sz="7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562C5D-586A-5854-00C4-5AB90B46E33F}"/>
              </a:ext>
            </a:extLst>
          </p:cNvPr>
          <p:cNvSpPr/>
          <p:nvPr/>
        </p:nvSpPr>
        <p:spPr>
          <a:xfrm>
            <a:off x="8297345" y="5487109"/>
            <a:ext cx="436515" cy="2361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/>
              <a:t>bar.2()</a:t>
            </a:r>
            <a:endParaRPr lang="en-IL" sz="7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7F82D6-04E2-733B-68E9-C5DDCCD52AE3}"/>
              </a:ext>
            </a:extLst>
          </p:cNvPr>
          <p:cNvSpPr/>
          <p:nvPr/>
        </p:nvSpPr>
        <p:spPr>
          <a:xfrm>
            <a:off x="7785111" y="5489865"/>
            <a:ext cx="436515" cy="2361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/>
              <a:t>bar.1()</a:t>
            </a:r>
            <a:endParaRPr lang="en-IL" sz="7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57713D-F544-62A6-A3E4-95F9DCCD6063}"/>
              </a:ext>
            </a:extLst>
          </p:cNvPr>
          <p:cNvSpPr/>
          <p:nvPr/>
        </p:nvSpPr>
        <p:spPr>
          <a:xfrm>
            <a:off x="3631720" y="5476375"/>
            <a:ext cx="1415436" cy="2469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foo.1()</a:t>
            </a:r>
            <a:endParaRPr lang="en-IL" sz="1200"/>
          </a:p>
        </p:txBody>
      </p:sp>
    </p:spTree>
    <p:extLst>
      <p:ext uri="{BB962C8B-B14F-4D97-AF65-F5344CB8AC3E}">
        <p14:creationId xmlns:p14="http://schemas.microsoft.com/office/powerpoint/2010/main" val="148124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F41D6-909A-7814-0C4F-D7D00A60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EC51-5ADC-664A-FD43-DE3B8A9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graph: Example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27E11-E7FE-517A-894A-446CFC6D9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404CC-56DF-60FF-40FE-11AA0ACA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869E766-B4B7-0160-EFE4-56B300E6B78A}"/>
              </a:ext>
            </a:extLst>
          </p:cNvPr>
          <p:cNvCxnSpPr/>
          <p:nvPr/>
        </p:nvCxnSpPr>
        <p:spPr>
          <a:xfrm>
            <a:off x="2620490" y="6329680"/>
            <a:ext cx="69510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3A44AF-2BD2-63EB-294B-FA1CF76D1060}"/>
              </a:ext>
            </a:extLst>
          </p:cNvPr>
          <p:cNvCxnSpPr>
            <a:cxnSpLocks/>
          </p:cNvCxnSpPr>
          <p:nvPr/>
        </p:nvCxnSpPr>
        <p:spPr>
          <a:xfrm flipV="1">
            <a:off x="2442149" y="1804153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599C62-9709-3731-E27A-8077F5953A46}"/>
              </a:ext>
            </a:extLst>
          </p:cNvPr>
          <p:cNvSpPr txBox="1"/>
          <p:nvPr/>
        </p:nvSpPr>
        <p:spPr>
          <a:xfrm>
            <a:off x="5223752" y="6308208"/>
            <a:ext cx="2193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 run time</a:t>
            </a:r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2A7B31-6A00-C209-FE89-96ED88B233C0}"/>
              </a:ext>
            </a:extLst>
          </p:cNvPr>
          <p:cNvSpPr txBox="1"/>
          <p:nvPr/>
        </p:nvSpPr>
        <p:spPr>
          <a:xfrm rot="16200000">
            <a:off x="1592100" y="3700977"/>
            <a:ext cx="117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Call stack</a:t>
            </a:r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5A87A8-ADB1-7B87-6EA5-52C6E1A5105D}"/>
              </a:ext>
            </a:extLst>
          </p:cNvPr>
          <p:cNvSpPr/>
          <p:nvPr/>
        </p:nvSpPr>
        <p:spPr>
          <a:xfrm>
            <a:off x="2620490" y="5960349"/>
            <a:ext cx="6737509" cy="2361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main()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A1FC46-7E94-403A-2BFB-87795C7E18B5}"/>
              </a:ext>
            </a:extLst>
          </p:cNvPr>
          <p:cNvSpPr/>
          <p:nvPr/>
        </p:nvSpPr>
        <p:spPr>
          <a:xfrm>
            <a:off x="2798830" y="5724180"/>
            <a:ext cx="2493017" cy="2361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foo()</a:t>
            </a:r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AE4658-342C-61C7-2AAC-939832080DD0}"/>
              </a:ext>
            </a:extLst>
          </p:cNvPr>
          <p:cNvSpPr/>
          <p:nvPr/>
        </p:nvSpPr>
        <p:spPr>
          <a:xfrm>
            <a:off x="7179733" y="5724181"/>
            <a:ext cx="1642724" cy="236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bar()</a:t>
            </a:r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ABF157-8575-2FE0-7E56-3209B75189E6}"/>
              </a:ext>
            </a:extLst>
          </p:cNvPr>
          <p:cNvSpPr/>
          <p:nvPr/>
        </p:nvSpPr>
        <p:spPr>
          <a:xfrm>
            <a:off x="2951231" y="5487112"/>
            <a:ext cx="604770" cy="236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foo.0()</a:t>
            </a:r>
            <a:endParaRPr lang="en-IL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43D51D-148A-6256-3135-C4D2FF4720CE}"/>
              </a:ext>
            </a:extLst>
          </p:cNvPr>
          <p:cNvSpPr/>
          <p:nvPr/>
        </p:nvSpPr>
        <p:spPr>
          <a:xfrm>
            <a:off x="5122875" y="5487109"/>
            <a:ext cx="84128" cy="236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sz="1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89215E-C6A0-F515-6917-1F254DAD794B}"/>
              </a:ext>
            </a:extLst>
          </p:cNvPr>
          <p:cNvSpPr/>
          <p:nvPr/>
        </p:nvSpPr>
        <p:spPr>
          <a:xfrm>
            <a:off x="7272878" y="5487109"/>
            <a:ext cx="436515" cy="2361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/>
              <a:t>bar.0()</a:t>
            </a:r>
            <a:endParaRPr lang="en-IL" sz="7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F1BDA9-624C-2B56-7C06-E46860E9D4C8}"/>
              </a:ext>
            </a:extLst>
          </p:cNvPr>
          <p:cNvSpPr/>
          <p:nvPr/>
        </p:nvSpPr>
        <p:spPr>
          <a:xfrm>
            <a:off x="8297345" y="5487109"/>
            <a:ext cx="436515" cy="2361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/>
              <a:t>bar.2()</a:t>
            </a:r>
            <a:endParaRPr lang="en-IL" sz="7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FF0AB1-D5BC-DD95-21C5-AE0F0C5EC850}"/>
              </a:ext>
            </a:extLst>
          </p:cNvPr>
          <p:cNvSpPr/>
          <p:nvPr/>
        </p:nvSpPr>
        <p:spPr>
          <a:xfrm>
            <a:off x="7785111" y="5489865"/>
            <a:ext cx="436515" cy="2361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/>
              <a:t>bar.1()</a:t>
            </a:r>
            <a:endParaRPr lang="en-IL" sz="70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13F2E4-1BD8-6395-3EB5-85898BA773C5}"/>
              </a:ext>
            </a:extLst>
          </p:cNvPr>
          <p:cNvCxnSpPr/>
          <p:nvPr/>
        </p:nvCxnSpPr>
        <p:spPr>
          <a:xfrm flipH="1">
            <a:off x="6223000" y="4334933"/>
            <a:ext cx="338667" cy="144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DCB0288-8BC8-346F-AA21-4EF82FED9F91}"/>
              </a:ext>
            </a:extLst>
          </p:cNvPr>
          <p:cNvSpPr txBox="1"/>
          <p:nvPr/>
        </p:nvSpPr>
        <p:spPr>
          <a:xfrm>
            <a:off x="6502400" y="3852333"/>
            <a:ext cx="2834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 does main() do here?</a:t>
            </a:r>
            <a:br>
              <a:rPr lang="en-US"/>
            </a:br>
            <a:r>
              <a:rPr lang="en-US"/>
              <a:t>(~30% of run time)</a:t>
            </a:r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740F06-C9F7-1E55-0FF0-9367DA76B19A}"/>
              </a:ext>
            </a:extLst>
          </p:cNvPr>
          <p:cNvSpPr/>
          <p:nvPr/>
        </p:nvSpPr>
        <p:spPr>
          <a:xfrm>
            <a:off x="3631720" y="5476375"/>
            <a:ext cx="1415436" cy="2469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foo.1()</a:t>
            </a:r>
            <a:endParaRPr lang="en-IL" sz="1200"/>
          </a:p>
        </p:txBody>
      </p:sp>
    </p:spTree>
    <p:extLst>
      <p:ext uri="{BB962C8B-B14F-4D97-AF65-F5344CB8AC3E}">
        <p14:creationId xmlns:p14="http://schemas.microsoft.com/office/powerpoint/2010/main" val="1624913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393AF-32C7-1C7E-1BFC-B93108AEB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EF22-FCA2-C57F-AD23-5928A3C5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graph: Example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C9F1-C39F-19FA-8279-48EDDB7C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A9CBE-4955-4E3B-1E3B-CB30BB3E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CE2076B-921C-1BF2-C82A-5C8B01C2CFE1}"/>
              </a:ext>
            </a:extLst>
          </p:cNvPr>
          <p:cNvCxnSpPr/>
          <p:nvPr/>
        </p:nvCxnSpPr>
        <p:spPr>
          <a:xfrm>
            <a:off x="2620490" y="6329680"/>
            <a:ext cx="69510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36462C-4C94-8594-8601-D31658363271}"/>
              </a:ext>
            </a:extLst>
          </p:cNvPr>
          <p:cNvCxnSpPr>
            <a:cxnSpLocks/>
          </p:cNvCxnSpPr>
          <p:nvPr/>
        </p:nvCxnSpPr>
        <p:spPr>
          <a:xfrm flipV="1">
            <a:off x="2442149" y="1804153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F296D5E-C03D-6B4B-2F4B-619B08DD3A57}"/>
              </a:ext>
            </a:extLst>
          </p:cNvPr>
          <p:cNvSpPr txBox="1"/>
          <p:nvPr/>
        </p:nvSpPr>
        <p:spPr>
          <a:xfrm>
            <a:off x="5223752" y="6308208"/>
            <a:ext cx="2193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 run time</a:t>
            </a:r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EB4F93-C16F-5DAA-EBB1-4D9AB66F4341}"/>
              </a:ext>
            </a:extLst>
          </p:cNvPr>
          <p:cNvSpPr txBox="1"/>
          <p:nvPr/>
        </p:nvSpPr>
        <p:spPr>
          <a:xfrm rot="16200000">
            <a:off x="1592100" y="3700977"/>
            <a:ext cx="117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Call stack</a:t>
            </a:r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1630F0-E097-E8EA-DA75-8832A85F8A23}"/>
              </a:ext>
            </a:extLst>
          </p:cNvPr>
          <p:cNvSpPr/>
          <p:nvPr/>
        </p:nvSpPr>
        <p:spPr>
          <a:xfrm>
            <a:off x="2620490" y="5960349"/>
            <a:ext cx="6737509" cy="2361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main()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8349E9-A357-ADB1-91EA-2F911EEF9D82}"/>
              </a:ext>
            </a:extLst>
          </p:cNvPr>
          <p:cNvSpPr/>
          <p:nvPr/>
        </p:nvSpPr>
        <p:spPr>
          <a:xfrm>
            <a:off x="2798830" y="5724180"/>
            <a:ext cx="2493017" cy="2361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foo()</a:t>
            </a:r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5378E9-3988-5DB6-5320-F5CD61C41CDF}"/>
              </a:ext>
            </a:extLst>
          </p:cNvPr>
          <p:cNvSpPr/>
          <p:nvPr/>
        </p:nvSpPr>
        <p:spPr>
          <a:xfrm>
            <a:off x="7179733" y="5724181"/>
            <a:ext cx="1642724" cy="236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bar()</a:t>
            </a:r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A9EC07-D0EA-62B5-5A22-3B6CBA64494B}"/>
              </a:ext>
            </a:extLst>
          </p:cNvPr>
          <p:cNvSpPr/>
          <p:nvPr/>
        </p:nvSpPr>
        <p:spPr>
          <a:xfrm>
            <a:off x="2951231" y="5487112"/>
            <a:ext cx="604770" cy="236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foo.0()</a:t>
            </a:r>
            <a:endParaRPr lang="en-IL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25F00-17D5-6D05-CC80-66BEA6D4C3DC}"/>
              </a:ext>
            </a:extLst>
          </p:cNvPr>
          <p:cNvSpPr/>
          <p:nvPr/>
        </p:nvSpPr>
        <p:spPr>
          <a:xfrm>
            <a:off x="3631720" y="5476375"/>
            <a:ext cx="1415436" cy="2469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foo.1()</a:t>
            </a:r>
            <a:endParaRPr lang="en-IL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301CA5-43F7-CABD-CCB6-C79E75F56000}"/>
              </a:ext>
            </a:extLst>
          </p:cNvPr>
          <p:cNvSpPr/>
          <p:nvPr/>
        </p:nvSpPr>
        <p:spPr>
          <a:xfrm>
            <a:off x="5122875" y="5487109"/>
            <a:ext cx="84128" cy="236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sz="1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698299-122B-84C8-8451-9320B69B7E67}"/>
              </a:ext>
            </a:extLst>
          </p:cNvPr>
          <p:cNvSpPr/>
          <p:nvPr/>
        </p:nvSpPr>
        <p:spPr>
          <a:xfrm>
            <a:off x="7272878" y="5487109"/>
            <a:ext cx="436515" cy="2361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/>
              <a:t>bar.0()</a:t>
            </a:r>
            <a:endParaRPr lang="en-IL" sz="7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F5B227-9B40-3736-67BB-01BC985D947D}"/>
              </a:ext>
            </a:extLst>
          </p:cNvPr>
          <p:cNvSpPr/>
          <p:nvPr/>
        </p:nvSpPr>
        <p:spPr>
          <a:xfrm>
            <a:off x="8297345" y="5487109"/>
            <a:ext cx="436515" cy="2361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/>
              <a:t>bar.2()</a:t>
            </a:r>
            <a:endParaRPr lang="en-IL" sz="7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D34517-C8F7-2741-15A6-EB00D908C630}"/>
              </a:ext>
            </a:extLst>
          </p:cNvPr>
          <p:cNvSpPr/>
          <p:nvPr/>
        </p:nvSpPr>
        <p:spPr>
          <a:xfrm>
            <a:off x="7785111" y="5489865"/>
            <a:ext cx="436515" cy="2361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/>
              <a:t>bar.1()</a:t>
            </a:r>
            <a:endParaRPr lang="en-IL" sz="70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7BD2C6-054F-026F-EC40-A4DE07A61100}"/>
              </a:ext>
            </a:extLst>
          </p:cNvPr>
          <p:cNvCxnSpPr/>
          <p:nvPr/>
        </p:nvCxnSpPr>
        <p:spPr>
          <a:xfrm flipH="1">
            <a:off x="4564366" y="4028575"/>
            <a:ext cx="338667" cy="144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74D1005-3AC4-9AC8-F536-8EBEE6F70B56}"/>
              </a:ext>
            </a:extLst>
          </p:cNvPr>
          <p:cNvSpPr txBox="1"/>
          <p:nvPr/>
        </p:nvSpPr>
        <p:spPr>
          <a:xfrm>
            <a:off x="4398435" y="3357550"/>
            <a:ext cx="4677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Is foo() the most efficient implementation?</a:t>
            </a:r>
          </a:p>
          <a:p>
            <a:pPr marL="285750" indent="-285750">
              <a:buFontTx/>
              <a:buChar char="-"/>
            </a:pPr>
            <a:r>
              <a:rPr lang="en-US"/>
              <a:t>What about foo.1()?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8471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974D-C5FA-34B8-8391-4EAF9C25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F17FE-61E1-951A-0511-0D3D68EB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Graphs</a:t>
            </a:r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029C771-2016-4CA3-C3BB-A05BA1418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0490" y="1825625"/>
            <a:ext cx="6951019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A5A92-1F65-30BB-EDB9-23B5D0714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B35FA-3D19-F39E-C957-73E7E313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059A11-5D6F-2A26-7F2B-B940193D7BB7}"/>
              </a:ext>
            </a:extLst>
          </p:cNvPr>
          <p:cNvCxnSpPr/>
          <p:nvPr/>
        </p:nvCxnSpPr>
        <p:spPr>
          <a:xfrm>
            <a:off x="2620490" y="6329680"/>
            <a:ext cx="69510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9034B6-B8B5-562F-D685-C301252FAA2F}"/>
              </a:ext>
            </a:extLst>
          </p:cNvPr>
          <p:cNvCxnSpPr>
            <a:cxnSpLocks/>
          </p:cNvCxnSpPr>
          <p:nvPr/>
        </p:nvCxnSpPr>
        <p:spPr>
          <a:xfrm flipV="1">
            <a:off x="2442149" y="1825625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F2CD1F-8E90-0452-C4F7-5088A994B199}"/>
              </a:ext>
            </a:extLst>
          </p:cNvPr>
          <p:cNvSpPr txBox="1"/>
          <p:nvPr/>
        </p:nvSpPr>
        <p:spPr>
          <a:xfrm>
            <a:off x="5223752" y="6329680"/>
            <a:ext cx="2193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 run time</a:t>
            </a:r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2BAD23-14B8-D00D-E004-D215D3E2AAD0}"/>
              </a:ext>
            </a:extLst>
          </p:cNvPr>
          <p:cNvSpPr txBox="1"/>
          <p:nvPr/>
        </p:nvSpPr>
        <p:spPr>
          <a:xfrm rot="16200000">
            <a:off x="1592100" y="3722449"/>
            <a:ext cx="117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Call stack</a:t>
            </a:r>
            <a:endParaRPr lang="en-IL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002F36-50AB-0E7C-B5A2-D3EA06213F81}"/>
              </a:ext>
            </a:extLst>
          </p:cNvPr>
          <p:cNvCxnSpPr>
            <a:cxnSpLocks/>
          </p:cNvCxnSpPr>
          <p:nvPr/>
        </p:nvCxnSpPr>
        <p:spPr>
          <a:xfrm flipV="1">
            <a:off x="2442149" y="1804153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460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C58FC-D62E-028E-5475-15D78DC8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B5DEE-6D0E-F454-C5A7-678688125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Graphs</a:t>
            </a:r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F9EDB6-8134-2DDF-93B6-E8A9AE0AA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0490" y="1825625"/>
            <a:ext cx="6951019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EEA52-8D2B-1067-D907-F29FFD212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D6552-021F-C8DA-97DC-0241315B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6B0259-E45D-9E14-899E-965CA3351318}"/>
              </a:ext>
            </a:extLst>
          </p:cNvPr>
          <p:cNvCxnSpPr/>
          <p:nvPr/>
        </p:nvCxnSpPr>
        <p:spPr>
          <a:xfrm>
            <a:off x="2620490" y="6329680"/>
            <a:ext cx="69510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1292AC-A335-98D5-17E5-CD8E31D74068}"/>
              </a:ext>
            </a:extLst>
          </p:cNvPr>
          <p:cNvCxnSpPr>
            <a:cxnSpLocks/>
          </p:cNvCxnSpPr>
          <p:nvPr/>
        </p:nvCxnSpPr>
        <p:spPr>
          <a:xfrm flipV="1">
            <a:off x="2442149" y="1825625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C847BE2-7444-1F46-CF19-D52D75A461F6}"/>
              </a:ext>
            </a:extLst>
          </p:cNvPr>
          <p:cNvSpPr txBox="1"/>
          <p:nvPr/>
        </p:nvSpPr>
        <p:spPr>
          <a:xfrm>
            <a:off x="5223752" y="6329680"/>
            <a:ext cx="2193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 run time</a:t>
            </a:r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2C52B8-5A31-2EB8-E2D6-8E851E3427D4}"/>
              </a:ext>
            </a:extLst>
          </p:cNvPr>
          <p:cNvSpPr txBox="1"/>
          <p:nvPr/>
        </p:nvSpPr>
        <p:spPr>
          <a:xfrm rot="16200000">
            <a:off x="1592100" y="3722449"/>
            <a:ext cx="117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Call stack</a:t>
            </a:r>
            <a:endParaRPr lang="en-IL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451AC1-06C9-C889-479C-50FB991D389E}"/>
              </a:ext>
            </a:extLst>
          </p:cNvPr>
          <p:cNvCxnSpPr>
            <a:cxnSpLocks/>
          </p:cNvCxnSpPr>
          <p:nvPr/>
        </p:nvCxnSpPr>
        <p:spPr>
          <a:xfrm flipV="1">
            <a:off x="2442149" y="1804153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7208F72A-96B9-C4D2-088F-F389432AF58E}"/>
              </a:ext>
            </a:extLst>
          </p:cNvPr>
          <p:cNvSpPr/>
          <p:nvPr/>
        </p:nvSpPr>
        <p:spPr>
          <a:xfrm>
            <a:off x="3226519" y="1998133"/>
            <a:ext cx="2337702" cy="2988734"/>
          </a:xfrm>
          <a:prstGeom prst="ellipse">
            <a:avLst/>
          </a:prstGeom>
          <a:noFill/>
          <a:ln w="349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2250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4AD98-70A7-C5CF-69C0-833AFA76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ACDA1-A9F8-1A85-2614-844ECB0A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Graphs</a:t>
            </a:r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79A70C-E5C6-CAAB-C076-382668A48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0490" y="1825625"/>
            <a:ext cx="6951019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71454-F346-AAD7-EB79-814A3AAA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D1932-140F-4451-9AD6-C5DB990E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A447458-4BAE-6840-FBB6-8DA58CB58263}"/>
              </a:ext>
            </a:extLst>
          </p:cNvPr>
          <p:cNvCxnSpPr/>
          <p:nvPr/>
        </p:nvCxnSpPr>
        <p:spPr>
          <a:xfrm>
            <a:off x="2620490" y="6329680"/>
            <a:ext cx="695101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C7204C-7F45-745A-1413-EC5DAE061785}"/>
              </a:ext>
            </a:extLst>
          </p:cNvPr>
          <p:cNvCxnSpPr>
            <a:cxnSpLocks/>
          </p:cNvCxnSpPr>
          <p:nvPr/>
        </p:nvCxnSpPr>
        <p:spPr>
          <a:xfrm flipV="1">
            <a:off x="2442149" y="1825625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3522E76-DB2F-E533-FF58-CE4193CD9107}"/>
              </a:ext>
            </a:extLst>
          </p:cNvPr>
          <p:cNvSpPr txBox="1"/>
          <p:nvPr/>
        </p:nvSpPr>
        <p:spPr>
          <a:xfrm>
            <a:off x="5223752" y="6329680"/>
            <a:ext cx="2193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 run time</a:t>
            </a:r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CBDD8D-D1F9-2BCC-5472-B1FBD0A14A3D}"/>
              </a:ext>
            </a:extLst>
          </p:cNvPr>
          <p:cNvSpPr txBox="1"/>
          <p:nvPr/>
        </p:nvSpPr>
        <p:spPr>
          <a:xfrm rot="16200000">
            <a:off x="1592100" y="3722449"/>
            <a:ext cx="117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Call stack</a:t>
            </a:r>
            <a:endParaRPr lang="en-IL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9BFEF5-8BE0-C889-A026-43917BCDE043}"/>
              </a:ext>
            </a:extLst>
          </p:cNvPr>
          <p:cNvCxnSpPr>
            <a:cxnSpLocks/>
          </p:cNvCxnSpPr>
          <p:nvPr/>
        </p:nvCxnSpPr>
        <p:spPr>
          <a:xfrm flipV="1">
            <a:off x="2442149" y="1804153"/>
            <a:ext cx="0" cy="435133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B95D4E0-73D9-EB44-6032-301317BBE89E}"/>
              </a:ext>
            </a:extLst>
          </p:cNvPr>
          <p:cNvSpPr/>
          <p:nvPr/>
        </p:nvSpPr>
        <p:spPr>
          <a:xfrm>
            <a:off x="6095999" y="3073938"/>
            <a:ext cx="2250333" cy="1799620"/>
          </a:xfrm>
          <a:prstGeom prst="ellipse">
            <a:avLst/>
          </a:prstGeom>
          <a:noFill/>
          <a:ln w="349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40243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E443-8D4C-4FB7-3CC1-538206DA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get the data for Flame Graphs?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04105-9E45-D425-E71B-CA6133172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Lucky for us, modern instrumentation tools do it</a:t>
            </a:r>
          </a:p>
          <a:p>
            <a:pPr lvl="1"/>
            <a:r>
              <a:rPr lang="en-US"/>
              <a:t>E.g., perf, Intel </a:t>
            </a:r>
            <a:r>
              <a:rPr lang="en-US" err="1"/>
              <a:t>vTune</a:t>
            </a:r>
            <a:endParaRPr lang="en-US"/>
          </a:p>
          <a:p>
            <a:endParaRPr lang="en-US"/>
          </a:p>
          <a:p>
            <a:r>
              <a:rPr lang="en-US"/>
              <a:t>Naïve approach: </a:t>
            </a:r>
            <a:br>
              <a:rPr lang="en-US"/>
            </a:br>
            <a:r>
              <a:rPr lang="en-US"/>
              <a:t>Save the call stack on each function call (high overhead)</a:t>
            </a:r>
          </a:p>
          <a:p>
            <a:endParaRPr lang="en-US"/>
          </a:p>
          <a:p>
            <a:r>
              <a:rPr lang="en-US"/>
              <a:t>Common approach: Sampling</a:t>
            </a:r>
          </a:p>
          <a:p>
            <a:pPr lvl="1"/>
            <a:r>
              <a:rPr lang="en-US"/>
              <a:t>Sample the PC and record the branch history</a:t>
            </a:r>
          </a:p>
          <a:p>
            <a:pPr lvl="2"/>
            <a:r>
              <a:rPr lang="en-US"/>
              <a:t>Modern processors have hardware that logs branch history for that purpose</a:t>
            </a:r>
          </a:p>
          <a:p>
            <a:pPr lvl="1"/>
            <a:r>
              <a:rPr lang="en-US"/>
              <a:t>Based on PC, branch history, and binary, reconstruct the call stack</a:t>
            </a:r>
          </a:p>
          <a:p>
            <a:pPr lvl="1"/>
            <a:r>
              <a:rPr lang="en-US" b="1"/>
              <a:t>Pay attention to sampling frequency and regularity!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69059-237E-71FB-072A-6FDA7A9B1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0BB46-CB0A-02FB-E5B8-40C07B05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6854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197AF-B5FE-4256-2E1C-B499E4DD4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00EA-7DC8-971E-466A-3934C5F7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Flame Graphs summary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880F3-4E86-6C69-F34C-76EFC5621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Very intuitive visualization of program run time</a:t>
            </a:r>
          </a:p>
          <a:p>
            <a:pPr lvl="1"/>
            <a:r>
              <a:rPr lang="en-US"/>
              <a:t>Once we learn how to read it </a:t>
            </a:r>
            <a:r>
              <a:rPr lang="en-US">
                <a:sym typeface="Wingdings" panose="05000000000000000000" pitchFamily="2" charset="2"/>
              </a:rPr>
              <a:t></a:t>
            </a:r>
          </a:p>
          <a:p>
            <a:pPr lvl="1"/>
            <a:endParaRPr lang="en-US">
              <a:sym typeface="Wingdings" panose="05000000000000000000" pitchFamily="2" charset="2"/>
            </a:endParaRPr>
          </a:p>
          <a:p>
            <a:r>
              <a:rPr lang="en-US"/>
              <a:t>Points us to the </a:t>
            </a:r>
            <a:r>
              <a:rPr lang="en-US" b="1"/>
              <a:t>where </a:t>
            </a:r>
            <a:r>
              <a:rPr lang="en-US"/>
              <a:t>(code) but not </a:t>
            </a:r>
            <a:r>
              <a:rPr lang="en-US" b="1"/>
              <a:t>why</a:t>
            </a:r>
            <a:r>
              <a:rPr lang="en-US"/>
              <a:t> (cause)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For that we need to look at the code and examine other metrics</a:t>
            </a:r>
          </a:p>
          <a:p>
            <a:pPr lvl="1"/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Look out for sampling frequency tuning knob</a:t>
            </a:r>
          </a:p>
          <a:p>
            <a:pPr lvl="1"/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The first step in navigating performance analysis of programs</a:t>
            </a:r>
          </a:p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B1E7B-840C-B694-CD5B-18E1252C5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F1FBD-35F3-0BF7-102F-4F36289B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89471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F4A37-9E56-E2FB-8234-B6E15829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5806-B0DE-32CA-749D-17719CEEA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36F96-A352-F893-873A-43AF2C78E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Bottleneck visualization methods</a:t>
            </a:r>
          </a:p>
          <a:p>
            <a:pPr lvl="1"/>
            <a:r>
              <a:rPr lang="en-US"/>
              <a:t>Flame graph</a:t>
            </a:r>
          </a:p>
          <a:p>
            <a:pPr lvl="1"/>
            <a:r>
              <a:rPr lang="en-US" b="1"/>
              <a:t>CPI stack</a:t>
            </a:r>
          </a:p>
          <a:p>
            <a:r>
              <a:rPr lang="en-US"/>
              <a:t>Common bottlenecks</a:t>
            </a:r>
          </a:p>
          <a:p>
            <a:pPr lvl="1"/>
            <a:r>
              <a:rPr lang="en-US"/>
              <a:t>Storage</a:t>
            </a:r>
          </a:p>
          <a:p>
            <a:pPr lvl="1"/>
            <a:r>
              <a:rPr lang="en-US"/>
              <a:t>Network</a:t>
            </a:r>
          </a:p>
          <a:p>
            <a:pPr lvl="1"/>
            <a:r>
              <a:rPr lang="en-US"/>
              <a:t>Memory (it’s always the memory)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94A36-215D-04D2-68D9-4DBBCFC9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1CFB18-2001-8AFB-4650-3F3F0285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86791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FCF3-7211-E835-D67F-54566192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CPI stacks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8F180-B5A0-929E-989C-0E3234BBB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Attribute fraction of the CPI is caused by what pipeline stall type</a:t>
            </a:r>
          </a:p>
          <a:p>
            <a:endParaRPr lang="en-US" dirty="0"/>
          </a:p>
          <a:p>
            <a:r>
              <a:rPr lang="en-US" dirty="0"/>
              <a:t>Use performance counters to identify what part of the processor pipeline stalls</a:t>
            </a:r>
          </a:p>
          <a:p>
            <a:endParaRPr lang="en-US" dirty="0"/>
          </a:p>
          <a:p>
            <a:r>
              <a:rPr lang="en-US" dirty="0"/>
              <a:t>Points us to the </a:t>
            </a:r>
            <a:r>
              <a:rPr lang="en-US" b="1" dirty="0"/>
              <a:t>why </a:t>
            </a:r>
            <a:r>
              <a:rPr lang="en-US" dirty="0"/>
              <a:t>(cause) but not </a:t>
            </a:r>
            <a:r>
              <a:rPr lang="en-US" b="1" dirty="0"/>
              <a:t>where</a:t>
            </a:r>
            <a:r>
              <a:rPr lang="en-US" dirty="0"/>
              <a:t> (code)</a:t>
            </a:r>
          </a:p>
          <a:p>
            <a:pPr lvl="1"/>
            <a:endParaRPr lang="en-US" dirty="0"/>
          </a:p>
          <a:p>
            <a:r>
              <a:rPr lang="en-US" dirty="0"/>
              <a:t>Dr. Hanna’s talk described the hierarchical counter methodology, which is very similar to CPI stacks</a:t>
            </a:r>
            <a:endParaRPr lang="en-US" sz="1900" dirty="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endParaRPr lang="en-US" sz="1900" dirty="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r>
              <a:rPr lang="en-US" sz="1900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Pavlovic et al. </a:t>
            </a:r>
            <a:r>
              <a:rPr lang="en-US" sz="1900" b="0" i="0" dirty="0">
                <a:solidFill>
                  <a:srgbClr val="21759B"/>
                </a:solidFill>
                <a:effectLst/>
                <a:latin typeface="Open Sans" panose="020B0606030504020204" pitchFamily="34" charset="0"/>
                <a:hlinkClick r:id="rId2"/>
              </a:rPr>
              <a:t>“On the Memory System Requirements of Future Scientific Applications: Four Case Studies”</a:t>
            </a:r>
            <a:br>
              <a:rPr lang="en-US" sz="1900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</a:br>
            <a:r>
              <a:rPr lang="en-US" sz="1900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In IEEE Intl. Symp. on Workload Characterization (IISWC), Nov 2011.</a:t>
            </a:r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BFD1E-72DA-E2A2-E002-3B086090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6966-ACC2-4053-E6DA-E21AF5D8A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0690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6DCA-54F8-AD90-DABE-0F2F5956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CPI stack: Methodology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79317-F29E-5346-B7F8-489BACE69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233809" cy="4351338"/>
          </a:xfrm>
        </p:spPr>
        <p:txBody>
          <a:bodyPr/>
          <a:lstStyle/>
          <a:p>
            <a:r>
              <a:rPr lang="en-US"/>
              <a:t>Performance counters are architected to cover different pipeline stalls</a:t>
            </a:r>
          </a:p>
          <a:p>
            <a:endParaRPr lang="en-US"/>
          </a:p>
          <a:p>
            <a:r>
              <a:rPr lang="en-US"/>
              <a:t>Use:</a:t>
            </a:r>
          </a:p>
          <a:p>
            <a:pPr lvl="1"/>
            <a:r>
              <a:rPr lang="en-US"/>
              <a:t>Track counters over a period of time</a:t>
            </a:r>
          </a:p>
          <a:p>
            <a:pPr lvl="1"/>
            <a:r>
              <a:rPr lang="en-US"/>
              <a:t>Divide each counter value by total cycles</a:t>
            </a:r>
          </a:p>
          <a:p>
            <a:endParaRPr lang="en-US"/>
          </a:p>
          <a:p>
            <a:r>
              <a:rPr lang="en-US" sz="2800"/>
              <a:t>Example: IBM PowerPC 970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F97C-2F32-527F-3CA3-419DC32DB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9407F-6A3F-5242-DFBE-C0598305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FB87B4-EAF8-D373-7F24-02C4CDB49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010" y="99468"/>
            <a:ext cx="5012100" cy="642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93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B052142-F9AF-D8D3-E993-2ABCFB367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168" y="1093076"/>
            <a:ext cx="6093157" cy="4508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24C93C-3437-3076-2FAD-A19254B4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CPI stack example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01966-E56F-3DB3-1C92-25700082F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3ED63-183A-E82C-D2B0-115AB3AD8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3635C9C-000C-1BAE-E17C-C48C7104A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972502" cy="4351338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  <a:p>
            <a:r>
              <a:rPr lang="en-US"/>
              <a:t>32x IBM PowerPC 970</a:t>
            </a:r>
          </a:p>
          <a:p>
            <a:r>
              <a:rPr lang="en-US" err="1"/>
              <a:t>MareNostrum</a:t>
            </a:r>
            <a:r>
              <a:rPr lang="en-US"/>
              <a:t> supercomputer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App: WRF</a:t>
            </a:r>
            <a:br>
              <a:rPr lang="en-US"/>
            </a:br>
            <a:r>
              <a:rPr lang="en-US"/>
              <a:t>(weather research and forecasting)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sz="2400"/>
              <a:t>[Apologies for the B/W image…]</a:t>
            </a:r>
          </a:p>
          <a:p>
            <a:endParaRPr lang="en-US"/>
          </a:p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65377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B1FB-AF7F-65D0-BFED-EF7E6D93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7053ECB-CC52-9642-D3D7-622BE997E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168" y="1093076"/>
            <a:ext cx="6093157" cy="4508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1F33D2-A86C-5F1D-7740-53BC31198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CPI stack example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D5CE3-D12C-FB90-3AE2-5940A3A6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4538B-CEA2-E7DC-79E6-ACAD2CCB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E0E363-27E8-08AE-A78F-EC081A2EF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972502" cy="4351338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  <a:p>
            <a:r>
              <a:rPr lang="en-US"/>
              <a:t>32x IBM PowerPC 970</a:t>
            </a:r>
          </a:p>
          <a:p>
            <a:r>
              <a:rPr lang="en-US" err="1"/>
              <a:t>MareNostrum</a:t>
            </a:r>
            <a:r>
              <a:rPr lang="en-US"/>
              <a:t> supercomputer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App: WRF</a:t>
            </a:r>
            <a:br>
              <a:rPr lang="en-US"/>
            </a:br>
            <a:r>
              <a:rPr lang="en-US"/>
              <a:t>(weather research and forecasting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sz="2400"/>
              <a:t>[Apologies for the B/W image…]</a:t>
            </a:r>
          </a:p>
          <a:p>
            <a:endParaRPr lang="en-US"/>
          </a:p>
          <a:p>
            <a:endParaRPr lang="en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87554-DBEB-3FCE-B3C1-9369D018C6D4}"/>
              </a:ext>
            </a:extLst>
          </p:cNvPr>
          <p:cNvSpPr txBox="1"/>
          <p:nvPr/>
        </p:nvSpPr>
        <p:spPr>
          <a:xfrm>
            <a:off x="7369128" y="5827197"/>
            <a:ext cx="3550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Floating point stalls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(not enough FPUs; no pipelining)</a:t>
            </a:r>
            <a:endParaRPr lang="en-IL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DACE02-EF99-2F9D-FE9F-261F34D3C458}"/>
              </a:ext>
            </a:extLst>
          </p:cNvPr>
          <p:cNvCxnSpPr>
            <a:cxnSpLocks/>
          </p:cNvCxnSpPr>
          <p:nvPr/>
        </p:nvCxnSpPr>
        <p:spPr>
          <a:xfrm flipV="1">
            <a:off x="8394700" y="3689350"/>
            <a:ext cx="1054100" cy="2165350"/>
          </a:xfrm>
          <a:prstGeom prst="straightConnector1">
            <a:avLst/>
          </a:prstGeom>
          <a:ln>
            <a:solidFill>
              <a:srgbClr val="FF0000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398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FDC56-C1FD-7270-46AB-B8097F071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D488704-A939-6C6D-06CC-7C930CC7A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168" y="1093076"/>
            <a:ext cx="6093157" cy="4508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CB53AF-D928-DFB7-1832-465CD1752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CPI stack example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57CB2-536C-5DF8-478B-49C52EF0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C1E83-5600-171D-12D8-55755D48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662F40-F52C-5379-4549-17127350C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972502" cy="4351338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  <a:p>
            <a:r>
              <a:rPr lang="en-US"/>
              <a:t>32x IBM PowerPC 970</a:t>
            </a:r>
          </a:p>
          <a:p>
            <a:r>
              <a:rPr lang="en-US" err="1"/>
              <a:t>MareNostrum</a:t>
            </a:r>
            <a:r>
              <a:rPr lang="en-US"/>
              <a:t> supercomputer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App: WRF</a:t>
            </a:r>
            <a:br>
              <a:rPr lang="en-US"/>
            </a:br>
            <a:r>
              <a:rPr lang="en-US"/>
              <a:t>(weather research and forecasting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sz="2400"/>
              <a:t>[Apologies for the B/W image…]</a:t>
            </a:r>
          </a:p>
          <a:p>
            <a:endParaRPr lang="en-US"/>
          </a:p>
          <a:p>
            <a:endParaRPr lang="en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898D5-F118-43A5-8861-1BFD4A285F23}"/>
              </a:ext>
            </a:extLst>
          </p:cNvPr>
          <p:cNvSpPr txBox="1"/>
          <p:nvPr/>
        </p:nvSpPr>
        <p:spPr>
          <a:xfrm>
            <a:off x="7369128" y="5992297"/>
            <a:ext cx="216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Data cache misses</a:t>
            </a:r>
            <a:endParaRPr lang="en-IL" b="1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942F8D-0DCB-ADC7-E569-23F5F1435929}"/>
              </a:ext>
            </a:extLst>
          </p:cNvPr>
          <p:cNvCxnSpPr>
            <a:stCxn id="3" idx="0"/>
          </p:cNvCxnSpPr>
          <p:nvPr/>
        </p:nvCxnSpPr>
        <p:spPr>
          <a:xfrm flipV="1">
            <a:off x="8451476" y="4348264"/>
            <a:ext cx="809256" cy="1644033"/>
          </a:xfrm>
          <a:prstGeom prst="straightConnector1">
            <a:avLst/>
          </a:prstGeom>
          <a:ln>
            <a:solidFill>
              <a:srgbClr val="FF0000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477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9266-431B-32C5-1514-90650AFE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Sampling for CPI stacks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7B758-5588-D68F-A5EA-3F80DD52E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Decide on sampling periods </a:t>
            </a:r>
          </a:p>
          <a:p>
            <a:pPr lvl="1"/>
            <a:r>
              <a:rPr lang="en-US"/>
              <a:t>Short periods more accurate, but incur more overhead</a:t>
            </a:r>
          </a:p>
          <a:p>
            <a:pPr lvl="1"/>
            <a:r>
              <a:rPr lang="en-US"/>
              <a:t>5 seconds in WRF example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r>
              <a:rPr lang="en-US"/>
              <a:t>Problem: We cannot track all counters at the same time</a:t>
            </a:r>
          </a:p>
          <a:p>
            <a:pPr lvl="1"/>
            <a:r>
              <a:rPr lang="en-US"/>
              <a:t>Need to track different sets of counters </a:t>
            </a:r>
          </a:p>
          <a:p>
            <a:pPr lvl="1"/>
            <a:r>
              <a:rPr lang="en-US"/>
              <a:t>Interleave samples across time and space</a:t>
            </a:r>
          </a:p>
          <a:p>
            <a:pPr lvl="1"/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45E2C-15B9-D2EF-9E8D-7CA09CAB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67D-0745-30A8-B67B-EE1961DB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85620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0C55-86D0-890E-2AB5-C5F8F8863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Sampling for CPI stacks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B233A-0BE9-3B5C-F3C5-4112D6385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6762" cy="4351338"/>
          </a:xfrm>
        </p:spPr>
        <p:txBody>
          <a:bodyPr/>
          <a:lstStyle/>
          <a:p>
            <a:r>
              <a:rPr lang="en-US"/>
              <a:t>Each CPU:</a:t>
            </a:r>
            <a:br>
              <a:rPr lang="en-US"/>
            </a:br>
            <a:r>
              <a:rPr lang="en-US"/>
              <a:t>Iterate counter sets</a:t>
            </a:r>
          </a:p>
          <a:p>
            <a:endParaRPr lang="en-US"/>
          </a:p>
          <a:p>
            <a:r>
              <a:rPr lang="en-US"/>
              <a:t>Cross CPUs:</a:t>
            </a:r>
            <a:br>
              <a:rPr lang="en-US"/>
            </a:br>
            <a:r>
              <a:rPr lang="en-US"/>
              <a:t>Sample different sets</a:t>
            </a:r>
          </a:p>
          <a:p>
            <a:endParaRPr lang="en-US"/>
          </a:p>
          <a:p>
            <a:r>
              <a:rPr lang="en-US"/>
              <a:t>What is the limitation of this method?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6EF2B-4260-37AE-316D-9BCD592C7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04E7F-A527-2573-BC57-158E9A94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BFC3FC-FF27-2F56-5E71-7A74F69FD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027" y="2341191"/>
            <a:ext cx="5839640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70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147D-C7AA-708A-BADB-74625DE7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Sampling for CPI stacks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E5366-08F3-EE39-5897-2FB451F2D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839639" cy="4667249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Need to merge samples</a:t>
            </a:r>
          </a:p>
          <a:p>
            <a:endParaRPr lang="en-US"/>
          </a:p>
          <a:p>
            <a:r>
              <a:rPr lang="en-US"/>
              <a:t>Challenge: </a:t>
            </a:r>
            <a:br>
              <a:rPr lang="en-US"/>
            </a:br>
            <a:r>
              <a:rPr lang="en-US"/>
              <a:t>Sampling periods are not in sync</a:t>
            </a:r>
          </a:p>
          <a:p>
            <a:pPr lvl="1"/>
            <a:r>
              <a:rPr lang="en-US"/>
              <a:t>Assume behavior is uniform inside sampled periods</a:t>
            </a:r>
          </a:p>
          <a:p>
            <a:pPr lvl="1"/>
            <a:r>
              <a:rPr lang="en-US"/>
              <a:t>Break down periods based on exact sampling time</a:t>
            </a:r>
          </a:p>
          <a:p>
            <a:endParaRPr lang="en-US"/>
          </a:p>
          <a:p>
            <a:r>
              <a:rPr lang="en-US"/>
              <a:t>Caveats:</a:t>
            </a:r>
          </a:p>
          <a:p>
            <a:pPr lvl="1"/>
            <a:r>
              <a:rPr lang="en-US"/>
              <a:t>Sampling period must be short enough</a:t>
            </a:r>
          </a:p>
          <a:p>
            <a:pPr lvl="1"/>
            <a:r>
              <a:rPr lang="en-US"/>
              <a:t>Workload must be homogeneous across cores</a:t>
            </a:r>
          </a:p>
          <a:p>
            <a:pPr lvl="1"/>
            <a:endParaRPr lang="en-US"/>
          </a:p>
          <a:p>
            <a:endParaRPr lang="en-US"/>
          </a:p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8535C-47E5-75FF-8DF5-45AB6A21D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F290C-EF39-6906-9C17-82BF6250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FA726F-ED48-9EFC-916E-1F3862881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140" y="2175731"/>
            <a:ext cx="5839640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80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5437-F704-E732-EABD-45D154A9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CPI stacks: More examples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F7DF6-F427-FF44-EC26-08D82AC0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B48B7-A850-2A70-216A-CF9920AC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1971DD-232E-7ADD-DF4F-E2608645E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29" y="1509713"/>
            <a:ext cx="5630061" cy="41439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CA398F-1153-2685-DF97-12A16C9D2ECF}"/>
              </a:ext>
            </a:extLst>
          </p:cNvPr>
          <p:cNvSpPr txBox="1"/>
          <p:nvPr/>
        </p:nvSpPr>
        <p:spPr>
          <a:xfrm>
            <a:off x="1178557" y="5703938"/>
            <a:ext cx="4581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MILC (particle physics simulation), 16 procs.</a:t>
            </a:r>
            <a:endParaRPr lang="en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91D1C4-75C3-35CD-9144-EFF82F7EC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042" y="1546551"/>
            <a:ext cx="5706271" cy="40867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3E8A4C-0D82-41F9-4A31-0DB9C0718F23}"/>
              </a:ext>
            </a:extLst>
          </p:cNvPr>
          <p:cNvSpPr txBox="1"/>
          <p:nvPr/>
        </p:nvSpPr>
        <p:spPr>
          <a:xfrm>
            <a:off x="7369128" y="5992297"/>
            <a:ext cx="2164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Data cache misses</a:t>
            </a:r>
            <a:endParaRPr lang="en-IL" b="1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D89D72-581E-4D46-40EB-1D950B88EABD}"/>
              </a:ext>
            </a:extLst>
          </p:cNvPr>
          <p:cNvCxnSpPr>
            <a:cxnSpLocks/>
          </p:cNvCxnSpPr>
          <p:nvPr/>
        </p:nvCxnSpPr>
        <p:spPr>
          <a:xfrm flipV="1">
            <a:off x="8443009" y="4445000"/>
            <a:ext cx="726391" cy="1547297"/>
          </a:xfrm>
          <a:prstGeom prst="straightConnector1">
            <a:avLst/>
          </a:prstGeom>
          <a:ln>
            <a:solidFill>
              <a:srgbClr val="FF0000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060CB5-24DA-086D-2D9B-8A5EEB8008EB}"/>
              </a:ext>
            </a:extLst>
          </p:cNvPr>
          <p:cNvCxnSpPr>
            <a:cxnSpLocks/>
          </p:cNvCxnSpPr>
          <p:nvPr/>
        </p:nvCxnSpPr>
        <p:spPr>
          <a:xfrm flipH="1" flipV="1">
            <a:off x="4555067" y="4191000"/>
            <a:ext cx="3539066" cy="1801297"/>
          </a:xfrm>
          <a:prstGeom prst="straightConnector1">
            <a:avLst/>
          </a:prstGeom>
          <a:ln>
            <a:solidFill>
              <a:srgbClr val="FF0000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04AE92E-2275-7176-0BF9-37B0B965B7A0}"/>
              </a:ext>
            </a:extLst>
          </p:cNvPr>
          <p:cNvSpPr txBox="1"/>
          <p:nvPr/>
        </p:nvSpPr>
        <p:spPr>
          <a:xfrm>
            <a:off x="8587987" y="5703938"/>
            <a:ext cx="1721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MILC, 32 procs.</a:t>
            </a:r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C9DFC-FE39-B0CB-EEA8-E8D81879EB49}"/>
              </a:ext>
            </a:extLst>
          </p:cNvPr>
          <p:cNvSpPr txBox="1"/>
          <p:nvPr/>
        </p:nvSpPr>
        <p:spPr>
          <a:xfrm>
            <a:off x="3208868" y="6306057"/>
            <a:ext cx="5000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What happens when we move to 32 procs?</a:t>
            </a:r>
            <a:endParaRPr lang="en-IL" b="1"/>
          </a:p>
        </p:txBody>
      </p:sp>
    </p:spTree>
    <p:extLst>
      <p:ext uri="{BB962C8B-B14F-4D97-AF65-F5344CB8AC3E}">
        <p14:creationId xmlns:p14="http://schemas.microsoft.com/office/powerpoint/2010/main" val="118041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146D7-01A9-0DC7-E64F-4C0D61039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CPI stack: See the compute phases</a:t>
            </a:r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080BDA-EDBD-F533-1667-B65FE3469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9999" y="1825625"/>
            <a:ext cx="5892002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39EA8-D782-1B50-B843-1DE8FB50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17F49-2F44-2AAD-E946-95922CD5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41507-C6FF-20A3-2E81-50068FB40BE0}"/>
              </a:ext>
            </a:extLst>
          </p:cNvPr>
          <p:cNvSpPr txBox="1"/>
          <p:nvPr/>
        </p:nvSpPr>
        <p:spPr>
          <a:xfrm>
            <a:off x="4262487" y="6167437"/>
            <a:ext cx="46192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GADGET,  32 procs.</a:t>
            </a:r>
          </a:p>
          <a:p>
            <a:pPr algn="ctr"/>
            <a:r>
              <a:rPr lang="en-US"/>
              <a:t>(</a:t>
            </a:r>
            <a:r>
              <a:rPr lang="en-US" err="1"/>
              <a:t>GAlaxies</a:t>
            </a:r>
            <a:r>
              <a:rPr lang="en-US"/>
              <a:t> with Dark matter and Gas interact)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61864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393DE-A3B8-A053-4E6C-4398865F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CPI stacks: Summary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EA533-A345-41EE-1131-7BA1C557E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Very detailed information of bottlenecks</a:t>
            </a:r>
          </a:p>
          <a:p>
            <a:endParaRPr lang="en-US" dirty="0"/>
          </a:p>
          <a:p>
            <a:r>
              <a:rPr lang="en-US" dirty="0"/>
              <a:t>Typically, we don’t need the full stack; only track specific counters</a:t>
            </a:r>
          </a:p>
          <a:p>
            <a:endParaRPr lang="en-US" dirty="0"/>
          </a:p>
          <a:p>
            <a:r>
              <a:rPr lang="en-US" dirty="0"/>
              <a:t>Doesn’t point us to the problematic code</a:t>
            </a:r>
          </a:p>
          <a:p>
            <a:pPr lvl="1"/>
            <a:r>
              <a:rPr lang="en-US" dirty="0"/>
              <a:t>Should be used in tandem with Flame Graphs (and other tools)</a:t>
            </a:r>
          </a:p>
          <a:p>
            <a:pPr lvl="1"/>
            <a:endParaRPr lang="en-US" dirty="0"/>
          </a:p>
          <a:p>
            <a:r>
              <a:rPr lang="en-US" dirty="0"/>
              <a:t>Requires architectural support for the right counters</a:t>
            </a:r>
          </a:p>
          <a:p>
            <a:pPr lvl="1"/>
            <a:r>
              <a:rPr lang="en-US" dirty="0"/>
              <a:t>Most architecture support it nowadays</a:t>
            </a:r>
          </a:p>
          <a:p>
            <a:pPr lvl="1"/>
            <a:endParaRPr lang="en-US" dirty="0"/>
          </a:p>
          <a:p>
            <a:r>
              <a:rPr lang="en-US" dirty="0"/>
              <a:t>An earlier name for hierarchical stall methodology Mr. Hanna described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41E95-A6C0-19F7-088C-79611633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55C09-6B8F-62EF-9FC4-3EDED77F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9412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F4E3A-5D79-D634-D420-DBF2659B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84B1-4EE2-C261-6E91-6A1BB5971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B5083-729A-EBDA-B001-6D50B84C6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Bottleneck visualization methods</a:t>
            </a:r>
          </a:p>
          <a:p>
            <a:pPr lvl="1"/>
            <a:r>
              <a:rPr lang="en-US"/>
              <a:t>Flame graph</a:t>
            </a:r>
          </a:p>
          <a:p>
            <a:pPr lvl="1"/>
            <a:r>
              <a:rPr lang="en-US"/>
              <a:t>CPI stack</a:t>
            </a:r>
          </a:p>
          <a:p>
            <a:r>
              <a:rPr lang="en-US"/>
              <a:t>Common bottlenecks</a:t>
            </a:r>
          </a:p>
          <a:p>
            <a:pPr lvl="1"/>
            <a:r>
              <a:rPr lang="en-US" b="1"/>
              <a:t>Storage</a:t>
            </a:r>
          </a:p>
          <a:p>
            <a:pPr lvl="1"/>
            <a:r>
              <a:rPr lang="en-US"/>
              <a:t>Network</a:t>
            </a:r>
          </a:p>
          <a:p>
            <a:pPr lvl="1"/>
            <a:r>
              <a:rPr lang="en-US"/>
              <a:t>Memory (it’s always the memory)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0AD2D-BD6B-6C38-4DB0-FCCE2A5C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460907-6A11-3C27-DCB1-5748ADFF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783079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9CE3-296B-A9E1-AA10-E9B111E71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Storage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41F6C-3CD3-EA5C-046A-1DBE6741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Storage (aka, disk), is a clear bottleneck</a:t>
            </a:r>
          </a:p>
          <a:p>
            <a:pPr lvl="1"/>
            <a:r>
              <a:rPr lang="en-US"/>
              <a:t>High latency</a:t>
            </a:r>
          </a:p>
          <a:p>
            <a:pPr lvl="1"/>
            <a:r>
              <a:rPr lang="en-US"/>
              <a:t>Low BW (compared to, e.g., memory)</a:t>
            </a:r>
          </a:p>
          <a:p>
            <a:pPr lvl="1"/>
            <a:endParaRPr lang="en-US"/>
          </a:p>
          <a:p>
            <a:r>
              <a:rPr lang="en-US"/>
              <a:t>The bottleneck is so clear that systems are built to hide it</a:t>
            </a:r>
          </a:p>
          <a:p>
            <a:endParaRPr lang="en-US"/>
          </a:p>
          <a:p>
            <a:r>
              <a:rPr lang="en-US"/>
              <a:t>Systems typically tackle this by restructuring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03353-08D4-E870-9914-C51160C8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5D8E0-8F1F-F158-4A37-59DEDE17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8554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5178-7F47-5B67-04FE-1442B73B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9A9C-5804-C0FB-5C17-8AD4BF6A8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Storage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71ED4-10CD-6893-C4A5-6FC2969D2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High-end SSD example: Micron 9550 SSD</a:t>
            </a:r>
          </a:p>
          <a:p>
            <a:pPr lvl="1"/>
            <a:r>
              <a:rPr lang="en-US"/>
              <a:t>Latency (typical):</a:t>
            </a:r>
          </a:p>
          <a:p>
            <a:pPr lvl="2"/>
            <a:r>
              <a:rPr lang="en-US"/>
              <a:t>Read: 60us (over 200x slower than DRAM)</a:t>
            </a:r>
          </a:p>
          <a:p>
            <a:pPr lvl="2"/>
            <a:r>
              <a:rPr lang="en-US"/>
              <a:t>Write: 10us</a:t>
            </a:r>
          </a:p>
          <a:p>
            <a:pPr lvl="1"/>
            <a:endParaRPr lang="en-US"/>
          </a:p>
          <a:p>
            <a:pPr lvl="1"/>
            <a:r>
              <a:rPr lang="en-US"/>
              <a:t>BW:</a:t>
            </a:r>
          </a:p>
          <a:p>
            <a:pPr lvl="2"/>
            <a:r>
              <a:rPr lang="en-US"/>
              <a:t>Read sequential: 14GB/s</a:t>
            </a:r>
          </a:p>
          <a:p>
            <a:pPr lvl="2"/>
            <a:r>
              <a:rPr lang="en-US"/>
              <a:t>Write sequential: 10GB/s</a:t>
            </a:r>
          </a:p>
          <a:p>
            <a:pPr lvl="2"/>
            <a:endParaRPr lang="en-US"/>
          </a:p>
          <a:p>
            <a:pPr lvl="2"/>
            <a:r>
              <a:rPr lang="en-US"/>
              <a:t>Read random: 11.2GB/s</a:t>
            </a:r>
          </a:p>
          <a:p>
            <a:pPr lvl="2"/>
            <a:r>
              <a:rPr lang="en-US"/>
              <a:t>Write random: 1.6GB/s</a:t>
            </a:r>
          </a:p>
          <a:p>
            <a:pPr lvl="1"/>
            <a:endParaRPr lang="en-US"/>
          </a:p>
          <a:p>
            <a:pPr lvl="2"/>
            <a:endParaRPr lang="en-US"/>
          </a:p>
          <a:p>
            <a:pPr lvl="2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78FB7-48DF-6B2E-51AF-8F41B6F7F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80AB5-A71D-87C4-F8D5-3CA60E6E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915F98-704B-C57B-7D34-8CAEA85FE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547" y="3981161"/>
            <a:ext cx="3634431" cy="219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379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38ED6-5A65-F12E-B53D-8FCA08EE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03A7-4ACF-ADF2-654D-29A93722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Storage: Latency hiding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F65B2-EE0E-7C28-1146-F9F46A801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Latency is the biggest problem; how to we hide it?</a:t>
            </a:r>
          </a:p>
          <a:p>
            <a:endParaRPr lang="en-US"/>
          </a:p>
          <a:p>
            <a:r>
              <a:rPr lang="en-US"/>
              <a:t>First thing to try: </a:t>
            </a:r>
            <a:r>
              <a:rPr lang="en-US" b="1"/>
              <a:t>Cache data in memory</a:t>
            </a:r>
          </a:p>
          <a:p>
            <a:pPr lvl="1"/>
            <a:r>
              <a:rPr lang="en-US"/>
              <a:t>E.g., OS page cache</a:t>
            </a:r>
          </a:p>
          <a:p>
            <a:pPr lvl="1"/>
            <a:r>
              <a:rPr lang="en-US"/>
              <a:t>In-memory databases</a:t>
            </a:r>
          </a:p>
          <a:p>
            <a:pPr lvl="1"/>
            <a:r>
              <a:rPr lang="en-US"/>
              <a:t>Spread memory across multiple servers (e.g., Apache Spark for data analytics)</a:t>
            </a:r>
          </a:p>
          <a:p>
            <a:endParaRPr lang="en-US"/>
          </a:p>
          <a:p>
            <a:r>
              <a:rPr lang="en-US"/>
              <a:t>If that fails, use </a:t>
            </a:r>
            <a:r>
              <a:rPr lang="en-US" b="1"/>
              <a:t>multiprocessing / multithreading</a:t>
            </a:r>
          </a:p>
          <a:p>
            <a:pPr lvl="1"/>
            <a:r>
              <a:rPr lang="en-US"/>
              <a:t>Latencies are so big that SW solutions are sufficient (latency &gt;&gt; context switch)</a:t>
            </a:r>
          </a:p>
          <a:p>
            <a:pPr lvl="1"/>
            <a:r>
              <a:rPr lang="en-US"/>
              <a:t>Concurrent accesses</a:t>
            </a:r>
          </a:p>
          <a:p>
            <a:pPr lvl="1"/>
            <a:r>
              <a:rPr lang="en-US"/>
              <a:t>Process one data item while requesting new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B46DC-A9C4-CA3A-2094-205F9E642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0B36B-6435-17AA-4C7C-3AEB1BDB1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1560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BEB06-6E5B-6C37-28FC-4F3FEBBC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EEAD-42D5-656F-6657-D1A8B861B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Storage: Bandwidth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1B10-D619-9741-D534-A20FAB30A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How do we deal with the limited storage bandwidth?</a:t>
            </a:r>
          </a:p>
          <a:p>
            <a:endParaRPr lang="en-US"/>
          </a:p>
          <a:p>
            <a:r>
              <a:rPr lang="en-US"/>
              <a:t>Data sharding: Partition data across multiple disks</a:t>
            </a:r>
          </a:p>
          <a:p>
            <a:pPr lvl="1"/>
            <a:r>
              <a:rPr lang="en-US"/>
              <a:t>E.g., split a database table across multiple disks/servers</a:t>
            </a:r>
          </a:p>
          <a:p>
            <a:pPr lvl="1"/>
            <a:r>
              <a:rPr lang="en-US"/>
              <a:t>Higher aggregate bandwidth, no storage waste</a:t>
            </a:r>
          </a:p>
          <a:p>
            <a:endParaRPr lang="en-US"/>
          </a:p>
          <a:p>
            <a:r>
              <a:rPr lang="en-US"/>
              <a:t>Data replication:</a:t>
            </a:r>
          </a:p>
          <a:p>
            <a:pPr lvl="1"/>
            <a:r>
              <a:rPr lang="en-US"/>
              <a:t>Wastes storage</a:t>
            </a:r>
          </a:p>
          <a:p>
            <a:pPr lvl="1"/>
            <a:r>
              <a:rPr lang="en-US"/>
              <a:t>Used when the same data accessed repeatedly, and caching can’t help</a:t>
            </a:r>
          </a:p>
          <a:p>
            <a:pPr lvl="1"/>
            <a:r>
              <a:rPr lang="en-US"/>
              <a:t>On the plus side, provides redundancy</a:t>
            </a:r>
          </a:p>
          <a:p>
            <a:pPr lvl="1"/>
            <a:r>
              <a:rPr lang="en-US"/>
              <a:t>E.g., RAID1+</a:t>
            </a:r>
          </a:p>
          <a:p>
            <a:pPr lvl="1"/>
            <a:r>
              <a:rPr lang="en-US"/>
              <a:t>E.g., GFS maintains 3 copies of each 64MB block</a:t>
            </a:r>
          </a:p>
          <a:p>
            <a:pPr lvl="2"/>
            <a:r>
              <a:rPr lang="en-US" sz="1700" i="1"/>
              <a:t>Sanjay Ghemawat, Howard </a:t>
            </a:r>
            <a:r>
              <a:rPr lang="en-US" sz="1700" i="1" err="1"/>
              <a:t>Gobioff</a:t>
            </a:r>
            <a:r>
              <a:rPr lang="en-US" sz="1700" i="1"/>
              <a:t>, and Shun-Tak Leung, The Google File System, In SOSP 2003</a:t>
            </a:r>
            <a:endParaRPr lang="en-US" sz="2200" i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9749F-BEA7-71E7-3CFB-A787AF3BA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71ECD-5767-AC5A-818C-8B5373B3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04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8D624-CE75-798F-234E-01A9500DA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535E-1929-3837-CE09-FA45D6EE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Storage: Trends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AEBD5-7E51-FB10-3CD2-744EEAA1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Moving storage to network offers multiple benefits</a:t>
            </a:r>
          </a:p>
          <a:p>
            <a:pPr lvl="1"/>
            <a:r>
              <a:rPr lang="en-US" dirty="0"/>
              <a:t>Disaggregated storage: </a:t>
            </a:r>
            <a:br>
              <a:rPr lang="en-US" dirty="0"/>
            </a:br>
            <a:r>
              <a:rPr lang="en-US" dirty="0"/>
              <a:t>Increasing storage capacity/BW does not affect server configuration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Dealing with data gravity:</a:t>
            </a:r>
            <a:br>
              <a:rPr lang="en-US" dirty="0"/>
            </a:br>
            <a:r>
              <a:rPr lang="en-US" dirty="0"/>
              <a:t>Compute can connect to data across the data center</a:t>
            </a:r>
          </a:p>
          <a:p>
            <a:pPr lvl="1"/>
            <a:endParaRPr lang="en-US" dirty="0"/>
          </a:p>
          <a:p>
            <a:r>
              <a:rPr lang="en-US" dirty="0" err="1"/>
              <a:t>NVMe</a:t>
            </a:r>
            <a:endParaRPr lang="en-US" dirty="0"/>
          </a:p>
          <a:p>
            <a:pPr lvl="1"/>
            <a:r>
              <a:rPr lang="en-US" dirty="0" err="1"/>
              <a:t>NVMe</a:t>
            </a:r>
            <a:r>
              <a:rPr lang="en-US" dirty="0"/>
              <a:t> started over PCIe, overtook slower storage device protocols </a:t>
            </a:r>
          </a:p>
          <a:p>
            <a:pPr lvl="2"/>
            <a:r>
              <a:rPr lang="en-US" dirty="0"/>
              <a:t>-e.g., SAS, SATA, SCSI, iSCSI</a:t>
            </a:r>
          </a:p>
          <a:p>
            <a:pPr lvl="1"/>
            <a:r>
              <a:rPr lang="en-US" dirty="0" err="1"/>
              <a:t>NVMe</a:t>
            </a:r>
            <a:r>
              <a:rPr lang="en-US" dirty="0"/>
              <a:t>-over-Fabric (</a:t>
            </a:r>
            <a:r>
              <a:rPr lang="en-US" dirty="0" err="1"/>
              <a:t>NVMe</a:t>
            </a:r>
            <a:r>
              <a:rPr lang="en-US" dirty="0"/>
              <a:t>-OF) lets servers use remote storage over network</a:t>
            </a:r>
          </a:p>
          <a:p>
            <a:pPr lvl="2"/>
            <a:r>
              <a:rPr lang="en-US" dirty="0" err="1"/>
              <a:t>SmartNICs</a:t>
            </a:r>
            <a:r>
              <a:rPr lang="en-US" dirty="0"/>
              <a:t> take care of that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CBB25-04D8-AF89-6D21-1237A4460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16B77-ED80-CCC7-C5E6-6645E9DF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1429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28E75-E45E-010C-9BDE-FA71B2BE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96CE-D655-90A2-DF19-1146B4BA3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4E363-5179-6EC3-4F66-E4778E507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Bottleneck visualization methods</a:t>
            </a:r>
          </a:p>
          <a:p>
            <a:pPr lvl="1"/>
            <a:r>
              <a:rPr lang="en-US"/>
              <a:t>Flame graph</a:t>
            </a:r>
          </a:p>
          <a:p>
            <a:pPr lvl="1"/>
            <a:r>
              <a:rPr lang="en-US"/>
              <a:t>CPI stack</a:t>
            </a:r>
          </a:p>
          <a:p>
            <a:r>
              <a:rPr lang="en-US"/>
              <a:t>Common bottlenecks</a:t>
            </a:r>
          </a:p>
          <a:p>
            <a:pPr lvl="1"/>
            <a:r>
              <a:rPr lang="en-US"/>
              <a:t>Storage</a:t>
            </a:r>
          </a:p>
          <a:p>
            <a:pPr lvl="1"/>
            <a:r>
              <a:rPr lang="en-US" b="1"/>
              <a:t>Network</a:t>
            </a:r>
          </a:p>
          <a:p>
            <a:pPr lvl="1"/>
            <a:r>
              <a:rPr lang="en-US"/>
              <a:t>Memory (it’s always the memory)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D08F0-9420-A21D-E252-C451F2315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64D50F-35B4-7C1B-E0D5-43CB0B7DB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28499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E9F1-4D9B-443B-6F5B-A37643505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8C54F-B84F-ABCB-C717-4F5701431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uint8_t byte;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while(not finished)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read(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&amp;byte, 1);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process_byte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(byte);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2C143-878E-9498-4B57-766E93477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AEC0B-5986-FA56-62D9-FFCA339D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E7DE6F-E5A6-4381-A76D-5E891CA8D64B}"/>
              </a:ext>
            </a:extLst>
          </p:cNvPr>
          <p:cNvCxnSpPr>
            <a:cxnSpLocks/>
          </p:cNvCxnSpPr>
          <p:nvPr/>
        </p:nvCxnSpPr>
        <p:spPr>
          <a:xfrm>
            <a:off x="11805775" y="1144087"/>
            <a:ext cx="0" cy="534878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6C5B2F-839E-B27B-228B-D1457AA55663}"/>
              </a:ext>
            </a:extLst>
          </p:cNvPr>
          <p:cNvCxnSpPr>
            <a:cxnSpLocks/>
          </p:cNvCxnSpPr>
          <p:nvPr/>
        </p:nvCxnSpPr>
        <p:spPr>
          <a:xfrm>
            <a:off x="11550993" y="1684661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8D6F365-2278-60E8-96F0-5C8B065697DE}"/>
              </a:ext>
            </a:extLst>
          </p:cNvPr>
          <p:cNvSpPr txBox="1"/>
          <p:nvPr/>
        </p:nvSpPr>
        <p:spPr>
          <a:xfrm flipH="1">
            <a:off x="11042778" y="646406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NIC</a:t>
            </a:r>
            <a:br>
              <a:rPr lang="en-US"/>
            </a:br>
            <a:r>
              <a:rPr lang="en-US"/>
              <a:t>driver</a:t>
            </a:r>
            <a:endParaRPr lang="en-IL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717DA9-4D35-FFF6-2732-B5CB0110FD7E}"/>
              </a:ext>
            </a:extLst>
          </p:cNvPr>
          <p:cNvCxnSpPr>
            <a:cxnSpLocks/>
          </p:cNvCxnSpPr>
          <p:nvPr/>
        </p:nvCxnSpPr>
        <p:spPr>
          <a:xfrm>
            <a:off x="9784342" y="2099779"/>
            <a:ext cx="886152" cy="72712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83CE5B-D741-F477-8A59-77A1A6B30875}"/>
              </a:ext>
            </a:extLst>
          </p:cNvPr>
          <p:cNvSpPr txBox="1"/>
          <p:nvPr/>
        </p:nvSpPr>
        <p:spPr>
          <a:xfrm rot="1664981" flipH="1">
            <a:off x="10052570" y="2213264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Request</a:t>
            </a:r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4093E0-0F01-7EBE-DAB5-00CDFFE6EF82}"/>
              </a:ext>
            </a:extLst>
          </p:cNvPr>
          <p:cNvSpPr txBox="1"/>
          <p:nvPr/>
        </p:nvSpPr>
        <p:spPr>
          <a:xfrm rot="20899348" flipH="1">
            <a:off x="9833036" y="4162622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Response(s)</a:t>
            </a:r>
            <a:endParaRPr lang="en-IL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3CEEC5-5158-4171-FF53-2DEEFE1577AA}"/>
              </a:ext>
            </a:extLst>
          </p:cNvPr>
          <p:cNvCxnSpPr>
            <a:cxnSpLocks/>
          </p:cNvCxnSpPr>
          <p:nvPr/>
        </p:nvCxnSpPr>
        <p:spPr>
          <a:xfrm>
            <a:off x="9744137" y="1673140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F206A98-AA1D-5048-D905-30049CC12954}"/>
              </a:ext>
            </a:extLst>
          </p:cNvPr>
          <p:cNvSpPr txBox="1"/>
          <p:nvPr/>
        </p:nvSpPr>
        <p:spPr>
          <a:xfrm flipH="1">
            <a:off x="9277501" y="623004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App</a:t>
            </a:r>
            <a:endParaRPr lang="en-IL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52FC2F-C47D-0C77-D2D9-CABC8EE2EEF8}"/>
              </a:ext>
            </a:extLst>
          </p:cNvPr>
          <p:cNvCxnSpPr>
            <a:cxnSpLocks/>
          </p:cNvCxnSpPr>
          <p:nvPr/>
        </p:nvCxnSpPr>
        <p:spPr>
          <a:xfrm>
            <a:off x="10691149" y="1684661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2DCB796-1DE3-D5C1-2B50-47E9E04CF07A}"/>
              </a:ext>
            </a:extLst>
          </p:cNvPr>
          <p:cNvSpPr txBox="1"/>
          <p:nvPr/>
        </p:nvSpPr>
        <p:spPr>
          <a:xfrm flipH="1">
            <a:off x="10230202" y="632442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283EB8E-1470-FF7D-900A-45B080D8F20E}"/>
              </a:ext>
            </a:extLst>
          </p:cNvPr>
          <p:cNvCxnSpPr>
            <a:cxnSpLocks/>
          </p:cNvCxnSpPr>
          <p:nvPr/>
        </p:nvCxnSpPr>
        <p:spPr>
          <a:xfrm>
            <a:off x="10697309" y="2895524"/>
            <a:ext cx="826424" cy="14826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BE90DA1-5410-49EA-6925-532B5817B0A2}"/>
              </a:ext>
            </a:extLst>
          </p:cNvPr>
          <p:cNvGrpSpPr/>
          <p:nvPr/>
        </p:nvGrpSpPr>
        <p:grpSpPr>
          <a:xfrm>
            <a:off x="10684990" y="4539914"/>
            <a:ext cx="829400" cy="1007318"/>
            <a:chOff x="7449802" y="4003269"/>
            <a:chExt cx="891467" cy="1007318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DFE4653-CC22-433B-EDF2-48F301CB9A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4831" y="4638159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AEC8807-579A-1045-6E03-75D58FB204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1656" y="4003269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7302923-DC98-A3B9-E936-7B0E2191BE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49802" y="4311148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2E3FE67-6C06-D52B-236B-510FD86AA6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4820" y="4919064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22300C9-30B4-0222-1630-D0CDF2515A17}"/>
              </a:ext>
            </a:extLst>
          </p:cNvPr>
          <p:cNvGrpSpPr/>
          <p:nvPr/>
        </p:nvGrpSpPr>
        <p:grpSpPr>
          <a:xfrm>
            <a:off x="9785863" y="4870114"/>
            <a:ext cx="884631" cy="1007318"/>
            <a:chOff x="6571191" y="4557972"/>
            <a:chExt cx="884631" cy="1007318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369F9A3-D022-DD2E-B414-D1A5C9C254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6220" y="5192862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40CBBE2-4973-E8FA-D074-77C418D379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3317" y="4557972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E208D1F-12B0-F529-840B-FFF5CF878F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1191" y="4865851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2A854CD-BDF6-5EC6-11B8-762E2A4D9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6209" y="5473767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1806747-80A3-5328-910C-17F354DDD210}"/>
              </a:ext>
            </a:extLst>
          </p:cNvPr>
          <p:cNvSpPr txBox="1"/>
          <p:nvPr/>
        </p:nvSpPr>
        <p:spPr>
          <a:xfrm rot="5400000" flipH="1">
            <a:off x="11697257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Time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534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18" grpId="0"/>
      <p:bldP spid="20" grpId="0"/>
      <p:bldP spid="22" grpId="0"/>
      <p:bldP spid="4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1DDF5-CB2D-9055-691B-B64D0822C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16B21-6822-F83E-7FD4-9335777A2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Modern networks offer very high speeds and low latency</a:t>
            </a:r>
          </a:p>
          <a:p>
            <a:pPr lvl="1"/>
            <a:endParaRPr lang="en-US" dirty="0"/>
          </a:p>
          <a:p>
            <a:r>
              <a:rPr lang="en-US" dirty="0"/>
              <a:t>Bandwidth: 400gbs = 50GB/s</a:t>
            </a:r>
          </a:p>
          <a:p>
            <a:pPr lvl="1"/>
            <a:r>
              <a:rPr lang="en-US" dirty="0"/>
              <a:t>A DDR5 memory controller offers ~50GB/s</a:t>
            </a:r>
          </a:p>
          <a:p>
            <a:pPr lvl="1"/>
            <a:r>
              <a:rPr lang="en-US" dirty="0"/>
              <a:t>High-end servers have 8-16 controllers (but also several NICs)</a:t>
            </a:r>
          </a:p>
          <a:p>
            <a:pPr lvl="1"/>
            <a:endParaRPr lang="en-US" dirty="0"/>
          </a:p>
          <a:p>
            <a:r>
              <a:rPr lang="en-US" dirty="0"/>
              <a:t>Latency: 100s of nanoseconds between nodes in the same rack</a:t>
            </a:r>
          </a:p>
          <a:p>
            <a:pPr lvl="1"/>
            <a:r>
              <a:rPr lang="en-US" dirty="0"/>
              <a:t>Every switch on the way takes ~200ns</a:t>
            </a:r>
          </a:p>
          <a:p>
            <a:pPr lvl="1"/>
            <a:endParaRPr lang="en-US" dirty="0"/>
          </a:p>
          <a:p>
            <a:r>
              <a:rPr lang="en-US" dirty="0"/>
              <a:t>As networks are so fast, a key challenge is removing delays in the server</a:t>
            </a:r>
          </a:p>
          <a:p>
            <a:endParaRPr lang="en-US" dirty="0"/>
          </a:p>
          <a:p>
            <a:r>
              <a:rPr lang="en-US" dirty="0"/>
              <a:t>RDMA is getting more popular, but we won’t get to it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22E4-9982-AB68-32E5-F71FC490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49317-A6E7-BFF7-F1CF-D32F5BF3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899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8E9D-9C19-BBEF-7CC5-F23F0FFB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Network: How the system works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6DE37-4262-77E4-A8D0-242CF278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90E33-5CFE-FB4B-CB5B-EAC54B75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3074" name="Picture 2" descr="ConnectX-7 25/50/100/200400G SmartNIC">
            <a:extLst>
              <a:ext uri="{FF2B5EF4-FFF2-40B4-BE49-F238E27FC236}">
                <a16:creationId xmlns:a16="http://schemas.microsoft.com/office/drawing/2014/main" id="{AD4E84F2-6061-AEC6-FC79-6EAE76AB17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4" t="9385" r="16001" b="10380"/>
          <a:stretch/>
        </p:blipFill>
        <p:spPr bwMode="auto">
          <a:xfrm>
            <a:off x="264225" y="4772024"/>
            <a:ext cx="2052000" cy="13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5893A4-57FF-E973-1F5B-57688EDCA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006" y="1454546"/>
            <a:ext cx="4315364" cy="1146940"/>
          </a:xfrm>
          <a:prstGeom prst="rect">
            <a:avLst/>
          </a:prstGeom>
        </p:spPr>
      </p:pic>
      <p:pic>
        <p:nvPicPr>
          <p:cNvPr id="11" name="Graphic 10" descr="Processor outline">
            <a:extLst>
              <a:ext uri="{FF2B5EF4-FFF2-40B4-BE49-F238E27FC236}">
                <a16:creationId xmlns:a16="http://schemas.microsoft.com/office/drawing/2014/main" id="{A879150D-1C07-3637-5338-FB975746D2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1975" y="2925976"/>
            <a:ext cx="4486276" cy="4486276"/>
          </a:xfrm>
          <a:prstGeom prst="rect">
            <a:avLst/>
          </a:prstGeom>
        </p:spPr>
      </p:pic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9DF27E24-639E-C8E4-05AC-3BA7AEB4D3DA}"/>
              </a:ext>
            </a:extLst>
          </p:cNvPr>
          <p:cNvSpPr/>
          <p:nvPr/>
        </p:nvSpPr>
        <p:spPr>
          <a:xfrm rot="16200000">
            <a:off x="5784979" y="3139946"/>
            <a:ext cx="1795419" cy="487576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DDR5 50GB/s</a:t>
            </a:r>
            <a:endParaRPr lang="en-IL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0EB14953-447A-3684-5149-DCFB7F70D199}"/>
              </a:ext>
            </a:extLst>
          </p:cNvPr>
          <p:cNvSpPr/>
          <p:nvPr/>
        </p:nvSpPr>
        <p:spPr>
          <a:xfrm>
            <a:off x="2381250" y="5227424"/>
            <a:ext cx="2981325" cy="487576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PCIe gen5 64GB/s</a:t>
            </a:r>
            <a:endParaRPr lang="en-IL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F71B638-0C91-4597-5946-C7281AE0579E}"/>
              </a:ext>
            </a:extLst>
          </p:cNvPr>
          <p:cNvSpPr/>
          <p:nvPr/>
        </p:nvSpPr>
        <p:spPr>
          <a:xfrm>
            <a:off x="5472112" y="5246474"/>
            <a:ext cx="1247776" cy="4875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PCIe</a:t>
            </a:r>
            <a:br>
              <a:rPr lang="en-US"/>
            </a:br>
            <a:r>
              <a:rPr lang="en-US" sz="1400"/>
              <a:t>root complex</a:t>
            </a:r>
            <a:endParaRPr lang="en-IL" sz="14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456B11-FE4F-C47E-99DF-2E5174B335D9}"/>
              </a:ext>
            </a:extLst>
          </p:cNvPr>
          <p:cNvSpPr/>
          <p:nvPr/>
        </p:nvSpPr>
        <p:spPr>
          <a:xfrm>
            <a:off x="6057900" y="4317544"/>
            <a:ext cx="1247776" cy="4875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IOMMU</a:t>
            </a:r>
            <a:endParaRPr lang="en-IL" sz="1400"/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7BDD236B-02F6-533A-7A32-45BEDB3D5625}"/>
              </a:ext>
            </a:extLst>
          </p:cNvPr>
          <p:cNvSpPr/>
          <p:nvPr/>
        </p:nvSpPr>
        <p:spPr>
          <a:xfrm rot="16200000">
            <a:off x="6353878" y="4793992"/>
            <a:ext cx="427222" cy="487576"/>
          </a:xfrm>
          <a:prstGeom prst="leftRightArrow">
            <a:avLst>
              <a:gd name="adj1" fmla="val 34372"/>
              <a:gd name="adj2" fmla="val 2460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50ACAF80-724B-1B99-0A40-1A78541C0F2D}"/>
              </a:ext>
            </a:extLst>
          </p:cNvPr>
          <p:cNvSpPr/>
          <p:nvPr/>
        </p:nvSpPr>
        <p:spPr>
          <a:xfrm>
            <a:off x="6801752" y="1516367"/>
            <a:ext cx="1800224" cy="114694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Receive buffer pool</a:t>
            </a:r>
            <a:endParaRPr lang="en-IL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935B2E9D-CB70-034B-E8F2-8A30A754C92D}"/>
              </a:ext>
            </a:extLst>
          </p:cNvPr>
          <p:cNvSpPr/>
          <p:nvPr/>
        </p:nvSpPr>
        <p:spPr>
          <a:xfrm>
            <a:off x="-23813" y="2831644"/>
            <a:ext cx="1724025" cy="14859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Packet arrives from network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9555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07642-E70A-E315-DCEA-5BD7AF13F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2080C-A15A-2C8B-0075-817619E9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Network: How the system works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E7B79-D0D3-C5FA-E2F5-20475C0ED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42A5D-25FD-41D0-2388-53BE8909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3074" name="Picture 2" descr="ConnectX-7 25/50/100/200400G SmartNIC">
            <a:extLst>
              <a:ext uri="{FF2B5EF4-FFF2-40B4-BE49-F238E27FC236}">
                <a16:creationId xmlns:a16="http://schemas.microsoft.com/office/drawing/2014/main" id="{20297704-1D71-0F5B-DE2D-C30D5FED95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4" t="9385" r="16001" b="10380"/>
          <a:stretch/>
        </p:blipFill>
        <p:spPr bwMode="auto">
          <a:xfrm>
            <a:off x="264225" y="4772024"/>
            <a:ext cx="2052000" cy="13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6552E6-FB42-BEB4-FA57-0E5E5D5C1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006" y="1454546"/>
            <a:ext cx="4315364" cy="1146940"/>
          </a:xfrm>
          <a:prstGeom prst="rect">
            <a:avLst/>
          </a:prstGeom>
        </p:spPr>
      </p:pic>
      <p:pic>
        <p:nvPicPr>
          <p:cNvPr id="11" name="Graphic 10" descr="Processor outline">
            <a:extLst>
              <a:ext uri="{FF2B5EF4-FFF2-40B4-BE49-F238E27FC236}">
                <a16:creationId xmlns:a16="http://schemas.microsoft.com/office/drawing/2014/main" id="{83FC660C-5EFD-DD91-98A0-0D01F21A11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1975" y="2925976"/>
            <a:ext cx="4486276" cy="4486276"/>
          </a:xfrm>
          <a:prstGeom prst="rect">
            <a:avLst/>
          </a:prstGeom>
        </p:spPr>
      </p:pic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A2E40FFC-1ACA-9A07-EF99-F918434F6FD2}"/>
              </a:ext>
            </a:extLst>
          </p:cNvPr>
          <p:cNvSpPr/>
          <p:nvPr/>
        </p:nvSpPr>
        <p:spPr>
          <a:xfrm rot="16200000">
            <a:off x="5784979" y="3139946"/>
            <a:ext cx="1795419" cy="487576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DDR5 50GB/s</a:t>
            </a:r>
            <a:endParaRPr lang="en-IL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4C9D8D12-63C3-7FD1-1AE5-868A88AE5787}"/>
              </a:ext>
            </a:extLst>
          </p:cNvPr>
          <p:cNvSpPr/>
          <p:nvPr/>
        </p:nvSpPr>
        <p:spPr>
          <a:xfrm>
            <a:off x="2381250" y="5227424"/>
            <a:ext cx="2981325" cy="487576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PCIe gen5 64GB/s</a:t>
            </a:r>
            <a:endParaRPr lang="en-IL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FD1115-30A9-D1D2-130C-5FD660293812}"/>
              </a:ext>
            </a:extLst>
          </p:cNvPr>
          <p:cNvSpPr/>
          <p:nvPr/>
        </p:nvSpPr>
        <p:spPr>
          <a:xfrm>
            <a:off x="5472112" y="5246474"/>
            <a:ext cx="1247776" cy="4875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PCIe</a:t>
            </a:r>
            <a:br>
              <a:rPr lang="en-US"/>
            </a:br>
            <a:r>
              <a:rPr lang="en-US" sz="1400"/>
              <a:t>root complex</a:t>
            </a:r>
            <a:endParaRPr lang="en-IL" sz="14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7985CE-8DD4-4EE7-B67E-BF51CC0C41B6}"/>
              </a:ext>
            </a:extLst>
          </p:cNvPr>
          <p:cNvSpPr/>
          <p:nvPr/>
        </p:nvSpPr>
        <p:spPr>
          <a:xfrm>
            <a:off x="6057900" y="4317544"/>
            <a:ext cx="1247776" cy="4875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IOMMU</a:t>
            </a:r>
            <a:endParaRPr lang="en-IL" sz="1400"/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64671D0D-746E-E69C-3323-584ED970C0F6}"/>
              </a:ext>
            </a:extLst>
          </p:cNvPr>
          <p:cNvSpPr/>
          <p:nvPr/>
        </p:nvSpPr>
        <p:spPr>
          <a:xfrm rot="16200000">
            <a:off x="6353878" y="4793992"/>
            <a:ext cx="427222" cy="487576"/>
          </a:xfrm>
          <a:prstGeom prst="leftRightArrow">
            <a:avLst>
              <a:gd name="adj1" fmla="val 34372"/>
              <a:gd name="adj2" fmla="val 2460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643CE0E4-5BC9-B31F-382F-C8BF2929D618}"/>
              </a:ext>
            </a:extLst>
          </p:cNvPr>
          <p:cNvSpPr/>
          <p:nvPr/>
        </p:nvSpPr>
        <p:spPr>
          <a:xfrm>
            <a:off x="6801752" y="1516367"/>
            <a:ext cx="1800224" cy="114694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Receive buffer pool</a:t>
            </a:r>
            <a:endParaRPr lang="en-IL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4E0D355-3162-6393-86C6-4B7B10D670FC}"/>
              </a:ext>
            </a:extLst>
          </p:cNvPr>
          <p:cNvSpPr/>
          <p:nvPr/>
        </p:nvSpPr>
        <p:spPr>
          <a:xfrm>
            <a:off x="705751" y="3248026"/>
            <a:ext cx="2571601" cy="2179424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NIC writes to buffer pool using DMA</a:t>
            </a:r>
            <a:br>
              <a:rPr lang="en-US"/>
            </a:br>
            <a:r>
              <a:rPr lang="en-US"/>
              <a:t>(IP handling?)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20692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75AD8-CEB7-10AA-6991-9F611EB1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2224C-6AED-E540-A909-5225F6F1C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Network: How the system works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856D3-397C-DB65-6ACD-AD07F1B63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5F9B3-A352-2DEB-DAFD-81D923AD3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3074" name="Picture 2" descr="ConnectX-7 25/50/100/200400G SmartNIC">
            <a:extLst>
              <a:ext uri="{FF2B5EF4-FFF2-40B4-BE49-F238E27FC236}">
                <a16:creationId xmlns:a16="http://schemas.microsoft.com/office/drawing/2014/main" id="{BE22D3DE-BC8A-0C0E-87F8-A4518A8D9E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4" t="9385" r="16001" b="10380"/>
          <a:stretch/>
        </p:blipFill>
        <p:spPr bwMode="auto">
          <a:xfrm>
            <a:off x="264225" y="4772024"/>
            <a:ext cx="2052000" cy="13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AED95E-1578-BC39-EEAC-F4DC72521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006" y="1454546"/>
            <a:ext cx="4315364" cy="1146940"/>
          </a:xfrm>
          <a:prstGeom prst="rect">
            <a:avLst/>
          </a:prstGeom>
        </p:spPr>
      </p:pic>
      <p:pic>
        <p:nvPicPr>
          <p:cNvPr id="11" name="Graphic 10" descr="Processor outline">
            <a:extLst>
              <a:ext uri="{FF2B5EF4-FFF2-40B4-BE49-F238E27FC236}">
                <a16:creationId xmlns:a16="http://schemas.microsoft.com/office/drawing/2014/main" id="{C2CDE931-130D-A577-02AA-D5EF90D0ED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1975" y="2925976"/>
            <a:ext cx="4486276" cy="4486276"/>
          </a:xfrm>
          <a:prstGeom prst="rect">
            <a:avLst/>
          </a:prstGeom>
        </p:spPr>
      </p:pic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B13CBE6B-5985-006F-DB4B-4B01132B3543}"/>
              </a:ext>
            </a:extLst>
          </p:cNvPr>
          <p:cNvSpPr/>
          <p:nvPr/>
        </p:nvSpPr>
        <p:spPr>
          <a:xfrm rot="16200000">
            <a:off x="5784979" y="3139946"/>
            <a:ext cx="1795419" cy="487576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DDR5 50GB/s</a:t>
            </a:r>
            <a:endParaRPr lang="en-IL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0E8811C9-4B07-B4FF-0BBF-79CE0D789713}"/>
              </a:ext>
            </a:extLst>
          </p:cNvPr>
          <p:cNvSpPr/>
          <p:nvPr/>
        </p:nvSpPr>
        <p:spPr>
          <a:xfrm>
            <a:off x="2381250" y="5227424"/>
            <a:ext cx="2981325" cy="487576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PCIe gen5 64GB/s</a:t>
            </a:r>
            <a:endParaRPr lang="en-IL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6D4C54-8A60-B41E-6A13-F4D705590B8E}"/>
              </a:ext>
            </a:extLst>
          </p:cNvPr>
          <p:cNvSpPr/>
          <p:nvPr/>
        </p:nvSpPr>
        <p:spPr>
          <a:xfrm>
            <a:off x="5472112" y="5246474"/>
            <a:ext cx="1247776" cy="4875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PCIe</a:t>
            </a:r>
            <a:br>
              <a:rPr lang="en-US"/>
            </a:br>
            <a:r>
              <a:rPr lang="en-US" sz="1400"/>
              <a:t>root complex</a:t>
            </a:r>
            <a:endParaRPr lang="en-IL" sz="14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61A222-2D3A-0967-015B-CD9A5A31A153}"/>
              </a:ext>
            </a:extLst>
          </p:cNvPr>
          <p:cNvSpPr/>
          <p:nvPr/>
        </p:nvSpPr>
        <p:spPr>
          <a:xfrm>
            <a:off x="6057900" y="4317544"/>
            <a:ext cx="1247776" cy="4875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IOMMU</a:t>
            </a:r>
            <a:endParaRPr lang="en-IL" sz="1400"/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E914BB83-5A49-6B5B-AC33-5F35846BD2F0}"/>
              </a:ext>
            </a:extLst>
          </p:cNvPr>
          <p:cNvSpPr/>
          <p:nvPr/>
        </p:nvSpPr>
        <p:spPr>
          <a:xfrm rot="16200000">
            <a:off x="6353878" y="4793992"/>
            <a:ext cx="427222" cy="487576"/>
          </a:xfrm>
          <a:prstGeom prst="leftRightArrow">
            <a:avLst>
              <a:gd name="adj1" fmla="val 34372"/>
              <a:gd name="adj2" fmla="val 2460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FCAC865C-F671-2377-CCD9-93FDE5181B25}"/>
              </a:ext>
            </a:extLst>
          </p:cNvPr>
          <p:cNvSpPr/>
          <p:nvPr/>
        </p:nvSpPr>
        <p:spPr>
          <a:xfrm>
            <a:off x="6801752" y="1516367"/>
            <a:ext cx="1800224" cy="114694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Receive buffer pool</a:t>
            </a:r>
            <a:endParaRPr lang="en-IL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C441561-684C-EC6A-3482-C8C4800FC0A9}"/>
              </a:ext>
            </a:extLst>
          </p:cNvPr>
          <p:cNvSpPr/>
          <p:nvPr/>
        </p:nvSpPr>
        <p:spPr>
          <a:xfrm>
            <a:off x="4238941" y="3497690"/>
            <a:ext cx="1724025" cy="161744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IOMMU maps to phys. address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6641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BD1F2-9774-84F0-817B-4662DFD8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300F-08A6-71F7-6132-CEBBA5645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Network: How the system works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6C9F9-CFF1-07D1-86A7-5D0A3BE0A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61F6E-4586-B9B5-D5B3-82AFB9CB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3074" name="Picture 2" descr="ConnectX-7 25/50/100/200400G SmartNIC">
            <a:extLst>
              <a:ext uri="{FF2B5EF4-FFF2-40B4-BE49-F238E27FC236}">
                <a16:creationId xmlns:a16="http://schemas.microsoft.com/office/drawing/2014/main" id="{A1794656-80A2-CD44-ED81-C59A9FE1EB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4" t="9385" r="16001" b="10380"/>
          <a:stretch/>
        </p:blipFill>
        <p:spPr bwMode="auto">
          <a:xfrm>
            <a:off x="264225" y="4772024"/>
            <a:ext cx="2052000" cy="13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88D0E8-F04E-88E1-9B70-AE427276F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006" y="1454546"/>
            <a:ext cx="4315364" cy="1146940"/>
          </a:xfrm>
          <a:prstGeom prst="rect">
            <a:avLst/>
          </a:prstGeom>
        </p:spPr>
      </p:pic>
      <p:pic>
        <p:nvPicPr>
          <p:cNvPr id="11" name="Graphic 10" descr="Processor outline">
            <a:extLst>
              <a:ext uri="{FF2B5EF4-FFF2-40B4-BE49-F238E27FC236}">
                <a16:creationId xmlns:a16="http://schemas.microsoft.com/office/drawing/2014/main" id="{78AA82B6-73FB-2751-2BF8-26A084274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1975" y="2925976"/>
            <a:ext cx="4486276" cy="4486276"/>
          </a:xfrm>
          <a:prstGeom prst="rect">
            <a:avLst/>
          </a:prstGeom>
        </p:spPr>
      </p:pic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D6D5917A-5C3D-8E3F-2962-4751742C7BB6}"/>
              </a:ext>
            </a:extLst>
          </p:cNvPr>
          <p:cNvSpPr/>
          <p:nvPr/>
        </p:nvSpPr>
        <p:spPr>
          <a:xfrm rot="16200000">
            <a:off x="5784979" y="3139946"/>
            <a:ext cx="1795419" cy="487576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DDR5 50GB/s</a:t>
            </a:r>
            <a:endParaRPr lang="en-IL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2CD75399-77C5-3AB5-2003-CF40C70C7E53}"/>
              </a:ext>
            </a:extLst>
          </p:cNvPr>
          <p:cNvSpPr/>
          <p:nvPr/>
        </p:nvSpPr>
        <p:spPr>
          <a:xfrm>
            <a:off x="2381250" y="5227424"/>
            <a:ext cx="2981325" cy="487576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PCIe gen5 64GB/s</a:t>
            </a:r>
            <a:endParaRPr lang="en-IL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525028-871C-BED2-B13B-537C7E107598}"/>
              </a:ext>
            </a:extLst>
          </p:cNvPr>
          <p:cNvSpPr/>
          <p:nvPr/>
        </p:nvSpPr>
        <p:spPr>
          <a:xfrm>
            <a:off x="5472112" y="5246474"/>
            <a:ext cx="1247776" cy="4875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PCIe</a:t>
            </a:r>
            <a:br>
              <a:rPr lang="en-US"/>
            </a:br>
            <a:r>
              <a:rPr lang="en-US" sz="1400"/>
              <a:t>root complex</a:t>
            </a:r>
            <a:endParaRPr lang="en-IL" sz="14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55C9D2-D5DA-82BE-E52E-6E41E1EF4C2E}"/>
              </a:ext>
            </a:extLst>
          </p:cNvPr>
          <p:cNvSpPr/>
          <p:nvPr/>
        </p:nvSpPr>
        <p:spPr>
          <a:xfrm>
            <a:off x="6057900" y="4317544"/>
            <a:ext cx="1247776" cy="4875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IOMMU</a:t>
            </a:r>
            <a:endParaRPr lang="en-IL" sz="1400"/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4296F816-F360-5005-5E42-4E398487B631}"/>
              </a:ext>
            </a:extLst>
          </p:cNvPr>
          <p:cNvSpPr/>
          <p:nvPr/>
        </p:nvSpPr>
        <p:spPr>
          <a:xfrm rot="16200000">
            <a:off x="6353878" y="4793992"/>
            <a:ext cx="427222" cy="487576"/>
          </a:xfrm>
          <a:prstGeom prst="leftRightArrow">
            <a:avLst>
              <a:gd name="adj1" fmla="val 34372"/>
              <a:gd name="adj2" fmla="val 2460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FB05FF44-0CA4-8D1E-FD6F-B18888A52E30}"/>
              </a:ext>
            </a:extLst>
          </p:cNvPr>
          <p:cNvSpPr/>
          <p:nvPr/>
        </p:nvSpPr>
        <p:spPr>
          <a:xfrm>
            <a:off x="6801752" y="1516367"/>
            <a:ext cx="1800224" cy="114694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Receive buffer pool</a:t>
            </a:r>
            <a:endParaRPr lang="en-IL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2B2B9822-EDC2-8689-099C-9B849BA95736}"/>
              </a:ext>
            </a:extLst>
          </p:cNvPr>
          <p:cNvSpPr/>
          <p:nvPr/>
        </p:nvSpPr>
        <p:spPr>
          <a:xfrm>
            <a:off x="8886960" y="1240491"/>
            <a:ext cx="1885185" cy="1795419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OS support for </a:t>
            </a:r>
            <a:br>
              <a:rPr lang="en-US"/>
            </a:br>
            <a:r>
              <a:rPr lang="en-US"/>
              <a:t>zero-copy read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10357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99B2-7419-5EC2-2007-B620974F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Network: What’s an IOMMU?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FFE4-11A8-80F3-F433-E91B90C6F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NICs (and GPUs; others) write to memory using DMA</a:t>
            </a:r>
          </a:p>
          <a:p>
            <a:endParaRPr lang="en-US" dirty="0"/>
          </a:p>
          <a:p>
            <a:r>
              <a:rPr lang="en-US" dirty="0"/>
              <a:t>We can’t let them write to any address</a:t>
            </a:r>
          </a:p>
          <a:p>
            <a:pPr lvl="1"/>
            <a:r>
              <a:rPr lang="en-US" dirty="0"/>
              <a:t>A big security flaw</a:t>
            </a:r>
          </a:p>
          <a:p>
            <a:endParaRPr lang="en-US" dirty="0"/>
          </a:p>
          <a:p>
            <a:r>
              <a:rPr lang="en-US" dirty="0"/>
              <a:t>IOMMU: maintains per-device page-tables for memory translation</a:t>
            </a:r>
          </a:p>
          <a:p>
            <a:pPr lvl="1"/>
            <a:r>
              <a:rPr lang="en-US" dirty="0"/>
              <a:t>TLB, page walkers, and everything</a:t>
            </a:r>
          </a:p>
          <a:p>
            <a:pPr lvl="1"/>
            <a:r>
              <a:rPr lang="en-US" dirty="0"/>
              <a:t>Challenge: need to maintain a very high-rate of translations</a:t>
            </a:r>
          </a:p>
          <a:p>
            <a:pPr lvl="1"/>
            <a:endParaRPr lang="en-US" dirty="0"/>
          </a:p>
          <a:p>
            <a:r>
              <a:rPr lang="en-US" dirty="0"/>
              <a:t>OS maintains per-device page-tables</a:t>
            </a:r>
          </a:p>
          <a:p>
            <a:endParaRPr lang="en-US" dirty="0"/>
          </a:p>
          <a:p>
            <a:r>
              <a:rPr lang="en-US" dirty="0"/>
              <a:t>OS vendors must make sure the IOMMU is configured correctly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pPr lvl="1"/>
            <a:r>
              <a:rPr lang="en-US" sz="2100" dirty="0" err="1"/>
              <a:t>Markettos</a:t>
            </a:r>
            <a:r>
              <a:rPr lang="en-US" sz="2100" dirty="0"/>
              <a:t> et al., “</a:t>
            </a:r>
            <a:r>
              <a:rPr lang="en-IL" sz="2100" i="1" dirty="0"/>
              <a:t>Thunderclap: Exploring Vulnerabilities in Operating System IOMMU Protection via DMA from Untrustworthy Peripherals</a:t>
            </a:r>
            <a:r>
              <a:rPr lang="en-US" sz="2100" dirty="0"/>
              <a:t>”. NSDI 2019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85A86-0179-0E50-839F-B794654E7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CD5EE-BD84-1C66-D6F6-4630F65C0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96037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DDE0A-BF92-C785-A15E-8E3786F11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F74F-583B-1107-B89C-D94FFE774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Network: What’s an IOMMU?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26266-1B7C-63DC-46C1-D60ADF504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25200" cy="46672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NICs write sequential data (packets)</a:t>
            </a:r>
          </a:p>
          <a:p>
            <a:endParaRPr lang="en-US" dirty="0"/>
          </a:p>
          <a:p>
            <a:r>
              <a:rPr lang="en-US" dirty="0"/>
              <a:t>MMU structure of CPU might not be suitable for networking</a:t>
            </a:r>
          </a:p>
          <a:p>
            <a:pPr lvl="1"/>
            <a:r>
              <a:rPr lang="en-US" dirty="0"/>
              <a:t>IOTLB is too small</a:t>
            </a:r>
          </a:p>
          <a:p>
            <a:pPr lvl="1"/>
            <a:r>
              <a:rPr lang="en-US" dirty="0"/>
              <a:t>Device TLBs provide extended distributed translation caching, </a:t>
            </a:r>
            <a:br>
              <a:rPr lang="en-US" dirty="0"/>
            </a:br>
            <a:r>
              <a:rPr lang="en-US" dirty="0"/>
              <a:t>but can compromise security</a:t>
            </a:r>
          </a:p>
          <a:p>
            <a:endParaRPr lang="en-US" dirty="0"/>
          </a:p>
          <a:p>
            <a:r>
              <a:rPr lang="en-US" dirty="0"/>
              <a:t>Typical construct: a ring buffer</a:t>
            </a:r>
          </a:p>
          <a:p>
            <a:pPr lvl="1"/>
            <a:r>
              <a:rPr lang="en-US" dirty="0"/>
              <a:t>NIC fills them one after the other</a:t>
            </a:r>
          </a:p>
          <a:p>
            <a:pPr lvl="1"/>
            <a:r>
              <a:rPr lang="en-US" dirty="0"/>
              <a:t>OS updates the ring</a:t>
            </a:r>
          </a:p>
          <a:p>
            <a:endParaRPr lang="en-US" dirty="0"/>
          </a:p>
          <a:p>
            <a:r>
              <a:rPr lang="en-US" dirty="0"/>
              <a:t>Maybe the IOMMU should be redesigned for ring-buffers, not page-tables? </a:t>
            </a:r>
          </a:p>
          <a:p>
            <a:pPr lvl="1"/>
            <a:r>
              <a:rPr lang="en-US" sz="1500" dirty="0"/>
              <a:t>Malka et al., “</a:t>
            </a:r>
            <a:r>
              <a:rPr lang="en-US" sz="1500" dirty="0" err="1"/>
              <a:t>rIOMMU</a:t>
            </a:r>
            <a:r>
              <a:rPr lang="en-US" sz="1500" dirty="0"/>
              <a:t>: Efficient IOMMU for I/O devices that employ ring buffers”, In ASPLOS 2015</a:t>
            </a:r>
            <a:endParaRPr lang="en-US" sz="2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B4300-4CA1-23F2-A929-8C7851AF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8A089-F6AD-A989-BAAE-6C3B6B061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1319130-1639-8BF3-0308-AD8813BA9AEA}"/>
              </a:ext>
            </a:extLst>
          </p:cNvPr>
          <p:cNvGrpSpPr/>
          <p:nvPr/>
        </p:nvGrpSpPr>
        <p:grpSpPr>
          <a:xfrm>
            <a:off x="8187375" y="3081339"/>
            <a:ext cx="3937950" cy="2263773"/>
            <a:chOff x="7396800" y="2357439"/>
            <a:chExt cx="3937950" cy="2263773"/>
          </a:xfrm>
        </p:grpSpPr>
        <p:pic>
          <p:nvPicPr>
            <p:cNvPr id="7" name="Picture 2" descr="ConnectX-7 25/50/100/200400G SmartNIC">
              <a:extLst>
                <a:ext uri="{FF2B5EF4-FFF2-40B4-BE49-F238E27FC236}">
                  <a16:creationId xmlns:a16="http://schemas.microsoft.com/office/drawing/2014/main" id="{D3648B3D-C167-6D83-7924-5DA2639D33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94" t="9385" r="16001" b="10380"/>
            <a:stretch/>
          </p:blipFill>
          <p:spPr bwMode="auto">
            <a:xfrm>
              <a:off x="7396800" y="3619500"/>
              <a:ext cx="1193559" cy="795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DE3BF83-E7A2-D5AB-3046-4C536F20CAA6}"/>
                </a:ext>
              </a:extLst>
            </p:cNvPr>
            <p:cNvSpPr/>
            <p:nvPr/>
          </p:nvSpPr>
          <p:spPr>
            <a:xfrm>
              <a:off x="8076009" y="3303588"/>
              <a:ext cx="1028700" cy="3143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522C1A3-90CF-7B42-EA89-94F28415537C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7790259" y="3460751"/>
              <a:ext cx="285750" cy="3071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241DAF-AFC2-11CA-03AE-297267576525}"/>
                </a:ext>
              </a:extLst>
            </p:cNvPr>
            <p:cNvSpPr/>
            <p:nvPr/>
          </p:nvSpPr>
          <p:spPr>
            <a:xfrm>
              <a:off x="8420100" y="2806701"/>
              <a:ext cx="1028700" cy="3143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68BA5E-420E-1495-020E-F16BB0408297}"/>
                </a:ext>
              </a:extLst>
            </p:cNvPr>
            <p:cNvSpPr/>
            <p:nvPr/>
          </p:nvSpPr>
          <p:spPr>
            <a:xfrm>
              <a:off x="9123759" y="2357439"/>
              <a:ext cx="1028700" cy="3143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b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54BADCC-8520-D168-50CD-DA0FAACAC1C8}"/>
                </a:ext>
              </a:extLst>
            </p:cNvPr>
            <p:cNvSpPr/>
            <p:nvPr/>
          </p:nvSpPr>
          <p:spPr>
            <a:xfrm>
              <a:off x="9886950" y="2806701"/>
              <a:ext cx="1028700" cy="3143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87A93A-CCF6-EBA0-2F63-CBB126F75986}"/>
                </a:ext>
              </a:extLst>
            </p:cNvPr>
            <p:cNvSpPr/>
            <p:nvPr/>
          </p:nvSpPr>
          <p:spPr>
            <a:xfrm>
              <a:off x="10306050" y="3306763"/>
              <a:ext cx="1028700" cy="3143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014740E-57C9-260A-2BD4-EA7D137D99C9}"/>
                </a:ext>
              </a:extLst>
            </p:cNvPr>
            <p:cNvSpPr/>
            <p:nvPr/>
          </p:nvSpPr>
          <p:spPr>
            <a:xfrm>
              <a:off x="9886950" y="3806825"/>
              <a:ext cx="1028700" cy="3143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18610D4-8CB3-7E69-1520-D5C08A91BEF1}"/>
                </a:ext>
              </a:extLst>
            </p:cNvPr>
            <p:cNvSpPr/>
            <p:nvPr/>
          </p:nvSpPr>
          <p:spPr>
            <a:xfrm>
              <a:off x="9533334" y="4306887"/>
              <a:ext cx="1028700" cy="3143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A861562-08CA-9423-CD40-0ACABA000827}"/>
                </a:ext>
              </a:extLst>
            </p:cNvPr>
            <p:cNvCxnSpPr>
              <a:cxnSpLocks/>
              <a:stCxn id="6" idx="0"/>
              <a:endCxn id="12" idx="2"/>
            </p:cNvCxnSpPr>
            <p:nvPr/>
          </p:nvCxnSpPr>
          <p:spPr>
            <a:xfrm flipV="1">
              <a:off x="8590359" y="3121026"/>
              <a:ext cx="344091" cy="1825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8E9A454-F26D-0F2D-F507-4B4AC403FBC7}"/>
                </a:ext>
              </a:extLst>
            </p:cNvPr>
            <p:cNvCxnSpPr>
              <a:cxnSpLocks/>
              <a:stCxn id="12" idx="0"/>
              <a:endCxn id="13" idx="2"/>
            </p:cNvCxnSpPr>
            <p:nvPr/>
          </p:nvCxnSpPr>
          <p:spPr>
            <a:xfrm flipV="1">
              <a:off x="8934450" y="2671764"/>
              <a:ext cx="703659" cy="1349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F46C826-5BA5-6700-C2AD-224B118F5464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9638109" y="2695576"/>
              <a:ext cx="763191" cy="1111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2FDB8E2-8F29-E853-D68E-F9DA307BD206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10401300" y="3121026"/>
              <a:ext cx="419100" cy="185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3F26E5E-2339-D270-7753-93D8E80D18B5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flipH="1">
              <a:off x="10401300" y="3621088"/>
              <a:ext cx="419100" cy="185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839FDC5-5698-9A38-4B2B-811E10DCDF09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flipH="1">
              <a:off x="10047684" y="4121150"/>
              <a:ext cx="353616" cy="1857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37E276A-CACE-D499-0652-9849322146EB}"/>
                </a:ext>
              </a:extLst>
            </p:cNvPr>
            <p:cNvCxnSpPr>
              <a:cxnSpLocks/>
              <a:stCxn id="17" idx="1"/>
              <a:endCxn id="7" idx="2"/>
            </p:cNvCxnSpPr>
            <p:nvPr/>
          </p:nvCxnSpPr>
          <p:spPr>
            <a:xfrm flipH="1" flipV="1">
              <a:off x="7993580" y="4415206"/>
              <a:ext cx="1539754" cy="488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693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179E2-3C43-B78B-38DB-4F554FE1A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893F-7624-1713-A8DE-A2A7AA75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Network: Managing buffer pools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82E82-B157-922D-4C5A-89A225E23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Buffers pools must be managed at network rate</a:t>
            </a:r>
          </a:p>
          <a:p>
            <a:endParaRPr lang="en-US"/>
          </a:p>
          <a:p>
            <a:r>
              <a:rPr lang="en-US"/>
              <a:t>Old buffers unmapped from IOMMU, new buffers added</a:t>
            </a:r>
          </a:p>
          <a:p>
            <a:pPr lvl="1"/>
            <a:r>
              <a:rPr lang="en-US"/>
              <a:t>Can reuse buffers, but data needs to be copied first</a:t>
            </a:r>
          </a:p>
          <a:p>
            <a:endParaRPr lang="en-US"/>
          </a:p>
          <a:p>
            <a:r>
              <a:rPr lang="en-US"/>
              <a:t>How should the OS be notified?</a:t>
            </a:r>
          </a:p>
          <a:p>
            <a:pPr lvl="1"/>
            <a:r>
              <a:rPr lang="en-US"/>
              <a:t>Interrupt handling is too slow</a:t>
            </a:r>
          </a:p>
          <a:p>
            <a:pPr lvl="1"/>
            <a:endParaRPr lang="en-US"/>
          </a:p>
          <a:p>
            <a:r>
              <a:rPr lang="en-US"/>
              <a:t>Modern systems use polling instead of interrupts to track packets</a:t>
            </a:r>
          </a:p>
          <a:p>
            <a:pPr lvl="1"/>
            <a:r>
              <a:rPr lang="en-US"/>
              <a:t>E.g., the DPDK framework (https://www.dpdk.org/)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5DA25-7677-FAD7-7406-56CDECF1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77815-BF16-20A2-E7E4-141B5210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2136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79870-6DE8-BBAD-7834-FFBFE520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FCCA-5406-5357-1B4D-2658B093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Network: Zero-copy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8CABF-2C98-07D2-4588-31B79BCDA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55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Data copies are a constant performance pain</a:t>
            </a:r>
          </a:p>
          <a:p>
            <a:pPr lvl="1"/>
            <a:r>
              <a:rPr lang="en-US" dirty="0"/>
              <a:t>Consumes CPU time</a:t>
            </a:r>
          </a:p>
          <a:p>
            <a:pPr lvl="1"/>
            <a:endParaRPr lang="en-US" dirty="0"/>
          </a:p>
          <a:p>
            <a:r>
              <a:rPr lang="en-US" dirty="0"/>
              <a:t>Data copies consume precious memory bandwidth</a:t>
            </a:r>
          </a:p>
          <a:p>
            <a:pPr lvl="1"/>
            <a:r>
              <a:rPr lang="en-US" dirty="0" err="1"/>
              <a:t>DDRx</a:t>
            </a:r>
            <a:r>
              <a:rPr lang="en-US" dirty="0"/>
              <a:t> is half-duplex</a:t>
            </a:r>
          </a:p>
          <a:p>
            <a:pPr lvl="1"/>
            <a:r>
              <a:rPr lang="en-US" dirty="0"/>
              <a:t>Data can be either read or written on a channel, not both at the same time</a:t>
            </a:r>
          </a:p>
          <a:p>
            <a:pPr lvl="1"/>
            <a:endParaRPr lang="en-US" dirty="0"/>
          </a:p>
          <a:p>
            <a:r>
              <a:rPr lang="en-US" dirty="0"/>
              <a:t>OS designers go to great length to minimize data copies</a:t>
            </a:r>
          </a:p>
          <a:p>
            <a:endParaRPr lang="en-US" dirty="0"/>
          </a:p>
          <a:p>
            <a:r>
              <a:rPr lang="en-US" dirty="0"/>
              <a:t>Goal is </a:t>
            </a:r>
            <a:r>
              <a:rPr lang="en-US" b="1" dirty="0"/>
              <a:t>zero-copy</a:t>
            </a:r>
            <a:r>
              <a:rPr lang="en-US" dirty="0"/>
              <a:t>: Avoid copying packets until the app/NIC reads them</a:t>
            </a:r>
            <a:endParaRPr lang="en-IL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20D6C-325C-D146-5512-8967D4147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4718C-6D59-4076-5034-D320082C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0694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D5BB7-DEAC-71C1-649D-F794E892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 summary (intermediate)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46A3B-9425-ED31-BF82-50D705769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8235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Increasing network speeds challenge conventional HW/SW co-design</a:t>
            </a:r>
          </a:p>
          <a:p>
            <a:pPr lvl="1"/>
            <a:r>
              <a:rPr lang="en-US" dirty="0"/>
              <a:t>Data goes through many stations adding latency</a:t>
            </a:r>
          </a:p>
          <a:p>
            <a:endParaRPr lang="en-US" dirty="0"/>
          </a:p>
          <a:p>
            <a:r>
              <a:rPr lang="en-US" dirty="0"/>
              <a:t>IOMMU is a performance challenge</a:t>
            </a:r>
          </a:p>
          <a:p>
            <a:pPr lvl="1"/>
            <a:r>
              <a:rPr lang="en-US" dirty="0"/>
              <a:t>Security comes at a cost</a:t>
            </a:r>
          </a:p>
          <a:p>
            <a:pPr lvl="1"/>
            <a:endParaRPr lang="en-US" dirty="0"/>
          </a:p>
          <a:p>
            <a:r>
              <a:rPr lang="en-US" dirty="0"/>
              <a:t>What are the right HW/SW constructs for fast and secure networking?</a:t>
            </a:r>
          </a:p>
          <a:p>
            <a:pPr lvl="1"/>
            <a:r>
              <a:rPr lang="en-US" dirty="0"/>
              <a:t>How can an IOMMU support sequential NIC writes and random-access GPUs?</a:t>
            </a:r>
          </a:p>
          <a:p>
            <a:endParaRPr lang="en-US" dirty="0"/>
          </a:p>
          <a:p>
            <a:r>
              <a:rPr lang="en-US" dirty="0"/>
              <a:t>Active research area; we barely scratched the surface</a:t>
            </a:r>
          </a:p>
          <a:p>
            <a:pPr lvl="1"/>
            <a:r>
              <a:rPr lang="en-US" dirty="0"/>
              <a:t>New bandwidth requirements for AI</a:t>
            </a:r>
          </a:p>
          <a:p>
            <a:pPr lvl="1"/>
            <a:r>
              <a:rPr lang="en-US" dirty="0"/>
              <a:t>AI requires remote load/store patterns; how can we provide that?</a:t>
            </a:r>
          </a:p>
          <a:p>
            <a:pPr lvl="1"/>
            <a:r>
              <a:rPr lang="en-US" dirty="0"/>
              <a:t>NVIDIA uses </a:t>
            </a:r>
            <a:r>
              <a:rPr lang="en-US" dirty="0" err="1"/>
              <a:t>NVlink</a:t>
            </a:r>
            <a:r>
              <a:rPr lang="en-US" dirty="0"/>
              <a:t>, a custom network just to connect its GPUs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0912C-7E1F-2A8C-8518-3B805FDD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9AC02-A050-87F7-D0A6-C5D72341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612389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8E27-2D6B-8ABB-9D86-5E6383EB8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EA49-DE28-FA01-4AA6-4888FF1C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C2FCA-5D45-4879-D1EF-EE5740BBC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Bottleneck visualization methods</a:t>
            </a:r>
          </a:p>
          <a:p>
            <a:pPr lvl="1"/>
            <a:r>
              <a:rPr lang="en-US"/>
              <a:t>Flame graph</a:t>
            </a:r>
          </a:p>
          <a:p>
            <a:pPr lvl="1"/>
            <a:r>
              <a:rPr lang="en-US"/>
              <a:t>CPI stack</a:t>
            </a:r>
          </a:p>
          <a:p>
            <a:r>
              <a:rPr lang="en-US"/>
              <a:t>Common bottlenecks</a:t>
            </a:r>
          </a:p>
          <a:p>
            <a:pPr lvl="1"/>
            <a:r>
              <a:rPr lang="en-US"/>
              <a:t>Storage</a:t>
            </a:r>
          </a:p>
          <a:p>
            <a:pPr lvl="1"/>
            <a:r>
              <a:rPr lang="en-US"/>
              <a:t>Network</a:t>
            </a:r>
          </a:p>
          <a:p>
            <a:pPr lvl="1"/>
            <a:r>
              <a:rPr lang="en-US" b="1"/>
              <a:t>Memory (it’s always the memory)</a:t>
            </a:r>
          </a:p>
          <a:p>
            <a:pPr lvl="2"/>
            <a:r>
              <a:rPr lang="en-US" b="1"/>
              <a:t>Well, almost always </a:t>
            </a:r>
            <a:r>
              <a:rPr lang="en-US" b="1">
                <a:sym typeface="Wingdings" panose="05000000000000000000" pitchFamily="2" charset="2"/>
              </a:rPr>
              <a:t></a:t>
            </a:r>
            <a:endParaRPr lang="en-US" b="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F6AF70-E35D-E65C-EFD9-7DFB6234D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58CF96-D356-7F55-291E-2C3693FF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336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4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memory hierarchy (reminder)</a:t>
            </a:r>
          </a:p>
        </p:txBody>
      </p:sp>
      <p:sp>
        <p:nvSpPr>
          <p:cNvPr id="10243" name="Rectangle 25"/>
          <p:cNvSpPr>
            <a:spLocks noGrp="1" noChangeArrowheads="1"/>
          </p:cNvSpPr>
          <p:nvPr>
            <p:ph type="body" idx="1"/>
          </p:nvPr>
        </p:nvSpPr>
        <p:spPr>
          <a:xfrm>
            <a:off x="1981200" y="1690688"/>
            <a:ext cx="8534400" cy="4557711"/>
          </a:xfrm>
        </p:spPr>
        <p:txBody>
          <a:bodyPr>
            <a:normAutofit lnSpcReduction="10000"/>
          </a:bodyPr>
          <a:lstStyle/>
          <a:p>
            <a:r>
              <a:rPr lang="en-US"/>
              <a:t>Goal: give the processor the view it has a memory with high capacity (dense), fast, consumes low power, and cheap</a:t>
            </a:r>
          </a:p>
          <a:p>
            <a:r>
              <a:rPr lang="en-US"/>
              <a:t>Solution: a Hierarchy of memories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>
              <a:buFont typeface="Wingdings" pitchFamily="2" charset="2"/>
              <a:buNone/>
            </a:pPr>
            <a:r>
              <a:rPr lang="en-US"/>
              <a:t>Speed: 	      Fastest 				      Slowest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Size:	      Smallest 				      Biggest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Cost: 	      Highest 				      Lowest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Power:	      Highest 				      Lowest</a:t>
            </a: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4265614" y="3741067"/>
            <a:ext cx="960437" cy="889000"/>
          </a:xfrm>
          <a:prstGeom prst="rect">
            <a:avLst/>
          </a:prstGeom>
          <a:solidFill>
            <a:srgbClr val="FF66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pitchFamily="34" charset="0"/>
                <a:cs typeface="Arial" pitchFamily="34" charset="0"/>
              </a:rPr>
              <a:t>L1</a:t>
            </a:r>
          </a:p>
          <a:p>
            <a:pPr algn="ctr"/>
            <a:r>
              <a:rPr lang="en-US">
                <a:latin typeface="Arial" pitchFamily="34" charset="0"/>
                <a:cs typeface="Arial" pitchFamily="34" charset="0"/>
              </a:rPr>
              <a:t>Cache</a:t>
            </a:r>
          </a:p>
        </p:txBody>
      </p:sp>
      <p:sp>
        <p:nvSpPr>
          <p:cNvPr id="10245" name="Line 9"/>
          <p:cNvSpPr>
            <a:spLocks noChangeShapeType="1"/>
          </p:cNvSpPr>
          <p:nvPr/>
        </p:nvSpPr>
        <p:spPr bwMode="auto">
          <a:xfrm>
            <a:off x="5238751" y="4185567"/>
            <a:ext cx="422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Line 17"/>
          <p:cNvSpPr>
            <a:spLocks noChangeShapeType="1"/>
          </p:cNvSpPr>
          <p:nvPr/>
        </p:nvSpPr>
        <p:spPr bwMode="auto">
          <a:xfrm>
            <a:off x="3830639" y="4185567"/>
            <a:ext cx="422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247" name="Group 19"/>
          <p:cNvGrpSpPr>
            <a:grpSpLocks/>
          </p:cNvGrpSpPr>
          <p:nvPr/>
        </p:nvGrpSpPr>
        <p:grpSpPr bwMode="auto">
          <a:xfrm>
            <a:off x="5615663" y="4962312"/>
            <a:ext cx="3027362" cy="1066800"/>
            <a:chOff x="2543" y="3048"/>
            <a:chExt cx="2065" cy="576"/>
          </a:xfrm>
        </p:grpSpPr>
        <p:sp>
          <p:nvSpPr>
            <p:cNvPr id="10254" name="Line 20"/>
            <p:cNvSpPr>
              <a:spLocks noChangeShapeType="1"/>
            </p:cNvSpPr>
            <p:nvPr/>
          </p:nvSpPr>
          <p:spPr bwMode="auto">
            <a:xfrm>
              <a:off x="2543" y="3048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5" name="Line 21"/>
            <p:cNvSpPr>
              <a:spLocks noChangeShapeType="1"/>
            </p:cNvSpPr>
            <p:nvPr/>
          </p:nvSpPr>
          <p:spPr bwMode="auto">
            <a:xfrm>
              <a:off x="2543" y="3240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6" name="Line 22"/>
            <p:cNvSpPr>
              <a:spLocks noChangeShapeType="1"/>
            </p:cNvSpPr>
            <p:nvPr/>
          </p:nvSpPr>
          <p:spPr bwMode="auto">
            <a:xfrm>
              <a:off x="2543" y="3432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7" name="Line 23"/>
            <p:cNvSpPr>
              <a:spLocks noChangeShapeType="1"/>
            </p:cNvSpPr>
            <p:nvPr/>
          </p:nvSpPr>
          <p:spPr bwMode="auto">
            <a:xfrm>
              <a:off x="2544" y="3624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48" name="Rectangle 28"/>
          <p:cNvSpPr>
            <a:spLocks noChangeArrowheads="1"/>
          </p:cNvSpPr>
          <p:nvPr/>
        </p:nvSpPr>
        <p:spPr bwMode="auto">
          <a:xfrm>
            <a:off x="2849564" y="3747417"/>
            <a:ext cx="960437" cy="889000"/>
          </a:xfrm>
          <a:prstGeom prst="rect">
            <a:avLst/>
          </a:prstGeom>
          <a:solidFill>
            <a:srgbClr val="FF66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pitchFamily="34" charset="0"/>
                <a:cs typeface="Arial" pitchFamily="34" charset="0"/>
              </a:rPr>
              <a:t>CPU</a:t>
            </a:r>
          </a:p>
        </p:txBody>
      </p:sp>
      <p:sp>
        <p:nvSpPr>
          <p:cNvPr id="10249" name="Rectangle 29"/>
          <p:cNvSpPr>
            <a:spLocks noChangeArrowheads="1"/>
          </p:cNvSpPr>
          <p:nvPr/>
        </p:nvSpPr>
        <p:spPr bwMode="auto">
          <a:xfrm>
            <a:off x="5668964" y="3747417"/>
            <a:ext cx="960437" cy="889000"/>
          </a:xfrm>
          <a:prstGeom prst="rect">
            <a:avLst/>
          </a:prstGeom>
          <a:solidFill>
            <a:srgbClr val="FF99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pitchFamily="34" charset="0"/>
                <a:cs typeface="Arial" pitchFamily="34" charset="0"/>
              </a:rPr>
              <a:t>L2</a:t>
            </a:r>
          </a:p>
          <a:p>
            <a:pPr algn="ctr"/>
            <a:r>
              <a:rPr lang="en-US">
                <a:latin typeface="Arial" pitchFamily="34" charset="0"/>
                <a:cs typeface="Arial" pitchFamily="34" charset="0"/>
              </a:rPr>
              <a:t>Cache</a:t>
            </a:r>
          </a:p>
        </p:txBody>
      </p:sp>
      <p:sp>
        <p:nvSpPr>
          <p:cNvPr id="10250" name="Rectangle 31"/>
          <p:cNvSpPr>
            <a:spLocks noChangeArrowheads="1"/>
          </p:cNvSpPr>
          <p:nvPr/>
        </p:nvSpPr>
        <p:spPr bwMode="auto">
          <a:xfrm>
            <a:off x="7069139" y="3739480"/>
            <a:ext cx="960437" cy="8890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pitchFamily="34" charset="0"/>
                <a:cs typeface="Arial" pitchFamily="34" charset="0"/>
              </a:rPr>
              <a:t>L3</a:t>
            </a:r>
          </a:p>
          <a:p>
            <a:pPr algn="ctr"/>
            <a:r>
              <a:rPr lang="en-US">
                <a:latin typeface="Arial" pitchFamily="34" charset="0"/>
                <a:cs typeface="Arial" pitchFamily="34" charset="0"/>
              </a:rPr>
              <a:t>Cache</a:t>
            </a:r>
          </a:p>
        </p:txBody>
      </p:sp>
      <p:sp>
        <p:nvSpPr>
          <p:cNvPr id="10251" name="Line 32"/>
          <p:cNvSpPr>
            <a:spLocks noChangeShapeType="1"/>
          </p:cNvSpPr>
          <p:nvPr/>
        </p:nvSpPr>
        <p:spPr bwMode="auto">
          <a:xfrm>
            <a:off x="8042276" y="4183980"/>
            <a:ext cx="422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Line 33"/>
          <p:cNvSpPr>
            <a:spLocks noChangeShapeType="1"/>
          </p:cNvSpPr>
          <p:nvPr/>
        </p:nvSpPr>
        <p:spPr bwMode="auto">
          <a:xfrm>
            <a:off x="6634164" y="4183980"/>
            <a:ext cx="422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Rectangle 34"/>
          <p:cNvSpPr>
            <a:spLocks noChangeArrowheads="1"/>
          </p:cNvSpPr>
          <p:nvPr/>
        </p:nvSpPr>
        <p:spPr bwMode="auto">
          <a:xfrm>
            <a:off x="8472489" y="3745830"/>
            <a:ext cx="960437" cy="889000"/>
          </a:xfrm>
          <a:prstGeom prst="rect">
            <a:avLst/>
          </a:prstGeom>
          <a:solidFill>
            <a:srgbClr val="FFCC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pitchFamily="34" charset="0"/>
                <a:cs typeface="Arial" pitchFamily="34" charset="0"/>
              </a:rPr>
              <a:t>Memory</a:t>
            </a:r>
          </a:p>
          <a:p>
            <a:pPr algn="ctr"/>
            <a:r>
              <a:rPr lang="en-US">
                <a:latin typeface="Arial" pitchFamily="34" charset="0"/>
                <a:cs typeface="Arial" pitchFamily="34" charset="0"/>
              </a:rPr>
              <a:t>(DRAM)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005E5-071D-E4DD-5716-5EB9D0A5A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25634-A667-8AA0-044E-B938D4C3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C65DD-B1E5-E1D8-0A75-511BEC2D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memory hierarchy (reminder)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F9EE3-63B5-ECF0-1616-928E6C58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6BE42-78F1-07ED-2103-0B8E5C8B3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0B5000B-711D-9911-4E4A-B9C87480E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434881"/>
              </p:ext>
            </p:extLst>
          </p:nvPr>
        </p:nvGraphicFramePr>
        <p:xfrm>
          <a:off x="2248710" y="1961205"/>
          <a:ext cx="8229600" cy="40792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Response</a:t>
                      </a:r>
                      <a:r>
                        <a:rPr lang="en-US" sz="2000" baseline="0"/>
                        <a:t> time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Size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Memory level</a:t>
                      </a:r>
                      <a:endParaRPr lang="he-IL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0.5 ns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100 bytes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CPU registers</a:t>
                      </a:r>
                      <a:endParaRPr lang="he-IL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1</a:t>
                      </a:r>
                      <a:r>
                        <a:rPr lang="en-US" sz="2000" baseline="0"/>
                        <a:t> ns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32/64 KB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L1</a:t>
                      </a:r>
                      <a:r>
                        <a:rPr lang="en-US" sz="2000" baseline="0"/>
                        <a:t> cache</a:t>
                      </a:r>
                      <a:endParaRPr lang="he-IL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30 ns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8 </a:t>
                      </a:r>
                      <a:r>
                        <a:rPr lang="en-US" sz="2000" baseline="0"/>
                        <a:t>– 32 MB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Last Level </a:t>
                      </a:r>
                      <a:r>
                        <a:rPr lang="en-US" sz="2000" baseline="0"/>
                        <a:t>cache (LLC)</a:t>
                      </a:r>
                      <a:endParaRPr lang="he-IL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100 </a:t>
                      </a:r>
                      <a:r>
                        <a:rPr lang="en-US" sz="2000" baseline="0"/>
                        <a:t>ns (100s GB/s)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10s GB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DRAM (HBM)</a:t>
                      </a:r>
                      <a:endParaRPr lang="he-IL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100 </a:t>
                      </a:r>
                      <a:r>
                        <a:rPr lang="en-US" sz="2000" baseline="0"/>
                        <a:t>ns (10s GB/s)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10s GBs to few TB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DRAM (DIMM)</a:t>
                      </a:r>
                      <a:endParaRPr lang="he-IL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10211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W? r? </a:t>
                      </a:r>
                    </a:p>
                    <a:p>
                      <a:pPr algn="l" rtl="0"/>
                      <a:r>
                        <a:rPr lang="en-US" sz="2000"/>
                        <a:t>10s </a:t>
                      </a:r>
                      <a:r>
                        <a:rPr lang="en-US" sz="2000" err="1"/>
                        <a:t>usecs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100s GBs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SSD</a:t>
                      </a:r>
                      <a:endParaRPr lang="he-IL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 </a:t>
                      </a:r>
                      <a:r>
                        <a:rPr lang="en-US" sz="2000" baseline="0"/>
                        <a:t>5 </a:t>
                      </a:r>
                      <a:r>
                        <a:rPr lang="en-US" sz="2000" baseline="0" err="1"/>
                        <a:t>ms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sz="2000"/>
                        <a:t>≈</a:t>
                      </a:r>
                      <a:r>
                        <a:rPr lang="en-US" sz="2000"/>
                        <a:t>Multiple</a:t>
                      </a:r>
                      <a:r>
                        <a:rPr lang="en-US" sz="2000" baseline="0"/>
                        <a:t> TBs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/>
                        <a:t>Hard disk (SAS)</a:t>
                      </a:r>
                      <a:endParaRPr lang="he-IL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1719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E183-2C90-3B1F-C5D6-64C871605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memory hierarchy (reminder)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355AE-A01C-83B5-6979-A6126899D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Temporal Locality (Locality in Time):</a:t>
            </a:r>
          </a:p>
          <a:p>
            <a:pPr lvl="1"/>
            <a:r>
              <a:rPr lang="en-US"/>
              <a:t>If an item is referenced, it will likely be referenced again soon</a:t>
            </a:r>
          </a:p>
          <a:p>
            <a:pPr lvl="1"/>
            <a:r>
              <a:rPr lang="en-US"/>
              <a:t>Example: code and variables in loops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  </a:t>
            </a:r>
            <a:r>
              <a:rPr lang="en-US">
                <a:sym typeface="Symbol" pitchFamily="18" charset="2"/>
              </a:rPr>
              <a:t></a:t>
            </a:r>
            <a:r>
              <a:rPr lang="en-US"/>
              <a:t> </a:t>
            </a:r>
            <a:r>
              <a:rPr lang="en-US" sz="2200"/>
              <a:t>Keep recently accessed data closer to the processor</a:t>
            </a:r>
          </a:p>
          <a:p>
            <a:endParaRPr lang="en-US"/>
          </a:p>
          <a:p>
            <a:r>
              <a:rPr lang="en-US"/>
              <a:t>Spatial Locality (Locality in Space):</a:t>
            </a:r>
          </a:p>
          <a:p>
            <a:pPr lvl="1"/>
            <a:r>
              <a:rPr lang="en-US"/>
              <a:t>If an item is referenced, nearby items are likely to be referenced soon</a:t>
            </a:r>
          </a:p>
          <a:p>
            <a:pPr lvl="1"/>
            <a:r>
              <a:rPr lang="en-US"/>
              <a:t>Example: scanning an array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 </a:t>
            </a:r>
            <a:r>
              <a:rPr lang="en-US">
                <a:sym typeface="Symbol" pitchFamily="18" charset="2"/>
              </a:rPr>
              <a:t></a:t>
            </a:r>
            <a:r>
              <a:rPr lang="en-US"/>
              <a:t> </a:t>
            </a:r>
            <a:r>
              <a:rPr lang="en-US" sz="2200"/>
              <a:t>Move contiguous blocks closer to the processor</a:t>
            </a:r>
          </a:p>
          <a:p>
            <a:endParaRPr lang="en-US"/>
          </a:p>
          <a:p>
            <a:r>
              <a:rPr lang="en-US"/>
              <a:t>Due to locality, memory hierarchy is a good idea</a:t>
            </a:r>
          </a:p>
          <a:p>
            <a:pPr lvl="1"/>
            <a:r>
              <a:rPr lang="en-US"/>
              <a:t>We’re going to use data we’ve recently used</a:t>
            </a:r>
          </a:p>
          <a:p>
            <a:pPr lvl="1"/>
            <a:r>
              <a:rPr lang="en-US"/>
              <a:t>And we’re going to use its immediate neighborhood </a:t>
            </a:r>
          </a:p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9F88F-C1D6-3521-CFDB-F9685FC2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25DF2-B8EA-2176-CCA6-4632D96E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11467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2DC9-EAEA-E155-A159-35AECC08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memory hierarchy (reminder)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8237-20C5-85F8-89AD-456FD18B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D02B5-ABEB-A865-8A6A-B804F73E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pSp>
        <p:nvGrpSpPr>
          <p:cNvPr id="6" name="Group 77">
            <a:extLst>
              <a:ext uri="{FF2B5EF4-FFF2-40B4-BE49-F238E27FC236}">
                <a16:creationId xmlns:a16="http://schemas.microsoft.com/office/drawing/2014/main" id="{61564F80-7B77-5C74-776E-EEF2F900908A}"/>
              </a:ext>
            </a:extLst>
          </p:cNvPr>
          <p:cNvGrpSpPr>
            <a:grpSpLocks/>
          </p:cNvGrpSpPr>
          <p:nvPr/>
        </p:nvGrpSpPr>
        <p:grpSpPr bwMode="auto">
          <a:xfrm>
            <a:off x="3022022" y="1532448"/>
            <a:ext cx="6524625" cy="5213350"/>
            <a:chOff x="721" y="720"/>
            <a:chExt cx="4110" cy="3284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058BC6D4-B79D-3A47-ADC0-1A49B855F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2182"/>
              <a:ext cx="764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3ED7382B-7624-44D7-7FAF-1C52FD26B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" y="1075"/>
              <a:ext cx="1646" cy="1057"/>
            </a:xfrm>
            <a:custGeom>
              <a:avLst/>
              <a:gdLst>
                <a:gd name="T0" fmla="*/ 3008 w 1585"/>
                <a:gd name="T1" fmla="*/ 0 h 1057"/>
                <a:gd name="T2" fmla="*/ 3008 w 1585"/>
                <a:gd name="T3" fmla="*/ 144 h 1057"/>
                <a:gd name="T4" fmla="*/ 0 w 1585"/>
                <a:gd name="T5" fmla="*/ 144 h 1057"/>
                <a:gd name="T6" fmla="*/ 0 w 1585"/>
                <a:gd name="T7" fmla="*/ 1056 h 1057"/>
                <a:gd name="T8" fmla="*/ 400 w 1585"/>
                <a:gd name="T9" fmla="*/ 1056 h 10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85"/>
                <a:gd name="T16" fmla="*/ 0 h 1057"/>
                <a:gd name="T17" fmla="*/ 1585 w 1585"/>
                <a:gd name="T18" fmla="*/ 1057 h 10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85" h="1057">
                  <a:moveTo>
                    <a:pt x="1584" y="0"/>
                  </a:moveTo>
                  <a:lnTo>
                    <a:pt x="1584" y="144"/>
                  </a:lnTo>
                  <a:lnTo>
                    <a:pt x="0" y="144"/>
                  </a:lnTo>
                  <a:lnTo>
                    <a:pt x="0" y="1056"/>
                  </a:lnTo>
                  <a:lnTo>
                    <a:pt x="211" y="105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116A5C25-64D2-ACA7-718F-BED922F9C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887"/>
              <a:ext cx="746" cy="184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Tag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5EBD9DD6-7BB1-6A2A-F29E-122D40D9D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887"/>
              <a:ext cx="746" cy="184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Set</a:t>
              </a: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6903B936-0CAA-52C3-A690-F151F5CA1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887"/>
              <a:ext cx="746" cy="184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Offset</a:t>
              </a: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02339B85-6023-7804-5B24-541788F8D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3" y="720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0</a:t>
              </a:r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AA0AAC46-D5AE-AEEE-873D-9D884CC14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6" y="720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4</a:t>
              </a:r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AFC21FFC-75E8-2831-2E0C-E20D55B01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3" y="720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12</a:t>
              </a: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3F739EB1-029C-1FE2-14EC-F3D5B404D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2" y="720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31</a:t>
              </a:r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03C76096-B34C-4DD1-AFA4-DFFB0DFD7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3" y="2765"/>
              <a:ext cx="4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Way 0</a:t>
              </a:r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D35CBA0D-71B1-2835-F7D6-F84972B60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1751"/>
              <a:ext cx="277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7E5BDE07-B53E-EFD5-76C3-1C5DE2554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1319"/>
              <a:ext cx="277" cy="1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9BCF2A99-88CF-8EC8-A37D-B319C5B6B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1325"/>
              <a:ext cx="27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 b="1">
                  <a:latin typeface="Arial" pitchFamily="34" charset="0"/>
                </a:rPr>
                <a:t>Tag</a:t>
              </a:r>
            </a:p>
          </p:txBody>
        </p: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7B2A9891-5D10-A739-2E19-58B433BB5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1463"/>
              <a:ext cx="277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467CBAD5-2AD3-95C2-180A-F634616C6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2039"/>
              <a:ext cx="277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2" name="Rectangle 18">
              <a:extLst>
                <a:ext uri="{FF2B5EF4-FFF2-40B4-BE49-F238E27FC236}">
                  <a16:creationId xmlns:a16="http://schemas.microsoft.com/office/drawing/2014/main" id="{5B1350FC-B2B1-C7B2-1938-EECED62A9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2327"/>
              <a:ext cx="277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B63229E1-365F-D973-1151-003A4A8A0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2615"/>
              <a:ext cx="277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47B4D115-7A2C-DEE5-065A-39FD1EC21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" y="2160"/>
              <a:ext cx="29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 b="1">
                  <a:latin typeface="Arial" pitchFamily="34" charset="0"/>
                </a:rPr>
                <a:t>Set#</a:t>
              </a:r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0A046ABD-C847-3286-E404-171FFA814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1607"/>
              <a:ext cx="764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041B3D38-1C4A-4201-0CF0-BDC92B1F7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1319"/>
              <a:ext cx="764" cy="1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6A772A30-25CB-ED21-6958-A9725683A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1319"/>
              <a:ext cx="764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 b="1">
                  <a:latin typeface="Arial" pitchFamily="34" charset="0"/>
                </a:rPr>
                <a:t>Data</a:t>
              </a:r>
            </a:p>
          </p:txBody>
        </p:sp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B79BE2F9-AE26-FAB5-23F6-0B9346337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1895"/>
              <a:ext cx="764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AE81563A-B253-CF44-69CA-21F24442F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2183"/>
              <a:ext cx="764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0" name="Rectangle 26">
              <a:extLst>
                <a:ext uri="{FF2B5EF4-FFF2-40B4-BE49-F238E27FC236}">
                  <a16:creationId xmlns:a16="http://schemas.microsoft.com/office/drawing/2014/main" id="{F36CDC84-7641-1D72-83BE-398E91645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2471"/>
              <a:ext cx="764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3CCCDA11-C729-353A-CFC3-CBAED0375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3" y="2131"/>
              <a:ext cx="106" cy="913"/>
            </a:xfrm>
            <a:custGeom>
              <a:avLst/>
              <a:gdLst>
                <a:gd name="T0" fmla="*/ 0 w 433"/>
                <a:gd name="T1" fmla="*/ 0 h 913"/>
                <a:gd name="T2" fmla="*/ 0 w 433"/>
                <a:gd name="T3" fmla="*/ 0 h 913"/>
                <a:gd name="T4" fmla="*/ 0 w 433"/>
                <a:gd name="T5" fmla="*/ 912 h 913"/>
                <a:gd name="T6" fmla="*/ 0 60000 65536"/>
                <a:gd name="T7" fmla="*/ 0 60000 65536"/>
                <a:gd name="T8" fmla="*/ 0 60000 65536"/>
                <a:gd name="T9" fmla="*/ 0 w 433"/>
                <a:gd name="T10" fmla="*/ 0 h 913"/>
                <a:gd name="T11" fmla="*/ 433 w 433"/>
                <a:gd name="T12" fmla="*/ 913 h 9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3" h="913">
                  <a:moveTo>
                    <a:pt x="0" y="0"/>
                  </a:moveTo>
                  <a:lnTo>
                    <a:pt x="432" y="0"/>
                  </a:lnTo>
                  <a:lnTo>
                    <a:pt x="432" y="91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B9117EB4-7823-6CD6-9DB8-FF3443460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1" y="2131"/>
              <a:ext cx="222" cy="913"/>
            </a:xfrm>
            <a:custGeom>
              <a:avLst/>
              <a:gdLst>
                <a:gd name="T0" fmla="*/ 0 w 433"/>
                <a:gd name="T1" fmla="*/ 0 h 913"/>
                <a:gd name="T2" fmla="*/ 1 w 433"/>
                <a:gd name="T3" fmla="*/ 0 h 913"/>
                <a:gd name="T4" fmla="*/ 1 w 433"/>
                <a:gd name="T5" fmla="*/ 912 h 913"/>
                <a:gd name="T6" fmla="*/ 0 60000 65536"/>
                <a:gd name="T7" fmla="*/ 0 60000 65536"/>
                <a:gd name="T8" fmla="*/ 0 60000 65536"/>
                <a:gd name="T9" fmla="*/ 0 w 433"/>
                <a:gd name="T10" fmla="*/ 0 h 913"/>
                <a:gd name="T11" fmla="*/ 433 w 433"/>
                <a:gd name="T12" fmla="*/ 913 h 9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3" h="913">
                  <a:moveTo>
                    <a:pt x="0" y="0"/>
                  </a:moveTo>
                  <a:lnTo>
                    <a:pt x="432" y="0"/>
                  </a:lnTo>
                  <a:lnTo>
                    <a:pt x="432" y="91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40E3BE7C-32E8-2328-888E-DEEB2B42A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4" y="1075"/>
              <a:ext cx="0" cy="19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AutoShape 30">
              <a:extLst>
                <a:ext uri="{FF2B5EF4-FFF2-40B4-BE49-F238E27FC236}">
                  <a16:creationId xmlns:a16="http://schemas.microsoft.com/office/drawing/2014/main" id="{72BE14C8-F84C-0046-79F7-B655531285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 flipV="1">
              <a:off x="1602" y="3047"/>
              <a:ext cx="272" cy="1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26 w 21600"/>
                <a:gd name="T13" fmla="*/ 4461 h 21600"/>
                <a:gd name="T14" fmla="*/ 17074 w 21600"/>
                <a:gd name="T15" fmla="*/ 1713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 b="1">
                  <a:latin typeface="Arial" pitchFamily="34" charset="0"/>
                </a:rPr>
                <a:t>=</a:t>
              </a:r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3C7379A-9EEB-B24B-8145-742B66168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1171"/>
              <a:ext cx="922" cy="1873"/>
            </a:xfrm>
            <a:custGeom>
              <a:avLst/>
              <a:gdLst>
                <a:gd name="T0" fmla="*/ 0 w 1729"/>
                <a:gd name="T1" fmla="*/ 0 h 1873"/>
                <a:gd name="T2" fmla="*/ 1 w 1729"/>
                <a:gd name="T3" fmla="*/ 0 h 1873"/>
                <a:gd name="T4" fmla="*/ 1 w 1729"/>
                <a:gd name="T5" fmla="*/ 1872 h 1873"/>
                <a:gd name="T6" fmla="*/ 0 60000 65536"/>
                <a:gd name="T7" fmla="*/ 0 60000 65536"/>
                <a:gd name="T8" fmla="*/ 0 60000 65536"/>
                <a:gd name="T9" fmla="*/ 0 w 1729"/>
                <a:gd name="T10" fmla="*/ 0 h 1873"/>
                <a:gd name="T11" fmla="*/ 1729 w 1729"/>
                <a:gd name="T12" fmla="*/ 1873 h 18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9" h="1873">
                  <a:moveTo>
                    <a:pt x="0" y="0"/>
                  </a:moveTo>
                  <a:lnTo>
                    <a:pt x="1728" y="0"/>
                  </a:lnTo>
                  <a:lnTo>
                    <a:pt x="1728" y="187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44CFF0F3-5BF3-AE5E-667A-1F489482D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3235"/>
              <a:ext cx="411" cy="298"/>
            </a:xfrm>
            <a:custGeom>
              <a:avLst/>
              <a:gdLst>
                <a:gd name="T0" fmla="*/ 0 w 793"/>
                <a:gd name="T1" fmla="*/ 0 h 193"/>
                <a:gd name="T2" fmla="*/ 0 w 793"/>
                <a:gd name="T3" fmla="*/ 309072 h 193"/>
                <a:gd name="T4" fmla="*/ 1 w 793"/>
                <a:gd name="T5" fmla="*/ 309072 h 193"/>
                <a:gd name="T6" fmla="*/ 0 60000 65536"/>
                <a:gd name="T7" fmla="*/ 0 60000 65536"/>
                <a:gd name="T8" fmla="*/ 0 60000 65536"/>
                <a:gd name="T9" fmla="*/ 0 w 793"/>
                <a:gd name="T10" fmla="*/ 0 h 193"/>
                <a:gd name="T11" fmla="*/ 793 w 793"/>
                <a:gd name="T12" fmla="*/ 193 h 1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93" h="193">
                  <a:moveTo>
                    <a:pt x="0" y="0"/>
                  </a:moveTo>
                  <a:lnTo>
                    <a:pt x="0" y="192"/>
                  </a:lnTo>
                  <a:lnTo>
                    <a:pt x="792" y="19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0964BE25-13CD-19AA-8DFE-BEF7B1211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" y="3235"/>
              <a:ext cx="412" cy="298"/>
            </a:xfrm>
            <a:custGeom>
              <a:avLst/>
              <a:gdLst>
                <a:gd name="T0" fmla="*/ 1 w 793"/>
                <a:gd name="T1" fmla="*/ 0 h 193"/>
                <a:gd name="T2" fmla="*/ 1 w 793"/>
                <a:gd name="T3" fmla="*/ 309072 h 193"/>
                <a:gd name="T4" fmla="*/ 0 w 793"/>
                <a:gd name="T5" fmla="*/ 309072 h 193"/>
                <a:gd name="T6" fmla="*/ 0 60000 65536"/>
                <a:gd name="T7" fmla="*/ 0 60000 65536"/>
                <a:gd name="T8" fmla="*/ 0 60000 65536"/>
                <a:gd name="T9" fmla="*/ 0 w 793"/>
                <a:gd name="T10" fmla="*/ 0 h 193"/>
                <a:gd name="T11" fmla="*/ 793 w 793"/>
                <a:gd name="T12" fmla="*/ 193 h 1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93" h="193">
                  <a:moveTo>
                    <a:pt x="792" y="0"/>
                  </a:moveTo>
                  <a:lnTo>
                    <a:pt x="792" y="192"/>
                  </a:lnTo>
                  <a:lnTo>
                    <a:pt x="0" y="19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4">
              <a:extLst>
                <a:ext uri="{FF2B5EF4-FFF2-40B4-BE49-F238E27FC236}">
                  <a16:creationId xmlns:a16="http://schemas.microsoft.com/office/drawing/2014/main" id="{8543BEE2-185B-2C41-0A58-00E8AB38A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7" y="379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Rectangle 35">
              <a:extLst>
                <a:ext uri="{FF2B5EF4-FFF2-40B4-BE49-F238E27FC236}">
                  <a16:creationId xmlns:a16="http://schemas.microsoft.com/office/drawing/2014/main" id="{DD05928C-03FB-CE63-002E-550B3FDA3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" y="3792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Hit/Miss</a:t>
              </a:r>
            </a:p>
          </p:txBody>
        </p:sp>
        <p:sp>
          <p:nvSpPr>
            <p:cNvPr id="40" name="AutoShape 36">
              <a:extLst>
                <a:ext uri="{FF2B5EF4-FFF2-40B4-BE49-F238E27FC236}">
                  <a16:creationId xmlns:a16="http://schemas.microsoft.com/office/drawing/2014/main" id="{7E141B4A-1576-375D-FABE-9FCEAA3E7A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 flipV="1">
              <a:off x="3647" y="3047"/>
              <a:ext cx="569" cy="1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17 w 21600"/>
                <a:gd name="T13" fmla="*/ 4461 h 21600"/>
                <a:gd name="T14" fmla="*/ 17083 w 21600"/>
                <a:gd name="T15" fmla="*/ 1713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 b="1">
                  <a:latin typeface="Arial" pitchFamily="34" charset="0"/>
                </a:rPr>
                <a:t>MUX</a:t>
              </a:r>
            </a:p>
          </p:txBody>
        </p:sp>
        <p:sp>
          <p:nvSpPr>
            <p:cNvPr id="41" name="Line 37">
              <a:extLst>
                <a:ext uri="{FF2B5EF4-FFF2-40B4-BE49-F238E27FC236}">
                  <a16:creationId xmlns:a16="http://schemas.microsoft.com/office/drawing/2014/main" id="{1CE1BA3C-30A4-D715-1A24-B25052B9F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2" y="2755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38">
              <a:extLst>
                <a:ext uri="{FF2B5EF4-FFF2-40B4-BE49-F238E27FC236}">
                  <a16:creationId xmlns:a16="http://schemas.microsoft.com/office/drawing/2014/main" id="{D5605BB9-69F6-F633-819B-9671216A26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1" y="2755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39">
              <a:extLst>
                <a:ext uri="{FF2B5EF4-FFF2-40B4-BE49-F238E27FC236}">
                  <a16:creationId xmlns:a16="http://schemas.microsoft.com/office/drawing/2014/main" id="{7D160CEE-6F7A-2F4E-A1AF-72E9B93B1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6" y="2131"/>
              <a:ext cx="9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40">
              <a:extLst>
                <a:ext uri="{FF2B5EF4-FFF2-40B4-BE49-F238E27FC236}">
                  <a16:creationId xmlns:a16="http://schemas.microsoft.com/office/drawing/2014/main" id="{4ED1E140-D2B1-22F7-AB0E-7D3015923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2" y="2131"/>
              <a:ext cx="31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DDD85459-1439-898A-F7F2-41A7DBC0A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" y="3091"/>
              <a:ext cx="1020" cy="193"/>
            </a:xfrm>
            <a:custGeom>
              <a:avLst/>
              <a:gdLst>
                <a:gd name="T0" fmla="*/ 0 w 1105"/>
                <a:gd name="T1" fmla="*/ 192 h 193"/>
                <a:gd name="T2" fmla="*/ 260 w 1105"/>
                <a:gd name="T3" fmla="*/ 192 h 193"/>
                <a:gd name="T4" fmla="*/ 260 w 1105"/>
                <a:gd name="T5" fmla="*/ 0 h 193"/>
                <a:gd name="T6" fmla="*/ 282 w 1105"/>
                <a:gd name="T7" fmla="*/ 0 h 1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5"/>
                <a:gd name="T13" fmla="*/ 0 h 193"/>
                <a:gd name="T14" fmla="*/ 1105 w 1105"/>
                <a:gd name="T15" fmla="*/ 193 h 1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5" h="193">
                  <a:moveTo>
                    <a:pt x="0" y="192"/>
                  </a:moveTo>
                  <a:lnTo>
                    <a:pt x="1012" y="192"/>
                  </a:lnTo>
                  <a:lnTo>
                    <a:pt x="1012" y="0"/>
                  </a:lnTo>
                  <a:lnTo>
                    <a:pt x="1104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6CEBA395-301C-CDF9-2D99-6B857D402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3197"/>
              <a:ext cx="1993" cy="240"/>
            </a:xfrm>
            <a:custGeom>
              <a:avLst/>
              <a:gdLst>
                <a:gd name="T0" fmla="*/ 0 w 2929"/>
                <a:gd name="T1" fmla="*/ 755126 h 145"/>
                <a:gd name="T2" fmla="*/ 4 w 2929"/>
                <a:gd name="T3" fmla="*/ 755126 h 145"/>
                <a:gd name="T4" fmla="*/ 4 w 2929"/>
                <a:gd name="T5" fmla="*/ 378106 h 145"/>
                <a:gd name="T6" fmla="*/ 5 w 2929"/>
                <a:gd name="T7" fmla="*/ 0 h 1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9"/>
                <a:gd name="T13" fmla="*/ 0 h 145"/>
                <a:gd name="T14" fmla="*/ 2929 w 2929"/>
                <a:gd name="T15" fmla="*/ 145 h 1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9" h="145">
                  <a:moveTo>
                    <a:pt x="0" y="144"/>
                  </a:moveTo>
                  <a:lnTo>
                    <a:pt x="2832" y="144"/>
                  </a:lnTo>
                  <a:lnTo>
                    <a:pt x="2832" y="72"/>
                  </a:lnTo>
                  <a:lnTo>
                    <a:pt x="2928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43">
              <a:extLst>
                <a:ext uri="{FF2B5EF4-FFF2-40B4-BE49-F238E27FC236}">
                  <a16:creationId xmlns:a16="http://schemas.microsoft.com/office/drawing/2014/main" id="{37383CD9-66C6-F263-FB5D-6A0474BE8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0" y="3235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44">
              <a:extLst>
                <a:ext uri="{FF2B5EF4-FFF2-40B4-BE49-F238E27FC236}">
                  <a16:creationId xmlns:a16="http://schemas.microsoft.com/office/drawing/2014/main" id="{27D75E25-5B65-7E0E-A13B-CF6C5CA6C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" y="3504"/>
              <a:ext cx="6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Data Out</a:t>
              </a:r>
            </a:p>
          </p:txBody>
        </p:sp>
        <p:sp>
          <p:nvSpPr>
            <p:cNvPr id="49" name="AutoShape 45">
              <a:extLst>
                <a:ext uri="{FF2B5EF4-FFF2-40B4-BE49-F238E27FC236}">
                  <a16:creationId xmlns:a16="http://schemas.microsoft.com/office/drawing/2014/main" id="{6F42755B-E4EE-3AA8-342D-9C14EE06228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6" y="2000"/>
              <a:ext cx="1440" cy="8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670 w 21600"/>
                <a:gd name="T13" fmla="*/ 2670 h 21600"/>
                <a:gd name="T14" fmla="*/ 18930 w 21600"/>
                <a:gd name="T15" fmla="*/ 1893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732" y="21600"/>
                  </a:lnTo>
                  <a:lnTo>
                    <a:pt x="1986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46">
              <a:extLst>
                <a:ext uri="{FF2B5EF4-FFF2-40B4-BE49-F238E27FC236}">
                  <a16:creationId xmlns:a16="http://schemas.microsoft.com/office/drawing/2014/main" id="{E482B984-86F4-8706-AC8E-97AC03F8A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1606"/>
              <a:ext cx="764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1" name="Rectangle 47">
              <a:extLst>
                <a:ext uri="{FF2B5EF4-FFF2-40B4-BE49-F238E27FC236}">
                  <a16:creationId xmlns:a16="http://schemas.microsoft.com/office/drawing/2014/main" id="{F7B974D6-F31C-15EF-3727-1B4070B89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1318"/>
              <a:ext cx="764" cy="1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2" name="Rectangle 48">
              <a:extLst>
                <a:ext uri="{FF2B5EF4-FFF2-40B4-BE49-F238E27FC236}">
                  <a16:creationId xmlns:a16="http://schemas.microsoft.com/office/drawing/2014/main" id="{9C4F837A-F0C2-E998-371F-424F7A3D9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1318"/>
              <a:ext cx="764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 b="1">
                  <a:latin typeface="Arial" pitchFamily="34" charset="0"/>
                </a:rPr>
                <a:t>Data</a:t>
              </a:r>
            </a:p>
          </p:txBody>
        </p:sp>
        <p:sp>
          <p:nvSpPr>
            <p:cNvPr id="53" name="Rectangle 49">
              <a:extLst>
                <a:ext uri="{FF2B5EF4-FFF2-40B4-BE49-F238E27FC236}">
                  <a16:creationId xmlns:a16="http://schemas.microsoft.com/office/drawing/2014/main" id="{74D102F2-44F8-D257-D9D6-83A23CD95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1894"/>
              <a:ext cx="764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4" name="Rectangle 50">
              <a:extLst>
                <a:ext uri="{FF2B5EF4-FFF2-40B4-BE49-F238E27FC236}">
                  <a16:creationId xmlns:a16="http://schemas.microsoft.com/office/drawing/2014/main" id="{4225B3B2-3338-9868-B0D7-A56A3C836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2470"/>
              <a:ext cx="764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5" name="Line 51">
              <a:extLst>
                <a:ext uri="{FF2B5EF4-FFF2-40B4-BE49-F238E27FC236}">
                  <a16:creationId xmlns:a16="http://schemas.microsoft.com/office/drawing/2014/main" id="{68E91E36-9DEA-EAF9-E151-A51027410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0" y="1373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52">
              <a:extLst>
                <a:ext uri="{FF2B5EF4-FFF2-40B4-BE49-F238E27FC236}">
                  <a16:creationId xmlns:a16="http://schemas.microsoft.com/office/drawing/2014/main" id="{0DCD52B7-1752-C147-B8D2-E8D81CA99F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0" y="1517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53">
              <a:extLst>
                <a:ext uri="{FF2B5EF4-FFF2-40B4-BE49-F238E27FC236}">
                  <a16:creationId xmlns:a16="http://schemas.microsoft.com/office/drawing/2014/main" id="{EC63A4D3-6449-3933-474C-1B150A452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0" y="2669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Rectangle 54">
              <a:extLst>
                <a:ext uri="{FF2B5EF4-FFF2-40B4-BE49-F238E27FC236}">
                  <a16:creationId xmlns:a16="http://schemas.microsoft.com/office/drawing/2014/main" id="{994EDF72-955D-5532-5B84-A909843E4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1750"/>
              <a:ext cx="277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59" name="Rectangle 55">
              <a:extLst>
                <a:ext uri="{FF2B5EF4-FFF2-40B4-BE49-F238E27FC236}">
                  <a16:creationId xmlns:a16="http://schemas.microsoft.com/office/drawing/2014/main" id="{4FAF96B3-723B-5AFD-6805-293E4B2C4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1318"/>
              <a:ext cx="277" cy="1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0" name="Rectangle 56">
              <a:extLst>
                <a:ext uri="{FF2B5EF4-FFF2-40B4-BE49-F238E27FC236}">
                  <a16:creationId xmlns:a16="http://schemas.microsoft.com/office/drawing/2014/main" id="{9A56F119-E6C2-D0E5-0DBF-F66727FE4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1318"/>
              <a:ext cx="27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 b="1">
                  <a:latin typeface="Arial" pitchFamily="34" charset="0"/>
                </a:rPr>
                <a:t>Tag</a:t>
              </a:r>
            </a:p>
          </p:txBody>
        </p:sp>
        <p:sp>
          <p:nvSpPr>
            <p:cNvPr id="61" name="Rectangle 57">
              <a:extLst>
                <a:ext uri="{FF2B5EF4-FFF2-40B4-BE49-F238E27FC236}">
                  <a16:creationId xmlns:a16="http://schemas.microsoft.com/office/drawing/2014/main" id="{875DA466-EC2A-4AE4-8747-8D7736CF3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1462"/>
              <a:ext cx="277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2" name="Rectangle 58">
              <a:extLst>
                <a:ext uri="{FF2B5EF4-FFF2-40B4-BE49-F238E27FC236}">
                  <a16:creationId xmlns:a16="http://schemas.microsoft.com/office/drawing/2014/main" id="{4B4A53DF-6B88-8437-C816-3B711DA77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2038"/>
              <a:ext cx="277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3" name="Rectangle 59">
              <a:extLst>
                <a:ext uri="{FF2B5EF4-FFF2-40B4-BE49-F238E27FC236}">
                  <a16:creationId xmlns:a16="http://schemas.microsoft.com/office/drawing/2014/main" id="{F159B9D2-226F-AD31-3CF0-25DFED227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2326"/>
              <a:ext cx="277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4" name="Rectangle 60">
              <a:extLst>
                <a:ext uri="{FF2B5EF4-FFF2-40B4-BE49-F238E27FC236}">
                  <a16:creationId xmlns:a16="http://schemas.microsoft.com/office/drawing/2014/main" id="{FDCFFDB2-2651-EB8B-91E1-EA7AE33E2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2614"/>
              <a:ext cx="277" cy="1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5" name="Rectangle 61">
              <a:extLst>
                <a:ext uri="{FF2B5EF4-FFF2-40B4-BE49-F238E27FC236}">
                  <a16:creationId xmlns:a16="http://schemas.microsoft.com/office/drawing/2014/main" id="{F993C8AD-A60E-48AB-5D89-DB54C16DC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2765"/>
              <a:ext cx="4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Way 1</a:t>
              </a:r>
            </a:p>
          </p:txBody>
        </p:sp>
        <p:grpSp>
          <p:nvGrpSpPr>
            <p:cNvPr id="66" name="Group 62">
              <a:extLst>
                <a:ext uri="{FF2B5EF4-FFF2-40B4-BE49-F238E27FC236}">
                  <a16:creationId xmlns:a16="http://schemas.microsoft.com/office/drawing/2014/main" id="{39F3DE93-3C15-B27C-086D-6F6CA5BB3368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V="1">
              <a:off x="2095" y="3600"/>
              <a:ext cx="177" cy="207"/>
              <a:chOff x="2931" y="3419"/>
              <a:chExt cx="192" cy="207"/>
            </a:xfrm>
          </p:grpSpPr>
          <p:sp>
            <p:nvSpPr>
              <p:cNvPr id="75" name="Freeform 63">
                <a:extLst>
                  <a:ext uri="{FF2B5EF4-FFF2-40B4-BE49-F238E27FC236}">
                    <a16:creationId xmlns:a16="http://schemas.microsoft.com/office/drawing/2014/main" id="{ED5C7F90-AB0D-C3A9-52AE-CEF7404C4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3419"/>
                <a:ext cx="192" cy="29"/>
              </a:xfrm>
              <a:custGeom>
                <a:avLst/>
                <a:gdLst>
                  <a:gd name="T0" fmla="*/ 0 w 192"/>
                  <a:gd name="T1" fmla="*/ 0 h 48"/>
                  <a:gd name="T2" fmla="*/ 96 w 192"/>
                  <a:gd name="T3" fmla="*/ 1 h 48"/>
                  <a:gd name="T4" fmla="*/ 192 w 192"/>
                  <a:gd name="T5" fmla="*/ 0 h 48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48"/>
                  <a:gd name="T11" fmla="*/ 192 w 192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48">
                    <a:moveTo>
                      <a:pt x="0" y="0"/>
                    </a:moveTo>
                    <a:cubicBezTo>
                      <a:pt x="32" y="24"/>
                      <a:pt x="64" y="48"/>
                      <a:pt x="96" y="48"/>
                    </a:cubicBezTo>
                    <a:cubicBezTo>
                      <a:pt x="128" y="48"/>
                      <a:pt x="176" y="8"/>
                      <a:pt x="192" y="0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Line 64">
                <a:extLst>
                  <a:ext uri="{FF2B5EF4-FFF2-40B4-BE49-F238E27FC236}">
                    <a16:creationId xmlns:a16="http://schemas.microsoft.com/office/drawing/2014/main" id="{48F8238A-9817-E46B-DAF2-6161C26000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1" y="3419"/>
                <a:ext cx="0" cy="11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Line 65">
                <a:extLst>
                  <a:ext uri="{FF2B5EF4-FFF2-40B4-BE49-F238E27FC236}">
                    <a16:creationId xmlns:a16="http://schemas.microsoft.com/office/drawing/2014/main" id="{14AE27A6-494E-57E8-ABF9-40B2FF4F1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3" y="3419"/>
                <a:ext cx="0" cy="11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Freeform 66">
                <a:extLst>
                  <a:ext uri="{FF2B5EF4-FFF2-40B4-BE49-F238E27FC236}">
                    <a16:creationId xmlns:a16="http://schemas.microsoft.com/office/drawing/2014/main" id="{656ED201-F852-7C27-964D-69D507DE5A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3533"/>
                <a:ext cx="98" cy="93"/>
              </a:xfrm>
              <a:custGeom>
                <a:avLst/>
                <a:gdLst>
                  <a:gd name="T0" fmla="*/ 0 w 98"/>
                  <a:gd name="T1" fmla="*/ 0 h 93"/>
                  <a:gd name="T2" fmla="*/ 38 w 98"/>
                  <a:gd name="T3" fmla="*/ 57 h 93"/>
                  <a:gd name="T4" fmla="*/ 98 w 98"/>
                  <a:gd name="T5" fmla="*/ 93 h 93"/>
                  <a:gd name="T6" fmla="*/ 0 60000 65536"/>
                  <a:gd name="T7" fmla="*/ 0 60000 65536"/>
                  <a:gd name="T8" fmla="*/ 0 60000 65536"/>
                  <a:gd name="T9" fmla="*/ 0 w 98"/>
                  <a:gd name="T10" fmla="*/ 0 h 93"/>
                  <a:gd name="T11" fmla="*/ 98 w 98"/>
                  <a:gd name="T12" fmla="*/ 93 h 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" h="93">
                    <a:moveTo>
                      <a:pt x="0" y="0"/>
                    </a:moveTo>
                    <a:cubicBezTo>
                      <a:pt x="11" y="21"/>
                      <a:pt x="22" y="42"/>
                      <a:pt x="38" y="57"/>
                    </a:cubicBezTo>
                    <a:cubicBezTo>
                      <a:pt x="54" y="72"/>
                      <a:pt x="88" y="87"/>
                      <a:pt x="98" y="93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Freeform 67">
                <a:extLst>
                  <a:ext uri="{FF2B5EF4-FFF2-40B4-BE49-F238E27FC236}">
                    <a16:creationId xmlns:a16="http://schemas.microsoft.com/office/drawing/2014/main" id="{3F29892E-A552-04DF-79CD-44918716C1C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024" y="3532"/>
                <a:ext cx="98" cy="93"/>
              </a:xfrm>
              <a:custGeom>
                <a:avLst/>
                <a:gdLst>
                  <a:gd name="T0" fmla="*/ 0 w 98"/>
                  <a:gd name="T1" fmla="*/ 0 h 93"/>
                  <a:gd name="T2" fmla="*/ 38 w 98"/>
                  <a:gd name="T3" fmla="*/ 57 h 93"/>
                  <a:gd name="T4" fmla="*/ 98 w 98"/>
                  <a:gd name="T5" fmla="*/ 93 h 93"/>
                  <a:gd name="T6" fmla="*/ 0 60000 65536"/>
                  <a:gd name="T7" fmla="*/ 0 60000 65536"/>
                  <a:gd name="T8" fmla="*/ 0 60000 65536"/>
                  <a:gd name="T9" fmla="*/ 0 w 98"/>
                  <a:gd name="T10" fmla="*/ 0 h 93"/>
                  <a:gd name="T11" fmla="*/ 98 w 98"/>
                  <a:gd name="T12" fmla="*/ 93 h 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" h="93">
                    <a:moveTo>
                      <a:pt x="0" y="0"/>
                    </a:moveTo>
                    <a:cubicBezTo>
                      <a:pt x="11" y="21"/>
                      <a:pt x="22" y="42"/>
                      <a:pt x="38" y="57"/>
                    </a:cubicBezTo>
                    <a:cubicBezTo>
                      <a:pt x="54" y="72"/>
                      <a:pt x="88" y="87"/>
                      <a:pt x="98" y="93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7" name="Oval 68">
              <a:extLst>
                <a:ext uri="{FF2B5EF4-FFF2-40B4-BE49-F238E27FC236}">
                  <a16:creationId xmlns:a16="http://schemas.microsoft.com/office/drawing/2014/main" id="{0C4DF052-3C7D-B0A3-6F76-6B7B647298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8" y="1158"/>
              <a:ext cx="33" cy="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8" name="Oval 69">
              <a:extLst>
                <a:ext uri="{FF2B5EF4-FFF2-40B4-BE49-F238E27FC236}">
                  <a16:creationId xmlns:a16="http://schemas.microsoft.com/office/drawing/2014/main" id="{78237A7A-1BEE-533A-C90F-49E0966FA5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15" y="3421"/>
              <a:ext cx="32" cy="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69" name="Oval 70">
              <a:extLst>
                <a:ext uri="{FF2B5EF4-FFF2-40B4-BE49-F238E27FC236}">
                  <a16:creationId xmlns:a16="http://schemas.microsoft.com/office/drawing/2014/main" id="{98E91EB2-8281-2A45-8042-11CCA50591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7" y="3270"/>
              <a:ext cx="32" cy="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 type="none" w="sm" len="sm"/>
                  <a:tailEnd type="none" w="med" len="lg"/>
                </a14:hiddenLine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70" name="Line 71">
              <a:extLst>
                <a:ext uri="{FF2B5EF4-FFF2-40B4-BE49-F238E27FC236}">
                  <a16:creationId xmlns:a16="http://schemas.microsoft.com/office/drawing/2014/main" id="{010E72C9-0CE8-62D5-A88A-D964FE43E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" y="3531"/>
              <a:ext cx="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Line 72">
              <a:extLst>
                <a:ext uri="{FF2B5EF4-FFF2-40B4-BE49-F238E27FC236}">
                  <a16:creationId xmlns:a16="http://schemas.microsoft.com/office/drawing/2014/main" id="{339F8460-DEAB-6578-D544-319308F35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3534"/>
              <a:ext cx="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AutoShape 73">
              <a:extLst>
                <a:ext uri="{FF2B5EF4-FFF2-40B4-BE49-F238E27FC236}">
                  <a16:creationId xmlns:a16="http://schemas.microsoft.com/office/drawing/2014/main" id="{95BC9FD5-A661-6335-3FEB-65C8886F89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 flipV="1">
              <a:off x="2494" y="3032"/>
              <a:ext cx="272" cy="1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26 w 21600"/>
                <a:gd name="T13" fmla="*/ 4461 h 21600"/>
                <a:gd name="T14" fmla="*/ 17074 w 21600"/>
                <a:gd name="T15" fmla="*/ 1713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 b="1">
                  <a:latin typeface="Arial" pitchFamily="34" charset="0"/>
                </a:rPr>
                <a:t>=</a:t>
              </a:r>
            </a:p>
          </p:txBody>
        </p:sp>
        <p:sp>
          <p:nvSpPr>
            <p:cNvPr id="73" name="Rectangle 75">
              <a:extLst>
                <a:ext uri="{FF2B5EF4-FFF2-40B4-BE49-F238E27FC236}">
                  <a16:creationId xmlns:a16="http://schemas.microsoft.com/office/drawing/2014/main" id="{8F4F2D68-41FC-6B8F-D225-DBA82696F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720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5</a:t>
              </a:r>
            </a:p>
          </p:txBody>
        </p:sp>
        <p:sp>
          <p:nvSpPr>
            <p:cNvPr id="74" name="Rectangle 76">
              <a:extLst>
                <a:ext uri="{FF2B5EF4-FFF2-40B4-BE49-F238E27FC236}">
                  <a16:creationId xmlns:a16="http://schemas.microsoft.com/office/drawing/2014/main" id="{BFDBB595-EE25-833A-62F1-355AF165A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" y="720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 b="1">
                  <a:latin typeface="Arial" pitchFamily="34" charset="0"/>
                </a:rPr>
                <a:t>13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04BAC6E-9603-9F9E-D193-0711AF7D1FE3}"/>
              </a:ext>
            </a:extLst>
          </p:cNvPr>
          <p:cNvSpPr txBox="1"/>
          <p:nvPr/>
        </p:nvSpPr>
        <p:spPr>
          <a:xfrm>
            <a:off x="8940222" y="1713569"/>
            <a:ext cx="3322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Memory fetched in 64B blocks</a:t>
            </a:r>
            <a:endParaRPr lang="en-IL" b="1">
              <a:solidFill>
                <a:srgbClr val="FF0000"/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3884CC9-B2FE-4231-94B8-6C216570EBC9}"/>
              </a:ext>
            </a:extLst>
          </p:cNvPr>
          <p:cNvCxnSpPr>
            <a:stCxn id="80" idx="2"/>
          </p:cNvCxnSpPr>
          <p:nvPr/>
        </p:nvCxnSpPr>
        <p:spPr>
          <a:xfrm flipH="1">
            <a:off x="9182911" y="2082901"/>
            <a:ext cx="1418760" cy="1007956"/>
          </a:xfrm>
          <a:prstGeom prst="straightConnector1">
            <a:avLst/>
          </a:prstGeom>
          <a:ln w="349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2245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59D9-B494-0A91-1CAA-89A51A550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hierarchy limitations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5CB2A-4F4E-BA67-1E5B-9760DA76A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Rigid architecture tuned for sequential </a:t>
            </a:r>
            <a:r>
              <a:rPr lang="en-US" err="1"/>
              <a:t>accesess</a:t>
            </a:r>
            <a:r>
              <a:rPr lang="en-US"/>
              <a:t> and data locality</a:t>
            </a:r>
          </a:p>
          <a:p>
            <a:endParaRPr lang="en-US"/>
          </a:p>
          <a:p>
            <a:r>
              <a:rPr lang="en-US"/>
              <a:t>Data locality is crucial for performance</a:t>
            </a:r>
          </a:p>
          <a:p>
            <a:endParaRPr lang="en-US"/>
          </a:p>
          <a:p>
            <a:r>
              <a:rPr lang="en-US"/>
              <a:t>DRAM is ~100x slower than L1; ~10x slower than L2/LLC</a:t>
            </a:r>
          </a:p>
          <a:p>
            <a:endParaRPr lang="en-US"/>
          </a:p>
          <a:p>
            <a:r>
              <a:rPr lang="en-US"/>
              <a:t>Pointers-based structures are a pain for caching</a:t>
            </a:r>
          </a:p>
          <a:p>
            <a:endParaRPr lang="en-US"/>
          </a:p>
          <a:p>
            <a:r>
              <a:rPr lang="en-US"/>
              <a:t>Data must be partitioned to fit in the caches</a:t>
            </a:r>
          </a:p>
          <a:p>
            <a:pPr lvl="1"/>
            <a:r>
              <a:rPr lang="en-US"/>
              <a:t>Potential 10x-100x performance improvement</a:t>
            </a:r>
          </a:p>
          <a:p>
            <a:pPr lvl="1"/>
            <a:endParaRPr lang="en-US"/>
          </a:p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7D112-5BD6-A9DB-60EE-C2A3BC0F3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75324-3601-2746-2AC4-4F68AD0E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64942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9174-D91C-1631-D8DF-0FB15C02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Don’t forget our view of computer systems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CE6FC-175A-FFD9-2241-735861647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52053" cy="4351338"/>
          </a:xfrm>
        </p:spPr>
        <p:txBody>
          <a:bodyPr/>
          <a:lstStyle/>
          <a:p>
            <a:r>
              <a:rPr lang="en-US" dirty="0"/>
              <a:t>Computers are built to solve problems</a:t>
            </a:r>
          </a:p>
          <a:p>
            <a:endParaRPr lang="en-US" dirty="0"/>
          </a:p>
          <a:p>
            <a:r>
              <a:rPr lang="en-US" dirty="0"/>
              <a:t>But all solutions have constraints</a:t>
            </a:r>
          </a:p>
          <a:p>
            <a:endParaRPr lang="en-US" dirty="0"/>
          </a:p>
          <a:p>
            <a:r>
              <a:rPr lang="en-US" dirty="0"/>
              <a:t>Both the problem and constraints are moving targets and are co-dependent</a:t>
            </a:r>
          </a:p>
          <a:p>
            <a:endParaRPr lang="en-US" dirty="0"/>
          </a:p>
          <a:p>
            <a:r>
              <a:rPr lang="en-US" b="1" dirty="0"/>
              <a:t>Memory is where algorithms need to be tuned to hardware constraints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4CC1D6-A632-1947-6F2F-ACE8E6DC2DF7}"/>
              </a:ext>
            </a:extLst>
          </p:cNvPr>
          <p:cNvSpPr/>
          <p:nvPr/>
        </p:nvSpPr>
        <p:spPr>
          <a:xfrm>
            <a:off x="8610600" y="1488326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Problem</a:t>
            </a:r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9852D1-FD32-B4F4-D4D1-9A465383EF88}"/>
              </a:ext>
            </a:extLst>
          </p:cNvPr>
          <p:cNvSpPr/>
          <p:nvPr/>
        </p:nvSpPr>
        <p:spPr>
          <a:xfrm>
            <a:off x="8610600" y="2243838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Algorithm</a:t>
            </a:r>
            <a:endParaRPr lang="en-IL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3059DA-C976-9CA5-D9DB-EBB3526BF1A7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9762517" y="1935799"/>
            <a:ext cx="0" cy="30803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5C14F6E-468B-7A79-6266-952F16FF0821}"/>
              </a:ext>
            </a:extLst>
          </p:cNvPr>
          <p:cNvSpPr/>
          <p:nvPr/>
        </p:nvSpPr>
        <p:spPr>
          <a:xfrm>
            <a:off x="8608838" y="2994510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Software</a:t>
            </a:r>
            <a:endParaRPr lang="en-IL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30884D-77DA-1DA1-E67B-C15DF123DD85}"/>
              </a:ext>
            </a:extLst>
          </p:cNvPr>
          <p:cNvCxnSpPr>
            <a:cxnSpLocks/>
            <a:stCxn id="13" idx="0"/>
            <a:endCxn id="7" idx="2"/>
          </p:cNvCxnSpPr>
          <p:nvPr/>
        </p:nvCxnSpPr>
        <p:spPr>
          <a:xfrm flipV="1">
            <a:off x="9760755" y="2691311"/>
            <a:ext cx="1762" cy="30319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46CEB16-31E1-7AB4-7DED-1A0D51A0EC98}"/>
              </a:ext>
            </a:extLst>
          </p:cNvPr>
          <p:cNvSpPr/>
          <p:nvPr/>
        </p:nvSpPr>
        <p:spPr>
          <a:xfrm>
            <a:off x="8608838" y="3745182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Hardware/Arch.</a:t>
            </a:r>
            <a:endParaRPr lang="en-IL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8A203A-0302-D8DB-02BA-FE11BA545CC0}"/>
              </a:ext>
            </a:extLst>
          </p:cNvPr>
          <p:cNvCxnSpPr>
            <a:cxnSpLocks/>
            <a:stCxn id="17" idx="0"/>
            <a:endCxn id="13" idx="2"/>
          </p:cNvCxnSpPr>
          <p:nvPr/>
        </p:nvCxnSpPr>
        <p:spPr>
          <a:xfrm flipV="1">
            <a:off x="9760755" y="3441983"/>
            <a:ext cx="0" cy="30319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Crown outline">
            <a:extLst>
              <a:ext uri="{FF2B5EF4-FFF2-40B4-BE49-F238E27FC236}">
                <a16:creationId xmlns:a16="http://schemas.microsoft.com/office/drawing/2014/main" id="{E9E687E9-1FF0-576D-D712-7340685DD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98997">
            <a:off x="10455472" y="896613"/>
            <a:ext cx="914400" cy="9144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6A3799C-122A-89F1-26C0-2F07F785BAF7}"/>
              </a:ext>
            </a:extLst>
          </p:cNvPr>
          <p:cNvSpPr/>
          <p:nvPr/>
        </p:nvSpPr>
        <p:spPr>
          <a:xfrm>
            <a:off x="8608838" y="4495854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VLSI flow</a:t>
            </a:r>
            <a:endParaRPr lang="en-I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38B62-9617-E8E6-5E40-256CBE307300}"/>
              </a:ext>
            </a:extLst>
          </p:cNvPr>
          <p:cNvSpPr/>
          <p:nvPr/>
        </p:nvSpPr>
        <p:spPr>
          <a:xfrm>
            <a:off x="8608838" y="5246526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Devices</a:t>
            </a:r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B30FAD-1100-BF06-01AC-62F4BBB8C898}"/>
              </a:ext>
            </a:extLst>
          </p:cNvPr>
          <p:cNvSpPr/>
          <p:nvPr/>
        </p:nvSpPr>
        <p:spPr>
          <a:xfrm>
            <a:off x="8610803" y="5997198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Physics</a:t>
            </a:r>
            <a:endParaRPr lang="en-IL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42D543D-F72D-A9B8-5414-CDD8F9FF2B81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>
            <a:off x="9760755" y="4192655"/>
            <a:ext cx="0" cy="30319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58CF859-747B-DF3E-90BE-162D139D5C17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9760755" y="4943327"/>
            <a:ext cx="0" cy="30319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FB2A86-C32F-45B1-65AF-91B490AB2399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9760755" y="5693999"/>
            <a:ext cx="1965" cy="30319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ate Placeholder 44">
            <a:extLst>
              <a:ext uri="{FF2B5EF4-FFF2-40B4-BE49-F238E27FC236}">
                <a16:creationId xmlns:a16="http://schemas.microsoft.com/office/drawing/2014/main" id="{AC3068AB-3F6D-1696-2188-24D684E08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A6B43024-19CC-F91D-4695-BA745125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641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7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75855" y="219076"/>
            <a:ext cx="10714181" cy="142499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Compiler/Programmer Optimizations: </a:t>
            </a:r>
            <a:br>
              <a:rPr lang="en-US" sz="4000"/>
            </a:br>
            <a:r>
              <a:rPr lang="en-US" sz="4000"/>
              <a:t>Merging Arrays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3528" y="1773382"/>
            <a:ext cx="4825999" cy="4932218"/>
          </a:xfrm>
        </p:spPr>
        <p:txBody>
          <a:bodyPr>
            <a:normAutofit/>
          </a:bodyPr>
          <a:lstStyle/>
          <a:p>
            <a:r>
              <a:rPr lang="en-US"/>
              <a:t>Merge 2 arrays into a single </a:t>
            </a:r>
            <a:br>
              <a:rPr lang="en-US"/>
            </a:br>
            <a:r>
              <a:rPr lang="en-US"/>
              <a:t>array of compound elements</a:t>
            </a:r>
            <a:endParaRPr lang="en-US" sz="1400">
              <a:solidFill>
                <a:srgbClr val="FF0000"/>
              </a:solidFill>
              <a:latin typeface="Courier New" pitchFamily="49" charset="0"/>
            </a:endParaRPr>
          </a:p>
          <a:p>
            <a:endParaRPr lang="en-US"/>
          </a:p>
          <a:p>
            <a:r>
              <a:rPr lang="en-US"/>
              <a:t>Reduce conflicts between </a:t>
            </a:r>
            <a:br>
              <a:rPr lang="en-US"/>
            </a:br>
            <a:r>
              <a:rPr lang="en-US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US"/>
              <a:t> and </a:t>
            </a:r>
            <a:r>
              <a:rPr lang="en-US">
                <a:latin typeface="Courier New" pitchFamily="49" charset="0"/>
                <a:cs typeface="Courier New" pitchFamily="49" charset="0"/>
              </a:rPr>
              <a:t>key</a:t>
            </a:r>
            <a:r>
              <a:rPr lang="en-US"/>
              <a:t> </a:t>
            </a:r>
          </a:p>
          <a:p>
            <a:endParaRPr lang="en-US"/>
          </a:p>
          <a:p>
            <a:r>
              <a:rPr lang="en-US"/>
              <a:t>Improves spatial locality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078B844-67E6-BCAB-D94A-19CB060C63AB}"/>
              </a:ext>
            </a:extLst>
          </p:cNvPr>
          <p:cNvSpPr txBox="1">
            <a:spLocks noChangeArrowheads="1"/>
          </p:cNvSpPr>
          <p:nvPr/>
        </p:nvSpPr>
        <p:spPr>
          <a:xfrm>
            <a:off x="6313055" y="1143000"/>
            <a:ext cx="5980545" cy="571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endParaRPr lang="en-US" sz="1400">
              <a:solidFill>
                <a:srgbClr val="FF0000"/>
              </a:solidFill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u="sng">
                <a:solidFill>
                  <a:srgbClr val="FF0000"/>
                </a:solidFill>
                <a:latin typeface="Courier New" pitchFamily="49" charset="0"/>
              </a:rPr>
              <a:t>// BEFORE</a:t>
            </a:r>
            <a:r>
              <a:rPr lang="en-US">
                <a:solidFill>
                  <a:srgbClr val="FF0000"/>
                </a:solidFill>
                <a:latin typeface="Courier New" pitchFamily="49" charset="0"/>
              </a:rPr>
              <a:t>: two arrays</a:t>
            </a: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rgbClr val="FF0000"/>
                </a:solidFill>
                <a:latin typeface="Courier New" pitchFamily="49" charset="0"/>
              </a:rPr>
              <a:t>int </a:t>
            </a:r>
            <a:r>
              <a:rPr lang="en-US" err="1">
                <a:solidFill>
                  <a:srgbClr val="FF0000"/>
                </a:solidFill>
                <a:latin typeface="Courier New" pitchFamily="49" charset="0"/>
              </a:rPr>
              <a:t>val</a:t>
            </a:r>
            <a:r>
              <a:rPr lang="en-US">
                <a:solidFill>
                  <a:srgbClr val="FF0000"/>
                </a:solidFill>
                <a:latin typeface="Courier New" pitchFamily="49" charset="0"/>
              </a:rPr>
              <a:t>[SIZE];</a:t>
            </a: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rgbClr val="FF0000"/>
                </a:solidFill>
                <a:latin typeface="Courier New" pitchFamily="49" charset="0"/>
              </a:rPr>
              <a:t>int key[SIZE];</a:t>
            </a:r>
          </a:p>
          <a:p>
            <a:pPr>
              <a:buFont typeface="Monotype Sorts" pitchFamily="2" charset="2"/>
              <a:buNone/>
            </a:pPr>
            <a:endParaRPr lang="en-US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rgbClr val="003300"/>
                </a:solidFill>
                <a:latin typeface="Courier New" pitchFamily="49" charset="0"/>
              </a:rPr>
              <a:t>// </a:t>
            </a:r>
            <a:r>
              <a:rPr lang="en-US" u="sng">
                <a:solidFill>
                  <a:srgbClr val="003300"/>
                </a:solidFill>
                <a:latin typeface="Courier New" pitchFamily="49" charset="0"/>
              </a:rPr>
              <a:t>AFTER</a:t>
            </a:r>
            <a:r>
              <a:rPr lang="en-US">
                <a:solidFill>
                  <a:srgbClr val="003300"/>
                </a:solidFill>
                <a:latin typeface="Courier New" pitchFamily="49" charset="0"/>
              </a:rPr>
              <a:t>: Array of structs. </a:t>
            </a: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rgbClr val="003300"/>
                </a:solidFill>
                <a:latin typeface="Courier New" pitchFamily="49" charset="0"/>
              </a:rPr>
              <a:t>struct merge {</a:t>
            </a: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rgbClr val="003300"/>
                </a:solidFill>
                <a:latin typeface="Courier New" pitchFamily="49" charset="0"/>
              </a:rPr>
              <a:t>	int </a:t>
            </a:r>
            <a:r>
              <a:rPr lang="en-US" err="1">
                <a:solidFill>
                  <a:srgbClr val="003300"/>
                </a:solidFill>
                <a:latin typeface="Courier New" pitchFamily="49" charset="0"/>
              </a:rPr>
              <a:t>val</a:t>
            </a:r>
            <a:r>
              <a:rPr lang="en-US">
                <a:solidFill>
                  <a:srgbClr val="003300"/>
                </a:solidFill>
                <a:latin typeface="Courier New" pitchFamily="49" charset="0"/>
              </a:rPr>
              <a:t>;</a:t>
            </a: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rgbClr val="003300"/>
                </a:solidFill>
                <a:latin typeface="Courier New" pitchFamily="49" charset="0"/>
              </a:rPr>
              <a:t>	int key;</a:t>
            </a: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rgbClr val="003300"/>
                </a:solidFill>
                <a:latin typeface="Courier New" pitchFamily="49" charset="0"/>
              </a:rPr>
              <a:t>} </a:t>
            </a:r>
            <a:r>
              <a:rPr lang="en-US" err="1">
                <a:solidFill>
                  <a:srgbClr val="003300"/>
                </a:solidFill>
                <a:latin typeface="Courier New" pitchFamily="49" charset="0"/>
              </a:rPr>
              <a:t>merged_array</a:t>
            </a:r>
            <a:r>
              <a:rPr lang="en-US">
                <a:solidFill>
                  <a:srgbClr val="003300"/>
                </a:solidFill>
                <a:latin typeface="Courier New" pitchFamily="49" charset="0"/>
              </a:rPr>
              <a:t>[SIZE];</a:t>
            </a:r>
          </a:p>
          <a:p>
            <a:pPr>
              <a:buFont typeface="Monotype Sorts" pitchFamily="2" charset="2"/>
              <a:buNone/>
            </a:pPr>
            <a:endParaRPr lang="en-US">
              <a:solidFill>
                <a:srgbClr val="003300"/>
              </a:solidFill>
              <a:latin typeface="Courier New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AE6AF-F247-E55D-BEDE-E598A3E9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5A12F-8032-E938-1649-80BAC7F8A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8182" y="2105890"/>
            <a:ext cx="5749636" cy="475211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/>
              <a:t>Combine 2 independent loops whose data overlap</a:t>
            </a:r>
            <a:endParaRPr lang="en-US" sz="1900"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400">
                <a:cs typeface="Arial" pitchFamily="34" charset="0"/>
              </a:rPr>
              <a:t>Assume each element in </a:t>
            </a:r>
            <a:r>
              <a:rPr lang="en-US" sz="2400" b="1">
                <a:latin typeface="Courier New" pitchFamily="49" charset="0"/>
              </a:rPr>
              <a:t>a</a:t>
            </a:r>
            <a:r>
              <a:rPr lang="en-US" sz="2400">
                <a:cs typeface="Arial" pitchFamily="34" charset="0"/>
              </a:rPr>
              <a:t> is 4 bytes, </a:t>
            </a:r>
            <a:br>
              <a:rPr lang="en-US" sz="2400">
                <a:cs typeface="Arial" pitchFamily="34" charset="0"/>
              </a:rPr>
            </a:br>
            <a:r>
              <a:rPr lang="en-US" sz="2400">
                <a:cs typeface="Arial" pitchFamily="34" charset="0"/>
              </a:rPr>
              <a:t>32KB cache, 32 B / line, array&gt;$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for (</a:t>
            </a:r>
            <a:r>
              <a:rPr lang="en-US" b="1" err="1">
                <a:latin typeface="Courier New" pitchFamily="49" charset="0"/>
              </a:rPr>
              <a:t>i</a:t>
            </a:r>
            <a:r>
              <a:rPr lang="en-US" b="1">
                <a:latin typeface="Courier New" pitchFamily="49" charset="0"/>
              </a:rPr>
              <a:t>=0; </a:t>
            </a:r>
            <a:r>
              <a:rPr lang="en-US" b="1" err="1">
                <a:latin typeface="Courier New" pitchFamily="49" charset="0"/>
              </a:rPr>
              <a:t>i</a:t>
            </a:r>
            <a:r>
              <a:rPr lang="en-US" b="1">
                <a:latin typeface="Courier New" pitchFamily="49" charset="0"/>
              </a:rPr>
              <a:t>&lt;10000; </a:t>
            </a:r>
            <a:r>
              <a:rPr lang="en-US" b="1" err="1">
                <a:latin typeface="Courier New" pitchFamily="49" charset="0"/>
              </a:rPr>
              <a:t>i</a:t>
            </a:r>
            <a:r>
              <a:rPr lang="en-US" b="1">
                <a:latin typeface="Courier New" pitchFamily="49" charset="0"/>
              </a:rPr>
              <a:t>++)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	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a[</a:t>
            </a:r>
            <a:r>
              <a:rPr lang="en-US" b="1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] </a:t>
            </a:r>
            <a:r>
              <a:rPr lang="en-US" b="1">
                <a:latin typeface="Courier New" pitchFamily="49" charset="0"/>
              </a:rPr>
              <a:t>= 1 / 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a[</a:t>
            </a:r>
            <a:r>
              <a:rPr lang="en-US" b="1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]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for (</a:t>
            </a:r>
            <a:r>
              <a:rPr lang="en-US" b="1" err="1">
                <a:latin typeface="Courier New" pitchFamily="49" charset="0"/>
              </a:rPr>
              <a:t>i</a:t>
            </a:r>
            <a:r>
              <a:rPr lang="en-US" b="1">
                <a:latin typeface="Courier New" pitchFamily="49" charset="0"/>
              </a:rPr>
              <a:t>=0; </a:t>
            </a:r>
            <a:r>
              <a:rPr lang="en-US" b="1" err="1">
                <a:latin typeface="Courier New" pitchFamily="49" charset="0"/>
              </a:rPr>
              <a:t>i</a:t>
            </a:r>
            <a:r>
              <a:rPr lang="en-US" b="1">
                <a:latin typeface="Courier New" pitchFamily="49" charset="0"/>
              </a:rPr>
              <a:t>&lt;10000; </a:t>
            </a:r>
            <a:r>
              <a:rPr lang="en-US" b="1" err="1">
                <a:latin typeface="Courier New" pitchFamily="49" charset="0"/>
              </a:rPr>
              <a:t>i</a:t>
            </a:r>
            <a:r>
              <a:rPr lang="en-US" b="1">
                <a:latin typeface="Courier New" pitchFamily="49" charset="0"/>
              </a:rPr>
              <a:t>++)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	sum = sum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 </a:t>
            </a:r>
            <a:r>
              <a:rPr lang="en-US" b="1">
                <a:latin typeface="Courier New" pitchFamily="49" charset="0"/>
              </a:rPr>
              <a:t>+ 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a[</a:t>
            </a:r>
            <a:r>
              <a:rPr lang="en-US" b="1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]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lvl="4">
              <a:lnSpc>
                <a:spcPct val="90000"/>
              </a:lnSpc>
              <a:buFontTx/>
              <a:buNone/>
            </a:pPr>
            <a:endParaRPr lang="en-US" sz="1300" b="1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>
                <a:cs typeface="Arial" pitchFamily="34" charset="0"/>
              </a:rPr>
              <a:t>First loop: hit 7/8 of iterations</a:t>
            </a:r>
          </a:p>
          <a:p>
            <a:pPr lvl="1">
              <a:lnSpc>
                <a:spcPct val="90000"/>
              </a:lnSpc>
            </a:pPr>
            <a:r>
              <a:rPr lang="en-US">
                <a:cs typeface="Arial" pitchFamily="34" charset="0"/>
              </a:rPr>
              <a:t>Second loop: </a:t>
            </a:r>
            <a:br>
              <a:rPr lang="en-US">
                <a:cs typeface="Arial" pitchFamily="34" charset="0"/>
              </a:rPr>
            </a:br>
            <a:r>
              <a:rPr lang="en-US">
                <a:cs typeface="Arial" pitchFamily="34" charset="0"/>
              </a:rPr>
              <a:t>array &gt; cache </a:t>
            </a:r>
            <a:r>
              <a:rPr lang="en-US">
                <a:cs typeface="Arial" pitchFamily="34" charset="0"/>
                <a:sym typeface="Symbol" pitchFamily="18" charset="2"/>
              </a:rPr>
              <a:t> 	same hit rate </a:t>
            </a:r>
            <a:br>
              <a:rPr lang="en-US">
                <a:cs typeface="Arial" pitchFamily="34" charset="0"/>
                <a:sym typeface="Symbol" pitchFamily="18" charset="2"/>
              </a:rPr>
            </a:br>
            <a:r>
              <a:rPr lang="en-US">
                <a:cs typeface="Arial" pitchFamily="34" charset="0"/>
                <a:sym typeface="Symbol" pitchFamily="18" charset="2"/>
              </a:rPr>
              <a:t>			as in 1</a:t>
            </a:r>
            <a:r>
              <a:rPr lang="en-US" baseline="30000">
                <a:cs typeface="Arial" pitchFamily="34" charset="0"/>
                <a:sym typeface="Symbol" pitchFamily="18" charset="2"/>
              </a:rPr>
              <a:t>st</a:t>
            </a:r>
            <a:r>
              <a:rPr lang="en-US">
                <a:cs typeface="Arial" pitchFamily="34" charset="0"/>
                <a:sym typeface="Symbol" pitchFamily="18" charset="2"/>
              </a:rPr>
              <a:t> loop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DA4D13-8193-1FB9-5B78-99DB16E073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Compiler/Programmer Optimizations: </a:t>
            </a:r>
            <a:br>
              <a:rPr lang="en-US" sz="4000"/>
            </a:br>
            <a:r>
              <a:rPr lang="en-US" sz="4000"/>
              <a:t>Loop fusion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90657AF-8B71-BAFF-F111-B0C7C9E19B6B}"/>
              </a:ext>
            </a:extLst>
          </p:cNvPr>
          <p:cNvSpPr txBox="1">
            <a:spLocks noChangeArrowheads="1"/>
          </p:cNvSpPr>
          <p:nvPr/>
        </p:nvSpPr>
        <p:spPr>
          <a:xfrm>
            <a:off x="6714836" y="2105890"/>
            <a:ext cx="5477164" cy="4523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cs typeface="Arial" pitchFamily="34" charset="0"/>
              </a:rPr>
              <a:t>Fuse the loops </a:t>
            </a:r>
          </a:p>
          <a:p>
            <a:pPr lvl="1">
              <a:spcBef>
                <a:spcPct val="50000"/>
              </a:spcBef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for (</a:t>
            </a:r>
            <a:r>
              <a:rPr lang="en-US" b="1" err="1">
                <a:latin typeface="Courier New" pitchFamily="49" charset="0"/>
              </a:rPr>
              <a:t>i</a:t>
            </a:r>
            <a:r>
              <a:rPr lang="en-US" b="1">
                <a:latin typeface="Courier New" pitchFamily="49" charset="0"/>
              </a:rPr>
              <a:t>=0; </a:t>
            </a:r>
            <a:r>
              <a:rPr lang="en-US" b="1" err="1">
                <a:latin typeface="Courier New" pitchFamily="49" charset="0"/>
              </a:rPr>
              <a:t>i</a:t>
            </a:r>
            <a:r>
              <a:rPr lang="en-US" b="1">
                <a:latin typeface="Courier New" pitchFamily="49" charset="0"/>
              </a:rPr>
              <a:t>&lt;10000; </a:t>
            </a:r>
            <a:r>
              <a:rPr lang="en-US" b="1" err="1">
                <a:latin typeface="Courier New" pitchFamily="49" charset="0"/>
              </a:rPr>
              <a:t>i</a:t>
            </a:r>
            <a:r>
              <a:rPr lang="en-US" b="1">
                <a:latin typeface="Courier New" pitchFamily="49" charset="0"/>
              </a:rPr>
              <a:t>++) {</a:t>
            </a:r>
          </a:p>
          <a:p>
            <a:pPr lvl="1"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	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a[</a:t>
            </a:r>
            <a:r>
              <a:rPr lang="en-US" b="1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] </a:t>
            </a:r>
            <a:r>
              <a:rPr lang="en-US" b="1">
                <a:latin typeface="Courier New" pitchFamily="49" charset="0"/>
              </a:rPr>
              <a:t>= 1 / 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a[</a:t>
            </a:r>
            <a:r>
              <a:rPr lang="en-US" b="1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]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	sum = sum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 </a:t>
            </a:r>
            <a:r>
              <a:rPr lang="en-US" b="1">
                <a:latin typeface="Courier New" pitchFamily="49" charset="0"/>
              </a:rPr>
              <a:t>+ 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a[</a:t>
            </a:r>
            <a:r>
              <a:rPr lang="en-US" b="1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</a:rPr>
              <a:t>]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b="1">
                <a:latin typeface="Courier New" pitchFamily="49" charset="0"/>
              </a:rPr>
              <a:t>}</a:t>
            </a:r>
          </a:p>
          <a:p>
            <a:pPr lvl="1"/>
            <a:r>
              <a:rPr lang="en-US"/>
              <a:t>First line: </a:t>
            </a:r>
            <a:r>
              <a:rPr lang="en-US">
                <a:cs typeface="Arial" pitchFamily="34" charset="0"/>
              </a:rPr>
              <a:t>hit 7/8 of iterations</a:t>
            </a:r>
          </a:p>
          <a:p>
            <a:pPr lvl="1"/>
            <a:r>
              <a:rPr lang="en-US">
                <a:cs typeface="Arial" pitchFamily="34" charset="0"/>
              </a:rPr>
              <a:t>Second line: hit all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B5E1C3-9A4B-9287-A5FC-B1233B9D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CA2604-FCF6-608B-E050-39E1752D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67645"/>
            <a:ext cx="5666509" cy="4828719"/>
          </a:xfrm>
        </p:spPr>
        <p:txBody>
          <a:bodyPr>
            <a:normAutofit/>
          </a:bodyPr>
          <a:lstStyle/>
          <a:p>
            <a:r>
              <a:rPr lang="en-US"/>
              <a:t>Change loops nesting to access data in order stored in memory</a:t>
            </a:r>
            <a:endParaRPr lang="en-US">
              <a:cs typeface="Arial" pitchFamily="34" charset="0"/>
            </a:endParaRPr>
          </a:p>
          <a:p>
            <a:r>
              <a:rPr lang="en-US">
                <a:cs typeface="Arial" pitchFamily="34" charset="0"/>
              </a:rPr>
              <a:t>Two-dimensional array in memory is row-major in C/C++/…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x[0][0] x[0][1] … x[0][99] x[1][0] x[1][1] … </a:t>
            </a:r>
            <a:endParaRPr lang="en-US">
              <a:cs typeface="Arial" pitchFamily="34" charset="0"/>
            </a:endParaRPr>
          </a:p>
          <a:p>
            <a:r>
              <a:rPr lang="en-US"/>
              <a:t>Sequential accesses instead of striding through memory every 100 words</a:t>
            </a:r>
          </a:p>
          <a:p>
            <a:pPr lvl="1"/>
            <a:r>
              <a:rPr lang="en-US"/>
              <a:t>Improved spatial locality </a:t>
            </a:r>
          </a:p>
        </p:txBody>
      </p:sp>
      <p:sp>
        <p:nvSpPr>
          <p:cNvPr id="76804" name="Arc 4"/>
          <p:cNvSpPr>
            <a:spLocks/>
          </p:cNvSpPr>
          <p:nvPr/>
        </p:nvSpPr>
        <p:spPr bwMode="auto">
          <a:xfrm rot="-10680000">
            <a:off x="5980472" y="4900757"/>
            <a:ext cx="573088" cy="534987"/>
          </a:xfrm>
          <a:custGeom>
            <a:avLst/>
            <a:gdLst>
              <a:gd name="T0" fmla="*/ 2147483647 w 21600"/>
              <a:gd name="T1" fmla="*/ 0 h 38633"/>
              <a:gd name="T2" fmla="*/ 2147483647 w 21600"/>
              <a:gd name="T3" fmla="*/ 2147483647 h 38633"/>
              <a:gd name="T4" fmla="*/ 0 w 21600"/>
              <a:gd name="T5" fmla="*/ 2147483647 h 38633"/>
              <a:gd name="T6" fmla="*/ 0 60000 65536"/>
              <a:gd name="T7" fmla="*/ 0 60000 65536"/>
              <a:gd name="T8" fmla="*/ 0 60000 65536"/>
              <a:gd name="T9" fmla="*/ 0 w 21600"/>
              <a:gd name="T10" fmla="*/ 0 h 38633"/>
              <a:gd name="T11" fmla="*/ 21600 w 21600"/>
              <a:gd name="T12" fmla="*/ 38633 h 386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8633" fill="none" extrusionOk="0">
                <a:moveTo>
                  <a:pt x="8289" y="-1"/>
                </a:moveTo>
                <a:cubicBezTo>
                  <a:pt x="16348" y="3348"/>
                  <a:pt x="21600" y="11218"/>
                  <a:pt x="21600" y="19946"/>
                </a:cubicBezTo>
                <a:cubicBezTo>
                  <a:pt x="21600" y="27648"/>
                  <a:pt x="17497" y="34769"/>
                  <a:pt x="10833" y="38632"/>
                </a:cubicBezTo>
              </a:path>
              <a:path w="21600" h="38633" stroke="0" extrusionOk="0">
                <a:moveTo>
                  <a:pt x="8289" y="-1"/>
                </a:moveTo>
                <a:cubicBezTo>
                  <a:pt x="16348" y="3348"/>
                  <a:pt x="21600" y="11218"/>
                  <a:pt x="21600" y="19946"/>
                </a:cubicBezTo>
                <a:cubicBezTo>
                  <a:pt x="21600" y="27648"/>
                  <a:pt x="17497" y="34769"/>
                  <a:pt x="10833" y="38632"/>
                </a:cubicBezTo>
                <a:lnTo>
                  <a:pt x="0" y="19946"/>
                </a:lnTo>
                <a:lnTo>
                  <a:pt x="8289" y="-1"/>
                </a:lnTo>
                <a:close/>
              </a:path>
            </a:pathLst>
          </a:custGeom>
          <a:noFill/>
          <a:ln w="25400" cap="rnd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7BEE924-CA82-BBFC-CF4D-E9692DE0F4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Compiler/Programmer Optimizations: </a:t>
            </a:r>
            <a:br>
              <a:rPr lang="en-US" sz="4000"/>
            </a:br>
            <a:r>
              <a:rPr lang="en-US" sz="4000"/>
              <a:t>Loop interchange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A50B541-F43D-90D1-8825-213CAC22A43A}"/>
              </a:ext>
            </a:extLst>
          </p:cNvPr>
          <p:cNvSpPr txBox="1">
            <a:spLocks noChangeArrowheads="1"/>
          </p:cNvSpPr>
          <p:nvPr/>
        </p:nvSpPr>
        <p:spPr>
          <a:xfrm>
            <a:off x="6220691" y="1867645"/>
            <a:ext cx="5971309" cy="48287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/* Before */</a:t>
            </a: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chemeClr val="accent1"/>
                </a:solidFill>
                <a:latin typeface="Courier New" pitchFamily="49" charset="0"/>
              </a:rPr>
              <a:t>for(j=0; j&lt;100; </a:t>
            </a:r>
            <a:r>
              <a:rPr lang="en-US" err="1">
                <a:solidFill>
                  <a:schemeClr val="accent1"/>
                </a:solidFill>
                <a:latin typeface="Courier New" pitchFamily="49" charset="0"/>
              </a:rPr>
              <a:t>j++</a:t>
            </a:r>
            <a:r>
              <a:rPr lang="en-US">
                <a:solidFill>
                  <a:schemeClr val="accent1"/>
                </a:solidFill>
                <a:latin typeface="Courier New" pitchFamily="49" charset="0"/>
              </a:rPr>
              <a:t>)</a:t>
            </a: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chemeClr val="accent1"/>
                </a:solidFill>
                <a:latin typeface="Courier New" pitchFamily="49" charset="0"/>
              </a:rPr>
              <a:t>		for(</a:t>
            </a:r>
            <a:r>
              <a:rPr lang="en-US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>
                <a:solidFill>
                  <a:schemeClr val="accent1"/>
                </a:solidFill>
                <a:latin typeface="Courier New" pitchFamily="49" charset="0"/>
              </a:rPr>
              <a:t>=0; </a:t>
            </a:r>
            <a:r>
              <a:rPr lang="en-US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>
                <a:solidFill>
                  <a:schemeClr val="accent1"/>
                </a:solidFill>
                <a:latin typeface="Courier New" pitchFamily="49" charset="0"/>
              </a:rPr>
              <a:t>&lt;5000; </a:t>
            </a:r>
            <a:r>
              <a:rPr lang="en-US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>
                <a:solidFill>
                  <a:schemeClr val="accent1"/>
                </a:solidFill>
                <a:latin typeface="Courier New" pitchFamily="49" charset="0"/>
              </a:rPr>
              <a:t>++)</a:t>
            </a:r>
            <a:endParaRPr lang="en-US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	x[</a:t>
            </a:r>
            <a:r>
              <a:rPr lang="en-US" err="1">
                <a:latin typeface="Courier New" pitchFamily="49" charset="0"/>
              </a:rPr>
              <a:t>i</a:t>
            </a:r>
            <a:r>
              <a:rPr lang="en-US">
                <a:latin typeface="Courier New" pitchFamily="49" charset="0"/>
              </a:rPr>
              <a:t>][j]=2*x[</a:t>
            </a:r>
            <a:r>
              <a:rPr lang="en-US" err="1">
                <a:latin typeface="Courier New" pitchFamily="49" charset="0"/>
              </a:rPr>
              <a:t>i</a:t>
            </a:r>
            <a:r>
              <a:rPr lang="en-US">
                <a:latin typeface="Courier New" pitchFamily="49" charset="0"/>
              </a:rPr>
              <a:t>][j];</a:t>
            </a:r>
          </a:p>
          <a:p>
            <a:pPr>
              <a:buFont typeface="Monotype Sorts" pitchFamily="2" charset="2"/>
              <a:buNone/>
            </a:pPr>
            <a:endParaRPr lang="en-US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/* After */</a:t>
            </a:r>
          </a:p>
          <a:p>
            <a:pPr>
              <a:buFont typeface="Monotype Sorts" pitchFamily="2" charset="2"/>
              <a:buNone/>
            </a:pPr>
            <a:r>
              <a:rPr lang="en-US" u="sng">
                <a:solidFill>
                  <a:srgbClr val="FF0000"/>
                </a:solidFill>
                <a:latin typeface="Courier New" pitchFamily="49" charset="0"/>
              </a:rPr>
              <a:t>for(</a:t>
            </a:r>
            <a:r>
              <a:rPr lang="en-US" u="sng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u="sng">
                <a:solidFill>
                  <a:srgbClr val="FF0000"/>
                </a:solidFill>
                <a:latin typeface="Courier New" pitchFamily="49" charset="0"/>
              </a:rPr>
              <a:t>=0; </a:t>
            </a:r>
            <a:r>
              <a:rPr lang="en-US" u="sng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u="sng">
                <a:solidFill>
                  <a:srgbClr val="FF0000"/>
                </a:solidFill>
                <a:latin typeface="Courier New" pitchFamily="49" charset="0"/>
              </a:rPr>
              <a:t>&lt;5000; </a:t>
            </a:r>
            <a:r>
              <a:rPr lang="en-US" u="sng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u="sng">
                <a:solidFill>
                  <a:srgbClr val="FF0000"/>
                </a:solidFill>
                <a:latin typeface="Courier New" pitchFamily="49" charset="0"/>
              </a:rPr>
              <a:t>++)</a:t>
            </a:r>
            <a:endParaRPr lang="en-US">
              <a:solidFill>
                <a:srgbClr val="FF0000"/>
              </a:solidFill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rgbClr val="FF0000"/>
                </a:solidFill>
                <a:latin typeface="Courier New" pitchFamily="49" charset="0"/>
              </a:rPr>
              <a:t>		</a:t>
            </a:r>
            <a:r>
              <a:rPr lang="en-US" u="sng">
                <a:solidFill>
                  <a:srgbClr val="FF0000"/>
                </a:solidFill>
                <a:latin typeface="Courier New" pitchFamily="49" charset="0"/>
              </a:rPr>
              <a:t>for(j=0; j&lt;100; </a:t>
            </a:r>
            <a:r>
              <a:rPr lang="en-US" u="sng" err="1">
                <a:solidFill>
                  <a:srgbClr val="FF0000"/>
                </a:solidFill>
                <a:latin typeface="Courier New" pitchFamily="49" charset="0"/>
              </a:rPr>
              <a:t>j++</a:t>
            </a:r>
            <a:r>
              <a:rPr lang="en-US" u="sng">
                <a:solidFill>
                  <a:srgbClr val="FF0000"/>
                </a:solidFill>
                <a:latin typeface="Courier New" pitchFamily="49" charset="0"/>
              </a:rPr>
              <a:t>)</a:t>
            </a:r>
            <a:endParaRPr lang="en-US">
              <a:solidFill>
                <a:srgbClr val="FF0000"/>
              </a:solidFill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		x[</a:t>
            </a:r>
            <a:r>
              <a:rPr lang="en-US" err="1">
                <a:latin typeface="Courier New" pitchFamily="49" charset="0"/>
              </a:rPr>
              <a:t>i</a:t>
            </a:r>
            <a:r>
              <a:rPr lang="en-US">
                <a:latin typeface="Courier New" pitchFamily="49" charset="0"/>
              </a:rPr>
              <a:t>][j]=2*x[</a:t>
            </a:r>
            <a:r>
              <a:rPr lang="en-US" err="1">
                <a:latin typeface="Courier New" pitchFamily="49" charset="0"/>
              </a:rPr>
              <a:t>i</a:t>
            </a:r>
            <a:r>
              <a:rPr lang="en-US">
                <a:latin typeface="Courier New" pitchFamily="49" charset="0"/>
              </a:rPr>
              <a:t>][j];</a:t>
            </a:r>
            <a:br>
              <a:rPr lang="en-US">
                <a:latin typeface="Courier New" pitchFamily="49" charset="0"/>
              </a:rPr>
            </a:br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636D5C0-7B86-D7AE-D4CA-2BDD2D761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109271-C146-CF9D-21B8-11A3DC717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840A-BDD7-10FC-E4BC-A5429E6E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multiplication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DBFA1-D3A9-C9F6-04BA-1208DEC10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19817" cy="4351338"/>
          </a:xfrm>
        </p:spPr>
        <p:txBody>
          <a:bodyPr/>
          <a:lstStyle/>
          <a:p>
            <a:r>
              <a:rPr lang="en-US"/>
              <a:t>Very common algorithm (AI anyone?)</a:t>
            </a:r>
          </a:p>
          <a:p>
            <a:endParaRPr lang="en-US"/>
          </a:p>
          <a:p>
            <a:r>
              <a:rPr lang="en-US"/>
              <a:t>Large matrices do not fit in the cache</a:t>
            </a:r>
          </a:p>
          <a:p>
            <a:pPr lvl="1"/>
            <a:r>
              <a:rPr lang="en-US"/>
              <a:t>E.g., a 10,000x10,000 matrix of SP FPs (32b) takes 400MBs</a:t>
            </a:r>
          </a:p>
          <a:p>
            <a:endParaRPr lang="en-US"/>
          </a:p>
          <a:p>
            <a:r>
              <a:rPr lang="en-US"/>
              <a:t>Multiplying large matrices using naïve algorithm traverses DRAM </a:t>
            </a:r>
          </a:p>
          <a:p>
            <a:endParaRPr lang="en-US"/>
          </a:p>
          <a:p>
            <a:endParaRPr lang="en-US"/>
          </a:p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59430-BDE9-C4E4-2719-C081E01C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F69EE-760B-9B87-A788-1523C33C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97884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562C7-8765-7FA1-AB5F-4445567B5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multiplication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32E40-6C19-5B91-783E-89E2617EA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1743"/>
            <a:ext cx="10515600" cy="1469972"/>
          </a:xfrm>
        </p:spPr>
        <p:txBody>
          <a:bodyPr>
            <a:normAutofit lnSpcReduction="10000"/>
          </a:bodyPr>
          <a:lstStyle/>
          <a:p>
            <a:r>
              <a:rPr lang="en-US"/>
              <a:t>Each dot product has no locality</a:t>
            </a:r>
          </a:p>
          <a:p>
            <a:r>
              <a:rPr lang="en-US"/>
              <a:t>If row/col do not fit in the cache, we get </a:t>
            </a:r>
            <a:r>
              <a:rPr lang="en-US" b="1"/>
              <a:t>2*N</a:t>
            </a:r>
            <a:r>
              <a:rPr lang="en-US"/>
              <a:t> DRAM accesses</a:t>
            </a:r>
          </a:p>
          <a:p>
            <a:r>
              <a:rPr lang="en-US"/>
              <a:t>Total: </a:t>
            </a:r>
            <a:r>
              <a:rPr lang="en-US" b="1"/>
              <a:t>N*N</a:t>
            </a:r>
            <a:r>
              <a:rPr lang="en-US"/>
              <a:t> </a:t>
            </a:r>
            <a:r>
              <a:rPr lang="en-US" b="1"/>
              <a:t>cache misses</a:t>
            </a:r>
            <a:endParaRPr lang="en-IL" b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147C-71CE-556C-201D-84A689EC8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A0098-E7FE-BA6F-9438-D375DFEC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F273D8-F6EF-94A9-6EBC-421E7D0CCD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7" r="-4069"/>
          <a:stretch/>
        </p:blipFill>
        <p:spPr>
          <a:xfrm>
            <a:off x="1795967" y="3257945"/>
            <a:ext cx="3492000" cy="3002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F03381-8ABB-721B-5DC6-D60A2B1483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7" r="-4069"/>
          <a:stretch/>
        </p:blipFill>
        <p:spPr>
          <a:xfrm>
            <a:off x="6904033" y="3257946"/>
            <a:ext cx="3492000" cy="30022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A8FF984-6278-7CE9-9A3A-17ACEF84C3E2}"/>
              </a:ext>
            </a:extLst>
          </p:cNvPr>
          <p:cNvSpPr/>
          <p:nvPr/>
        </p:nvSpPr>
        <p:spPr>
          <a:xfrm>
            <a:off x="2149813" y="3429000"/>
            <a:ext cx="2694561" cy="656617"/>
          </a:xfrm>
          <a:prstGeom prst="rect">
            <a:avLst/>
          </a:prstGeom>
          <a:solidFill>
            <a:srgbClr val="FFFF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538AB3-7C5B-B5EE-2129-93EF4F8F019F}"/>
              </a:ext>
            </a:extLst>
          </p:cNvPr>
          <p:cNvSpPr/>
          <p:nvPr/>
        </p:nvSpPr>
        <p:spPr>
          <a:xfrm rot="5400000">
            <a:off x="6108245" y="4519692"/>
            <a:ext cx="2694561" cy="591939"/>
          </a:xfrm>
          <a:prstGeom prst="rect">
            <a:avLst/>
          </a:prstGeom>
          <a:solidFill>
            <a:srgbClr val="FFFF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79915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7C0A1-3A92-465E-58E2-D40B65D9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9978B-CBD5-B2D7-0608-036261CB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multiplication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869AE-6C1F-6D3E-0D26-623D43C0B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1743"/>
            <a:ext cx="10515600" cy="14699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Each dot product has no locality</a:t>
            </a:r>
          </a:p>
          <a:p>
            <a:r>
              <a:rPr lang="en-US" dirty="0"/>
              <a:t>If row/col do not fit in the cache, we get </a:t>
            </a:r>
            <a:r>
              <a:rPr lang="en-US" b="1" dirty="0"/>
              <a:t>2*N</a:t>
            </a:r>
            <a:r>
              <a:rPr lang="en-US" dirty="0"/>
              <a:t> DRAM accesses</a:t>
            </a:r>
          </a:p>
          <a:p>
            <a:r>
              <a:rPr lang="en-US" dirty="0"/>
              <a:t>Total: up to </a:t>
            </a:r>
            <a:r>
              <a:rPr lang="en-US" b="1" dirty="0"/>
              <a:t>O(N</a:t>
            </a:r>
            <a:r>
              <a:rPr lang="en-US" b="1" baseline="30000" dirty="0"/>
              <a:t>3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b="1" dirty="0"/>
              <a:t>cache misses</a:t>
            </a:r>
            <a:endParaRPr lang="en-IL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09456-CFC6-36D4-E4EB-9FE4599AC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40CBB-E06E-8AAB-7A3D-BF978CF1A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FC3229-83C6-DA89-AD3F-5A857D95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7" r="-4069"/>
          <a:stretch/>
        </p:blipFill>
        <p:spPr>
          <a:xfrm>
            <a:off x="1795967" y="3257945"/>
            <a:ext cx="3492000" cy="3002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25AC71-2884-9913-5447-8B5242715E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7" r="-4069"/>
          <a:stretch/>
        </p:blipFill>
        <p:spPr>
          <a:xfrm>
            <a:off x="6904033" y="3257946"/>
            <a:ext cx="3492000" cy="30022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7C740DA-4462-9504-7CEB-9DC22DD36E5E}"/>
              </a:ext>
            </a:extLst>
          </p:cNvPr>
          <p:cNvSpPr/>
          <p:nvPr/>
        </p:nvSpPr>
        <p:spPr>
          <a:xfrm>
            <a:off x="2149813" y="3429000"/>
            <a:ext cx="2694561" cy="656617"/>
          </a:xfrm>
          <a:prstGeom prst="rect">
            <a:avLst/>
          </a:prstGeom>
          <a:solidFill>
            <a:srgbClr val="FFFF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B398C4-B423-9E82-5FBC-7D22334599AD}"/>
              </a:ext>
            </a:extLst>
          </p:cNvPr>
          <p:cNvSpPr/>
          <p:nvPr/>
        </p:nvSpPr>
        <p:spPr>
          <a:xfrm rot="5400000">
            <a:off x="6108245" y="4519692"/>
            <a:ext cx="2694561" cy="591939"/>
          </a:xfrm>
          <a:prstGeom prst="rect">
            <a:avLst/>
          </a:prstGeom>
          <a:solidFill>
            <a:srgbClr val="FFFF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02813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D65A-1DB3-C5D4-6518-88D7A1BB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Blocked Matrix Multiplication Algorithm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9540D-C01C-1296-D206-A984A9A1F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043333" cy="4351338"/>
          </a:xfrm>
        </p:spPr>
        <p:txBody>
          <a:bodyPr>
            <a:normAutofit/>
          </a:bodyPr>
          <a:lstStyle/>
          <a:p>
            <a:r>
              <a:rPr lang="en-US" dirty="0"/>
              <a:t>A memory friendly algorithm that can tuned </a:t>
            </a:r>
            <a:br>
              <a:rPr lang="en-US" dirty="0"/>
            </a:br>
            <a:r>
              <a:rPr lang="en-US" dirty="0"/>
              <a:t>to fit (almost) any memory size</a:t>
            </a:r>
          </a:p>
          <a:p>
            <a:endParaRPr lang="en-US" dirty="0"/>
          </a:p>
          <a:p>
            <a:r>
              <a:rPr lang="en-US" dirty="0"/>
              <a:t>Complexity similar to naïve multiplication [ O(n</a:t>
            </a:r>
            <a:r>
              <a:rPr lang="en-US" baseline="30000" dirty="0"/>
              <a:t>3</a:t>
            </a:r>
            <a:r>
              <a:rPr lang="en-US" dirty="0"/>
              <a:t>) ]</a:t>
            </a:r>
          </a:p>
          <a:p>
            <a:endParaRPr lang="en-US" dirty="0"/>
          </a:p>
          <a:p>
            <a:r>
              <a:rPr lang="en-US" dirty="0"/>
              <a:t>Based on simple operation reordering</a:t>
            </a:r>
          </a:p>
          <a:p>
            <a:endParaRPr lang="en-US" dirty="0"/>
          </a:p>
          <a:p>
            <a:r>
              <a:rPr lang="en-US" dirty="0"/>
              <a:t>Extensively used everywhere (esp. AI)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64501-804B-B0A1-8DB0-5262F898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0417C-6308-3580-7C02-10636C2C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F149CD-38E4-88E0-91AC-8CBBA83FFC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7" r="-4069"/>
          <a:stretch/>
        </p:blipFill>
        <p:spPr>
          <a:xfrm>
            <a:off x="8700000" y="2360543"/>
            <a:ext cx="3492000" cy="300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862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A4EC-8390-B702-7423-BE1781B7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E6D1-6794-D74F-FCB3-167FCE9DD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Blocked Matrix Multiplication Algorithm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77AC7-815D-EB9E-783C-84E8375B1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59333" cy="4351338"/>
          </a:xfrm>
        </p:spPr>
        <p:txBody>
          <a:bodyPr/>
          <a:lstStyle/>
          <a:p>
            <a:r>
              <a:rPr lang="en-US"/>
              <a:t>Step 1: Partition the matrix into sub-matrices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AFE72-2B1A-A1BB-0D5C-8EA47CD4E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FF3C1-2537-DCA8-269B-9DB7EFE9B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5EB068-0DAC-F0CF-7178-ACE8868E60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7" r="-4069"/>
          <a:stretch/>
        </p:blipFill>
        <p:spPr>
          <a:xfrm>
            <a:off x="1476000" y="2399453"/>
            <a:ext cx="3492000" cy="30022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F6DB19-5B13-9EDC-4BA4-B694650E5F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49" r="1062"/>
          <a:stretch/>
        </p:blipFill>
        <p:spPr>
          <a:xfrm>
            <a:off x="6898670" y="2399453"/>
            <a:ext cx="3708000" cy="299360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0FBA283-0FF6-FEA2-7F38-685DCFD6EA53}"/>
              </a:ext>
            </a:extLst>
          </p:cNvPr>
          <p:cNvSpPr/>
          <p:nvPr/>
        </p:nvSpPr>
        <p:spPr>
          <a:xfrm>
            <a:off x="5319546" y="3674533"/>
            <a:ext cx="1106654" cy="5164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B517A-9398-967C-B334-E1AE9CCAE1A9}"/>
              </a:ext>
            </a:extLst>
          </p:cNvPr>
          <p:cNvSpPr txBox="1"/>
          <p:nvPr/>
        </p:nvSpPr>
        <p:spPr>
          <a:xfrm>
            <a:off x="3148764" y="6427625"/>
            <a:ext cx="5603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Example: </a:t>
            </a:r>
            <a:r>
              <a:rPr lang="en-US">
                <a:hlinkClick r:id="rId4"/>
              </a:rPr>
              <a:t>https://en.m.wikipedia.org/wiki/Block_matrix</a:t>
            </a:r>
            <a:endParaRPr lang="en-IL"/>
          </a:p>
          <a:p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FA6F2E-F089-E030-9A68-338FEEE9CAD5}"/>
              </a:ext>
            </a:extLst>
          </p:cNvPr>
          <p:cNvSpPr/>
          <p:nvPr/>
        </p:nvSpPr>
        <p:spPr>
          <a:xfrm>
            <a:off x="1777280" y="2573866"/>
            <a:ext cx="2694561" cy="656617"/>
          </a:xfrm>
          <a:prstGeom prst="rect">
            <a:avLst/>
          </a:prstGeom>
          <a:solidFill>
            <a:srgbClr val="FFFF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DF1CCB-94AD-D063-2354-79B95AFAF852}"/>
              </a:ext>
            </a:extLst>
          </p:cNvPr>
          <p:cNvCxnSpPr>
            <a:stCxn id="9" idx="0"/>
          </p:cNvCxnSpPr>
          <p:nvPr/>
        </p:nvCxnSpPr>
        <p:spPr>
          <a:xfrm flipH="1">
            <a:off x="3124200" y="2573866"/>
            <a:ext cx="361" cy="6688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CE5215-8750-3316-3D21-5C210BFF3BB1}"/>
              </a:ext>
            </a:extLst>
          </p:cNvPr>
          <p:cNvGrpSpPr/>
          <p:nvPr/>
        </p:nvGrpSpPr>
        <p:grpSpPr>
          <a:xfrm>
            <a:off x="7379691" y="2582841"/>
            <a:ext cx="591939" cy="2694561"/>
            <a:chOff x="7159556" y="3468381"/>
            <a:chExt cx="591939" cy="269456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7EDA1F2-F033-148F-9978-8C5EFA6BBFB8}"/>
                </a:ext>
              </a:extLst>
            </p:cNvPr>
            <p:cNvSpPr/>
            <p:nvPr/>
          </p:nvSpPr>
          <p:spPr>
            <a:xfrm rot="5400000">
              <a:off x="6108245" y="4519692"/>
              <a:ext cx="2694561" cy="591939"/>
            </a:xfrm>
            <a:prstGeom prst="rect">
              <a:avLst/>
            </a:prstGeom>
            <a:solidFill>
              <a:srgbClr val="FFFF00">
                <a:alpha val="33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B07EE3D-F067-BCD3-E73A-706EABB96BF8}"/>
                </a:ext>
              </a:extLst>
            </p:cNvPr>
            <p:cNvCxnSpPr>
              <a:cxnSpLocks/>
              <a:stCxn id="12" idx="0"/>
              <a:endCxn id="12" idx="2"/>
            </p:cNvCxnSpPr>
            <p:nvPr/>
          </p:nvCxnSpPr>
          <p:spPr>
            <a:xfrm flipH="1">
              <a:off x="7159556" y="4815662"/>
              <a:ext cx="59193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69492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954CF-4276-BE95-16BF-463CD4EF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3D901-D588-657B-FBBE-96398E415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Blocked Matrix Multiplication Algorithm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F54-EB5C-4434-8479-FF60E5C06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59333" cy="4351338"/>
          </a:xfrm>
        </p:spPr>
        <p:txBody>
          <a:bodyPr/>
          <a:lstStyle/>
          <a:p>
            <a:r>
              <a:rPr lang="en-US"/>
              <a:t>Let’s refer to each sub-matrix as </a:t>
            </a:r>
            <a:r>
              <a:rPr lang="en-US" err="1"/>
              <a:t>A</a:t>
            </a:r>
            <a:r>
              <a:rPr lang="en-US" baseline="-25000" err="1"/>
              <a:t>i,j</a:t>
            </a:r>
            <a:endParaRPr lang="en-IL" baseline="-25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F3FE6-188A-68A1-2524-83F2F0D1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1B313-F0E1-BAB2-262D-A74E1375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CC4734F-26AE-BA7B-A077-486C7F6C4645}"/>
              </a:ext>
            </a:extLst>
          </p:cNvPr>
          <p:cNvSpPr/>
          <p:nvPr/>
        </p:nvSpPr>
        <p:spPr>
          <a:xfrm>
            <a:off x="5319546" y="3674533"/>
            <a:ext cx="1106654" cy="5164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83641B-77DB-6063-F994-53EDF1BEC3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49" r="1062"/>
          <a:stretch/>
        </p:blipFill>
        <p:spPr>
          <a:xfrm>
            <a:off x="1334431" y="2399453"/>
            <a:ext cx="3708000" cy="29936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C6FEA0-E416-56B3-ECF6-5E5483924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571" y="3183467"/>
            <a:ext cx="3755949" cy="15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3856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5856-7640-FC99-61E2-59B907842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Blocked Matrix Multiplication Algorithm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11222-5088-49B6-4578-8C752E0DB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82945"/>
          </a:xfrm>
        </p:spPr>
        <p:txBody>
          <a:bodyPr>
            <a:normAutofit/>
          </a:bodyPr>
          <a:lstStyle/>
          <a:p>
            <a:r>
              <a:rPr lang="en-US"/>
              <a:t>A*B turns into multiplying and adding sub-matrices</a:t>
            </a:r>
          </a:p>
          <a:p>
            <a:r>
              <a:rPr lang="en-US"/>
              <a:t>Sub-matrix size is tuned to fit in the cache/fast memory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D02F8-8770-87DB-11DF-84930FDF6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515A3-0726-72AD-AF4B-6570BA8E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2F61E4-297A-3DC7-4E27-37ECC5A6E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75" y="3245186"/>
            <a:ext cx="10443260" cy="279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382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F9C19-E261-18A8-AD3D-7422126B0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64F3F-9B6B-AE00-6415-53299C84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Blocked Matrix Multiplication Algorithm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065CF-FBF7-B67D-4C3D-1E7B6F60C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11156004" cy="301599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Let’s tune sub-matrix dimension to </a:t>
            </a:r>
            <a:r>
              <a:rPr lang="en-US" b="1" dirty="0"/>
              <a:t>N’= ¼ * cache size</a:t>
            </a:r>
          </a:p>
          <a:p>
            <a:r>
              <a:rPr lang="en-US" dirty="0"/>
              <a:t>Each sub-matrix multiplication takes </a:t>
            </a:r>
            <a:r>
              <a:rPr lang="en-US" b="1" dirty="0"/>
              <a:t>O(N’)</a:t>
            </a:r>
          </a:p>
          <a:p>
            <a:r>
              <a:rPr lang="en-US" dirty="0"/>
              <a:t>Overlap compute and prefetch: </a:t>
            </a:r>
            <a:br>
              <a:rPr lang="en-US" dirty="0"/>
            </a:br>
            <a:r>
              <a:rPr lang="en-US" dirty="0"/>
              <a:t>Prefetch next two sub-matrices while multiplying current sub-matrices</a:t>
            </a:r>
          </a:p>
          <a:p>
            <a:r>
              <a:rPr lang="en-US" dirty="0"/>
              <a:t>If tuned correctly, we can hide all DRAM accesses</a:t>
            </a:r>
          </a:p>
          <a:p>
            <a:r>
              <a:rPr lang="en-US" dirty="0"/>
              <a:t>Result: </a:t>
            </a:r>
            <a:r>
              <a:rPr lang="en-US" b="1" dirty="0"/>
              <a:t>N*N</a:t>
            </a:r>
            <a:r>
              <a:rPr lang="en-US" dirty="0"/>
              <a:t> </a:t>
            </a:r>
            <a:r>
              <a:rPr lang="en-US" b="1" dirty="0"/>
              <a:t>cache hits </a:t>
            </a:r>
            <a:r>
              <a:rPr lang="en-US" dirty="0"/>
              <a:t>instead of </a:t>
            </a:r>
            <a:r>
              <a:rPr lang="en-US" b="1" dirty="0"/>
              <a:t>O(N</a:t>
            </a:r>
            <a:r>
              <a:rPr lang="en-US" b="1" baseline="30000" dirty="0"/>
              <a:t>3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b="1" dirty="0"/>
              <a:t>cache misses</a:t>
            </a:r>
          </a:p>
          <a:p>
            <a:pPr lvl="1"/>
            <a:r>
              <a:rPr lang="en-US" dirty="0"/>
              <a:t>Correct tuning can get us ~100x speedup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88BCF-ACFD-0CC4-C054-58D8012C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834CBA-882F-070D-0D50-5659BF76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1DA208-FE8A-275E-C95B-166DBD7E1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9" y="4956090"/>
            <a:ext cx="6676953" cy="178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368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7AA28-D128-9C68-F07A-3776113F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D54D-18D3-559B-5729-24E3C73FD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example: Multi-way JOINs</a:t>
            </a:r>
            <a:br>
              <a:rPr lang="en-US"/>
            </a:br>
            <a:r>
              <a:rPr lang="en-US" sz="3200"/>
              <a:t>The clash between theory and practice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94F8-CDCD-D47B-83BB-37D9FB2F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06150" cy="1365047"/>
          </a:xfrm>
        </p:spPr>
        <p:txBody>
          <a:bodyPr>
            <a:normAutofit fontScale="32500" lnSpcReduction="20000"/>
          </a:bodyPr>
          <a:lstStyle/>
          <a:p>
            <a:r>
              <a:rPr lang="en-US" sz="9600"/>
              <a:t>JOIN is a basic database operator that connects matching rows</a:t>
            </a:r>
          </a:p>
          <a:p>
            <a:endParaRPr lang="en-US" sz="9600"/>
          </a:p>
          <a:p>
            <a:r>
              <a:rPr lang="en-US" sz="9600"/>
              <a:t>Most common algorithm: Hash JOIN</a:t>
            </a:r>
          </a:p>
          <a:p>
            <a:endParaRPr kumimoji="0" lang="en-IL" altLang="en-IL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2E86D-2081-EDD6-D699-2D2DCFB9B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B0145-CEC3-6559-D857-6B8AA115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674DE2-D29A-5556-37D9-B412CF44A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685" y="3122578"/>
            <a:ext cx="2715004" cy="31151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5AE006-5B12-A60C-04D7-CA0FA9E7A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269" y="3190672"/>
            <a:ext cx="3267531" cy="22958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15756B-6CC8-719C-784C-8E3FA830EE15}"/>
              </a:ext>
            </a:extLst>
          </p:cNvPr>
          <p:cNvSpPr txBox="1"/>
          <p:nvPr/>
        </p:nvSpPr>
        <p:spPr>
          <a:xfrm>
            <a:off x="3745149" y="6586978"/>
            <a:ext cx="40009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Example: </a:t>
            </a:r>
            <a:r>
              <a:rPr lang="en-US" sz="1400">
                <a:hlinkClick r:id="rId4"/>
              </a:rPr>
              <a:t>https://en.wikipedia.org/wiki/Join_(SQL)</a:t>
            </a:r>
            <a:endParaRPr lang="en-IL" sz="1400"/>
          </a:p>
        </p:txBody>
      </p:sp>
    </p:spTree>
    <p:extLst>
      <p:ext uri="{BB962C8B-B14F-4D97-AF65-F5344CB8AC3E}">
        <p14:creationId xmlns:p14="http://schemas.microsoft.com/office/powerpoint/2010/main" val="8584442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A661-9AF1-1A94-26BE-FB6CFF02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a JOIN?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2C3A7-A84D-E3FD-07DE-8F81D1C8C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71179" cy="1325563"/>
          </a:xfrm>
        </p:spPr>
        <p:txBody>
          <a:bodyPr>
            <a:normAutofit/>
          </a:bodyPr>
          <a:lstStyle/>
          <a:p>
            <a:r>
              <a:rPr kumimoji="0" lang="en-IL" altLang="en-IL" sz="20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LastName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DepartmentID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DepartmentName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br>
              <a:rPr kumimoji="0" lang="en-US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</a:br>
            <a:r>
              <a:rPr kumimoji="0" lang="en-IL" altLang="en-IL" sz="20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br>
              <a:rPr kumimoji="0" lang="en-US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</a:br>
            <a:r>
              <a:rPr kumimoji="0" lang="en-IL" altLang="en-IL" sz="20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INNER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kumimoji="0" lang="en-US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   </a:t>
            </a:r>
            <a:r>
              <a:rPr kumimoji="0" lang="en-IL" altLang="en-IL" sz="20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DepartmentID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DepartmentID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;</a:t>
            </a:r>
            <a:endParaRPr kumimoji="0" lang="en-US" altLang="en-IL" sz="2000" b="0" i="0" u="none" strike="noStrike" cap="none" normalizeH="0" baseline="0" dirty="0">
              <a:ln>
                <a:noFill/>
              </a:ln>
              <a:solidFill>
                <a:srgbClr val="101418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9C3FD-E9C3-BAC6-D0BC-9CEF70EC0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6CC535-AEDF-D76E-E5C2-1B85F226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4E8957-4915-E356-BAD5-A5C8AB953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685" y="3122578"/>
            <a:ext cx="2715004" cy="3115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5220C8-D988-0AE8-DDB6-BE2782BFF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269" y="3190672"/>
            <a:ext cx="3267531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446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59C6D-1266-E246-D18E-9447A7C8E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013C-1AFF-A5F3-B727-125DA50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a JOIN?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F7ADF-E0F8-9AF6-33C3-D7A333A09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71179" cy="1880613"/>
          </a:xfrm>
        </p:spPr>
        <p:txBody>
          <a:bodyPr>
            <a:normAutofit/>
          </a:bodyPr>
          <a:lstStyle/>
          <a:p>
            <a:r>
              <a:rPr kumimoji="0" lang="en-IL" altLang="en-IL" sz="20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LastName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DepartmentID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DepartmentName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br>
              <a:rPr kumimoji="0" lang="en-US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</a:br>
            <a:r>
              <a:rPr kumimoji="0" lang="en-IL" altLang="en-IL" sz="20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br>
              <a:rPr kumimoji="0" lang="en-US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</a:br>
            <a:r>
              <a:rPr kumimoji="0" lang="en-IL" altLang="en-IL" sz="20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INNER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br>
              <a:rPr kumimoji="0" lang="en-US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</a:br>
            <a:r>
              <a:rPr kumimoji="0" lang="en-US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	  </a:t>
            </a:r>
            <a:r>
              <a:rPr kumimoji="0" lang="en-IL" altLang="en-IL" sz="20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DepartmentID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kumimoji="0" lang="en-IL" altLang="en-I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DepartmentID</a:t>
            </a:r>
            <a:r>
              <a:rPr kumimoji="0" lang="en-IL" altLang="en-IL" sz="2000" b="0" i="0" u="none" strike="noStrike" cap="none" normalizeH="0" baseline="0" dirty="0">
                <a:ln>
                  <a:noFill/>
                </a:ln>
                <a:solidFill>
                  <a:srgbClr val="101418"/>
                </a:solidFill>
                <a:effectLst/>
                <a:latin typeface="Courier New" panose="02070309020205020404" pitchFamily="49" charset="0"/>
              </a:rPr>
              <a:t>;</a:t>
            </a:r>
            <a:endParaRPr kumimoji="0" lang="en-US" altLang="en-IL" sz="2000" b="0" i="0" u="none" strike="noStrike" cap="none" normalizeH="0" baseline="0" dirty="0">
              <a:ln>
                <a:noFill/>
              </a:ln>
              <a:solidFill>
                <a:srgbClr val="101418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00CE-D5C6-F234-E3A0-F148911AE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3FB8C-98F0-D779-4765-5BA9C7A6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2DC42B-F809-5692-6E18-F16A924FF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266" y="3793951"/>
            <a:ext cx="7335274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899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7897F-2F1D-E4A2-19F2-E36127A7A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a Multi-way JOIN?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57F5-B3F9-03A2-68E1-5864CCF1A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/>
          <a:lstStyle/>
          <a:p>
            <a:r>
              <a:rPr lang="en-US"/>
              <a:t>Multiple JOIN operations applied to multiple tables</a:t>
            </a:r>
          </a:p>
          <a:p>
            <a:endParaRPr lang="en-US"/>
          </a:p>
          <a:p>
            <a:r>
              <a:rPr lang="en-US"/>
              <a:t>Common use: Graph algorithms</a:t>
            </a:r>
          </a:p>
          <a:p>
            <a:endParaRPr lang="en-US"/>
          </a:p>
          <a:p>
            <a:r>
              <a:rPr lang="en-US"/>
              <a:t>We store all connections (edges) in a table with two columns (</a:t>
            </a:r>
            <a:r>
              <a:rPr lang="en-US" err="1"/>
              <a:t>src,dst</a:t>
            </a:r>
            <a:r>
              <a:rPr lang="en-US"/>
              <a:t>)</a:t>
            </a:r>
          </a:p>
          <a:p>
            <a:endParaRPr lang="en-US"/>
          </a:p>
          <a:p>
            <a:r>
              <a:rPr lang="en-US"/>
              <a:t>A Multi-way JOIN can find paths or cycles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27C4F-4F4A-58A0-2F9A-B4D4E8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71BF7-AFDD-9F15-95AD-BAC7299C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065444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0845A-32A5-3473-6A8F-FE68B64F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a Multi-way JOIN?</a:t>
            </a:r>
            <a:endParaRPr lang="en-IL"/>
          </a:p>
        </p:txBody>
      </p:sp>
      <p:graphicFrame>
        <p:nvGraphicFramePr>
          <p:cNvPr id="24" name="Content Placeholder 23">
            <a:extLst>
              <a:ext uri="{FF2B5EF4-FFF2-40B4-BE49-F238E27FC236}">
                <a16:creationId xmlns:a16="http://schemas.microsoft.com/office/drawing/2014/main" id="{13065162-98A8-3FF2-E50C-337FCB1F1C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312290"/>
              </p:ext>
            </p:extLst>
          </p:nvPr>
        </p:nvGraphicFramePr>
        <p:xfrm>
          <a:off x="4285670" y="3195780"/>
          <a:ext cx="20042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146">
                  <a:extLst>
                    <a:ext uri="{9D8B030D-6E8A-4147-A177-3AD203B41FA5}">
                      <a16:colId xmlns:a16="http://schemas.microsoft.com/office/drawing/2014/main" val="1260517987"/>
                    </a:ext>
                  </a:extLst>
                </a:gridCol>
                <a:gridCol w="1002146">
                  <a:extLst>
                    <a:ext uri="{9D8B030D-6E8A-4147-A177-3AD203B41FA5}">
                      <a16:colId xmlns:a16="http://schemas.microsoft.com/office/drawing/2014/main" val="301568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Src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Dst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905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72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84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2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23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53096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BCCF8-78F3-AB0E-7118-B7F1EC84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D05DA-FAB6-29BB-0CE6-3B807CEF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754A28-1EE6-2540-5BA5-6FFEDF0FC087}"/>
              </a:ext>
            </a:extLst>
          </p:cNvPr>
          <p:cNvSpPr/>
          <p:nvPr/>
        </p:nvSpPr>
        <p:spPr>
          <a:xfrm>
            <a:off x="729671" y="3195780"/>
            <a:ext cx="406400" cy="43410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1</a:t>
            </a:r>
            <a:endParaRPr lang="en-I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19FEB8-DA08-AC10-9290-6DA9EF2DEF13}"/>
              </a:ext>
            </a:extLst>
          </p:cNvPr>
          <p:cNvSpPr/>
          <p:nvPr/>
        </p:nvSpPr>
        <p:spPr>
          <a:xfrm>
            <a:off x="1602507" y="3327398"/>
            <a:ext cx="406400" cy="43410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2</a:t>
            </a:r>
            <a:endParaRPr lang="en-I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959D8A-6BE1-A96A-5BF3-086A361070D1}"/>
              </a:ext>
            </a:extLst>
          </p:cNvPr>
          <p:cNvSpPr/>
          <p:nvPr/>
        </p:nvSpPr>
        <p:spPr>
          <a:xfrm>
            <a:off x="1399307" y="4223397"/>
            <a:ext cx="406400" cy="43410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4</a:t>
            </a:r>
            <a:endParaRPr lang="en-I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1915B7-0A5D-46CB-35F8-A0B29028B8B2}"/>
              </a:ext>
            </a:extLst>
          </p:cNvPr>
          <p:cNvSpPr/>
          <p:nvPr/>
        </p:nvSpPr>
        <p:spPr>
          <a:xfrm>
            <a:off x="645389" y="4874560"/>
            <a:ext cx="406400" cy="43410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5</a:t>
            </a:r>
            <a:endParaRPr lang="en-I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059958-295E-F13E-DFA0-6B43D4E5CD91}"/>
              </a:ext>
            </a:extLst>
          </p:cNvPr>
          <p:cNvSpPr/>
          <p:nvPr/>
        </p:nvSpPr>
        <p:spPr>
          <a:xfrm>
            <a:off x="2336798" y="3990179"/>
            <a:ext cx="406400" cy="43410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3</a:t>
            </a:r>
            <a:endParaRPr lang="en-I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4923E0-D821-7E36-52ED-5CEADDC3E5BB}"/>
              </a:ext>
            </a:extLst>
          </p:cNvPr>
          <p:cNvCxnSpPr>
            <a:stCxn id="6" idx="6"/>
          </p:cNvCxnSpPr>
          <p:nvPr/>
        </p:nvCxnSpPr>
        <p:spPr>
          <a:xfrm>
            <a:off x="1136071" y="3412835"/>
            <a:ext cx="466436" cy="127073"/>
          </a:xfrm>
          <a:prstGeom prst="line">
            <a:avLst/>
          </a:prstGeom>
          <a:ln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1933CB-153D-8CA1-02EE-C4CFF1451963}"/>
              </a:ext>
            </a:extLst>
          </p:cNvPr>
          <p:cNvCxnSpPr>
            <a:cxnSpLocks/>
            <a:stCxn id="10" idx="1"/>
            <a:endCxn id="7" idx="5"/>
          </p:cNvCxnSpPr>
          <p:nvPr/>
        </p:nvCxnSpPr>
        <p:spPr>
          <a:xfrm flipH="1" flipV="1">
            <a:off x="1949391" y="3697933"/>
            <a:ext cx="446923" cy="35582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227975-CB86-ACE5-ACD5-1CDFBD68082F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 flipH="1">
            <a:off x="1602507" y="3761507"/>
            <a:ext cx="203200" cy="46189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FB8B27-3C9F-C80D-715D-247AE2EFE1FB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H="1">
            <a:off x="848589" y="3629889"/>
            <a:ext cx="84282" cy="1244671"/>
          </a:xfrm>
          <a:prstGeom prst="line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80E6FB0-6511-354F-280A-E91BDFB93EFC}"/>
              </a:ext>
            </a:extLst>
          </p:cNvPr>
          <p:cNvSpPr txBox="1"/>
          <p:nvPr/>
        </p:nvSpPr>
        <p:spPr>
          <a:xfrm>
            <a:off x="7824350" y="3916435"/>
            <a:ext cx="3869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R(</a:t>
            </a:r>
            <a:r>
              <a:rPr lang="en-US" sz="2400" b="1"/>
              <a:t>3</a:t>
            </a:r>
            <a:r>
              <a:rPr lang="en-US" sz="2400"/>
              <a:t>,x2) X R(x2,x3) X R(x3, x4)</a:t>
            </a:r>
            <a:endParaRPr lang="en-IL"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8E3167-FAFF-7964-453B-C474DD6BFC8C}"/>
              </a:ext>
            </a:extLst>
          </p:cNvPr>
          <p:cNvSpPr txBox="1"/>
          <p:nvPr/>
        </p:nvSpPr>
        <p:spPr>
          <a:xfrm>
            <a:off x="2742349" y="1987748"/>
            <a:ext cx="71152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Query: Find all nodes with distance 3 from node 3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/>
              <a:t>aka “3-path” query</a:t>
            </a:r>
            <a:endParaRPr lang="en-IL" sz="240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7254729-D852-02C5-3878-78C808B69D4A}"/>
              </a:ext>
            </a:extLst>
          </p:cNvPr>
          <p:cNvSpPr/>
          <p:nvPr/>
        </p:nvSpPr>
        <p:spPr>
          <a:xfrm>
            <a:off x="3306618" y="3953164"/>
            <a:ext cx="637309" cy="350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C829F664-65C4-8241-A536-63C7B0FE4979}"/>
              </a:ext>
            </a:extLst>
          </p:cNvPr>
          <p:cNvSpPr/>
          <p:nvPr/>
        </p:nvSpPr>
        <p:spPr>
          <a:xfrm>
            <a:off x="6692899" y="3971778"/>
            <a:ext cx="637309" cy="350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873346C-80B6-423F-4DBA-E4AA5CFEE788}"/>
              </a:ext>
            </a:extLst>
          </p:cNvPr>
          <p:cNvCxnSpPr>
            <a:cxnSpLocks/>
            <a:stCxn id="8" idx="3"/>
            <a:endCxn id="9" idx="7"/>
          </p:cNvCxnSpPr>
          <p:nvPr/>
        </p:nvCxnSpPr>
        <p:spPr>
          <a:xfrm flipH="1">
            <a:off x="992273" y="4593932"/>
            <a:ext cx="466550" cy="344202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9889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9EF93-DBD4-52FA-6994-63E92BDF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C207-4B4A-70C4-3409-E7CC51A5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a Multi-way JOIN?</a:t>
            </a:r>
            <a:endParaRPr lang="en-IL"/>
          </a:p>
        </p:txBody>
      </p:sp>
      <p:graphicFrame>
        <p:nvGraphicFramePr>
          <p:cNvPr id="24" name="Content Placeholder 23">
            <a:extLst>
              <a:ext uri="{FF2B5EF4-FFF2-40B4-BE49-F238E27FC236}">
                <a16:creationId xmlns:a16="http://schemas.microsoft.com/office/drawing/2014/main" id="{49F9E1E9-6E9B-59ED-9F03-956582BF06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4658473"/>
              </p:ext>
            </p:extLst>
          </p:nvPr>
        </p:nvGraphicFramePr>
        <p:xfrm>
          <a:off x="5057195" y="3195780"/>
          <a:ext cx="20042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146">
                  <a:extLst>
                    <a:ext uri="{9D8B030D-6E8A-4147-A177-3AD203B41FA5}">
                      <a16:colId xmlns:a16="http://schemas.microsoft.com/office/drawing/2014/main" val="1260517987"/>
                    </a:ext>
                  </a:extLst>
                </a:gridCol>
                <a:gridCol w="1002146">
                  <a:extLst>
                    <a:ext uri="{9D8B030D-6E8A-4147-A177-3AD203B41FA5}">
                      <a16:colId xmlns:a16="http://schemas.microsoft.com/office/drawing/2014/main" val="301568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Src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Dst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905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72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84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2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23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26064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C4517-651E-AB7B-9343-43C2C17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3D288-262E-1708-A32E-AA90B69A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5442E1-7032-2FB4-57B7-13D75B66CD13}"/>
              </a:ext>
            </a:extLst>
          </p:cNvPr>
          <p:cNvSpPr txBox="1"/>
          <p:nvPr/>
        </p:nvSpPr>
        <p:spPr>
          <a:xfrm>
            <a:off x="2742349" y="1987748"/>
            <a:ext cx="71152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Query: Find all nodes with distance 3 from node 3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/>
              <a:t>aka “3-path” query</a:t>
            </a:r>
            <a:endParaRPr lang="en-IL" sz="2400"/>
          </a:p>
        </p:txBody>
      </p:sp>
      <p:graphicFrame>
        <p:nvGraphicFramePr>
          <p:cNvPr id="3" name="Content Placeholder 23">
            <a:extLst>
              <a:ext uri="{FF2B5EF4-FFF2-40B4-BE49-F238E27FC236}">
                <a16:creationId xmlns:a16="http://schemas.microsoft.com/office/drawing/2014/main" id="{9D6CD3C5-1696-6122-1039-C5B0960513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7640391"/>
              </p:ext>
            </p:extLst>
          </p:nvPr>
        </p:nvGraphicFramePr>
        <p:xfrm>
          <a:off x="2143125" y="3195780"/>
          <a:ext cx="20042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146">
                  <a:extLst>
                    <a:ext uri="{9D8B030D-6E8A-4147-A177-3AD203B41FA5}">
                      <a16:colId xmlns:a16="http://schemas.microsoft.com/office/drawing/2014/main" val="1260517987"/>
                    </a:ext>
                  </a:extLst>
                </a:gridCol>
                <a:gridCol w="1002146">
                  <a:extLst>
                    <a:ext uri="{9D8B030D-6E8A-4147-A177-3AD203B41FA5}">
                      <a16:colId xmlns:a16="http://schemas.microsoft.com/office/drawing/2014/main" val="301568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Src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Dst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905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72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84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2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3</a:t>
                      </a:r>
                      <a:endParaRPr lang="en-IL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23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4</a:t>
                      </a:r>
                      <a:endParaRPr lang="en-IL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435027"/>
                  </a:ext>
                </a:extLst>
              </a:tr>
            </a:tbl>
          </a:graphicData>
        </a:graphic>
      </p:graphicFrame>
      <p:graphicFrame>
        <p:nvGraphicFramePr>
          <p:cNvPr id="11" name="Content Placeholder 23">
            <a:extLst>
              <a:ext uri="{FF2B5EF4-FFF2-40B4-BE49-F238E27FC236}">
                <a16:creationId xmlns:a16="http://schemas.microsoft.com/office/drawing/2014/main" id="{B38543DB-1B27-FCDE-2E3B-C31E294F0E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1163525"/>
              </p:ext>
            </p:extLst>
          </p:nvPr>
        </p:nvGraphicFramePr>
        <p:xfrm>
          <a:off x="7971265" y="3195780"/>
          <a:ext cx="20042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146">
                  <a:extLst>
                    <a:ext uri="{9D8B030D-6E8A-4147-A177-3AD203B41FA5}">
                      <a16:colId xmlns:a16="http://schemas.microsoft.com/office/drawing/2014/main" val="1260517987"/>
                    </a:ext>
                  </a:extLst>
                </a:gridCol>
                <a:gridCol w="1002146">
                  <a:extLst>
                    <a:ext uri="{9D8B030D-6E8A-4147-A177-3AD203B41FA5}">
                      <a16:colId xmlns:a16="http://schemas.microsoft.com/office/drawing/2014/main" val="301568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Src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Dst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905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72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84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2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23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515795"/>
                  </a:ext>
                </a:extLst>
              </a:tr>
            </a:tbl>
          </a:graphicData>
        </a:graphic>
      </p:graphicFrame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6D4AE315-81C5-801A-6257-EFC5F676117C}"/>
              </a:ext>
            </a:extLst>
          </p:cNvPr>
          <p:cNvSpPr/>
          <p:nvPr/>
        </p:nvSpPr>
        <p:spPr>
          <a:xfrm>
            <a:off x="4147417" y="3824812"/>
            <a:ext cx="932872" cy="83099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6AC9D2CD-0DA1-75E0-BEE9-BEEDAF126A00}"/>
              </a:ext>
            </a:extLst>
          </p:cNvPr>
          <p:cNvSpPr/>
          <p:nvPr/>
        </p:nvSpPr>
        <p:spPr>
          <a:xfrm>
            <a:off x="7093815" y="3824811"/>
            <a:ext cx="932872" cy="83099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BAC175-826F-BC78-4B7A-03C2828A45B8}"/>
              </a:ext>
            </a:extLst>
          </p:cNvPr>
          <p:cNvSpPr/>
          <p:nvPr/>
        </p:nvSpPr>
        <p:spPr>
          <a:xfrm>
            <a:off x="2143125" y="4724934"/>
            <a:ext cx="2004292" cy="2572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3AC4D8-962A-0C63-1BA4-6CE66B9DA75A}"/>
              </a:ext>
            </a:extLst>
          </p:cNvPr>
          <p:cNvSpPr/>
          <p:nvPr/>
        </p:nvSpPr>
        <p:spPr>
          <a:xfrm>
            <a:off x="5047961" y="3990644"/>
            <a:ext cx="2004292" cy="2572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4C58D0-2C76-0A5F-3613-91FA1F2B4956}"/>
              </a:ext>
            </a:extLst>
          </p:cNvPr>
          <p:cNvSpPr/>
          <p:nvPr/>
        </p:nvSpPr>
        <p:spPr>
          <a:xfrm>
            <a:off x="7966655" y="3622289"/>
            <a:ext cx="2004292" cy="2572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4386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D8B7-E34C-84C0-7B4C-03C822512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75109" cy="1325563"/>
          </a:xfrm>
        </p:spPr>
        <p:txBody>
          <a:bodyPr/>
          <a:lstStyle/>
          <a:p>
            <a:r>
              <a:rPr lang="en-US"/>
              <a:t>Multi-way JOIN: A new generation of algorithms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3CD88-37CD-C6CA-C340-18677ECA7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5108" cy="4584700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Traditional algorithms split multi-way joins into multiple pairwise joins</a:t>
            </a:r>
          </a:p>
          <a:p>
            <a:pPr lvl="1"/>
            <a:r>
              <a:rPr lang="en-US" sz="1900"/>
              <a:t>M. </a:t>
            </a:r>
            <a:r>
              <a:rPr lang="en-US" sz="1900" err="1"/>
              <a:t>Yannakakis</a:t>
            </a:r>
            <a:r>
              <a:rPr lang="en-US" sz="1900"/>
              <a:t>. Algorithms for acyclic database schemes. In VLDB, 1981</a:t>
            </a:r>
          </a:p>
          <a:p>
            <a:endParaRPr lang="en-US" sz="2400"/>
          </a:p>
          <a:p>
            <a:r>
              <a:rPr lang="en-US"/>
              <a:t>Downside: pairwise joins generate intermediate tables that consume memory</a:t>
            </a:r>
          </a:p>
          <a:p>
            <a:endParaRPr lang="en-US"/>
          </a:p>
          <a:p>
            <a:r>
              <a:rPr lang="en-US"/>
              <a:t>About 10 years ago a new class of algorithms came about</a:t>
            </a:r>
          </a:p>
          <a:p>
            <a:endParaRPr lang="en-US"/>
          </a:p>
          <a:p>
            <a:r>
              <a:rPr lang="en-US"/>
              <a:t>New theoretical bound: </a:t>
            </a:r>
            <a:r>
              <a:rPr lang="en-US" b="1" i="1"/>
              <a:t>Worst-case Optimal</a:t>
            </a:r>
          </a:p>
          <a:p>
            <a:pPr lvl="1"/>
            <a:r>
              <a:rPr lang="en-US"/>
              <a:t>These algorithms handle any worst case better than traditional ones</a:t>
            </a:r>
          </a:p>
          <a:p>
            <a:endParaRPr lang="en-US" sz="2000"/>
          </a:p>
          <a:p>
            <a:r>
              <a:rPr lang="en-US"/>
              <a:t>One notable algorithm: Leap-frog Trie Join (LFTJ)</a:t>
            </a:r>
          </a:p>
          <a:p>
            <a:pPr lvl="1"/>
            <a:r>
              <a:rPr lang="en-US" sz="1900"/>
              <a:t>T. L. Veldhuizen. </a:t>
            </a:r>
            <a:r>
              <a:rPr lang="en-US" sz="1900" err="1"/>
              <a:t>Triejoin</a:t>
            </a:r>
            <a:r>
              <a:rPr lang="en-US" sz="1900"/>
              <a:t>: A simple, worst-case optimal join algorithm. In ICDT, 2014.</a:t>
            </a:r>
            <a:endParaRPr lang="en-IL" sz="19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5C8E5-162D-1096-C6D5-6767D3CF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40A1D-4C90-6B8A-FBF6-F968B6870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385592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7E4C13-14B0-6142-923A-F98701487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526" y="2219684"/>
            <a:ext cx="8048947" cy="19863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D6B821-A1BC-CA14-DC16-DDDA09DF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F6336-9135-454B-DA31-9FBC56E3A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 the Trie data structure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Each level in the Trie represents a column in the table </a:t>
            </a:r>
          </a:p>
          <a:p>
            <a:r>
              <a:rPr lang="en-US"/>
              <a:t>Levels/Columns are sorted</a:t>
            </a:r>
          </a:p>
          <a:p>
            <a:r>
              <a:rPr lang="en-US"/>
              <a:t>Finding a match is like backtracking through multiple Trie’s</a:t>
            </a:r>
          </a:p>
          <a:p>
            <a:endParaRPr lang="en-US"/>
          </a:p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3AC38-5BFD-3825-E2BC-4CC37DE56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80FE4-0573-6EC9-6A5A-581FB7643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98838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7E11-3C27-A176-8BFC-E99A6FF5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6132D-1F88-F417-0F22-28C55996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C336B-D580-48B2-79EA-2D34761E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71C10-74CE-49EE-0F76-4DDB5BE8D905}"/>
              </a:ext>
            </a:extLst>
          </p:cNvPr>
          <p:cNvSpPr txBox="1"/>
          <p:nvPr/>
        </p:nvSpPr>
        <p:spPr>
          <a:xfrm>
            <a:off x="6257640" y="3170505"/>
            <a:ext cx="321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1    2         3    4 </a:t>
            </a:r>
            <a:endParaRPr lang="en-I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22A9F-C463-1A48-71B8-E1ECFF6EB697}"/>
              </a:ext>
            </a:extLst>
          </p:cNvPr>
          <p:cNvSpPr txBox="1"/>
          <p:nvPr/>
        </p:nvSpPr>
        <p:spPr>
          <a:xfrm>
            <a:off x="6257639" y="3686081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5    1    4    2    5</a:t>
            </a:r>
            <a:endParaRPr lang="en-IL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8" name="Content Placeholder 23">
            <a:extLst>
              <a:ext uri="{FF2B5EF4-FFF2-40B4-BE49-F238E27FC236}">
                <a16:creationId xmlns:a16="http://schemas.microsoft.com/office/drawing/2014/main" id="{41C49033-F371-1B36-276E-F14A98CB48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1789769"/>
              </p:ext>
            </p:extLst>
          </p:nvPr>
        </p:nvGraphicFramePr>
        <p:xfrm>
          <a:off x="2406070" y="2507915"/>
          <a:ext cx="20042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146">
                  <a:extLst>
                    <a:ext uri="{9D8B030D-6E8A-4147-A177-3AD203B41FA5}">
                      <a16:colId xmlns:a16="http://schemas.microsoft.com/office/drawing/2014/main" val="1260517987"/>
                    </a:ext>
                  </a:extLst>
                </a:gridCol>
                <a:gridCol w="1002146">
                  <a:extLst>
                    <a:ext uri="{9D8B030D-6E8A-4147-A177-3AD203B41FA5}">
                      <a16:colId xmlns:a16="http://schemas.microsoft.com/office/drawing/2014/main" val="301568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Src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Dst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905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72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84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2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3</a:t>
                      </a:r>
                      <a:endParaRPr lang="en-IL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23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4</a:t>
                      </a:r>
                      <a:endParaRPr lang="en-IL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435027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4C41CCE7-A1EF-34CF-0754-022F1CABB30B}"/>
              </a:ext>
            </a:extLst>
          </p:cNvPr>
          <p:cNvSpPr/>
          <p:nvPr/>
        </p:nvSpPr>
        <p:spPr>
          <a:xfrm>
            <a:off x="5187370" y="3444944"/>
            <a:ext cx="637309" cy="350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E9EDBE-AE85-5832-4B20-920B523E3B50}"/>
              </a:ext>
            </a:extLst>
          </p:cNvPr>
          <p:cNvCxnSpPr>
            <a:cxnSpLocks/>
          </p:cNvCxnSpPr>
          <p:nvPr/>
        </p:nvCxnSpPr>
        <p:spPr>
          <a:xfrm>
            <a:off x="6419270" y="3512129"/>
            <a:ext cx="0" cy="23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2CF4A6-5311-7C98-A1DB-189B30361F04}"/>
              </a:ext>
            </a:extLst>
          </p:cNvPr>
          <p:cNvCxnSpPr>
            <a:cxnSpLocks/>
          </p:cNvCxnSpPr>
          <p:nvPr/>
        </p:nvCxnSpPr>
        <p:spPr>
          <a:xfrm>
            <a:off x="7088909" y="3498277"/>
            <a:ext cx="0" cy="23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1701B0-FF07-4BFA-40A4-5D0E8993CDBF}"/>
              </a:ext>
            </a:extLst>
          </p:cNvPr>
          <p:cNvCxnSpPr>
            <a:cxnSpLocks/>
          </p:cNvCxnSpPr>
          <p:nvPr/>
        </p:nvCxnSpPr>
        <p:spPr>
          <a:xfrm>
            <a:off x="8460509" y="3493665"/>
            <a:ext cx="0" cy="23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D4BD7C-105E-3894-F4F8-B9B74DD741BF}"/>
              </a:ext>
            </a:extLst>
          </p:cNvPr>
          <p:cNvCxnSpPr>
            <a:cxnSpLocks/>
          </p:cNvCxnSpPr>
          <p:nvPr/>
        </p:nvCxnSpPr>
        <p:spPr>
          <a:xfrm>
            <a:off x="9153239" y="3493663"/>
            <a:ext cx="0" cy="23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86F0B7-19E6-3AB1-874C-8DCCB9080DBE}"/>
              </a:ext>
            </a:extLst>
          </p:cNvPr>
          <p:cNvCxnSpPr>
            <a:cxnSpLocks/>
          </p:cNvCxnSpPr>
          <p:nvPr/>
        </p:nvCxnSpPr>
        <p:spPr>
          <a:xfrm>
            <a:off x="7088909" y="3493663"/>
            <a:ext cx="583047" cy="249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D1B594-0C49-BA8E-D253-67BDB001502D}"/>
              </a:ext>
            </a:extLst>
          </p:cNvPr>
          <p:cNvCxnSpPr>
            <a:cxnSpLocks/>
          </p:cNvCxnSpPr>
          <p:nvPr/>
        </p:nvCxnSpPr>
        <p:spPr>
          <a:xfrm>
            <a:off x="7797483" y="2832050"/>
            <a:ext cx="1268018" cy="340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27E8E9-7C4F-947A-DA58-292715AF6443}"/>
              </a:ext>
            </a:extLst>
          </p:cNvPr>
          <p:cNvCxnSpPr>
            <a:cxnSpLocks/>
          </p:cNvCxnSpPr>
          <p:nvPr/>
        </p:nvCxnSpPr>
        <p:spPr>
          <a:xfrm>
            <a:off x="7797483" y="2830896"/>
            <a:ext cx="634009" cy="339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7471C48-654A-F801-E3B6-784A3B2BF774}"/>
              </a:ext>
            </a:extLst>
          </p:cNvPr>
          <p:cNvCxnSpPr>
            <a:cxnSpLocks/>
          </p:cNvCxnSpPr>
          <p:nvPr/>
        </p:nvCxnSpPr>
        <p:spPr>
          <a:xfrm flipH="1">
            <a:off x="7259780" y="2830896"/>
            <a:ext cx="537703" cy="339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9EAA8A0-8250-3928-3951-F703E41B7CEB}"/>
              </a:ext>
            </a:extLst>
          </p:cNvPr>
          <p:cNvCxnSpPr>
            <a:cxnSpLocks/>
          </p:cNvCxnSpPr>
          <p:nvPr/>
        </p:nvCxnSpPr>
        <p:spPr>
          <a:xfrm flipH="1">
            <a:off x="6566059" y="2828588"/>
            <a:ext cx="1231423" cy="349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6743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B9601-DFE2-FDCC-EE04-83D075915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D0CC-8966-ED57-C5F2-33FAE3AE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BD5A-85A8-EEB4-223C-0016904F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78C65-D6CA-14EB-167A-0FAC9965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3FF5E0-B897-7ECD-A76D-EB60883E393A}"/>
              </a:ext>
            </a:extLst>
          </p:cNvPr>
          <p:cNvGrpSpPr/>
          <p:nvPr/>
        </p:nvGrpSpPr>
        <p:grpSpPr>
          <a:xfrm>
            <a:off x="4487226" y="3478368"/>
            <a:ext cx="3217548" cy="1226825"/>
            <a:chOff x="817414" y="2828588"/>
            <a:chExt cx="3217548" cy="12268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E8EE26-4B2F-DA49-4159-55DDCD51C657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D24B49-F47A-5A60-6097-2761AC5B490A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55A7B0D-B021-378A-4F5A-F8087B31C052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55727E4-7A39-F1FF-A33A-CBE1465B8ED2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FC2A91F-6635-13B3-D18D-59C8859EF20B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E8944D5-0308-69CD-2171-6C4A31409B05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E225BD6-4A9E-7CAE-D114-0C55E0A2F906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203DD99-9E04-2715-8B9A-784CF9A7988F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BFFC2F8-261D-08F0-BBF7-97AEE091FA6F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54A6A6E-C5BD-769C-A16B-3A7F67FA6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45C936F-2547-7FB6-A97E-3D2728CE5C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BE2557-8FF9-8308-0746-E644DF344501}"/>
              </a:ext>
            </a:extLst>
          </p:cNvPr>
          <p:cNvGrpSpPr/>
          <p:nvPr/>
        </p:nvGrpSpPr>
        <p:grpSpPr>
          <a:xfrm>
            <a:off x="4487226" y="5266049"/>
            <a:ext cx="3217548" cy="1226825"/>
            <a:chOff x="817414" y="2828588"/>
            <a:chExt cx="3217548" cy="122682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34DC11-18E6-D441-771B-46604E24AAE7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8110AC9-A143-AEA8-E4C4-CDD4D4F0446F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600037B-C669-015E-62ED-491D3BF854A6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35AB22D-A8F7-2F56-2183-7FB672C8A8E9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B5E3B96-CBEB-600F-42EB-9B3E6233204B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23B54D4-9EA1-DB0A-11D5-97D614FDBBF2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2B0E5C0-07EE-22B2-FCFB-EF53F0782619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4225DAE-33EB-DD19-0123-925BD453F094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2452EB3-EE78-3B7F-C597-1FF7050BDCF8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C44EDE8-EC9D-D3CB-647C-543D3C8F08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60E947F-96E7-5703-7938-3A5226639E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CC5DD42-8108-73DD-C35F-7F8171F7A688}"/>
              </a:ext>
            </a:extLst>
          </p:cNvPr>
          <p:cNvGrpSpPr/>
          <p:nvPr/>
        </p:nvGrpSpPr>
        <p:grpSpPr>
          <a:xfrm>
            <a:off x="4487226" y="1781003"/>
            <a:ext cx="3264036" cy="1226825"/>
            <a:chOff x="817414" y="2828588"/>
            <a:chExt cx="3264036" cy="122682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9F1172A-DB62-66BE-6494-D4955B34444C}"/>
                </a:ext>
              </a:extLst>
            </p:cNvPr>
            <p:cNvSpPr txBox="1"/>
            <p:nvPr/>
          </p:nvSpPr>
          <p:spPr>
            <a:xfrm>
              <a:off x="817415" y="3170505"/>
              <a:ext cx="3264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</a:t>
              </a:r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D8CD79E-968B-E27C-33B1-039DDCB0B240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6FDD1D2-2AA6-0414-9586-C9548D3811FC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5C94AA4-CAEF-3AF3-FD2D-52E5CD53C35F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A3AA7AC-41C3-3ABE-9EEE-1E8E752B87A1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D9C201C-A2D4-92E9-AD0A-560837816994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1317815-FECF-89FC-0594-8936DF673398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60777EA-5731-7023-65CA-0B0D574449EC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98EC7DD-5399-CB60-5131-1E741E550D4B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AD6DDB5-4C75-BFC2-3057-342F57E26B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D3662B7-6895-0899-9E77-F730478BE5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E0451092-9701-1DB3-0F7B-2ACECCAD9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988" y="1798624"/>
            <a:ext cx="403658" cy="369332"/>
          </a:xfrm>
          <a:prstGeom prst="rect">
            <a:avLst/>
          </a:prstGeom>
        </p:spPr>
      </p:pic>
      <p:pic>
        <p:nvPicPr>
          <p:cNvPr id="61" name="Picture 60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D7548A50-47E1-75F3-C85C-E2D478E94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608" y="3477663"/>
            <a:ext cx="403658" cy="369332"/>
          </a:xfrm>
          <a:prstGeom prst="rect">
            <a:avLst/>
          </a:prstGeom>
        </p:spPr>
      </p:pic>
      <p:pic>
        <p:nvPicPr>
          <p:cNvPr id="62" name="Picture 61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5DD6881A-8AC3-43F1-3100-67F3721D0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464" y="5245879"/>
            <a:ext cx="403658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235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0FD7E-894D-E28B-198A-84532BE8F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E8B2-50EE-5510-7AF9-8E819464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6CB47-52EA-0F41-25FA-346043D5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D9A39-5652-DFC3-E576-F0BA460B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7D9F31-4BA6-E4DC-A54D-CC425EED6EF9}"/>
              </a:ext>
            </a:extLst>
          </p:cNvPr>
          <p:cNvGrpSpPr/>
          <p:nvPr/>
        </p:nvGrpSpPr>
        <p:grpSpPr>
          <a:xfrm>
            <a:off x="4487226" y="3478368"/>
            <a:ext cx="3217548" cy="1226825"/>
            <a:chOff x="817414" y="2828588"/>
            <a:chExt cx="3217548" cy="12268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A5CB09-C5A2-611A-D8D6-8D9D6CCC1192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91A759-000E-E65C-2DD3-474A5CAA1783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8F7BE8C-A4BB-D6E4-FE92-A8BC6CD3792A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91A1A56-3798-F7EF-2A2E-CD11CD2665A5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C4C81A6-8F57-B51E-3C08-13B9E1A7277C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93CC37D-FF80-4B9F-D1AA-6B5C1A6D34EB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D37D17C-6CDF-8F25-F2E9-B40502EE095C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B1024D1-6A35-EC2F-F460-70DF9EE68095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F674CBB-6A11-1A9C-820D-544A365FB93B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1CAC90D-E659-6034-AE7D-332BEF6E93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4D3207F-DB6A-927F-C4F4-0217ADB112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653FF3-899D-AF1B-5BEF-A8EFCFC01689}"/>
              </a:ext>
            </a:extLst>
          </p:cNvPr>
          <p:cNvGrpSpPr/>
          <p:nvPr/>
        </p:nvGrpSpPr>
        <p:grpSpPr>
          <a:xfrm>
            <a:off x="4487226" y="5266049"/>
            <a:ext cx="3217548" cy="1226825"/>
            <a:chOff x="817414" y="2828588"/>
            <a:chExt cx="3217548" cy="122682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B283282-E645-5169-2233-59A6D68CEF33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C06AED-64EA-C413-7C3D-752428A540B1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842A9E4-F544-67F5-E8D7-66E0EA2167CE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AAF87A7-4EF6-6227-29E5-D42D84D012EA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5351DD8-B83B-2F9F-5F54-1443BFCBADAB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7429391-ADA4-9F14-745C-9FFE97A6E1E9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53E6986-15E5-9E14-0CE9-A8A278EB5021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2501857-8D4B-4F94-E87E-53934E96D2BC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2063125-60ED-6225-CD09-03B094CADF95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F6BA43A-DE6E-BFBA-8341-EA94BC580F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99ECC07-17B9-9216-67F7-B5A7A8D4AF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07B0CD-A447-8439-723E-A6924D5B7478}"/>
              </a:ext>
            </a:extLst>
          </p:cNvPr>
          <p:cNvGrpSpPr/>
          <p:nvPr/>
        </p:nvGrpSpPr>
        <p:grpSpPr>
          <a:xfrm>
            <a:off x="4487226" y="1781003"/>
            <a:ext cx="3264036" cy="1226825"/>
            <a:chOff x="817414" y="2828588"/>
            <a:chExt cx="3264036" cy="122682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6CDEBD3-5843-C8AA-28E1-9AB2B485DCF8}"/>
                </a:ext>
              </a:extLst>
            </p:cNvPr>
            <p:cNvSpPr txBox="1"/>
            <p:nvPr/>
          </p:nvSpPr>
          <p:spPr>
            <a:xfrm>
              <a:off x="817415" y="3170505"/>
              <a:ext cx="3264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</a:t>
              </a:r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11DABEE-6506-B551-3E7D-112CAE9B42A1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2708B12-8C52-209D-6013-74D80D381F69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920FCCE-F312-CD03-9D3D-CD4965647C50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0C3C844-F3FF-9AEF-F8C5-A291BD00190B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BAD3033-23EB-C718-69F1-ED9D001027C9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D48BDB4-6B04-C6F2-A2EE-9B7F04B5674B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1830F1C-EDF7-47B3-65BC-FCC51828FA56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A528F07-E585-0843-43FE-18AE279A0AB4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A2F9D7A-C2C8-C441-BD6B-4036C2FE36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4921B04-B382-BD2E-F7EC-307E9142DB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C8ECA6DD-BEC4-47DC-73CF-671750559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384" y="1787508"/>
            <a:ext cx="403658" cy="369332"/>
          </a:xfrm>
          <a:prstGeom prst="rect">
            <a:avLst/>
          </a:prstGeom>
        </p:spPr>
      </p:pic>
      <p:pic>
        <p:nvPicPr>
          <p:cNvPr id="61" name="Picture 60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8AD17D26-1973-7AD2-2C26-CC886590F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608" y="3477663"/>
            <a:ext cx="403658" cy="369332"/>
          </a:xfrm>
          <a:prstGeom prst="rect">
            <a:avLst/>
          </a:prstGeom>
        </p:spPr>
      </p:pic>
      <p:pic>
        <p:nvPicPr>
          <p:cNvPr id="62" name="Picture 61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F6B2C6E8-6829-0DB9-DA91-F74287E89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464" y="5245879"/>
            <a:ext cx="403658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210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B0A5-252B-C2F2-1356-CB8E5FAE6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8CA5C-A4AB-EBEA-2257-E56C7779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74DBC-3505-7BAC-8297-A4BA6FD67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B2CD5-391D-B891-9BD4-2C81ABB68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BD7FE3-C187-5DC3-3DFB-937F9C446E2F}"/>
              </a:ext>
            </a:extLst>
          </p:cNvPr>
          <p:cNvGrpSpPr/>
          <p:nvPr/>
        </p:nvGrpSpPr>
        <p:grpSpPr>
          <a:xfrm>
            <a:off x="4487226" y="3478368"/>
            <a:ext cx="3217548" cy="1226825"/>
            <a:chOff x="817414" y="2828588"/>
            <a:chExt cx="3217548" cy="12268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61D27BD-ADC5-55EA-1A81-26F691CF2204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7388EF-7FBD-898F-588E-16260F2249A0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FE8BFF7-5EF8-1BC4-ACFB-7682F1F07446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1BD81FA-763B-34B0-CBD1-CEEA2C3B8969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92A2A79-00EB-3D76-14C0-2E81F4E3FBE9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CDF8F5F-6298-EE8F-9F1B-58B468A325AF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38275D3-B1AC-B902-5845-9E939EC96A4D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EEDCA67-3B89-E4A0-476E-F7D79F6E3991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A40AD01-F22D-ABA9-1397-26BAAB803123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41D8A3E-EED7-BDC2-FF42-20E8BD6820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1DF333E-B17A-232E-05AD-E92E1DB236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244024-A753-CF4F-CDE5-584B5C702B2E}"/>
              </a:ext>
            </a:extLst>
          </p:cNvPr>
          <p:cNvGrpSpPr/>
          <p:nvPr/>
        </p:nvGrpSpPr>
        <p:grpSpPr>
          <a:xfrm>
            <a:off x="4487226" y="5266049"/>
            <a:ext cx="3217548" cy="1226825"/>
            <a:chOff x="817414" y="2828588"/>
            <a:chExt cx="3217548" cy="122682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03CCD8C-A838-8DE1-A9D0-BFF9E828944A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9AFED1-B2A0-4EA3-5111-9940A408CA5B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B782E3F-3CF4-5EED-7D5B-038496C89F91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DE11EE3-27DC-DE37-5D4D-BB964965EE27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DBDF9D8-1C42-C247-BAC3-934F4D55CBF4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4A84473-8E79-6993-162C-8F75DAA15487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B044726-9BDE-947C-04A7-6E9BB628F42E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50F6347-ABC4-5DC3-0E5A-50493F3D0AD8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3283A21-30E3-74B9-6512-03040ABA9839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F238C17-2D71-F21C-948F-3E0031A91D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F195BC3-F0D0-2BAD-85F2-9E4587CBE1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ABAAF28-B422-2F18-BC26-3F735F79E4F6}"/>
              </a:ext>
            </a:extLst>
          </p:cNvPr>
          <p:cNvGrpSpPr/>
          <p:nvPr/>
        </p:nvGrpSpPr>
        <p:grpSpPr>
          <a:xfrm>
            <a:off x="4487226" y="1781003"/>
            <a:ext cx="3264036" cy="1226825"/>
            <a:chOff x="817414" y="2828588"/>
            <a:chExt cx="3264036" cy="122682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D7BF586-09D9-C3A4-64B1-F6AE1B2F39C3}"/>
                </a:ext>
              </a:extLst>
            </p:cNvPr>
            <p:cNvSpPr txBox="1"/>
            <p:nvPr/>
          </p:nvSpPr>
          <p:spPr>
            <a:xfrm>
              <a:off x="817415" y="3170505"/>
              <a:ext cx="3264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</a:t>
              </a:r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2BFCD57-DF5C-A13A-7E4A-52DBA9CB1AA1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7CE5F43-6461-4F75-D6BD-6E8528BABE59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05C79D1-2583-C46D-65D0-D0BA5B19CF63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41E3A07-0EB2-54CE-A2CC-056CFD2D4EE7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092844E-9B64-425F-E777-D8B221FDC1C5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38B3A31-BBBA-4C7E-DD07-66F22C074E92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4F7AF6B-6273-DBC8-FD1D-B9C3C2038A9B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40CF178-D8F6-33D0-C426-F970B60230F3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D4EAB68-A3CE-91D1-4216-E74B0586A9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FBC1689-30ED-763F-B66E-56AAA70BEB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8EB3161A-EEC5-7FE8-BFF8-F3E8741FF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960" y="1798600"/>
            <a:ext cx="403658" cy="369332"/>
          </a:xfrm>
          <a:prstGeom prst="rect">
            <a:avLst/>
          </a:prstGeom>
        </p:spPr>
      </p:pic>
      <p:pic>
        <p:nvPicPr>
          <p:cNvPr id="61" name="Picture 60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8AECD0A8-28A9-078E-76CA-E162CC430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608" y="3477663"/>
            <a:ext cx="403658" cy="369332"/>
          </a:xfrm>
          <a:prstGeom prst="rect">
            <a:avLst/>
          </a:prstGeom>
        </p:spPr>
      </p:pic>
      <p:pic>
        <p:nvPicPr>
          <p:cNvPr id="62" name="Picture 61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63D08427-4D61-BFCE-4DC4-1399C715A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464" y="5245879"/>
            <a:ext cx="403658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983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538D2-527A-420F-DDC2-41DFA8FDA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E95C-9B32-C41D-3FAC-705433EF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23F92-36D2-5A9C-FA5D-433C4A4A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FEFEC-05D0-4E74-1EE8-A16F36C1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C2C2479-295B-9D08-E9BF-93CF9E090536}"/>
              </a:ext>
            </a:extLst>
          </p:cNvPr>
          <p:cNvGrpSpPr/>
          <p:nvPr/>
        </p:nvGrpSpPr>
        <p:grpSpPr>
          <a:xfrm>
            <a:off x="4487226" y="3478368"/>
            <a:ext cx="3217548" cy="1226825"/>
            <a:chOff x="817414" y="2828588"/>
            <a:chExt cx="3217548" cy="12268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093668-E0A4-748C-00E6-10A300B9C84E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C193E1-5CC8-C089-192D-447E84073F60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88C4AF5-5D57-A625-2B66-98319BD88589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63942B7-41E3-0FC5-76F8-0297622F0F96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FD7B611-058B-BB9E-170C-D49E54D85E71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203AF96-3F90-9EE4-0E33-B6130AA48489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8F86E8B-0AB6-CA40-0CEF-11A8CDEE097F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60E7405-50E6-0098-05DC-9EA190CD05F5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664901A-44BA-8B46-DA1D-FECCA8836977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0A3A609-4BD2-6B35-9953-BFF2A1CF42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27E9792-E499-72C7-3A9C-E8F7985766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D90B23-BC37-11AA-B4BE-EB83FC5E8A32}"/>
              </a:ext>
            </a:extLst>
          </p:cNvPr>
          <p:cNvGrpSpPr/>
          <p:nvPr/>
        </p:nvGrpSpPr>
        <p:grpSpPr>
          <a:xfrm>
            <a:off x="4487226" y="5266049"/>
            <a:ext cx="3217548" cy="1226825"/>
            <a:chOff x="817414" y="2828588"/>
            <a:chExt cx="3217548" cy="122682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0458B9B-2EE2-AD57-7AC0-4DC9E3C548F2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92B66A-BD32-24FD-2728-C7E299C99170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192A435-CB61-52D0-E2C4-E829BB9FC430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B885252-2E76-3C8D-0BEF-9F8C70BBC6BB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B14EF34-9996-EAD4-A3E4-BDC0CB362B5C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3DE2D5B-0929-821E-D399-8BFA326BB3E3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BF88A50-A289-8AA7-9446-157624F14DC3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61B2DDE-D411-981E-BF8F-5F227D8D5F66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7B9808D-8701-1B26-452A-BFB43FD19FFC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A5607A3-4A4B-C267-0645-9AAC505CE9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F715D8C-17BB-5EAC-C801-B679167D25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46DB4A-6215-F17F-CAAF-79427AF88426}"/>
              </a:ext>
            </a:extLst>
          </p:cNvPr>
          <p:cNvGrpSpPr/>
          <p:nvPr/>
        </p:nvGrpSpPr>
        <p:grpSpPr>
          <a:xfrm>
            <a:off x="4487226" y="1781003"/>
            <a:ext cx="3264036" cy="1226825"/>
            <a:chOff x="817414" y="2828588"/>
            <a:chExt cx="3264036" cy="122682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E568A91-19FC-0B92-EA76-98085F0E4DD3}"/>
                </a:ext>
              </a:extLst>
            </p:cNvPr>
            <p:cNvSpPr txBox="1"/>
            <p:nvPr/>
          </p:nvSpPr>
          <p:spPr>
            <a:xfrm>
              <a:off x="817415" y="3170505"/>
              <a:ext cx="3264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</a:t>
              </a:r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62326EC-9D39-314A-D860-74059F91199C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046C0CC-7C9A-E287-79E8-CE853BB61BB0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2164356-72C8-63C4-7861-DFD5DB8DBD2C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5EEF4B1-44C6-6C1A-3214-7C0C5E859402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4FF93CB-AD12-E519-3F6A-45F473FF064C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89D8BC4-3720-06D0-1244-FEA29B103D5E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19AC593-761F-E9F3-148B-C80F91871477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F078E08-C902-97EB-07D9-11D54C672A21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FBB936B-AACB-5A3D-D1FC-D7FE8FA0A8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BF51DDE-8F8F-D224-D8AB-6C63534FF7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D455C7C7-C60D-4192-0F25-3E1B19B38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960" y="1798600"/>
            <a:ext cx="403658" cy="369332"/>
          </a:xfrm>
          <a:prstGeom prst="rect">
            <a:avLst/>
          </a:prstGeom>
        </p:spPr>
      </p:pic>
      <p:pic>
        <p:nvPicPr>
          <p:cNvPr id="61" name="Picture 60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46AFFDCD-7C37-73F5-06C2-ECE34B459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608" y="3477663"/>
            <a:ext cx="403658" cy="369332"/>
          </a:xfrm>
          <a:prstGeom prst="rect">
            <a:avLst/>
          </a:prstGeom>
        </p:spPr>
      </p:pic>
      <p:pic>
        <p:nvPicPr>
          <p:cNvPr id="62" name="Picture 61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9AA505C1-A535-F38C-6407-4DCD281AF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464" y="5245879"/>
            <a:ext cx="403658" cy="369332"/>
          </a:xfrm>
          <a:prstGeom prst="rect">
            <a:avLst/>
          </a:prstGeom>
        </p:spPr>
      </p:pic>
      <p:pic>
        <p:nvPicPr>
          <p:cNvPr id="8" name="Picture 7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4C2C6833-E716-A533-9DDB-68E37F584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308" y="2328579"/>
            <a:ext cx="403658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83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854F2-96D2-EF00-D096-8E7F5DC4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724E-9216-8F33-B5F4-199555FD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5C208-B581-5183-79E5-3E21A2EA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25EC2-2FAD-DB2B-C5B3-0054B079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AB1201-A273-6F1E-AE1D-5F586ECFBE0E}"/>
              </a:ext>
            </a:extLst>
          </p:cNvPr>
          <p:cNvGrpSpPr/>
          <p:nvPr/>
        </p:nvGrpSpPr>
        <p:grpSpPr>
          <a:xfrm>
            <a:off x="4487226" y="3478368"/>
            <a:ext cx="3217548" cy="1226825"/>
            <a:chOff x="817414" y="2828588"/>
            <a:chExt cx="3217548" cy="12268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669890C-6905-558D-2E0B-ECC95E80C09A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273CEB-45F6-11D8-8FFF-2C2781E13F46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3801473-E4A0-9588-3D7C-85331A936B11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2081384-6D32-E7BC-974F-6FDBB8CB43F7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09ABCDE-E4D8-C3E8-8A2E-E94834DCD7D4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209B48D-D617-34E1-73A4-CC8C8642E58D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D64BAE8-F8C6-1982-750F-6838882D6EE0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55F1013-5A74-8154-C8D9-7BE309F90944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5F0D803-7CB8-3032-53F7-9F3D398F4C42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AEB83DC-C0C8-8BCF-9E3A-92681B9EA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52C4876-4E32-79FD-0DE7-58A43CF8A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8D4BCC-2CF9-B26C-2872-73AB993FAAF0}"/>
              </a:ext>
            </a:extLst>
          </p:cNvPr>
          <p:cNvGrpSpPr/>
          <p:nvPr/>
        </p:nvGrpSpPr>
        <p:grpSpPr>
          <a:xfrm>
            <a:off x="4487226" y="5266049"/>
            <a:ext cx="3217548" cy="1226825"/>
            <a:chOff x="817414" y="2828588"/>
            <a:chExt cx="3217548" cy="122682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C27B33-DA0C-A768-5280-906177885D27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E53DF7-1EDE-690C-FA05-509AC67708E4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128CA68-6187-6052-DDFB-B456B640921B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3E0240D-311B-89EE-853E-9EA509983583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722D0DF-C4B2-BD66-62E2-1E9629298E24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270DA28-0A57-C9A8-0CAF-BC83774ADF39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F4C0295-149A-35FA-8BB7-3C5962863CF2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D776510-6BBC-FF46-E5F0-D5A6D4B39296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1AA832D-ECF5-9EDB-DF3F-58600FD76ED4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9271653-D55F-6817-FB09-751E54B56C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D930351-00D0-3D6E-B387-C7CEF96A77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1DEA824-80DC-BEE8-CC88-5B38CC4A10F0}"/>
              </a:ext>
            </a:extLst>
          </p:cNvPr>
          <p:cNvGrpSpPr/>
          <p:nvPr/>
        </p:nvGrpSpPr>
        <p:grpSpPr>
          <a:xfrm>
            <a:off x="4487226" y="1781003"/>
            <a:ext cx="3264036" cy="1226825"/>
            <a:chOff x="817414" y="2828588"/>
            <a:chExt cx="3264036" cy="122682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9434B14-FD8B-B401-DA29-1CFCB9340E24}"/>
                </a:ext>
              </a:extLst>
            </p:cNvPr>
            <p:cNvSpPr txBox="1"/>
            <p:nvPr/>
          </p:nvSpPr>
          <p:spPr>
            <a:xfrm>
              <a:off x="817415" y="3170505"/>
              <a:ext cx="3264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</a:t>
              </a:r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83F055A-31BE-BDA6-7DD1-F46AB0476404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C716E12-6F0F-44FA-213D-E39EFB67E4E5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C26D085-9EBF-E9E3-97BB-63C744A1DD20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0244E60-12E4-F036-B6E9-7251515D2F76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EFF91B3-25BB-E67E-8542-9FDBD4F5F507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74ED1FB-E232-3874-4355-9EA16006C175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A9C3774-67C1-B3D7-8142-9E82C714A62D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13960B5-B0D6-006D-233F-CD6C5BAB6BEB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9736903-236A-C240-23FC-3C3DAFE8E8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F8362C7-465B-FDA0-CF83-A55C72F765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3968B772-8446-8FFF-3753-067055562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960" y="1798600"/>
            <a:ext cx="403658" cy="369332"/>
          </a:xfrm>
          <a:prstGeom prst="rect">
            <a:avLst/>
          </a:prstGeom>
        </p:spPr>
      </p:pic>
      <p:pic>
        <p:nvPicPr>
          <p:cNvPr id="61" name="Picture 60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E39E69D6-D48B-1A78-E85C-894058CB9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520" y="3477663"/>
            <a:ext cx="403658" cy="369332"/>
          </a:xfrm>
          <a:prstGeom prst="rect">
            <a:avLst/>
          </a:prstGeom>
        </p:spPr>
      </p:pic>
      <p:pic>
        <p:nvPicPr>
          <p:cNvPr id="62" name="Picture 61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59E34615-864F-60B1-B693-4244725AB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464" y="5245879"/>
            <a:ext cx="403658" cy="369332"/>
          </a:xfrm>
          <a:prstGeom prst="rect">
            <a:avLst/>
          </a:prstGeom>
        </p:spPr>
      </p:pic>
      <p:pic>
        <p:nvPicPr>
          <p:cNvPr id="8" name="Picture 7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308207A6-06AE-734C-3E73-9DDE8A986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308" y="2328579"/>
            <a:ext cx="403658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85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E67D-A588-7DCA-C3A9-745359158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D95D-4746-7124-861D-3C1706DC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C092F-ED01-E2FD-4A5A-B7D06309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CA4CE-846B-4952-8BEA-779DCDBE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D3CEB1-5067-2505-A7AD-EE407DFF5BCE}"/>
              </a:ext>
            </a:extLst>
          </p:cNvPr>
          <p:cNvGrpSpPr/>
          <p:nvPr/>
        </p:nvGrpSpPr>
        <p:grpSpPr>
          <a:xfrm>
            <a:off x="4487226" y="3478368"/>
            <a:ext cx="3217548" cy="1226825"/>
            <a:chOff x="817414" y="2828588"/>
            <a:chExt cx="3217548" cy="12268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1E611C4-CF4C-28F1-37D1-113A60D3DB7A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F1E6CB-703A-FB6D-6596-F0D5C0A8E41F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3B29025-9BEE-F8E6-7BBA-B3A94F26B555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712E13C-B247-7848-FC5A-306A4FFAB92E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B1D7571-0B88-F56A-7005-6C6566472B27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146868E-C05A-C67A-BE84-F4D7238FC253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961FA0D-67A1-075D-4431-4970F19724DE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8A732A3-33B5-CA80-9DAC-EE4D1F5AC282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8F81319-AC27-4719-C7C7-879CA4051840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53D060D-F2B0-1344-9048-4C9003E95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FE3BE90-694B-BC78-6765-20AEE5F257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22C8D7-9DA0-895D-8B84-93FC088D6081}"/>
              </a:ext>
            </a:extLst>
          </p:cNvPr>
          <p:cNvGrpSpPr/>
          <p:nvPr/>
        </p:nvGrpSpPr>
        <p:grpSpPr>
          <a:xfrm>
            <a:off x="4487226" y="5266049"/>
            <a:ext cx="3217548" cy="1226825"/>
            <a:chOff x="817414" y="2828588"/>
            <a:chExt cx="3217548" cy="122682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1886B8-BF01-7819-E7FE-71CE3EF140E2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4B84462-0B7B-3A1B-3276-9FFD3AE31B93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5959343-DE4E-FA0D-180C-E61C213BE2E1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C185CAD-9FE0-3279-6AD0-63A4378B1856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5826F8A-364A-B694-F4ED-3E89F7B6F98C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1387E0F-84CE-74C0-F031-3A6AF913DB9D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46A8E83-B2A5-6C9D-5112-89C8800C2ADE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D544529-CF31-7EC1-3F22-D3C4378A6C55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ADD8CD2-244C-C261-C20B-882683839FA3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07B7B79-8AE9-F719-B28F-0E49C4B04D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2993745-1D54-6B66-5C45-1E74D6FBD0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98D716A-2617-4483-8C68-2BD15F0213C4}"/>
              </a:ext>
            </a:extLst>
          </p:cNvPr>
          <p:cNvGrpSpPr/>
          <p:nvPr/>
        </p:nvGrpSpPr>
        <p:grpSpPr>
          <a:xfrm>
            <a:off x="4487226" y="1781003"/>
            <a:ext cx="3264036" cy="1226825"/>
            <a:chOff x="817414" y="2828588"/>
            <a:chExt cx="3264036" cy="122682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28799A8-3EC1-7AD8-50B8-98F520734CC5}"/>
                </a:ext>
              </a:extLst>
            </p:cNvPr>
            <p:cNvSpPr txBox="1"/>
            <p:nvPr/>
          </p:nvSpPr>
          <p:spPr>
            <a:xfrm>
              <a:off x="817415" y="3170505"/>
              <a:ext cx="3264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</a:t>
              </a:r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27AEEC3-1425-120A-BD1A-78678B627C6B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94CC800-C45F-2FE3-BE27-0D2AB3C9ACD6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41EBD62-95C6-EB37-CDAC-B608ED21B28E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8FA6152-9ED0-6129-27D0-460A663DB4C0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3B242EE-91C6-FB05-55D5-0D9DBB25636F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A2025F0-654F-4CD8-9EE8-6F5CDBA204F7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6E90574-4CCD-555B-8B37-176B03A81120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1787E5D-A6B1-B04B-A5E8-56C1D4E66C80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074D8E3-CFBD-F39D-A4D2-CBC51939F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87E525C-F82D-5DC9-09B5-2B03AC5C2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C6353C17-4C4C-793C-444A-868E8D0A9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960" y="1798600"/>
            <a:ext cx="403658" cy="369332"/>
          </a:xfrm>
          <a:prstGeom prst="rect">
            <a:avLst/>
          </a:prstGeom>
        </p:spPr>
      </p:pic>
      <p:pic>
        <p:nvPicPr>
          <p:cNvPr id="61" name="Picture 60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7B3E57C0-324E-8211-21D6-7B47D5C9D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520" y="3477663"/>
            <a:ext cx="403658" cy="369332"/>
          </a:xfrm>
          <a:prstGeom prst="rect">
            <a:avLst/>
          </a:prstGeom>
        </p:spPr>
      </p:pic>
      <p:pic>
        <p:nvPicPr>
          <p:cNvPr id="62" name="Picture 61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44FE3590-39C5-ED7F-3400-512A43EF5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464" y="5245879"/>
            <a:ext cx="403658" cy="369332"/>
          </a:xfrm>
          <a:prstGeom prst="rect">
            <a:avLst/>
          </a:prstGeom>
        </p:spPr>
      </p:pic>
      <p:pic>
        <p:nvPicPr>
          <p:cNvPr id="8" name="Picture 7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80D1D345-ECE2-51EF-9AB3-E593622E9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308" y="2328579"/>
            <a:ext cx="403658" cy="369332"/>
          </a:xfrm>
          <a:prstGeom prst="rect">
            <a:avLst/>
          </a:prstGeom>
        </p:spPr>
      </p:pic>
      <p:pic>
        <p:nvPicPr>
          <p:cNvPr id="9" name="Picture 8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68599281-48BC-1302-3212-7A55E1D37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520" y="3972186"/>
            <a:ext cx="403658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062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3C0CD-8A4C-88C4-6769-1F921C14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2E39-05EF-8D01-337D-151E1A55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E66D5-B9F3-12C0-80BC-39BC1CCE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D0CDD-246C-A97C-862D-0679C2FF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F25551-C6D8-4637-5DD4-95DF3428986B}"/>
              </a:ext>
            </a:extLst>
          </p:cNvPr>
          <p:cNvGrpSpPr/>
          <p:nvPr/>
        </p:nvGrpSpPr>
        <p:grpSpPr>
          <a:xfrm>
            <a:off x="4487226" y="3478368"/>
            <a:ext cx="3217548" cy="1226825"/>
            <a:chOff x="817414" y="2828588"/>
            <a:chExt cx="3217548" cy="12268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8893B3-42F2-8CBB-36C8-8F520655A2E1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1C3322-1495-D826-7CD6-FC6E6BA53F35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DC03E60-326D-3AF7-623E-956E5DB766A0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29A9A41-73BE-A477-7BCD-D628BE821B30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99071EA-755E-E517-E92D-5E252038007F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31DF9DC-0E55-6FD0-3FFC-95C041EA4966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A443759-DA01-995E-DE40-522965F48860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DC728E4-5282-8EB0-32AD-575A23D48EC6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A5F19F0-D8DB-1085-D342-213C077565C8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0D11E67-1735-9367-5BF5-CF60F57676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D7AB994-12C8-91DD-3CA7-35067412E0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938C39-010B-C8C2-481C-B2B79734D108}"/>
              </a:ext>
            </a:extLst>
          </p:cNvPr>
          <p:cNvGrpSpPr/>
          <p:nvPr/>
        </p:nvGrpSpPr>
        <p:grpSpPr>
          <a:xfrm>
            <a:off x="4487226" y="5266049"/>
            <a:ext cx="3217548" cy="1226825"/>
            <a:chOff x="817414" y="2828588"/>
            <a:chExt cx="3217548" cy="122682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D29B491-7F5D-B422-965A-3BD6AC68966D}"/>
                </a:ext>
              </a:extLst>
            </p:cNvPr>
            <p:cNvSpPr txBox="1"/>
            <p:nvPr/>
          </p:nvSpPr>
          <p:spPr>
            <a:xfrm>
              <a:off x="817415" y="3170505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1    2         3    4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D7E35A-34B9-23B2-9F5D-F8AF19CBA7F6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99CD26B-C98C-E523-5E1C-7D03FF89AC53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150C750-DCF9-5221-DBEF-0B4AC7E07995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18A27EB-2DBC-A463-0251-A9CBC94E0758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BF020F0-6BD6-DBBD-E1D7-B666C447D7C0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AB88E5E-9475-B614-0C2D-55983F68012D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6874EFB-5394-C9EF-BAC8-4FEC6B3BAC6D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818C9D8-3E7C-F631-0694-6FE2956EC8E8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659CBB5-2E50-265B-372E-5D6E770E5B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0E18FD9-A1B5-8F11-41B8-41555D2E13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1DB137E-7294-8BEF-B4EC-0E1C8F34F487}"/>
              </a:ext>
            </a:extLst>
          </p:cNvPr>
          <p:cNvGrpSpPr/>
          <p:nvPr/>
        </p:nvGrpSpPr>
        <p:grpSpPr>
          <a:xfrm>
            <a:off x="4487226" y="1781003"/>
            <a:ext cx="3264036" cy="1226825"/>
            <a:chOff x="817414" y="2828588"/>
            <a:chExt cx="3264036" cy="122682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8588F13-9829-1646-2605-CF9954690752}"/>
                </a:ext>
              </a:extLst>
            </p:cNvPr>
            <p:cNvSpPr txBox="1"/>
            <p:nvPr/>
          </p:nvSpPr>
          <p:spPr>
            <a:xfrm>
              <a:off x="817415" y="3170505"/>
              <a:ext cx="3264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1    2         </a:t>
              </a:r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4 </a:t>
              </a:r>
              <a:endParaRPr lang="en-IL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1E46D20-70A6-5979-374F-6DC5485620D8}"/>
                </a:ext>
              </a:extLst>
            </p:cNvPr>
            <p:cNvSpPr txBox="1"/>
            <p:nvPr/>
          </p:nvSpPr>
          <p:spPr>
            <a:xfrm>
              <a:off x="817414" y="3686081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5    1    4    2    5</a:t>
              </a:r>
              <a:endParaRPr lang="en-IL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B5B28E-A04B-886B-7F0F-A9774D8B3712}"/>
                </a:ext>
              </a:extLst>
            </p:cNvPr>
            <p:cNvCxnSpPr>
              <a:cxnSpLocks/>
            </p:cNvCxnSpPr>
            <p:nvPr/>
          </p:nvCxnSpPr>
          <p:spPr>
            <a:xfrm>
              <a:off x="979045" y="3512129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BEFAF9F-2D2B-E4BB-C319-18F1AAE5D42A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8277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C99BFD6-FDA4-027A-7D68-4ABDA17277C6}"/>
                </a:ext>
              </a:extLst>
            </p:cNvPr>
            <p:cNvCxnSpPr>
              <a:cxnSpLocks/>
            </p:cNvCxnSpPr>
            <p:nvPr/>
          </p:nvCxnSpPr>
          <p:spPr>
            <a:xfrm>
              <a:off x="3020284" y="3493665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CF53B21-827C-63C6-0042-674E21855EDE}"/>
                </a:ext>
              </a:extLst>
            </p:cNvPr>
            <p:cNvCxnSpPr>
              <a:cxnSpLocks/>
            </p:cNvCxnSpPr>
            <p:nvPr/>
          </p:nvCxnSpPr>
          <p:spPr>
            <a:xfrm>
              <a:off x="3713014" y="3493663"/>
              <a:ext cx="0" cy="2309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A2655D3-5EA8-7BFF-1AB8-DBCEE9BB67FA}"/>
                </a:ext>
              </a:extLst>
            </p:cNvPr>
            <p:cNvCxnSpPr>
              <a:cxnSpLocks/>
            </p:cNvCxnSpPr>
            <p:nvPr/>
          </p:nvCxnSpPr>
          <p:spPr>
            <a:xfrm>
              <a:off x="1648684" y="3493663"/>
              <a:ext cx="583047" cy="24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E7890A7-CA91-D1E0-5BD6-A1826B1118C0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2050"/>
              <a:ext cx="1268018" cy="34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A4E0DAA-CE59-0965-E91C-1CE7EFAD0E7B}"/>
                </a:ext>
              </a:extLst>
            </p:cNvPr>
            <p:cNvCxnSpPr>
              <a:cxnSpLocks/>
            </p:cNvCxnSpPr>
            <p:nvPr/>
          </p:nvCxnSpPr>
          <p:spPr>
            <a:xfrm>
              <a:off x="2357258" y="2830896"/>
              <a:ext cx="634009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2584D52-F6D2-C587-AC9F-CBC674D2C1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9555" y="2830896"/>
              <a:ext cx="537703" cy="3396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7D78D99-F302-9BEE-C83F-D652BF7F86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834" y="2828588"/>
              <a:ext cx="1231423" cy="3491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A388EA86-5D92-7715-6C4C-CBBCFB2F9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960" y="1798600"/>
            <a:ext cx="403658" cy="369332"/>
          </a:xfrm>
          <a:prstGeom prst="rect">
            <a:avLst/>
          </a:prstGeom>
        </p:spPr>
      </p:pic>
      <p:pic>
        <p:nvPicPr>
          <p:cNvPr id="61" name="Picture 60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9E0FADAD-92D1-B02B-70CB-F346032EF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520" y="3477663"/>
            <a:ext cx="403658" cy="369332"/>
          </a:xfrm>
          <a:prstGeom prst="rect">
            <a:avLst/>
          </a:prstGeom>
        </p:spPr>
      </p:pic>
      <p:pic>
        <p:nvPicPr>
          <p:cNvPr id="62" name="Picture 61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3DCDEF71-32AE-C302-5C02-1EE57CE92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514" y="5245879"/>
            <a:ext cx="403658" cy="369332"/>
          </a:xfrm>
          <a:prstGeom prst="rect">
            <a:avLst/>
          </a:prstGeom>
        </p:spPr>
      </p:pic>
      <p:pic>
        <p:nvPicPr>
          <p:cNvPr id="8" name="Picture 7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7AEAB869-C229-73C9-F714-7C0949821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308" y="2328579"/>
            <a:ext cx="403658" cy="369332"/>
          </a:xfrm>
          <a:prstGeom prst="rect">
            <a:avLst/>
          </a:prstGeom>
        </p:spPr>
      </p:pic>
      <p:pic>
        <p:nvPicPr>
          <p:cNvPr id="9" name="Picture 8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3DFBEFA0-9E58-2480-DE5B-CFFBF0CA5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520" y="3972186"/>
            <a:ext cx="403658" cy="369332"/>
          </a:xfrm>
          <a:prstGeom prst="rect">
            <a:avLst/>
          </a:prstGeom>
        </p:spPr>
      </p:pic>
      <p:pic>
        <p:nvPicPr>
          <p:cNvPr id="46" name="Picture 45" descr="A cartoon frog with a black background&#10;&#10;AI-generated content may be incorrect.">
            <a:extLst>
              <a:ext uri="{FF2B5EF4-FFF2-40B4-BE49-F238E27FC236}">
                <a16:creationId xmlns:a16="http://schemas.microsoft.com/office/drawing/2014/main" id="{BF9491F0-E109-00B3-FFD4-667BB88BF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514" y="5790051"/>
            <a:ext cx="403658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165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41871-168F-C68E-17DE-AAB587E5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8F98A-8299-0CC8-42C0-F1315DA4A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LFTJ’s performance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C3880-C1B7-DD4C-B361-9B406BEB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897C8-7A59-C726-5FF3-440C4CE71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2E7C59-DDAA-F14F-2B59-F3EC7DAB3B62}"/>
              </a:ext>
            </a:extLst>
          </p:cNvPr>
          <p:cNvSpPr txBox="1"/>
          <p:nvPr/>
        </p:nvSpPr>
        <p:spPr>
          <a:xfrm>
            <a:off x="2609850" y="6238875"/>
            <a:ext cx="6453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Kalinsky et al., “</a:t>
            </a:r>
            <a:r>
              <a:rPr lang="en-US" sz="1800" b="0" i="0">
                <a:solidFill>
                  <a:srgbClr val="21759B"/>
                </a:solidFill>
                <a:effectLst/>
                <a:latin typeface="Open Sans" panose="020B0606030504020204" pitchFamily="34" charset="0"/>
                <a:hlinkClick r:id="rId2"/>
              </a:rPr>
              <a:t>Flexible Caching in Trie Joins</a:t>
            </a:r>
            <a:r>
              <a:rPr lang="en-US" sz="1800" b="0" i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“. In EDBT 2017</a:t>
            </a:r>
            <a:endParaRPr lang="en-IL" sz="18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8A1022D-C570-2E93-B736-03297719A397}"/>
              </a:ext>
            </a:extLst>
          </p:cNvPr>
          <p:cNvGrpSpPr/>
          <p:nvPr/>
        </p:nvGrpSpPr>
        <p:grpSpPr>
          <a:xfrm>
            <a:off x="1662812" y="1690688"/>
            <a:ext cx="7617685" cy="4075675"/>
            <a:chOff x="1678714" y="1690688"/>
            <a:chExt cx="7617685" cy="40756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C84B565-2777-5BA3-7043-7B1BBD4FE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2" r="48346"/>
            <a:stretch/>
          </p:blipFill>
          <p:spPr>
            <a:xfrm>
              <a:off x="1980460" y="1690688"/>
              <a:ext cx="7315939" cy="407567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45736F-ED79-C68D-D089-B6B5E2925324}"/>
                </a:ext>
              </a:extLst>
            </p:cNvPr>
            <p:cNvSpPr txBox="1"/>
            <p:nvPr/>
          </p:nvSpPr>
          <p:spPr>
            <a:xfrm rot="16200000">
              <a:off x="3294315" y="2099112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CTJ-C</a:t>
              </a:r>
              <a:endParaRPr lang="en-IL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9630C7-80B4-9E29-D40B-8D430A009352}"/>
                </a:ext>
              </a:extLst>
            </p:cNvPr>
            <p:cNvSpPr txBox="1"/>
            <p:nvPr/>
          </p:nvSpPr>
          <p:spPr>
            <a:xfrm rot="16200000">
              <a:off x="3685480" y="2167824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YTD</a:t>
              </a:r>
              <a:endParaRPr lang="en-IL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D7FF33-0CBB-79BE-4AD9-38E61C7D4E3D}"/>
                </a:ext>
              </a:extLst>
            </p:cNvPr>
            <p:cNvSpPr txBox="1"/>
            <p:nvPr/>
          </p:nvSpPr>
          <p:spPr>
            <a:xfrm rot="16200000">
              <a:off x="3956467" y="2146906"/>
              <a:ext cx="6056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LFTJ</a:t>
              </a:r>
              <a:endParaRPr lang="en-IL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88509C7-5206-0C8E-1BC4-A7DBE8F6068E}"/>
                </a:ext>
              </a:extLst>
            </p:cNvPr>
            <p:cNvCxnSpPr>
              <a:cxnSpLocks/>
            </p:cNvCxnSpPr>
            <p:nvPr/>
          </p:nvCxnSpPr>
          <p:spPr>
            <a:xfrm>
              <a:off x="3675188" y="2664652"/>
              <a:ext cx="16520" cy="122489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6B12F68-DA14-4096-3A21-2304696BC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8394" y="2641993"/>
              <a:ext cx="72211" cy="104683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B471511-1B2E-5095-3CF2-015F0CB95E25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4074608" y="2634380"/>
              <a:ext cx="184667" cy="95165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2F2D9A-5EB6-3605-FF68-8986F7A62A94}"/>
                </a:ext>
              </a:extLst>
            </p:cNvPr>
            <p:cNvSpPr txBox="1"/>
            <p:nvPr/>
          </p:nvSpPr>
          <p:spPr>
            <a:xfrm rot="16200000">
              <a:off x="1000419" y="2923595"/>
              <a:ext cx="1725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(lower is better)</a:t>
              </a:r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6426720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DD1F-2DB3-ADE7-59F2-AAE57963F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110C3-C5B1-6C42-07D0-084397610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do you think might be problematic with LFTJ?</a:t>
            </a:r>
          </a:p>
          <a:p>
            <a:endParaRPr lang="en-US"/>
          </a:p>
          <a:p>
            <a:r>
              <a:rPr lang="en-US"/>
              <a:t>How can we overcome this problem?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39F0F-F74C-991A-1A46-CF9563BB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528E7-67AE-F46A-748C-4C130A91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535459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743AE-B8F8-DBE8-C106-B0B2A833D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3E8D7-DC9E-F25B-E57A-ED5828AC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LFTJ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CCA43-3E47-A5F6-0A9E-082E2FBFE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Irregular memory accesses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trie</a:t>
            </a:r>
            <a:r>
              <a:rPr lang="en-US" dirty="0"/>
              <a:t> </a:t>
            </a:r>
            <a:r>
              <a:rPr lang="en-US"/>
              <a:t>(tree) is </a:t>
            </a:r>
            <a:r>
              <a:rPr lang="en-US" dirty="0"/>
              <a:t>a pointer-based structure</a:t>
            </a:r>
          </a:p>
          <a:p>
            <a:endParaRPr lang="en-US" dirty="0"/>
          </a:p>
          <a:p>
            <a:r>
              <a:rPr lang="en-US" dirty="0"/>
              <a:t>Many cache misses</a:t>
            </a:r>
          </a:p>
          <a:p>
            <a:endParaRPr lang="en-US" dirty="0"/>
          </a:p>
          <a:p>
            <a:r>
              <a:rPr lang="en-US" dirty="0"/>
              <a:t>Solution: Software caching of partial leap-frog scan results</a:t>
            </a:r>
          </a:p>
          <a:p>
            <a:endParaRPr lang="en-US" dirty="0"/>
          </a:p>
          <a:p>
            <a:r>
              <a:rPr lang="en-US" sz="2000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Kalinsky et al., “</a:t>
            </a:r>
            <a:r>
              <a:rPr lang="en-US" sz="2000" b="0" i="0" dirty="0">
                <a:solidFill>
                  <a:srgbClr val="21759B"/>
                </a:solidFill>
                <a:effectLst/>
                <a:latin typeface="Open Sans" panose="020B0606030504020204" pitchFamily="34" charset="0"/>
                <a:hlinkClick r:id="rId2"/>
              </a:rPr>
              <a:t>Flexible Caching in Trie Joins</a:t>
            </a:r>
            <a:r>
              <a:rPr lang="en-US" sz="2000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“. In EDBT 2017</a:t>
            </a:r>
            <a:br>
              <a:rPr lang="en-US" sz="2000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</a:br>
            <a:endParaRPr lang="en-IL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3F8ED-5F55-A176-4236-933F4D1C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776A4-36E9-0D93-B4C1-EFD5B6D9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79052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1AC3-BE73-7FE4-04E0-9B51ED17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Multi-way JOIN: CTJ-C = LFTJ + caching</a:t>
            </a:r>
            <a:endParaRPr lang="en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A29B76-CB21-C3C2-F9E0-B32666EF0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815955"/>
            <a:ext cx="7836723" cy="290249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85FAE-9226-0053-FEE2-FC70FE2FC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295139-E0A2-9CC9-6EFA-7DD242C42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A26C0-85A3-4D34-95DA-3D1AEA6FBE39}"/>
              </a:ext>
            </a:extLst>
          </p:cNvPr>
          <p:cNvSpPr txBox="1"/>
          <p:nvPr/>
        </p:nvSpPr>
        <p:spPr>
          <a:xfrm>
            <a:off x="2609850" y="6238875"/>
            <a:ext cx="6453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Kalinsky et al., “</a:t>
            </a:r>
            <a:r>
              <a:rPr lang="en-US" sz="1800" b="0" i="0">
                <a:solidFill>
                  <a:srgbClr val="21759B"/>
                </a:solidFill>
                <a:effectLst/>
                <a:latin typeface="Open Sans" panose="020B0606030504020204" pitchFamily="34" charset="0"/>
                <a:hlinkClick r:id="rId3"/>
              </a:rPr>
              <a:t>Flexible Caching in Trie Joins</a:t>
            </a:r>
            <a:r>
              <a:rPr lang="en-US" sz="1800" b="0" i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“. In EDBT 2017</a:t>
            </a:r>
            <a:endParaRPr lang="en-IL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266E49-AF04-825F-7871-08CC15339C9A}"/>
              </a:ext>
            </a:extLst>
          </p:cNvPr>
          <p:cNvSpPr txBox="1"/>
          <p:nvPr/>
        </p:nvSpPr>
        <p:spPr>
          <a:xfrm>
            <a:off x="3040546" y="5623195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5-path</a:t>
            </a:r>
            <a:endParaRPr lang="en-IL" sz="18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CCA03-6B30-98DE-9D91-C8278BD13262}"/>
              </a:ext>
            </a:extLst>
          </p:cNvPr>
          <p:cNvSpPr txBox="1"/>
          <p:nvPr/>
        </p:nvSpPr>
        <p:spPr>
          <a:xfrm>
            <a:off x="7001622" y="5623195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5-cycle</a:t>
            </a:r>
            <a:endParaRPr lang="en-IL" sz="18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62F363-2D89-02BE-F4D3-2EE201C5C504}"/>
              </a:ext>
            </a:extLst>
          </p:cNvPr>
          <p:cNvSpPr txBox="1"/>
          <p:nvPr/>
        </p:nvSpPr>
        <p:spPr>
          <a:xfrm>
            <a:off x="2154958" y="2042942"/>
            <a:ext cx="6712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Why is caching partial results so effective?</a:t>
            </a:r>
            <a:endParaRPr lang="en-IL" sz="2800"/>
          </a:p>
        </p:txBody>
      </p:sp>
    </p:spTree>
    <p:extLst>
      <p:ext uri="{BB962C8B-B14F-4D97-AF65-F5344CB8AC3E}">
        <p14:creationId xmlns:p14="http://schemas.microsoft.com/office/powerpoint/2010/main" val="375876675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B6FB-7398-E7D9-82BD-DA10670A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3B53C-9B9D-5665-7791-88267E8EA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06574"/>
            <a:ext cx="11096625" cy="4556125"/>
          </a:xfrm>
        </p:spPr>
        <p:txBody>
          <a:bodyPr>
            <a:normAutofit lnSpcReduction="10000"/>
          </a:bodyPr>
          <a:lstStyle/>
          <a:p>
            <a:r>
              <a:rPr lang="en-US"/>
              <a:t>Call graphs and flame graphs are our first tool to find bottlenecks</a:t>
            </a:r>
          </a:p>
          <a:p>
            <a:r>
              <a:rPr lang="en-US"/>
              <a:t>Then, identify the cause:</a:t>
            </a:r>
          </a:p>
          <a:p>
            <a:pPr lvl="1"/>
            <a:r>
              <a:rPr lang="en-US"/>
              <a:t>Look at the code</a:t>
            </a:r>
          </a:p>
          <a:p>
            <a:pPr lvl="1"/>
            <a:r>
              <a:rPr lang="en-US"/>
              <a:t>Use performance counters </a:t>
            </a:r>
          </a:p>
          <a:p>
            <a:endParaRPr lang="en-US"/>
          </a:p>
          <a:p>
            <a:r>
              <a:rPr lang="en-US"/>
              <a:t>Common system bottlenecks have been there for ages, and it’s time to rethink their HW/SW primitives:</a:t>
            </a:r>
          </a:p>
          <a:p>
            <a:pPr lvl="1">
              <a:spcBef>
                <a:spcPts val="1200"/>
              </a:spcBef>
            </a:pPr>
            <a:r>
              <a:rPr lang="en-US"/>
              <a:t>Storage: What primitives can help us reduce storage overhead?</a:t>
            </a:r>
          </a:p>
          <a:p>
            <a:pPr lvl="1">
              <a:spcBef>
                <a:spcPts val="1200"/>
              </a:spcBef>
            </a:pPr>
            <a:r>
              <a:rPr lang="en-US"/>
              <a:t>Network: Can we rethink the way NICs move data to memory?</a:t>
            </a:r>
          </a:p>
          <a:p>
            <a:pPr lvl="2"/>
            <a:r>
              <a:rPr lang="en-US"/>
              <a:t>Can we eliminate IOMMU/buffer pool overheads?</a:t>
            </a:r>
          </a:p>
          <a:p>
            <a:pPr lvl="1">
              <a:spcBef>
                <a:spcPts val="1200"/>
              </a:spcBef>
            </a:pPr>
            <a:r>
              <a:rPr lang="en-US"/>
              <a:t>Memory: Data accesses are biased; maybe a hash table interface is better?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CB1B9-E5C3-D19C-EF34-FCC8FB470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AA966-905B-0454-8854-4C690778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44937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C33DEFB-7114-4065-6E31-F45051E1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 </a:t>
            </a:r>
            <a:br>
              <a:rPr lang="en-US"/>
            </a:br>
            <a:br>
              <a:rPr lang="en-US"/>
            </a:br>
            <a:r>
              <a:rPr lang="en-US"/>
              <a:t>Questions?</a:t>
            </a:r>
            <a:endParaRPr lang="en-I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D032B0-0FE5-A768-5826-9210D4B26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02241-2CF0-23B3-5404-BB7C493FC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25C87-034F-F3CC-D3D3-600C4682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7883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4840</Words>
  <Application>Microsoft Office PowerPoint</Application>
  <PresentationFormat>Widescreen</PresentationFormat>
  <Paragraphs>1017</Paragraphs>
  <Slides>88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Office Theme</vt:lpstr>
      <vt:lpstr>Identifying Performance Bottlenecks</vt:lpstr>
      <vt:lpstr>Outline</vt:lpstr>
      <vt:lpstr>Outline</vt:lpstr>
      <vt:lpstr>Flame Graphs</vt:lpstr>
      <vt:lpstr>Flame Graphs</vt:lpstr>
      <vt:lpstr>Flame Graphs</vt:lpstr>
      <vt:lpstr>Flame Graphs</vt:lpstr>
      <vt:lpstr>Flame graph: Example</vt:lpstr>
      <vt:lpstr>Flame graph: Example</vt:lpstr>
      <vt:lpstr>Flame graph: Example</vt:lpstr>
      <vt:lpstr>Flame graph: Example</vt:lpstr>
      <vt:lpstr>Flame graph: Example</vt:lpstr>
      <vt:lpstr>Flame graph: Example</vt:lpstr>
      <vt:lpstr>Flame Graphs</vt:lpstr>
      <vt:lpstr>Flame Graphs</vt:lpstr>
      <vt:lpstr>Flame Graphs</vt:lpstr>
      <vt:lpstr>How do we get the data for Flame Graphs?</vt:lpstr>
      <vt:lpstr>Flame Graphs summary</vt:lpstr>
      <vt:lpstr>Outline</vt:lpstr>
      <vt:lpstr>CPI stacks</vt:lpstr>
      <vt:lpstr>CPI stack: Methodology</vt:lpstr>
      <vt:lpstr>CPI stack example</vt:lpstr>
      <vt:lpstr>CPI stack example</vt:lpstr>
      <vt:lpstr>CPI stack example</vt:lpstr>
      <vt:lpstr>Sampling for CPI stacks</vt:lpstr>
      <vt:lpstr>Sampling for CPI stacks</vt:lpstr>
      <vt:lpstr>Sampling for CPI stacks</vt:lpstr>
      <vt:lpstr>CPI stacks: More examples</vt:lpstr>
      <vt:lpstr>CPI stack: See the compute phases</vt:lpstr>
      <vt:lpstr>CPI stacks: Summary</vt:lpstr>
      <vt:lpstr>Outline</vt:lpstr>
      <vt:lpstr>Storage</vt:lpstr>
      <vt:lpstr>Storage</vt:lpstr>
      <vt:lpstr>Storage: Latency hiding</vt:lpstr>
      <vt:lpstr>Storage: Bandwidth</vt:lpstr>
      <vt:lpstr>Storage: Trends</vt:lpstr>
      <vt:lpstr>Outline</vt:lpstr>
      <vt:lpstr>Network</vt:lpstr>
      <vt:lpstr>Network</vt:lpstr>
      <vt:lpstr>Network: How the system works</vt:lpstr>
      <vt:lpstr>Network: How the system works</vt:lpstr>
      <vt:lpstr>Network: How the system works</vt:lpstr>
      <vt:lpstr>Network: How the system works</vt:lpstr>
      <vt:lpstr>Network: What’s an IOMMU?</vt:lpstr>
      <vt:lpstr>Network: What’s an IOMMU?</vt:lpstr>
      <vt:lpstr>Network: Managing buffer pools</vt:lpstr>
      <vt:lpstr>Network: Zero-copy</vt:lpstr>
      <vt:lpstr>Network summary (intermediate)</vt:lpstr>
      <vt:lpstr>Outline</vt:lpstr>
      <vt:lpstr>The memory hierarchy (reminder)</vt:lpstr>
      <vt:lpstr>The memory hierarchy (reminder)</vt:lpstr>
      <vt:lpstr>The memory hierarchy (reminder)</vt:lpstr>
      <vt:lpstr>The memory hierarchy (reminder)</vt:lpstr>
      <vt:lpstr>Memory hierarchy limitations</vt:lpstr>
      <vt:lpstr>Don’t forget our view of computer systems</vt:lpstr>
      <vt:lpstr>Compiler/Programmer Optimizations:  Merging Arrays</vt:lpstr>
      <vt:lpstr>Compiler/Programmer Optimizations:  Loop fusion</vt:lpstr>
      <vt:lpstr>Compiler/Programmer Optimizations:  Loop interchange</vt:lpstr>
      <vt:lpstr>Matrix multiplication</vt:lpstr>
      <vt:lpstr>Matrix multiplication</vt:lpstr>
      <vt:lpstr>Matrix multiplication</vt:lpstr>
      <vt:lpstr>Blocked Matrix Multiplication Algorithm</vt:lpstr>
      <vt:lpstr>Blocked Matrix Multiplication Algorithm</vt:lpstr>
      <vt:lpstr>Blocked Matrix Multiplication Algorithm</vt:lpstr>
      <vt:lpstr>Blocked Matrix Multiplication Algorithm</vt:lpstr>
      <vt:lpstr>Blocked Matrix Multiplication Algorithm</vt:lpstr>
      <vt:lpstr>Another example: Multi-way JOINs The clash between theory and practice</vt:lpstr>
      <vt:lpstr>What’s a JOIN?</vt:lpstr>
      <vt:lpstr>What’s a JOIN?</vt:lpstr>
      <vt:lpstr>What’s a Multi-way JOIN?</vt:lpstr>
      <vt:lpstr>What’s a Multi-way JOIN?</vt:lpstr>
      <vt:lpstr>What’s a Multi-way JOIN?</vt:lpstr>
      <vt:lpstr>Multi-way JOIN: A new generation of algorithms</vt:lpstr>
      <vt:lpstr>Multi-way JOIN: LFTJ</vt:lpstr>
      <vt:lpstr>Multi-way JOIN: LFTJ</vt:lpstr>
      <vt:lpstr>Multi-way JOIN: LFTJ</vt:lpstr>
      <vt:lpstr>Multi-way JOIN: LFTJ</vt:lpstr>
      <vt:lpstr>Multi-way JOIN: LFTJ</vt:lpstr>
      <vt:lpstr>Multi-way JOIN: LFTJ</vt:lpstr>
      <vt:lpstr>Multi-way JOIN: LFTJ</vt:lpstr>
      <vt:lpstr>Multi-way JOIN: LFTJ</vt:lpstr>
      <vt:lpstr>Multi-way JOIN: LFTJ</vt:lpstr>
      <vt:lpstr>Multi-way JOIN: LFTJ’s performance</vt:lpstr>
      <vt:lpstr>Multi-way JOIN: LFTJ</vt:lpstr>
      <vt:lpstr>Multi-way JOIN: LFTJ</vt:lpstr>
      <vt:lpstr>Multi-way JOIN: CTJ-C = LFTJ + caching</vt:lpstr>
      <vt:lpstr>Summary</vt:lpstr>
      <vt:lpstr>Thank you  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Yoav Etsion</dc:creator>
  <cp:lastModifiedBy>Yoav Etsion</cp:lastModifiedBy>
  <cp:revision>4</cp:revision>
  <dcterms:created xsi:type="dcterms:W3CDTF">2025-03-20T10:33:10Z</dcterms:created>
  <dcterms:modified xsi:type="dcterms:W3CDTF">2026-05-25T11:32:51Z</dcterms:modified>
</cp:coreProperties>
</file>