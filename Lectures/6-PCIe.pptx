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sldIdLst>
    <p:sldId id="256" r:id="rId2"/>
    <p:sldId id="262" r:id="rId3"/>
    <p:sldId id="271" r:id="rId4"/>
    <p:sldId id="257" r:id="rId5"/>
    <p:sldId id="273" r:id="rId6"/>
    <p:sldId id="272" r:id="rId7"/>
    <p:sldId id="274" r:id="rId8"/>
    <p:sldId id="275" r:id="rId9"/>
    <p:sldId id="266" r:id="rId10"/>
    <p:sldId id="276" r:id="rId11"/>
    <p:sldId id="277" r:id="rId12"/>
    <p:sldId id="278" r:id="rId13"/>
    <p:sldId id="279" r:id="rId14"/>
    <p:sldId id="280" r:id="rId15"/>
    <p:sldId id="281" r:id="rId16"/>
    <p:sldId id="260" r:id="rId17"/>
    <p:sldId id="259" r:id="rId18"/>
    <p:sldId id="261" r:id="rId19"/>
    <p:sldId id="282" r:id="rId20"/>
    <p:sldId id="284" r:id="rId21"/>
    <p:sldId id="283" r:id="rId22"/>
    <p:sldId id="285" r:id="rId23"/>
    <p:sldId id="270" r:id="rId24"/>
    <p:sldId id="269" r:id="rId25"/>
    <p:sldId id="267" r:id="rId26"/>
    <p:sldId id="268" r:id="rId27"/>
    <p:sldId id="286" r:id="rId28"/>
    <p:sldId id="288" r:id="rId29"/>
    <p:sldId id="289" r:id="rId30"/>
    <p:sldId id="290" r:id="rId31"/>
    <p:sldId id="287" r:id="rId32"/>
    <p:sldId id="291" r:id="rId33"/>
    <p:sldId id="292" r:id="rId34"/>
    <p:sldId id="263" r:id="rId35"/>
    <p:sldId id="264" r:id="rId36"/>
    <p:sldId id="265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0706D-918D-40D4-AB56-D905264A97A2}" type="datetimeFigureOut">
              <a:rPr lang="en-IL" smtClean="0"/>
              <a:t>06/15/2026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00DA0-B09A-4B1E-A976-B5CA6AE4163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521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40AAE-C72B-A4AE-9E09-A4F4AA61B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55BFF-969A-2343-38F5-7F3CDC946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6888C64-DF02-80A3-F18A-3B044661C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7D92455-BD50-2E5E-3C5C-E463B43A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3BC2F51-D5C7-9AF1-3B66-90A715A6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5083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2BFA3-5D52-EDD5-7282-4798E34B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91D7B-E466-6DF4-7347-D0435C99A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2F19EE44-3524-1645-E735-26E60E9E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1EE952B-0D34-8C33-1DA9-74062F9A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73A26AE-074D-75D6-D7B1-18FC1F29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8290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716B7-A5E9-C1A1-D40A-45CCFF53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95AC6-BAA5-907F-298B-21E2DE690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DA6B36A-CA1E-1A3B-05FB-96918B9D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142F3F1-3B8B-CB9F-A746-2619B931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3585D94-8C0D-746C-7FC2-A29E58D8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8040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FD71-857F-8F28-8198-68818BD0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230F2-7392-B2F1-BB58-6C1C56C82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CF7C4-E529-C1AB-85CF-44F24940B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581B15D-4F72-8297-E394-12F7A538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67F0B058-F855-75B2-1843-04B368EA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8F12C73-D7DC-FF51-C6D7-7D1667A1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6315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BE20-BA00-706C-61EA-9174E307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49403-4C5E-3354-5C30-7D4E2925A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D5139-909F-6B30-3FA7-969A0C119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4A7D5-B179-C674-6D5F-F4E4DFB17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F0444-D600-6215-2ADA-B26694475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A0602A0-01AD-FF9B-F7B2-D1498707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4BA96CB-BBA6-6A93-AC9D-AA166AEA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4E9F31C-D6E9-AB33-CBE9-370E42F4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4009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F1B8-3A4A-D5E3-729D-10C24A43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EF24AA7-E476-E26F-9F60-92086DAA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DF8AD36-04E6-BF32-A8FC-7305D459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F238118-9265-B874-CD9F-21F6E742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5431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5ECDCC-7D89-091E-65CE-498FB266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C568ECC-FD4D-DCB0-296B-826E2B0C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E3DC3CB-A195-399D-930F-664F9106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5644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D7F3-5D4A-168E-36A4-1C307561F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A9E0C-AA3E-02E8-1C67-21ADBFC0F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6FD66-0C17-432B-383C-D06ECB0BD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771A27E-8E69-8A75-C5F1-D9954073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A8C14F3-490D-5ADD-7A7C-7563BC08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E428FA5-C5D1-87A4-4111-808AA3FE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9451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A75F-FAFD-BF02-59AA-299A924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88E22-BC4D-21D5-DA0E-0AF1FECF4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06F6D-EAD6-92D7-6351-B54A98091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48695FE-02D2-98FF-14FB-3DFD9316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7891E57-D6C1-C04C-3001-D5E9B5D4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78774E6-7092-7366-98A2-6F62A51D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6375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FA8A-8790-ADD8-00FD-80AF7ECB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3F95E-D280-39F8-2EDF-A5DC96382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CF4D0463-7251-0765-5362-9F50EBBC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2A3BB21-D240-6C0E-3984-2B0FBF83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8A22F75-421A-68AC-CB9D-060C18F5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51043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7A53B3-FC3E-EAC4-8B6B-8A9A6A1D4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A8611-A906-6FF4-A129-F79CC05ED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40B80C7A-EC15-9F17-7DE7-8746CE05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15A8DADC-84C6-DDFC-FC63-C0B9A682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62A1489-95DA-675B-C7CC-6F5CB5E5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2496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E96638-FD88-6646-70D6-5FD30DCB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F1199-8706-7CE9-4ED2-95917AB88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B144B-36F4-A435-4A51-30BC3AA826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3A061-AF03-BE50-D5FA-4CB9F3D3E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C41B3-42FB-8EDD-632C-CB2237D75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L" dirty="0"/>
              <a:t>00460882 </a:t>
            </a:r>
            <a:r>
              <a:rPr lang="en-US" dirty="0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6893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D095-6BC7-9E5A-AE81-0E40B914F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PCIe </a:t>
            </a:r>
            <a:br>
              <a:rPr lang="en-US" sz="5400" dirty="0"/>
            </a:br>
            <a:r>
              <a:rPr lang="en-US" sz="3600" dirty="0"/>
              <a:t>(Peripheral Component Interconnect Express)</a:t>
            </a:r>
            <a:endParaRPr lang="en-IL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2F5A9-0273-791C-8450-7DB78DF58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Yoav Etsion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0770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624D-7929-DA06-C21E-420E9D54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the PCIe spec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IL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84FECA0-25CD-F65C-F0CF-E1AA63E27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2561" y="4385806"/>
            <a:ext cx="4491554" cy="148449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723FC-713C-A647-3746-9A276580F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88980-7C0D-5A9F-9C8D-8F496C67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259D59-E85B-77A8-CA14-A5D6BCE30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52978"/>
            <a:ext cx="10145541" cy="17909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27E12B-4753-9765-6E3F-FA33F13F85AB}"/>
              </a:ext>
            </a:extLst>
          </p:cNvPr>
          <p:cNvSpPr txBox="1"/>
          <p:nvPr/>
        </p:nvSpPr>
        <p:spPr>
          <a:xfrm>
            <a:off x="3036850" y="6090661"/>
            <a:ext cx="5748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We’ll only cover the highlights…</a:t>
            </a: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1824171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12AE7-0791-2D22-412E-D19DC6D58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overview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B6054-2756-4FDB-08FB-700CA92FE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PCIe connects CPUs to all devices in the system</a:t>
            </a:r>
          </a:p>
          <a:p>
            <a:pPr lvl="1"/>
            <a:r>
              <a:rPr lang="en-US" dirty="0"/>
              <a:t>Except for DRAM</a:t>
            </a:r>
          </a:p>
          <a:p>
            <a:pPr lvl="1"/>
            <a:r>
              <a:rPr lang="en-US" dirty="0"/>
              <a:t>Descendant of ISA, PCI, PCI-X, AGP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7C241-DD6B-C6D3-20A4-321683EBD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219AB-959A-736E-194C-D1817B211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17362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D948C-3652-78F7-D92E-CC143724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44998-6201-1345-666A-B8E433D98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78897-43CB-57DD-E349-4EFFFFDEC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E3911-3E3E-3366-874A-08DD870A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1513DB-8B71-1DCA-4B8E-4B3747AF1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83" y="0"/>
            <a:ext cx="9685834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E2A55-8EF5-2DDF-6D8C-B557EFB91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12" y="2450733"/>
            <a:ext cx="8773749" cy="285790"/>
          </a:xfrm>
          <a:prstGeom prst="rect">
            <a:avLst/>
          </a:prstGeom>
          <a:ln w="31750"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3A4E95-92F4-69DD-3622-3AA40E49A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12" y="3025265"/>
            <a:ext cx="11212490" cy="238158"/>
          </a:xfrm>
          <a:prstGeom prst="rect">
            <a:avLst/>
          </a:prstGeom>
          <a:ln w="31750"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9CD2A8-4113-5B98-E19D-9918D9DBF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712" y="3594578"/>
            <a:ext cx="11555438" cy="276264"/>
          </a:xfrm>
          <a:prstGeom prst="rect">
            <a:avLst/>
          </a:prstGeom>
          <a:ln w="317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17286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5E86F-A770-21C8-1A95-EA8E46F5F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81DC-29A0-D98C-E4F3-98C0FF84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overview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23D44-B17B-4F0A-AFF8-0BE35A4FE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PCIe connects CPUs to all devices in the system</a:t>
            </a:r>
          </a:p>
          <a:p>
            <a:pPr lvl="1"/>
            <a:r>
              <a:rPr lang="en-US" dirty="0"/>
              <a:t>Except for DRAM</a:t>
            </a:r>
          </a:p>
          <a:p>
            <a:pPr lvl="1"/>
            <a:r>
              <a:rPr lang="en-US" dirty="0"/>
              <a:t>Descendant of ISA, PCI, PCI-X, AGP</a:t>
            </a:r>
          </a:p>
          <a:p>
            <a:pPr lvl="1"/>
            <a:endParaRPr lang="en-US" dirty="0"/>
          </a:p>
          <a:p>
            <a:r>
              <a:rPr lang="en-US" dirty="0"/>
              <a:t>Modern servers are shipping with PCIe gen5/gen6 slots</a:t>
            </a:r>
          </a:p>
          <a:p>
            <a:pPr lvl="1"/>
            <a:r>
              <a:rPr lang="en-US" dirty="0"/>
              <a:t>Gen7 spec has been released</a:t>
            </a:r>
          </a:p>
          <a:p>
            <a:pPr lvl="1"/>
            <a:endParaRPr lang="en-US" dirty="0"/>
          </a:p>
          <a:p>
            <a:r>
              <a:rPr lang="en-US" dirty="0"/>
              <a:t>Tree topology*</a:t>
            </a:r>
            <a:r>
              <a:rPr lang="he-IL" dirty="0"/>
              <a:t> </a:t>
            </a:r>
            <a:endParaRPr lang="en-US" dirty="0"/>
          </a:p>
          <a:p>
            <a:pPr lvl="1"/>
            <a:r>
              <a:rPr lang="en-US"/>
              <a:t>Ignoring </a:t>
            </a:r>
            <a:r>
              <a:rPr lang="en-US" dirty="0"/>
              <a:t>rarely used NTB and </a:t>
            </a:r>
            <a:r>
              <a:rPr lang="en-US"/>
              <a:t>MR-IOV features</a:t>
            </a:r>
            <a:endParaRPr lang="en-US" dirty="0"/>
          </a:p>
          <a:p>
            <a:r>
              <a:rPr lang="en-US" dirty="0"/>
              <a:t>Guaranteed packet delivery (ack on each packet; no packet loss)</a:t>
            </a:r>
          </a:p>
          <a:p>
            <a:r>
              <a:rPr lang="en-US" dirty="0"/>
              <a:t>Devices can have multiple functions (e.g., NIC with two ports)</a:t>
            </a:r>
          </a:p>
          <a:p>
            <a:endParaRPr lang="en-US" dirty="0"/>
          </a:p>
          <a:p>
            <a:endParaRPr lang="en-US" dirty="0"/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69DEE-0D01-ADF6-D883-B2F521D1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48DD7A-8C58-C93B-E032-5B70775A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5241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FF7FB-FD67-363C-289E-E13561B3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topology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54F58-59DB-21A4-C3B8-F2A15863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449B2-ACEC-3C00-58BF-0EEBA06A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299B6F-56C0-3837-0C6F-4F630B293A37}"/>
              </a:ext>
            </a:extLst>
          </p:cNvPr>
          <p:cNvGrpSpPr/>
          <p:nvPr/>
        </p:nvGrpSpPr>
        <p:grpSpPr>
          <a:xfrm>
            <a:off x="5048656" y="1825625"/>
            <a:ext cx="2286000" cy="1112129"/>
            <a:chOff x="5048656" y="1825625"/>
            <a:chExt cx="2286000" cy="11121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3D651A1-A4DC-B7B0-753A-82AD2D4FACBE}"/>
                </a:ext>
              </a:extLst>
            </p:cNvPr>
            <p:cNvSpPr/>
            <p:nvPr/>
          </p:nvSpPr>
          <p:spPr>
            <a:xfrm>
              <a:off x="5048656" y="1825625"/>
              <a:ext cx="2286000" cy="11121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CPU</a:t>
              </a:r>
              <a:endParaRPr lang="en-IL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937FAA-2364-A9EB-39C6-F89C7EED056C}"/>
                </a:ext>
              </a:extLst>
            </p:cNvPr>
            <p:cNvSpPr/>
            <p:nvPr/>
          </p:nvSpPr>
          <p:spPr>
            <a:xfrm>
              <a:off x="5048656" y="2572848"/>
              <a:ext cx="2286000" cy="345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PCIe Root Complex</a:t>
              </a:r>
              <a:endParaRPr lang="en-IL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ACB709-B6E9-E3E1-8740-98D7225FDB96}"/>
              </a:ext>
            </a:extLst>
          </p:cNvPr>
          <p:cNvGrpSpPr/>
          <p:nvPr/>
        </p:nvGrpSpPr>
        <p:grpSpPr>
          <a:xfrm>
            <a:off x="5045411" y="3690096"/>
            <a:ext cx="2289245" cy="1112129"/>
            <a:chOff x="5045411" y="3690096"/>
            <a:chExt cx="2289245" cy="111212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73661A-A6B0-FD72-C160-B51512614CFB}"/>
                </a:ext>
              </a:extLst>
            </p:cNvPr>
            <p:cNvSpPr/>
            <p:nvPr/>
          </p:nvSpPr>
          <p:spPr>
            <a:xfrm>
              <a:off x="5045411" y="3690096"/>
              <a:ext cx="2286000" cy="11121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Device</a:t>
              </a:r>
              <a:endParaRPr lang="en-IL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4B4D7B-2510-914B-91CF-1D54BD3D5DCF}"/>
                </a:ext>
              </a:extLst>
            </p:cNvPr>
            <p:cNvSpPr/>
            <p:nvPr/>
          </p:nvSpPr>
          <p:spPr>
            <a:xfrm>
              <a:off x="5048656" y="3701256"/>
              <a:ext cx="2286000" cy="345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PCIe Endpoint</a:t>
              </a:r>
              <a:endParaRPr lang="en-IL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9A6D4992-4109-C5D7-6203-E3975A508A99}"/>
              </a:ext>
            </a:extLst>
          </p:cNvPr>
          <p:cNvSpPr/>
          <p:nvPr/>
        </p:nvSpPr>
        <p:spPr>
          <a:xfrm>
            <a:off x="7898860" y="2121533"/>
            <a:ext cx="1549940" cy="5203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A97327-6271-4132-5CF1-1065AF757D72}"/>
              </a:ext>
            </a:extLst>
          </p:cNvPr>
          <p:cNvCxnSpPr>
            <a:stCxn id="6" idx="3"/>
            <a:endCxn id="12" idx="1"/>
          </p:cNvCxnSpPr>
          <p:nvPr/>
        </p:nvCxnSpPr>
        <p:spPr>
          <a:xfrm flipV="1">
            <a:off x="7334656" y="2381689"/>
            <a:ext cx="564204" cy="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574C07-98F5-F014-3840-7404E5982730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6191656" y="2937754"/>
            <a:ext cx="0" cy="763502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684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124D3-B1D7-9CE8-98EF-DD656E3D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39301-5BD6-BBF6-ED53-70646DEDB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topology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B4C9F-86F6-504E-66CD-4DB244622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09641-9C73-D8D0-AC34-AC024D6ED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3599F69-9EA4-C1D3-9351-A70341034471}"/>
              </a:ext>
            </a:extLst>
          </p:cNvPr>
          <p:cNvGrpSpPr/>
          <p:nvPr/>
        </p:nvGrpSpPr>
        <p:grpSpPr>
          <a:xfrm>
            <a:off x="5048656" y="1825625"/>
            <a:ext cx="2286000" cy="1112129"/>
            <a:chOff x="5048656" y="1825625"/>
            <a:chExt cx="2286000" cy="11121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8740FC-D26F-03C5-7E93-A2C5D0A49843}"/>
                </a:ext>
              </a:extLst>
            </p:cNvPr>
            <p:cNvSpPr/>
            <p:nvPr/>
          </p:nvSpPr>
          <p:spPr>
            <a:xfrm>
              <a:off x="5048656" y="1825625"/>
              <a:ext cx="2286000" cy="11121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CPU</a:t>
              </a:r>
              <a:endParaRPr lang="en-IL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739D7-2E53-DA56-F23B-64A76D2EF1C6}"/>
                </a:ext>
              </a:extLst>
            </p:cNvPr>
            <p:cNvSpPr/>
            <p:nvPr/>
          </p:nvSpPr>
          <p:spPr>
            <a:xfrm>
              <a:off x="5048656" y="2572848"/>
              <a:ext cx="2286000" cy="345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PCIe Root Complex</a:t>
              </a:r>
              <a:endParaRPr lang="en-IL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4102651-04E6-5CDC-DE1A-C716C8277C01}"/>
              </a:ext>
            </a:extLst>
          </p:cNvPr>
          <p:cNvSpPr/>
          <p:nvPr/>
        </p:nvSpPr>
        <p:spPr>
          <a:xfrm>
            <a:off x="3052861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2CC3E-1490-A789-A5C5-854D77B8553B}"/>
              </a:ext>
            </a:extLst>
          </p:cNvPr>
          <p:cNvSpPr/>
          <p:nvPr/>
        </p:nvSpPr>
        <p:spPr>
          <a:xfrm>
            <a:off x="4325563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34F6F5-1BFC-3FEF-10C8-8B12F23F882A}"/>
              </a:ext>
            </a:extLst>
          </p:cNvPr>
          <p:cNvSpPr/>
          <p:nvPr/>
        </p:nvSpPr>
        <p:spPr>
          <a:xfrm>
            <a:off x="5598265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0FA2D3-2129-B301-FC16-D3166BDDC1B7}"/>
              </a:ext>
            </a:extLst>
          </p:cNvPr>
          <p:cNvCxnSpPr>
            <a:stCxn id="7" idx="0"/>
          </p:cNvCxnSpPr>
          <p:nvPr/>
        </p:nvCxnSpPr>
        <p:spPr>
          <a:xfrm flipV="1">
            <a:off x="3636520" y="2937754"/>
            <a:ext cx="1528867" cy="500974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87EFE5-7F87-F4D1-0725-FF84ADE508FD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4909222" y="2918180"/>
            <a:ext cx="583659" cy="52054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1133D9-CA31-D11D-6E17-71CCB5BCA725}"/>
              </a:ext>
            </a:extLst>
          </p:cNvPr>
          <p:cNvCxnSpPr>
            <a:cxnSpLocks/>
          </p:cNvCxnSpPr>
          <p:nvPr/>
        </p:nvCxnSpPr>
        <p:spPr>
          <a:xfrm flipH="1" flipV="1">
            <a:off x="5671226" y="2937754"/>
            <a:ext cx="405314" cy="49611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5E8DB16-8750-B594-3D0A-1B331D0A2BDC}"/>
              </a:ext>
            </a:extLst>
          </p:cNvPr>
          <p:cNvSpPr/>
          <p:nvPr/>
        </p:nvSpPr>
        <p:spPr>
          <a:xfrm>
            <a:off x="7898860" y="2121533"/>
            <a:ext cx="1549940" cy="5203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endParaRPr lang="en-IL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717695-9E64-186C-F1AD-508AA13DD934}"/>
              </a:ext>
            </a:extLst>
          </p:cNvPr>
          <p:cNvCxnSpPr>
            <a:endCxn id="22" idx="1"/>
          </p:cNvCxnSpPr>
          <p:nvPr/>
        </p:nvCxnSpPr>
        <p:spPr>
          <a:xfrm flipV="1">
            <a:off x="7334656" y="2381689"/>
            <a:ext cx="564204" cy="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469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31D87-FAE8-EA75-8A52-F5F2700FB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D9BE-AB0E-F190-0FA5-087021E9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topology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B432C-9E4C-0BCE-1E67-F034C607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3B628-3775-F80F-B984-AEF04A2C2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E6E5319-4EBF-ACF2-A218-B2667F0B2338}"/>
              </a:ext>
            </a:extLst>
          </p:cNvPr>
          <p:cNvGrpSpPr/>
          <p:nvPr/>
        </p:nvGrpSpPr>
        <p:grpSpPr>
          <a:xfrm>
            <a:off x="5048656" y="1825625"/>
            <a:ext cx="2286000" cy="1112129"/>
            <a:chOff x="5048656" y="1825625"/>
            <a:chExt cx="2286000" cy="11121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6BDB683-24D8-4352-06C8-CD61C9CE0215}"/>
                </a:ext>
              </a:extLst>
            </p:cNvPr>
            <p:cNvSpPr/>
            <p:nvPr/>
          </p:nvSpPr>
          <p:spPr>
            <a:xfrm>
              <a:off x="5048656" y="1825625"/>
              <a:ext cx="2286000" cy="11121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CPU</a:t>
              </a:r>
              <a:endParaRPr lang="en-IL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B74CB3-7520-97A4-D1C2-4B2EC8A0662A}"/>
                </a:ext>
              </a:extLst>
            </p:cNvPr>
            <p:cNvSpPr/>
            <p:nvPr/>
          </p:nvSpPr>
          <p:spPr>
            <a:xfrm>
              <a:off x="5048656" y="2572848"/>
              <a:ext cx="2286000" cy="345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PCIe Root Complex</a:t>
              </a:r>
              <a:endParaRPr lang="en-IL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AC5F40F-879C-8A32-AF3D-7DB13771EB83}"/>
              </a:ext>
            </a:extLst>
          </p:cNvPr>
          <p:cNvSpPr/>
          <p:nvPr/>
        </p:nvSpPr>
        <p:spPr>
          <a:xfrm>
            <a:off x="3052861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4D25A3-0B86-77A3-584D-C6E60FBA55C1}"/>
              </a:ext>
            </a:extLst>
          </p:cNvPr>
          <p:cNvSpPr/>
          <p:nvPr/>
        </p:nvSpPr>
        <p:spPr>
          <a:xfrm>
            <a:off x="4325563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DAFBB7-9111-EF36-2400-AB92D56F1EA9}"/>
              </a:ext>
            </a:extLst>
          </p:cNvPr>
          <p:cNvSpPr/>
          <p:nvPr/>
        </p:nvSpPr>
        <p:spPr>
          <a:xfrm>
            <a:off x="5598265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DD0099-C300-948C-7A11-849535994F67}"/>
              </a:ext>
            </a:extLst>
          </p:cNvPr>
          <p:cNvCxnSpPr>
            <a:stCxn id="7" idx="0"/>
          </p:cNvCxnSpPr>
          <p:nvPr/>
        </p:nvCxnSpPr>
        <p:spPr>
          <a:xfrm flipV="1">
            <a:off x="3636520" y="2937754"/>
            <a:ext cx="1528867" cy="500974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B25657-C5AC-653B-0A13-9A2919C54F6B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4909222" y="2918180"/>
            <a:ext cx="583659" cy="52054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2B920B-9E72-3C28-1E00-74C9854D136D}"/>
              </a:ext>
            </a:extLst>
          </p:cNvPr>
          <p:cNvCxnSpPr>
            <a:cxnSpLocks/>
          </p:cNvCxnSpPr>
          <p:nvPr/>
        </p:nvCxnSpPr>
        <p:spPr>
          <a:xfrm flipH="1" flipV="1">
            <a:off x="5671226" y="2937754"/>
            <a:ext cx="405314" cy="49611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7266B12-9DB1-ED66-1A33-67202873FF4F}"/>
              </a:ext>
            </a:extLst>
          </p:cNvPr>
          <p:cNvSpPr/>
          <p:nvPr/>
        </p:nvSpPr>
        <p:spPr>
          <a:xfrm>
            <a:off x="5860920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38D70-F9A9-A567-4B5B-8F884594F069}"/>
              </a:ext>
            </a:extLst>
          </p:cNvPr>
          <p:cNvSpPr/>
          <p:nvPr/>
        </p:nvSpPr>
        <p:spPr>
          <a:xfrm>
            <a:off x="7133622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58BB3B-49FA-6068-BD9B-2B9ADF9C8D98}"/>
              </a:ext>
            </a:extLst>
          </p:cNvPr>
          <p:cNvSpPr/>
          <p:nvPr/>
        </p:nvSpPr>
        <p:spPr>
          <a:xfrm>
            <a:off x="8406324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405A1F-0329-90FF-6F2A-F9775110D165}"/>
              </a:ext>
            </a:extLst>
          </p:cNvPr>
          <p:cNvCxnSpPr>
            <a:cxnSpLocks/>
            <a:stCxn id="8" idx="0"/>
            <a:endCxn id="20" idx="2"/>
          </p:cNvCxnSpPr>
          <p:nvPr/>
        </p:nvCxnSpPr>
        <p:spPr>
          <a:xfrm flipV="1">
            <a:off x="6444579" y="4372700"/>
            <a:ext cx="804963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DE656B2-2506-C23B-5E89-0AF4885217EC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717281" y="4372700"/>
            <a:ext cx="0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F507F32-D1A5-4B9E-5F92-7EA1A8966783}"/>
              </a:ext>
            </a:extLst>
          </p:cNvPr>
          <p:cNvCxnSpPr>
            <a:cxnSpLocks/>
            <a:stCxn id="13" idx="0"/>
            <a:endCxn id="20" idx="1"/>
          </p:cNvCxnSpPr>
          <p:nvPr/>
        </p:nvCxnSpPr>
        <p:spPr>
          <a:xfrm flipH="1" flipV="1">
            <a:off x="8073155" y="4372700"/>
            <a:ext cx="916828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Hexagon 19">
            <a:extLst>
              <a:ext uri="{FF2B5EF4-FFF2-40B4-BE49-F238E27FC236}">
                <a16:creationId xmlns:a16="http://schemas.microsoft.com/office/drawing/2014/main" id="{8983B9EE-23CB-B4A2-12F5-CC90F32ECCF2}"/>
              </a:ext>
            </a:extLst>
          </p:cNvPr>
          <p:cNvSpPr/>
          <p:nvPr/>
        </p:nvSpPr>
        <p:spPr>
          <a:xfrm>
            <a:off x="7028238" y="3487483"/>
            <a:ext cx="1266221" cy="885217"/>
          </a:xfrm>
          <a:prstGeom prst="hex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</a:t>
            </a:r>
            <a:br>
              <a:rPr lang="en-US" dirty="0"/>
            </a:br>
            <a:r>
              <a:rPr lang="en-US" dirty="0"/>
              <a:t>Switch</a:t>
            </a:r>
            <a:endParaRPr lang="en-IL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409884-6AEA-74BE-1CAF-3E5AB3C0E2F9}"/>
              </a:ext>
            </a:extLst>
          </p:cNvPr>
          <p:cNvCxnSpPr>
            <a:cxnSpLocks/>
          </p:cNvCxnSpPr>
          <p:nvPr/>
        </p:nvCxnSpPr>
        <p:spPr>
          <a:xfrm flipH="1" flipV="1">
            <a:off x="7201711" y="2898206"/>
            <a:ext cx="459637" cy="60885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94AE442-647F-7348-A1B1-0984A2046085}"/>
              </a:ext>
            </a:extLst>
          </p:cNvPr>
          <p:cNvSpPr/>
          <p:nvPr/>
        </p:nvSpPr>
        <p:spPr>
          <a:xfrm>
            <a:off x="7898860" y="2121533"/>
            <a:ext cx="1549940" cy="5203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endParaRPr lang="en-IL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ADB2E-1DBE-7501-A44E-541E93D3B1E0}"/>
              </a:ext>
            </a:extLst>
          </p:cNvPr>
          <p:cNvCxnSpPr>
            <a:endCxn id="27" idx="1"/>
          </p:cNvCxnSpPr>
          <p:nvPr/>
        </p:nvCxnSpPr>
        <p:spPr>
          <a:xfrm flipV="1">
            <a:off x="7334656" y="2381689"/>
            <a:ext cx="564204" cy="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919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9F2A0-69EE-72D8-B6E4-471A15BEA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topology in the spec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53010-8FAB-7243-E0E2-22C292E1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A7656E-7B11-4F12-7783-90FE25D2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73F33F-90A5-60CC-15E0-092D6A9CB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640" y="1796116"/>
            <a:ext cx="7344752" cy="500351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0148E1-7610-7F31-E2B8-5E4688B39D59}"/>
              </a:ext>
            </a:extLst>
          </p:cNvPr>
          <p:cNvCxnSpPr/>
          <p:nvPr/>
        </p:nvCxnSpPr>
        <p:spPr>
          <a:xfrm>
            <a:off x="2192867" y="3166533"/>
            <a:ext cx="736600" cy="39793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8F9347F-5E2A-9C70-44B2-BAE173C9D38C}"/>
              </a:ext>
            </a:extLst>
          </p:cNvPr>
          <p:cNvSpPr txBox="1"/>
          <p:nvPr/>
        </p:nvSpPr>
        <p:spPr>
          <a:xfrm>
            <a:off x="160032" y="2520202"/>
            <a:ext cx="24974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Bridge devices connect</a:t>
            </a:r>
            <a:br>
              <a:rPr lang="en-US" dirty="0"/>
            </a:br>
            <a:r>
              <a:rPr lang="en-US" dirty="0"/>
              <a:t>other protocols</a:t>
            </a:r>
            <a:br>
              <a:rPr lang="en-US" dirty="0"/>
            </a:br>
            <a:r>
              <a:rPr lang="en-US" dirty="0"/>
              <a:t>- e.g., PCI-X, USB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6287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B4A3E-363F-7F79-32EE-B12DBF780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DCA26-4516-4068-C4E4-E5C1509CA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topology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9F02C-C0F4-C1E3-000C-F08FC606A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6BAA8-3150-FF3D-E451-9A8E9E67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C664265-5C51-7BC2-94F3-8C942B8D66FD}"/>
              </a:ext>
            </a:extLst>
          </p:cNvPr>
          <p:cNvGrpSpPr/>
          <p:nvPr/>
        </p:nvGrpSpPr>
        <p:grpSpPr>
          <a:xfrm>
            <a:off x="5048656" y="1825625"/>
            <a:ext cx="2286000" cy="1112129"/>
            <a:chOff x="5048656" y="1825625"/>
            <a:chExt cx="2286000" cy="11121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58533F-9490-760B-8279-FC424B531229}"/>
                </a:ext>
              </a:extLst>
            </p:cNvPr>
            <p:cNvSpPr/>
            <p:nvPr/>
          </p:nvSpPr>
          <p:spPr>
            <a:xfrm>
              <a:off x="5048656" y="1825625"/>
              <a:ext cx="2286000" cy="11121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CPU</a:t>
              </a:r>
              <a:endParaRPr lang="en-IL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067047D-312D-A731-B820-658EFF02C130}"/>
                </a:ext>
              </a:extLst>
            </p:cNvPr>
            <p:cNvSpPr/>
            <p:nvPr/>
          </p:nvSpPr>
          <p:spPr>
            <a:xfrm>
              <a:off x="5048656" y="2572848"/>
              <a:ext cx="2286000" cy="345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PCIe Root Complex</a:t>
              </a:r>
              <a:endParaRPr lang="en-IL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E7FD27B-49ED-8F19-2BDF-C04C346F7442}"/>
              </a:ext>
            </a:extLst>
          </p:cNvPr>
          <p:cNvSpPr/>
          <p:nvPr/>
        </p:nvSpPr>
        <p:spPr>
          <a:xfrm>
            <a:off x="3052861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F0E3FA-E772-B6E2-8BE2-959225648A9C}"/>
              </a:ext>
            </a:extLst>
          </p:cNvPr>
          <p:cNvSpPr/>
          <p:nvPr/>
        </p:nvSpPr>
        <p:spPr>
          <a:xfrm>
            <a:off x="4325563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FFDC4F-8F3F-5BDF-4E1D-5B1A53EE4F78}"/>
              </a:ext>
            </a:extLst>
          </p:cNvPr>
          <p:cNvSpPr/>
          <p:nvPr/>
        </p:nvSpPr>
        <p:spPr>
          <a:xfrm>
            <a:off x="5598265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5240E8C-1BCC-4646-70DD-1F551C7F46FE}"/>
              </a:ext>
            </a:extLst>
          </p:cNvPr>
          <p:cNvCxnSpPr>
            <a:stCxn id="7" idx="0"/>
          </p:cNvCxnSpPr>
          <p:nvPr/>
        </p:nvCxnSpPr>
        <p:spPr>
          <a:xfrm flipV="1">
            <a:off x="3636520" y="2937754"/>
            <a:ext cx="1528867" cy="500974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015120-E250-630F-8504-1967CC14907E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4909222" y="2918180"/>
            <a:ext cx="583659" cy="52054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689F163-BE95-9240-8085-ED9D6CF2AFAA}"/>
              </a:ext>
            </a:extLst>
          </p:cNvPr>
          <p:cNvCxnSpPr>
            <a:cxnSpLocks/>
          </p:cNvCxnSpPr>
          <p:nvPr/>
        </p:nvCxnSpPr>
        <p:spPr>
          <a:xfrm flipH="1" flipV="1">
            <a:off x="5671226" y="2937754"/>
            <a:ext cx="405314" cy="49611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801A5FD-6465-1AAC-518D-F631B4EE344E}"/>
              </a:ext>
            </a:extLst>
          </p:cNvPr>
          <p:cNvSpPr/>
          <p:nvPr/>
        </p:nvSpPr>
        <p:spPr>
          <a:xfrm>
            <a:off x="5860920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7CF018-402A-7847-03D1-D9A21142E9E9}"/>
              </a:ext>
            </a:extLst>
          </p:cNvPr>
          <p:cNvSpPr/>
          <p:nvPr/>
        </p:nvSpPr>
        <p:spPr>
          <a:xfrm>
            <a:off x="7133622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D141A-2658-8E12-3C2F-A57DA1372331}"/>
              </a:ext>
            </a:extLst>
          </p:cNvPr>
          <p:cNvSpPr/>
          <p:nvPr/>
        </p:nvSpPr>
        <p:spPr>
          <a:xfrm>
            <a:off x="8406324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369E94-DE71-AB4E-EB86-791BAA5B7723}"/>
              </a:ext>
            </a:extLst>
          </p:cNvPr>
          <p:cNvCxnSpPr>
            <a:cxnSpLocks/>
            <a:stCxn id="8" idx="0"/>
            <a:endCxn id="20" idx="2"/>
          </p:cNvCxnSpPr>
          <p:nvPr/>
        </p:nvCxnSpPr>
        <p:spPr>
          <a:xfrm flipV="1">
            <a:off x="6444579" y="4372700"/>
            <a:ext cx="804963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4ADB71-79D0-AA15-D997-B302BEE8B6A8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717281" y="4372700"/>
            <a:ext cx="0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923612-5760-779A-4600-5B21DD599BB4}"/>
              </a:ext>
            </a:extLst>
          </p:cNvPr>
          <p:cNvCxnSpPr>
            <a:cxnSpLocks/>
            <a:stCxn id="13" idx="0"/>
            <a:endCxn id="20" idx="1"/>
          </p:cNvCxnSpPr>
          <p:nvPr/>
        </p:nvCxnSpPr>
        <p:spPr>
          <a:xfrm flipH="1" flipV="1">
            <a:off x="8073155" y="4372700"/>
            <a:ext cx="916828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Hexagon 19">
            <a:extLst>
              <a:ext uri="{FF2B5EF4-FFF2-40B4-BE49-F238E27FC236}">
                <a16:creationId xmlns:a16="http://schemas.microsoft.com/office/drawing/2014/main" id="{5BC52808-BAD2-40DC-8131-33871B1238F0}"/>
              </a:ext>
            </a:extLst>
          </p:cNvPr>
          <p:cNvSpPr/>
          <p:nvPr/>
        </p:nvSpPr>
        <p:spPr>
          <a:xfrm>
            <a:off x="7028238" y="3487483"/>
            <a:ext cx="1266221" cy="885217"/>
          </a:xfrm>
          <a:prstGeom prst="hex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</a:t>
            </a:r>
            <a:br>
              <a:rPr lang="en-US" dirty="0"/>
            </a:br>
            <a:r>
              <a:rPr lang="en-US" dirty="0"/>
              <a:t>Switch</a:t>
            </a:r>
            <a:endParaRPr lang="en-IL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CCC736-02BC-4995-D8F9-E488F14A8EB2}"/>
              </a:ext>
            </a:extLst>
          </p:cNvPr>
          <p:cNvCxnSpPr>
            <a:cxnSpLocks/>
          </p:cNvCxnSpPr>
          <p:nvPr/>
        </p:nvCxnSpPr>
        <p:spPr>
          <a:xfrm flipH="1" flipV="1">
            <a:off x="7201711" y="2898206"/>
            <a:ext cx="459637" cy="60885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0BD1FD6-3DF5-36EE-19C6-F1753D029AB1}"/>
              </a:ext>
            </a:extLst>
          </p:cNvPr>
          <p:cNvSpPr/>
          <p:nvPr/>
        </p:nvSpPr>
        <p:spPr>
          <a:xfrm>
            <a:off x="7898860" y="2121533"/>
            <a:ext cx="1549940" cy="5203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endParaRPr lang="en-IL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BFCE49D-E939-77AE-DAEF-BD721C561EAD}"/>
              </a:ext>
            </a:extLst>
          </p:cNvPr>
          <p:cNvCxnSpPr>
            <a:endCxn id="27" idx="1"/>
          </p:cNvCxnSpPr>
          <p:nvPr/>
        </p:nvCxnSpPr>
        <p:spPr>
          <a:xfrm flipV="1">
            <a:off x="7334656" y="2381689"/>
            <a:ext cx="564204" cy="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55A6F21-69F9-99E8-EFB5-5737F8E3F82E}"/>
              </a:ext>
            </a:extLst>
          </p:cNvPr>
          <p:cNvCxnSpPr/>
          <p:nvPr/>
        </p:nvCxnSpPr>
        <p:spPr>
          <a:xfrm>
            <a:off x="3052861" y="2641845"/>
            <a:ext cx="945207" cy="50991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E82AF1D-B0D2-2645-B58D-9AE4E9CB0FD6}"/>
              </a:ext>
            </a:extLst>
          </p:cNvPr>
          <p:cNvSpPr txBox="1"/>
          <p:nvPr/>
        </p:nvSpPr>
        <p:spPr>
          <a:xfrm>
            <a:off x="2523709" y="2345411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PCIe link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33078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48306-DB5A-F588-9D39-E417CC776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2BAA4-B4FA-C7AD-13F2-55646B858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topology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3671A-1467-78A6-EAB6-6E41B90B3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4890E-522A-4851-AF78-4633C6CE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DB200B-56AB-6B40-15FF-E78F15BAB4AB}"/>
              </a:ext>
            </a:extLst>
          </p:cNvPr>
          <p:cNvGrpSpPr/>
          <p:nvPr/>
        </p:nvGrpSpPr>
        <p:grpSpPr>
          <a:xfrm>
            <a:off x="5048656" y="1825625"/>
            <a:ext cx="2286000" cy="1112129"/>
            <a:chOff x="5048656" y="1825625"/>
            <a:chExt cx="2286000" cy="11121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98488C-3A6E-4FE3-D4E2-517FA6D9D5C6}"/>
                </a:ext>
              </a:extLst>
            </p:cNvPr>
            <p:cNvSpPr/>
            <p:nvPr/>
          </p:nvSpPr>
          <p:spPr>
            <a:xfrm>
              <a:off x="5048656" y="1825625"/>
              <a:ext cx="2286000" cy="11121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CPU</a:t>
              </a:r>
              <a:endParaRPr lang="en-IL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BED426-B6E9-8958-EF62-B8893F08E785}"/>
                </a:ext>
              </a:extLst>
            </p:cNvPr>
            <p:cNvSpPr/>
            <p:nvPr/>
          </p:nvSpPr>
          <p:spPr>
            <a:xfrm>
              <a:off x="5048656" y="2572848"/>
              <a:ext cx="2286000" cy="345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PCIe Root Complex</a:t>
              </a:r>
              <a:endParaRPr lang="en-IL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9A77200-3AD3-D0D0-5327-6C7CFF7A01E5}"/>
              </a:ext>
            </a:extLst>
          </p:cNvPr>
          <p:cNvSpPr/>
          <p:nvPr/>
        </p:nvSpPr>
        <p:spPr>
          <a:xfrm>
            <a:off x="3052861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180BEF-B0DA-9E6E-5C38-0E717D8ED82D}"/>
              </a:ext>
            </a:extLst>
          </p:cNvPr>
          <p:cNvSpPr/>
          <p:nvPr/>
        </p:nvSpPr>
        <p:spPr>
          <a:xfrm>
            <a:off x="4325563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86E886-B4E1-6EA3-F5D2-046C42447B21}"/>
              </a:ext>
            </a:extLst>
          </p:cNvPr>
          <p:cNvSpPr/>
          <p:nvPr/>
        </p:nvSpPr>
        <p:spPr>
          <a:xfrm>
            <a:off x="5598265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C7D57A-2885-9382-0ABF-88B8C2CB8C48}"/>
              </a:ext>
            </a:extLst>
          </p:cNvPr>
          <p:cNvCxnSpPr>
            <a:stCxn id="7" idx="0"/>
          </p:cNvCxnSpPr>
          <p:nvPr/>
        </p:nvCxnSpPr>
        <p:spPr>
          <a:xfrm flipV="1">
            <a:off x="3636520" y="2937754"/>
            <a:ext cx="1528867" cy="500974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FB9637-84DF-4222-EB47-87D80B2B192E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4909222" y="2918180"/>
            <a:ext cx="583659" cy="52054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0BE664-DF25-84ED-71C5-8A85852B3234}"/>
              </a:ext>
            </a:extLst>
          </p:cNvPr>
          <p:cNvCxnSpPr>
            <a:cxnSpLocks/>
          </p:cNvCxnSpPr>
          <p:nvPr/>
        </p:nvCxnSpPr>
        <p:spPr>
          <a:xfrm flipH="1" flipV="1">
            <a:off x="5671226" y="2937754"/>
            <a:ext cx="405314" cy="49611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89C2D38-9926-AE1D-F147-6068CB65D42F}"/>
              </a:ext>
            </a:extLst>
          </p:cNvPr>
          <p:cNvSpPr/>
          <p:nvPr/>
        </p:nvSpPr>
        <p:spPr>
          <a:xfrm>
            <a:off x="5860920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29609E-B395-ADEC-95C5-BE1F97C8453F}"/>
              </a:ext>
            </a:extLst>
          </p:cNvPr>
          <p:cNvSpPr/>
          <p:nvPr/>
        </p:nvSpPr>
        <p:spPr>
          <a:xfrm>
            <a:off x="7133622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C1F844-4085-A5D1-3DD4-FAAFAC8422E8}"/>
              </a:ext>
            </a:extLst>
          </p:cNvPr>
          <p:cNvSpPr/>
          <p:nvPr/>
        </p:nvSpPr>
        <p:spPr>
          <a:xfrm>
            <a:off x="8406324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A5E9E81-2E0B-8087-583A-A7143B5C5473}"/>
              </a:ext>
            </a:extLst>
          </p:cNvPr>
          <p:cNvCxnSpPr>
            <a:cxnSpLocks/>
            <a:stCxn id="8" idx="0"/>
            <a:endCxn id="20" idx="2"/>
          </p:cNvCxnSpPr>
          <p:nvPr/>
        </p:nvCxnSpPr>
        <p:spPr>
          <a:xfrm flipV="1">
            <a:off x="6444579" y="4372700"/>
            <a:ext cx="804963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0650FF-D89A-6AF4-8D0A-D9A02E5B11FE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717281" y="4372700"/>
            <a:ext cx="0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5A1991-A5B5-98DC-1EE9-03EA3613F4F9}"/>
              </a:ext>
            </a:extLst>
          </p:cNvPr>
          <p:cNvCxnSpPr>
            <a:cxnSpLocks/>
            <a:stCxn id="13" idx="0"/>
            <a:endCxn id="20" idx="1"/>
          </p:cNvCxnSpPr>
          <p:nvPr/>
        </p:nvCxnSpPr>
        <p:spPr>
          <a:xfrm flipH="1" flipV="1">
            <a:off x="8073155" y="4372700"/>
            <a:ext cx="916828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Hexagon 19">
            <a:extLst>
              <a:ext uri="{FF2B5EF4-FFF2-40B4-BE49-F238E27FC236}">
                <a16:creationId xmlns:a16="http://schemas.microsoft.com/office/drawing/2014/main" id="{B2588859-8B80-AD00-78AD-0F2222ED5971}"/>
              </a:ext>
            </a:extLst>
          </p:cNvPr>
          <p:cNvSpPr/>
          <p:nvPr/>
        </p:nvSpPr>
        <p:spPr>
          <a:xfrm>
            <a:off x="7028238" y="3487483"/>
            <a:ext cx="1266221" cy="885217"/>
          </a:xfrm>
          <a:prstGeom prst="hex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</a:t>
            </a:r>
            <a:br>
              <a:rPr lang="en-US" dirty="0"/>
            </a:br>
            <a:r>
              <a:rPr lang="en-US" dirty="0"/>
              <a:t>Switch</a:t>
            </a:r>
            <a:endParaRPr lang="en-IL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A86E47-F97C-809D-CD8B-77B7AD33F832}"/>
              </a:ext>
            </a:extLst>
          </p:cNvPr>
          <p:cNvCxnSpPr>
            <a:cxnSpLocks/>
          </p:cNvCxnSpPr>
          <p:nvPr/>
        </p:nvCxnSpPr>
        <p:spPr>
          <a:xfrm flipH="1" flipV="1">
            <a:off x="7201711" y="2898206"/>
            <a:ext cx="459637" cy="60885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35707AD-555E-A8E8-EADC-94A11D9B050E}"/>
              </a:ext>
            </a:extLst>
          </p:cNvPr>
          <p:cNvSpPr/>
          <p:nvPr/>
        </p:nvSpPr>
        <p:spPr>
          <a:xfrm>
            <a:off x="7898860" y="2121533"/>
            <a:ext cx="1549940" cy="5203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endParaRPr lang="en-IL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92797D6-D6AD-DF6E-59DE-1F6AAAA1ABA0}"/>
              </a:ext>
            </a:extLst>
          </p:cNvPr>
          <p:cNvCxnSpPr>
            <a:endCxn id="27" idx="1"/>
          </p:cNvCxnSpPr>
          <p:nvPr/>
        </p:nvCxnSpPr>
        <p:spPr>
          <a:xfrm flipV="1">
            <a:off x="7334656" y="2381689"/>
            <a:ext cx="564204" cy="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CD062D5-37B7-FBA9-57BB-909FB9EC6E7B}"/>
              </a:ext>
            </a:extLst>
          </p:cNvPr>
          <p:cNvCxnSpPr>
            <a:cxnSpLocks/>
          </p:cNvCxnSpPr>
          <p:nvPr/>
        </p:nvCxnSpPr>
        <p:spPr>
          <a:xfrm>
            <a:off x="3052861" y="2641845"/>
            <a:ext cx="529151" cy="27633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C5C87BB-305B-7AEB-4846-6C02D0DB1EFB}"/>
              </a:ext>
            </a:extLst>
          </p:cNvPr>
          <p:cNvSpPr txBox="1"/>
          <p:nvPr/>
        </p:nvSpPr>
        <p:spPr>
          <a:xfrm>
            <a:off x="2523709" y="234541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  <a:endParaRPr lang="en-IL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1A17DB9-9340-4BE5-6F2B-62EDF3B404D3}"/>
              </a:ext>
            </a:extLst>
          </p:cNvPr>
          <p:cNvSpPr/>
          <p:nvPr/>
        </p:nvSpPr>
        <p:spPr>
          <a:xfrm>
            <a:off x="3317436" y="2830632"/>
            <a:ext cx="4756023" cy="3057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b="1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23E9722-6DC3-453A-F817-8DBEA8B5018B}"/>
              </a:ext>
            </a:extLst>
          </p:cNvPr>
          <p:cNvSpPr/>
          <p:nvPr/>
        </p:nvSpPr>
        <p:spPr>
          <a:xfrm>
            <a:off x="6707626" y="4243144"/>
            <a:ext cx="1966204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b="1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5A8349D-600E-DE4E-9EFE-1C6641C0F3A7}"/>
              </a:ext>
            </a:extLst>
          </p:cNvPr>
          <p:cNvCxnSpPr>
            <a:cxnSpLocks/>
            <a:stCxn id="30" idx="3"/>
            <a:endCxn id="26" idx="2"/>
          </p:cNvCxnSpPr>
          <p:nvPr/>
        </p:nvCxnSpPr>
        <p:spPr>
          <a:xfrm>
            <a:off x="6082377" y="4365496"/>
            <a:ext cx="625249" cy="6231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864BA34-7D14-9F7A-04E9-4F4D3703B0B4}"/>
              </a:ext>
            </a:extLst>
          </p:cNvPr>
          <p:cNvSpPr txBox="1"/>
          <p:nvPr/>
        </p:nvSpPr>
        <p:spPr>
          <a:xfrm>
            <a:off x="5517799" y="418083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87010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37B1-A8CD-1590-FCB5-DD02F434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enumeration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99C74-E5B1-6FD4-92F5-16305C3EA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boot time, the root complex enumerates the network</a:t>
            </a:r>
          </a:p>
          <a:p>
            <a:pPr lvl="1"/>
            <a:r>
              <a:rPr lang="en-US" dirty="0"/>
              <a:t>Checks endpoint configuration space</a:t>
            </a:r>
          </a:p>
          <a:p>
            <a:pPr lvl="1"/>
            <a:r>
              <a:rPr lang="en-US" dirty="0"/>
              <a:t>Read device vendor, type, class</a:t>
            </a:r>
          </a:p>
          <a:p>
            <a:pPr lvl="1"/>
            <a:r>
              <a:rPr lang="en-US" dirty="0"/>
              <a:t>Assigns configuration parameters to each endpoint</a:t>
            </a:r>
          </a:p>
          <a:p>
            <a:pPr lvl="1"/>
            <a:r>
              <a:rPr lang="en-US" dirty="0"/>
              <a:t>Negotiates speed with each device</a:t>
            </a:r>
          </a:p>
          <a:p>
            <a:pPr lvl="1"/>
            <a:r>
              <a:rPr lang="en-US" dirty="0"/>
              <a:t>Assigns bus numbers </a:t>
            </a:r>
          </a:p>
          <a:p>
            <a:pPr lvl="1"/>
            <a:endParaRPr lang="en-US" dirty="0"/>
          </a:p>
          <a:p>
            <a:r>
              <a:rPr lang="en-US" dirty="0"/>
              <a:t>Typically executed by the BIOS, and device map passed to the OS</a:t>
            </a:r>
          </a:p>
          <a:p>
            <a:pPr lvl="1"/>
            <a:r>
              <a:rPr lang="en-US" dirty="0"/>
              <a:t>OS can also redo the enumeration if BIOS allows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A1EE9-4CAC-3D64-5136-DC2A33DDF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518B2-83F9-8967-97F5-6C4041538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78711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AC584-105A-7C0A-132E-1D840E92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329D9-A381-551C-241D-0FAE85222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topology after enumeration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CE049-2E53-8029-D6EC-7788061BA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C1ECCD-0B8F-2036-F71A-5B9C45EB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35BE75-4475-20CE-C4E6-8A8095BB9C8E}"/>
              </a:ext>
            </a:extLst>
          </p:cNvPr>
          <p:cNvGrpSpPr/>
          <p:nvPr/>
        </p:nvGrpSpPr>
        <p:grpSpPr>
          <a:xfrm>
            <a:off x="5048656" y="1825625"/>
            <a:ext cx="2286000" cy="1112129"/>
            <a:chOff x="5048656" y="1825625"/>
            <a:chExt cx="2286000" cy="11121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FF915F-2C8D-AFCA-F7E7-28D2C1265ECA}"/>
                </a:ext>
              </a:extLst>
            </p:cNvPr>
            <p:cNvSpPr/>
            <p:nvPr/>
          </p:nvSpPr>
          <p:spPr>
            <a:xfrm>
              <a:off x="5048656" y="1825625"/>
              <a:ext cx="2286000" cy="11121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CPU</a:t>
              </a:r>
              <a:endParaRPr lang="en-IL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06F380-3B85-8EFD-0D08-B01E3C9F8E16}"/>
                </a:ext>
              </a:extLst>
            </p:cNvPr>
            <p:cNvSpPr/>
            <p:nvPr/>
          </p:nvSpPr>
          <p:spPr>
            <a:xfrm>
              <a:off x="5048656" y="2572848"/>
              <a:ext cx="2286000" cy="345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PCIe Root Complex</a:t>
              </a:r>
              <a:endParaRPr lang="en-IL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A23A9BA5-E7F4-F1B3-574E-770F37BD2D3A}"/>
              </a:ext>
            </a:extLst>
          </p:cNvPr>
          <p:cNvSpPr/>
          <p:nvPr/>
        </p:nvSpPr>
        <p:spPr>
          <a:xfrm>
            <a:off x="3052861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73D487-740D-5C75-E0A3-0BAF8659C460}"/>
              </a:ext>
            </a:extLst>
          </p:cNvPr>
          <p:cNvSpPr/>
          <p:nvPr/>
        </p:nvSpPr>
        <p:spPr>
          <a:xfrm>
            <a:off x="4325563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B569DD-40ED-FA00-84E6-21DD1ACDAECC}"/>
              </a:ext>
            </a:extLst>
          </p:cNvPr>
          <p:cNvSpPr/>
          <p:nvPr/>
        </p:nvSpPr>
        <p:spPr>
          <a:xfrm>
            <a:off x="5598265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FAA686-2D33-8D8E-C7FB-93ADA72A6191}"/>
              </a:ext>
            </a:extLst>
          </p:cNvPr>
          <p:cNvCxnSpPr>
            <a:stCxn id="7" idx="0"/>
          </p:cNvCxnSpPr>
          <p:nvPr/>
        </p:nvCxnSpPr>
        <p:spPr>
          <a:xfrm flipV="1">
            <a:off x="3636520" y="2937754"/>
            <a:ext cx="1528867" cy="500974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E14651-FA4B-5ED2-B8D3-00EAC8AEB7C7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4909222" y="2918180"/>
            <a:ext cx="583659" cy="52054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9A3A45-20D1-CDD4-8BA7-3048018EC75B}"/>
              </a:ext>
            </a:extLst>
          </p:cNvPr>
          <p:cNvCxnSpPr>
            <a:cxnSpLocks/>
          </p:cNvCxnSpPr>
          <p:nvPr/>
        </p:nvCxnSpPr>
        <p:spPr>
          <a:xfrm flipH="1" flipV="1">
            <a:off x="5671226" y="2937754"/>
            <a:ext cx="405314" cy="49611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1B3B9F2-1FBF-1295-4BF3-57CC0664FD6B}"/>
              </a:ext>
            </a:extLst>
          </p:cNvPr>
          <p:cNvSpPr/>
          <p:nvPr/>
        </p:nvSpPr>
        <p:spPr>
          <a:xfrm>
            <a:off x="5860920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8D9642-27DE-CA8D-BF41-BDD0F4124578}"/>
              </a:ext>
            </a:extLst>
          </p:cNvPr>
          <p:cNvSpPr/>
          <p:nvPr/>
        </p:nvSpPr>
        <p:spPr>
          <a:xfrm>
            <a:off x="7133622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90673E-6AC2-A507-B146-140CA68E57D5}"/>
              </a:ext>
            </a:extLst>
          </p:cNvPr>
          <p:cNvSpPr/>
          <p:nvPr/>
        </p:nvSpPr>
        <p:spPr>
          <a:xfrm>
            <a:off x="8406324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27B037-FEEF-EBB4-3D1A-17E80AC183D6}"/>
              </a:ext>
            </a:extLst>
          </p:cNvPr>
          <p:cNvCxnSpPr>
            <a:cxnSpLocks/>
            <a:stCxn id="8" idx="0"/>
            <a:endCxn id="20" idx="2"/>
          </p:cNvCxnSpPr>
          <p:nvPr/>
        </p:nvCxnSpPr>
        <p:spPr>
          <a:xfrm flipV="1">
            <a:off x="6444579" y="4372700"/>
            <a:ext cx="804963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C03A0-7F94-3036-6FB0-2D5982B11B2A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717281" y="4372700"/>
            <a:ext cx="0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6DE203-8ED8-74BB-6101-4B6FE0718C74}"/>
              </a:ext>
            </a:extLst>
          </p:cNvPr>
          <p:cNvCxnSpPr>
            <a:cxnSpLocks/>
            <a:stCxn id="13" idx="0"/>
            <a:endCxn id="20" idx="1"/>
          </p:cNvCxnSpPr>
          <p:nvPr/>
        </p:nvCxnSpPr>
        <p:spPr>
          <a:xfrm flipH="1" flipV="1">
            <a:off x="8073155" y="4372700"/>
            <a:ext cx="916828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Hexagon 19">
            <a:extLst>
              <a:ext uri="{FF2B5EF4-FFF2-40B4-BE49-F238E27FC236}">
                <a16:creationId xmlns:a16="http://schemas.microsoft.com/office/drawing/2014/main" id="{C94D7576-13AD-8B6C-C1AA-931306B13D26}"/>
              </a:ext>
            </a:extLst>
          </p:cNvPr>
          <p:cNvSpPr/>
          <p:nvPr/>
        </p:nvSpPr>
        <p:spPr>
          <a:xfrm>
            <a:off x="7028238" y="3487483"/>
            <a:ext cx="1266221" cy="885217"/>
          </a:xfrm>
          <a:prstGeom prst="hex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</a:t>
            </a:r>
            <a:br>
              <a:rPr lang="en-US" dirty="0"/>
            </a:br>
            <a:r>
              <a:rPr lang="en-US" dirty="0"/>
              <a:t>Switch</a:t>
            </a:r>
            <a:endParaRPr lang="en-IL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6E052D-7739-F19F-9121-03628FC1CBA3}"/>
              </a:ext>
            </a:extLst>
          </p:cNvPr>
          <p:cNvCxnSpPr>
            <a:cxnSpLocks/>
          </p:cNvCxnSpPr>
          <p:nvPr/>
        </p:nvCxnSpPr>
        <p:spPr>
          <a:xfrm flipH="1" flipV="1">
            <a:off x="7201711" y="2898206"/>
            <a:ext cx="459637" cy="60885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DBABCE1-1584-4878-AFFD-CD8CD31808EB}"/>
              </a:ext>
            </a:extLst>
          </p:cNvPr>
          <p:cNvSpPr/>
          <p:nvPr/>
        </p:nvSpPr>
        <p:spPr>
          <a:xfrm>
            <a:off x="7898860" y="2121533"/>
            <a:ext cx="1549940" cy="5203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endParaRPr lang="en-IL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0E5FA96-0E24-C7D5-0C79-96F39DEC5081}"/>
              </a:ext>
            </a:extLst>
          </p:cNvPr>
          <p:cNvCxnSpPr>
            <a:endCxn id="27" idx="1"/>
          </p:cNvCxnSpPr>
          <p:nvPr/>
        </p:nvCxnSpPr>
        <p:spPr>
          <a:xfrm flipV="1">
            <a:off x="7334656" y="2381689"/>
            <a:ext cx="564204" cy="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D59328-59F0-126D-45D6-FA385EBD6911}"/>
              </a:ext>
            </a:extLst>
          </p:cNvPr>
          <p:cNvCxnSpPr>
            <a:cxnSpLocks/>
          </p:cNvCxnSpPr>
          <p:nvPr/>
        </p:nvCxnSpPr>
        <p:spPr>
          <a:xfrm>
            <a:off x="3052861" y="2641845"/>
            <a:ext cx="529151" cy="27633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89847EA-2C87-0B66-813F-B8324CDC2924}"/>
              </a:ext>
            </a:extLst>
          </p:cNvPr>
          <p:cNvSpPr txBox="1"/>
          <p:nvPr/>
        </p:nvSpPr>
        <p:spPr>
          <a:xfrm>
            <a:off x="2523709" y="2345411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</a:t>
            </a:r>
            <a:r>
              <a:rPr lang="en-US" b="1" dirty="0"/>
              <a:t>0x1</a:t>
            </a:r>
            <a:endParaRPr lang="en-IL" b="1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E43A34E-DA18-E113-DC00-FA1EF27380D4}"/>
              </a:ext>
            </a:extLst>
          </p:cNvPr>
          <p:cNvSpPr/>
          <p:nvPr/>
        </p:nvSpPr>
        <p:spPr>
          <a:xfrm>
            <a:off x="3317436" y="2830632"/>
            <a:ext cx="4756023" cy="3057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b="1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E58AD52-78EF-50BF-5CFF-1026528DEEBE}"/>
              </a:ext>
            </a:extLst>
          </p:cNvPr>
          <p:cNvSpPr/>
          <p:nvPr/>
        </p:nvSpPr>
        <p:spPr>
          <a:xfrm>
            <a:off x="6707626" y="4243144"/>
            <a:ext cx="1966204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b="1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643F382-C702-D093-E75E-F06E4F532D14}"/>
              </a:ext>
            </a:extLst>
          </p:cNvPr>
          <p:cNvCxnSpPr>
            <a:cxnSpLocks/>
            <a:stCxn id="30" idx="3"/>
            <a:endCxn id="26" idx="2"/>
          </p:cNvCxnSpPr>
          <p:nvPr/>
        </p:nvCxnSpPr>
        <p:spPr>
          <a:xfrm flipV="1">
            <a:off x="6485679" y="4427810"/>
            <a:ext cx="221947" cy="14100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A5363D1-CEB1-2A2F-8503-E98282E16F76}"/>
              </a:ext>
            </a:extLst>
          </p:cNvPr>
          <p:cNvSpPr txBox="1"/>
          <p:nvPr/>
        </p:nvSpPr>
        <p:spPr>
          <a:xfrm>
            <a:off x="5513938" y="4384153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</a:t>
            </a:r>
            <a:r>
              <a:rPr lang="en-US" b="1" dirty="0"/>
              <a:t>0x2</a:t>
            </a:r>
            <a:endParaRPr lang="en-IL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B4C347-F303-40F7-2487-CCF3671F688F}"/>
              </a:ext>
            </a:extLst>
          </p:cNvPr>
          <p:cNvSpPr txBox="1"/>
          <p:nvPr/>
        </p:nvSpPr>
        <p:spPr>
          <a:xfrm>
            <a:off x="3376027" y="4014821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0x1</a:t>
            </a:r>
            <a:endParaRPr lang="en-IL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2F11D1-4DE8-450D-38E5-EE8F137DE3ED}"/>
              </a:ext>
            </a:extLst>
          </p:cNvPr>
          <p:cNvSpPr txBox="1"/>
          <p:nvPr/>
        </p:nvSpPr>
        <p:spPr>
          <a:xfrm>
            <a:off x="4687918" y="4024938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0x2</a:t>
            </a:r>
            <a:endParaRPr lang="en-IL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F7E392-059C-E9F8-DAF3-A18A4FFDDE05}"/>
              </a:ext>
            </a:extLst>
          </p:cNvPr>
          <p:cNvSpPr txBox="1"/>
          <p:nvPr/>
        </p:nvSpPr>
        <p:spPr>
          <a:xfrm>
            <a:off x="5899237" y="4009885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0x3</a:t>
            </a:r>
            <a:endParaRPr lang="en-IL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F97C69-B31A-D877-29A0-908E693DBFB2}"/>
              </a:ext>
            </a:extLst>
          </p:cNvPr>
          <p:cNvSpPr txBox="1"/>
          <p:nvPr/>
        </p:nvSpPr>
        <p:spPr>
          <a:xfrm>
            <a:off x="6215922" y="5631716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0x1</a:t>
            </a:r>
            <a:endParaRPr lang="en-IL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35335F-0591-2B04-B623-5F87E0180408}"/>
              </a:ext>
            </a:extLst>
          </p:cNvPr>
          <p:cNvSpPr txBox="1"/>
          <p:nvPr/>
        </p:nvSpPr>
        <p:spPr>
          <a:xfrm>
            <a:off x="7527813" y="5641833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0x2</a:t>
            </a:r>
            <a:endParaRPr lang="en-IL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7F169E-0B60-8AF8-2B9E-F30C9A727D76}"/>
              </a:ext>
            </a:extLst>
          </p:cNvPr>
          <p:cNvSpPr txBox="1"/>
          <p:nvPr/>
        </p:nvSpPr>
        <p:spPr>
          <a:xfrm>
            <a:off x="8739132" y="5626780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0x3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2359719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4D56-0D77-B54B-F1B3-4500ED03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936EB-7BCD-A384-82D0-49999DD6A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addressing: </a:t>
            </a:r>
            <a:r>
              <a:rPr lang="en-US" dirty="0" err="1"/>
              <a:t>Bus:Device.Function</a:t>
            </a:r>
            <a:r>
              <a:rPr lang="en-US" dirty="0"/>
              <a:t> (BDF)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3A12-841E-5681-6E3E-94A4A13D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7EA0A-9AEB-2024-A025-4D5FB634F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C06364-3092-8C0E-4455-3161357713C3}"/>
              </a:ext>
            </a:extLst>
          </p:cNvPr>
          <p:cNvGrpSpPr/>
          <p:nvPr/>
        </p:nvGrpSpPr>
        <p:grpSpPr>
          <a:xfrm>
            <a:off x="5048656" y="1825625"/>
            <a:ext cx="2286000" cy="1112129"/>
            <a:chOff x="5048656" y="1825625"/>
            <a:chExt cx="2286000" cy="11121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8EF2D7-1BDF-AEFF-2DF0-89C449EE6FA6}"/>
                </a:ext>
              </a:extLst>
            </p:cNvPr>
            <p:cNvSpPr/>
            <p:nvPr/>
          </p:nvSpPr>
          <p:spPr>
            <a:xfrm>
              <a:off x="5048656" y="1825625"/>
              <a:ext cx="2286000" cy="11121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CPU</a:t>
              </a:r>
              <a:endParaRPr lang="en-IL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EC35541-16EA-CFAB-4D42-0BF817A64665}"/>
                </a:ext>
              </a:extLst>
            </p:cNvPr>
            <p:cNvSpPr/>
            <p:nvPr/>
          </p:nvSpPr>
          <p:spPr>
            <a:xfrm>
              <a:off x="5048656" y="2572848"/>
              <a:ext cx="2286000" cy="345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PCIe Root Complex</a:t>
              </a:r>
              <a:endParaRPr lang="en-IL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A41D397B-ADE5-0199-1E5F-9FEF62400EBC}"/>
              </a:ext>
            </a:extLst>
          </p:cNvPr>
          <p:cNvSpPr/>
          <p:nvPr/>
        </p:nvSpPr>
        <p:spPr>
          <a:xfrm>
            <a:off x="3052861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B52B6D-B3B7-A93D-479A-2AFC7F113A70}"/>
              </a:ext>
            </a:extLst>
          </p:cNvPr>
          <p:cNvSpPr/>
          <p:nvPr/>
        </p:nvSpPr>
        <p:spPr>
          <a:xfrm>
            <a:off x="4325563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A10E41-6737-C32A-11DC-65AC59B09CF2}"/>
              </a:ext>
            </a:extLst>
          </p:cNvPr>
          <p:cNvSpPr/>
          <p:nvPr/>
        </p:nvSpPr>
        <p:spPr>
          <a:xfrm>
            <a:off x="5598265" y="343872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6B6807-189E-D752-DAC2-4A915620E247}"/>
              </a:ext>
            </a:extLst>
          </p:cNvPr>
          <p:cNvCxnSpPr>
            <a:stCxn id="7" idx="0"/>
          </p:cNvCxnSpPr>
          <p:nvPr/>
        </p:nvCxnSpPr>
        <p:spPr>
          <a:xfrm flipV="1">
            <a:off x="3636520" y="2937754"/>
            <a:ext cx="1528867" cy="500974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D4B579E-43E8-7ED8-B211-0B80213D50EA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4909222" y="2918180"/>
            <a:ext cx="583659" cy="52054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E146DB-04F4-24BA-C598-8CBA17706374}"/>
              </a:ext>
            </a:extLst>
          </p:cNvPr>
          <p:cNvCxnSpPr>
            <a:cxnSpLocks/>
          </p:cNvCxnSpPr>
          <p:nvPr/>
        </p:nvCxnSpPr>
        <p:spPr>
          <a:xfrm flipH="1" flipV="1">
            <a:off x="5671226" y="2937754"/>
            <a:ext cx="405314" cy="49611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5EC9244-1729-BA65-0333-5307230F6BF9}"/>
              </a:ext>
            </a:extLst>
          </p:cNvPr>
          <p:cNvSpPr/>
          <p:nvPr/>
        </p:nvSpPr>
        <p:spPr>
          <a:xfrm>
            <a:off x="5860920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69C7D2-FB12-3080-FF66-619F382AFDEB}"/>
              </a:ext>
            </a:extLst>
          </p:cNvPr>
          <p:cNvSpPr/>
          <p:nvPr/>
        </p:nvSpPr>
        <p:spPr>
          <a:xfrm>
            <a:off x="7133622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93D309-994D-9121-B8C7-606ADB0554B9}"/>
              </a:ext>
            </a:extLst>
          </p:cNvPr>
          <p:cNvSpPr/>
          <p:nvPr/>
        </p:nvSpPr>
        <p:spPr>
          <a:xfrm>
            <a:off x="8406324" y="5060008"/>
            <a:ext cx="1167318" cy="6175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 Endpoint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AA3F33A-79EB-B906-757F-A2FBDA852DF2}"/>
              </a:ext>
            </a:extLst>
          </p:cNvPr>
          <p:cNvCxnSpPr>
            <a:cxnSpLocks/>
            <a:stCxn id="8" idx="0"/>
            <a:endCxn id="20" idx="2"/>
          </p:cNvCxnSpPr>
          <p:nvPr/>
        </p:nvCxnSpPr>
        <p:spPr>
          <a:xfrm flipV="1">
            <a:off x="6444579" y="4372700"/>
            <a:ext cx="804963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A75CC2-DD80-6999-ECEF-B4FA46C60130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717281" y="4372700"/>
            <a:ext cx="0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59CB17-1A76-7B37-C78A-1332EB9BEBE6}"/>
              </a:ext>
            </a:extLst>
          </p:cNvPr>
          <p:cNvCxnSpPr>
            <a:cxnSpLocks/>
            <a:stCxn id="13" idx="0"/>
            <a:endCxn id="20" idx="1"/>
          </p:cNvCxnSpPr>
          <p:nvPr/>
        </p:nvCxnSpPr>
        <p:spPr>
          <a:xfrm flipH="1" flipV="1">
            <a:off x="8073155" y="4372700"/>
            <a:ext cx="916828" cy="68730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Hexagon 19">
            <a:extLst>
              <a:ext uri="{FF2B5EF4-FFF2-40B4-BE49-F238E27FC236}">
                <a16:creationId xmlns:a16="http://schemas.microsoft.com/office/drawing/2014/main" id="{06F057A1-CBAD-9475-340C-6ABE6C78C1C6}"/>
              </a:ext>
            </a:extLst>
          </p:cNvPr>
          <p:cNvSpPr/>
          <p:nvPr/>
        </p:nvSpPr>
        <p:spPr>
          <a:xfrm>
            <a:off x="7028238" y="3487483"/>
            <a:ext cx="1266221" cy="885217"/>
          </a:xfrm>
          <a:prstGeom prst="hex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</a:t>
            </a:r>
            <a:br>
              <a:rPr lang="en-US" dirty="0"/>
            </a:br>
            <a:r>
              <a:rPr lang="en-US" dirty="0"/>
              <a:t>Switch</a:t>
            </a:r>
            <a:endParaRPr lang="en-IL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CDBA5C-7B4B-95CF-E874-FE9CFDE13C8B}"/>
              </a:ext>
            </a:extLst>
          </p:cNvPr>
          <p:cNvCxnSpPr>
            <a:cxnSpLocks/>
          </p:cNvCxnSpPr>
          <p:nvPr/>
        </p:nvCxnSpPr>
        <p:spPr>
          <a:xfrm flipH="1" flipV="1">
            <a:off x="7201711" y="2898206"/>
            <a:ext cx="459637" cy="60885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778E4F7-8073-F732-1011-06E1755A6F30}"/>
              </a:ext>
            </a:extLst>
          </p:cNvPr>
          <p:cNvSpPr/>
          <p:nvPr/>
        </p:nvSpPr>
        <p:spPr>
          <a:xfrm>
            <a:off x="7898860" y="2121533"/>
            <a:ext cx="1549940" cy="5203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endParaRPr lang="en-IL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4439CCF-1478-3DA5-4368-774E6D03BF48}"/>
              </a:ext>
            </a:extLst>
          </p:cNvPr>
          <p:cNvCxnSpPr>
            <a:endCxn id="27" idx="1"/>
          </p:cNvCxnSpPr>
          <p:nvPr/>
        </p:nvCxnSpPr>
        <p:spPr>
          <a:xfrm flipV="1">
            <a:off x="7334656" y="2381689"/>
            <a:ext cx="564204" cy="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4CF3155-2513-2433-5C94-7098EAC8C660}"/>
              </a:ext>
            </a:extLst>
          </p:cNvPr>
          <p:cNvCxnSpPr>
            <a:cxnSpLocks/>
          </p:cNvCxnSpPr>
          <p:nvPr/>
        </p:nvCxnSpPr>
        <p:spPr>
          <a:xfrm>
            <a:off x="3052861" y="2641845"/>
            <a:ext cx="529151" cy="27633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B60DDDC-2286-C4A3-9005-A280D335664F}"/>
              </a:ext>
            </a:extLst>
          </p:cNvPr>
          <p:cNvSpPr txBox="1"/>
          <p:nvPr/>
        </p:nvSpPr>
        <p:spPr>
          <a:xfrm>
            <a:off x="2523709" y="2345411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</a:t>
            </a:r>
            <a:r>
              <a:rPr lang="en-US" b="1" dirty="0"/>
              <a:t>0x1</a:t>
            </a:r>
            <a:endParaRPr lang="en-IL" b="1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EF69A1D-3AB3-2820-4BDB-5410CD4B387C}"/>
              </a:ext>
            </a:extLst>
          </p:cNvPr>
          <p:cNvSpPr/>
          <p:nvPr/>
        </p:nvSpPr>
        <p:spPr>
          <a:xfrm>
            <a:off x="3317436" y="2830632"/>
            <a:ext cx="4756023" cy="3057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b="1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0A889EB-0F93-B196-0605-F3062CA0D905}"/>
              </a:ext>
            </a:extLst>
          </p:cNvPr>
          <p:cNvSpPr/>
          <p:nvPr/>
        </p:nvSpPr>
        <p:spPr>
          <a:xfrm>
            <a:off x="6707626" y="4243144"/>
            <a:ext cx="1966204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b="1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F98391E-E425-FE54-C49E-67AD1DDE6F0D}"/>
              </a:ext>
            </a:extLst>
          </p:cNvPr>
          <p:cNvCxnSpPr>
            <a:cxnSpLocks/>
            <a:stCxn id="30" idx="3"/>
            <a:endCxn id="26" idx="2"/>
          </p:cNvCxnSpPr>
          <p:nvPr/>
        </p:nvCxnSpPr>
        <p:spPr>
          <a:xfrm flipV="1">
            <a:off x="6485679" y="4427810"/>
            <a:ext cx="221947" cy="14100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5572993-A8C7-5A63-5CE0-7554112A2471}"/>
              </a:ext>
            </a:extLst>
          </p:cNvPr>
          <p:cNvSpPr txBox="1"/>
          <p:nvPr/>
        </p:nvSpPr>
        <p:spPr>
          <a:xfrm>
            <a:off x="5513938" y="4384153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 </a:t>
            </a:r>
            <a:r>
              <a:rPr lang="en-US" b="1" dirty="0"/>
              <a:t>0x2</a:t>
            </a:r>
            <a:endParaRPr lang="en-IL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2A8A6A-EFC1-E135-71D3-E3929C943AAA}"/>
              </a:ext>
            </a:extLst>
          </p:cNvPr>
          <p:cNvSpPr txBox="1"/>
          <p:nvPr/>
        </p:nvSpPr>
        <p:spPr>
          <a:xfrm>
            <a:off x="3376027" y="4014821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0x1</a:t>
            </a:r>
            <a:endParaRPr lang="en-IL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19785C-EB0D-242F-5EE4-21707F8CA710}"/>
              </a:ext>
            </a:extLst>
          </p:cNvPr>
          <p:cNvSpPr txBox="1"/>
          <p:nvPr/>
        </p:nvSpPr>
        <p:spPr>
          <a:xfrm>
            <a:off x="4687918" y="4024938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0x2</a:t>
            </a:r>
            <a:endParaRPr lang="en-IL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F76A0B-2312-899D-F756-AAC41E2FACAA}"/>
              </a:ext>
            </a:extLst>
          </p:cNvPr>
          <p:cNvSpPr txBox="1"/>
          <p:nvPr/>
        </p:nvSpPr>
        <p:spPr>
          <a:xfrm>
            <a:off x="5899237" y="4009885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0x3</a:t>
            </a:r>
            <a:endParaRPr lang="en-IL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3EE911-4581-6515-4BC2-F449E3BF7EE1}"/>
              </a:ext>
            </a:extLst>
          </p:cNvPr>
          <p:cNvSpPr txBox="1"/>
          <p:nvPr/>
        </p:nvSpPr>
        <p:spPr>
          <a:xfrm>
            <a:off x="6215922" y="5631716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0x1</a:t>
            </a:r>
            <a:endParaRPr lang="en-IL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42F4B3-0880-8EC1-D944-D4531AE0CDAF}"/>
              </a:ext>
            </a:extLst>
          </p:cNvPr>
          <p:cNvSpPr txBox="1"/>
          <p:nvPr/>
        </p:nvSpPr>
        <p:spPr>
          <a:xfrm>
            <a:off x="7523083" y="5626780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0x2</a:t>
            </a:r>
            <a:endParaRPr lang="en-IL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210AC7-4C67-117C-039D-CD3E016BEFCD}"/>
              </a:ext>
            </a:extLst>
          </p:cNvPr>
          <p:cNvSpPr txBox="1"/>
          <p:nvPr/>
        </p:nvSpPr>
        <p:spPr>
          <a:xfrm>
            <a:off x="8739132" y="5626780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0x3</a:t>
            </a:r>
            <a:endParaRPr lang="en-IL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8CB635-08B7-C007-1A5E-0EC5846DE988}"/>
              </a:ext>
            </a:extLst>
          </p:cNvPr>
          <p:cNvSpPr txBox="1"/>
          <p:nvPr/>
        </p:nvSpPr>
        <p:spPr>
          <a:xfrm>
            <a:off x="500679" y="4498314"/>
            <a:ext cx="468987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device address is the ~path </a:t>
            </a:r>
            <a:br>
              <a:rPr lang="en-US" sz="2400" dirty="0"/>
            </a:br>
            <a:r>
              <a:rPr lang="en-US" sz="2400" dirty="0"/>
              <a:t>from the root to the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Known as BDF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L" sz="24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C0E14D-1A6E-2AE0-4B89-B43211A0FE84}"/>
              </a:ext>
            </a:extLst>
          </p:cNvPr>
          <p:cNvCxnSpPr>
            <a:cxnSpLocks/>
            <a:stCxn id="11" idx="0"/>
            <a:endCxn id="11" idx="2"/>
          </p:cNvCxnSpPr>
          <p:nvPr/>
        </p:nvCxnSpPr>
        <p:spPr>
          <a:xfrm>
            <a:off x="7717281" y="5060008"/>
            <a:ext cx="0" cy="617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C5A9AD4-019A-3783-71AC-7AFE1A75DC9B}"/>
              </a:ext>
            </a:extLst>
          </p:cNvPr>
          <p:cNvSpPr txBox="1"/>
          <p:nvPr/>
        </p:nvSpPr>
        <p:spPr>
          <a:xfrm>
            <a:off x="7053310" y="49765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  <a:endParaRPr lang="en-IL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136C4D-C178-4103-5603-2981CEFE57E0}"/>
              </a:ext>
            </a:extLst>
          </p:cNvPr>
          <p:cNvSpPr txBox="1"/>
          <p:nvPr/>
        </p:nvSpPr>
        <p:spPr>
          <a:xfrm>
            <a:off x="8073154" y="49765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en-IL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DA1A35-E616-37E9-EEDF-9051898AABF4}"/>
              </a:ext>
            </a:extLst>
          </p:cNvPr>
          <p:cNvSpPr txBox="1"/>
          <p:nvPr/>
        </p:nvSpPr>
        <p:spPr>
          <a:xfrm>
            <a:off x="8109315" y="6213775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BDF=2:2.1</a:t>
            </a:r>
            <a:endParaRPr lang="en-IL" b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420CE82-9469-FBFA-32AE-06B47860FB01}"/>
              </a:ext>
            </a:extLst>
          </p:cNvPr>
          <p:cNvCxnSpPr>
            <a:cxnSpLocks/>
          </p:cNvCxnSpPr>
          <p:nvPr/>
        </p:nvCxnSpPr>
        <p:spPr>
          <a:xfrm flipH="1" flipV="1">
            <a:off x="8227203" y="5766243"/>
            <a:ext cx="394065" cy="43967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75BEE19-C435-629E-D46C-4BF869C3DFE1}"/>
              </a:ext>
            </a:extLst>
          </p:cNvPr>
          <p:cNvSpPr txBox="1"/>
          <p:nvPr/>
        </p:nvSpPr>
        <p:spPr>
          <a:xfrm>
            <a:off x="5072520" y="6306104"/>
            <a:ext cx="124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BDF=1:2.0</a:t>
            </a:r>
            <a:endParaRPr lang="en-IL" b="1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A0CC2B0-8094-6355-1E22-69B0052B456A}"/>
              </a:ext>
            </a:extLst>
          </p:cNvPr>
          <p:cNvCxnSpPr>
            <a:cxnSpLocks/>
            <a:stCxn id="47" idx="0"/>
          </p:cNvCxnSpPr>
          <p:nvPr/>
        </p:nvCxnSpPr>
        <p:spPr>
          <a:xfrm flipH="1" flipV="1">
            <a:off x="5301649" y="4077698"/>
            <a:ext cx="393798" cy="222840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5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98A02-3832-A3E6-9453-1BD4621C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examples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DED32-DAD6-CE1A-770A-FE63A2714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95911-3F99-972D-4931-B1218981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E4167E-01A3-ECBC-8F4C-5F4A79D3A6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72255"/>
          <a:stretch/>
        </p:blipFill>
        <p:spPr>
          <a:xfrm>
            <a:off x="675050" y="3803477"/>
            <a:ext cx="5884284" cy="1728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B48181-1E05-AE02-3243-E671F18459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390"/>
          <a:stretch/>
        </p:blipFill>
        <p:spPr>
          <a:xfrm>
            <a:off x="675050" y="2063820"/>
            <a:ext cx="8156781" cy="654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3B3CD9-BCAC-246A-D8E0-DE4CC47995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" r="78486"/>
          <a:stretch/>
        </p:blipFill>
        <p:spPr>
          <a:xfrm>
            <a:off x="675051" y="2947198"/>
            <a:ext cx="5761534" cy="56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98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A3C27-B2CD-91FE-FDE7-4B2E85A4A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configuration space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F13CC-88D1-AFF5-D954-37EDA7A1F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Devices export their parameters through a configuration space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290C7-CD41-09B9-99A3-1DBDBD3E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7DE14-1F03-A0BC-B2DD-B0ABE698C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56BF8C-FE68-B0F9-65EC-5593DE804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23" y="2806870"/>
            <a:ext cx="11669754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565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B658-0E04-7577-388C-D4F24EB84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configuration space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8CFC9-44BA-9660-CAF4-426521788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Devices export their parameters through a configuration space</a:t>
            </a:r>
            <a:endParaRPr lang="en-IL" dirty="0"/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522C5-6764-D7A0-3DED-2C1970B3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64001-2E66-1C03-372B-C727E221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098293-4053-AA8F-9492-D53BEDD7B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12" y="2812654"/>
            <a:ext cx="11641175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63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3A07-B014-E808-14E2-EDDA5F059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configuration space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F6733-2AC9-9D2F-8C3C-7F049961E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Devices export their parameters through a configuration space</a:t>
            </a:r>
          </a:p>
          <a:p>
            <a:r>
              <a:rPr lang="en-US" dirty="0"/>
              <a:t>The root complex negotiates some parameters with devices</a:t>
            </a:r>
            <a:endParaRPr lang="en-IL" dirty="0"/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C20B6-9037-0FC5-C437-EF3B63321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EB3EE-E0A6-AD2D-E8DB-F27A3A2AD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02F120-D451-1FDE-9664-942C99B30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56" y="3138389"/>
            <a:ext cx="9764488" cy="28769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C8C8BC-D9F7-9E49-7A3D-AC29ACD2CBBA}"/>
              </a:ext>
            </a:extLst>
          </p:cNvPr>
          <p:cNvSpPr/>
          <p:nvPr/>
        </p:nvSpPr>
        <p:spPr>
          <a:xfrm>
            <a:off x="2023353" y="3404681"/>
            <a:ext cx="8560340" cy="10797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DA9EFB-EE9A-DEBB-9FA7-02F33F038F11}"/>
              </a:ext>
            </a:extLst>
          </p:cNvPr>
          <p:cNvSpPr/>
          <p:nvPr/>
        </p:nvSpPr>
        <p:spPr>
          <a:xfrm>
            <a:off x="2023353" y="4697213"/>
            <a:ext cx="8560340" cy="13181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8159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BEF6A-9174-CE4C-F8EC-F0BA933CD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8013-CDA6-2147-86CF-C3AFB6D9E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topology with multiple CPUs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A833C-7365-B08E-822B-BD52250A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37F70-18A0-F847-C9F7-347573B6B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A977FA-9120-1459-FBC8-74DA0824DE6D}"/>
              </a:ext>
            </a:extLst>
          </p:cNvPr>
          <p:cNvGrpSpPr/>
          <p:nvPr/>
        </p:nvGrpSpPr>
        <p:grpSpPr>
          <a:xfrm>
            <a:off x="6872179" y="2717111"/>
            <a:ext cx="4228756" cy="2749339"/>
            <a:chOff x="3052861" y="1825625"/>
            <a:chExt cx="6520781" cy="385197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C76554-CFF8-4A98-0AC5-5B7E9A08F9AA}"/>
                </a:ext>
              </a:extLst>
            </p:cNvPr>
            <p:cNvGrpSpPr/>
            <p:nvPr/>
          </p:nvGrpSpPr>
          <p:grpSpPr>
            <a:xfrm>
              <a:off x="5048656" y="1825625"/>
              <a:ext cx="2286000" cy="1112129"/>
              <a:chOff x="5048656" y="1825625"/>
              <a:chExt cx="2286000" cy="111212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5A8883C-851E-8BC3-B60E-07F26BE827AD}"/>
                  </a:ext>
                </a:extLst>
              </p:cNvPr>
              <p:cNvSpPr/>
              <p:nvPr/>
            </p:nvSpPr>
            <p:spPr>
              <a:xfrm>
                <a:off x="5048656" y="1825625"/>
                <a:ext cx="2286000" cy="111212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CPU</a:t>
                </a:r>
                <a:endParaRPr lang="en-IL" sz="1200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8799ADE-4640-9C35-7430-20C2D04A4C19}"/>
                  </a:ext>
                </a:extLst>
              </p:cNvPr>
              <p:cNvSpPr/>
              <p:nvPr/>
            </p:nvSpPr>
            <p:spPr>
              <a:xfrm>
                <a:off x="5048656" y="2572848"/>
                <a:ext cx="2286000" cy="345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PCIe Root Complex</a:t>
                </a:r>
                <a:endParaRPr lang="en-IL" sz="1200" dirty="0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D1F25E-6EC8-A269-7A94-B5FA4EF18C28}"/>
                </a:ext>
              </a:extLst>
            </p:cNvPr>
            <p:cNvSpPr/>
            <p:nvPr/>
          </p:nvSpPr>
          <p:spPr>
            <a:xfrm>
              <a:off x="3052861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385EACB-0EB3-6682-99B4-9F89657F88A7}"/>
                </a:ext>
              </a:extLst>
            </p:cNvPr>
            <p:cNvSpPr/>
            <p:nvPr/>
          </p:nvSpPr>
          <p:spPr>
            <a:xfrm>
              <a:off x="4325563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D786C17-92EE-8B9C-56DA-C2D16B99F9D8}"/>
                </a:ext>
              </a:extLst>
            </p:cNvPr>
            <p:cNvSpPr/>
            <p:nvPr/>
          </p:nvSpPr>
          <p:spPr>
            <a:xfrm>
              <a:off x="5598265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103809A-27CD-F5C2-618C-A8ED5B0DB698}"/>
                </a:ext>
              </a:extLst>
            </p:cNvPr>
            <p:cNvCxnSpPr>
              <a:stCxn id="7" idx="0"/>
            </p:cNvCxnSpPr>
            <p:nvPr/>
          </p:nvCxnSpPr>
          <p:spPr>
            <a:xfrm flipV="1">
              <a:off x="3636520" y="2937754"/>
              <a:ext cx="1528867" cy="500974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89593B2-1ECE-F057-AB74-5D5F84DB8CA9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V="1">
              <a:off x="4909222" y="2918180"/>
              <a:ext cx="583659" cy="52054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43E68DC-4366-6113-FD57-2C5517410C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71226" y="2937754"/>
              <a:ext cx="405314" cy="496110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C249C81-1DFB-1500-AC67-E05A8EFB6B1F}"/>
                </a:ext>
              </a:extLst>
            </p:cNvPr>
            <p:cNvSpPr/>
            <p:nvPr/>
          </p:nvSpPr>
          <p:spPr>
            <a:xfrm>
              <a:off x="5860920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DEF4E8-E23B-9D32-566D-541CC782A9B1}"/>
                </a:ext>
              </a:extLst>
            </p:cNvPr>
            <p:cNvSpPr/>
            <p:nvPr/>
          </p:nvSpPr>
          <p:spPr>
            <a:xfrm>
              <a:off x="7133622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8162977-DBC7-0684-604B-DDCFDCCEA28C}"/>
                </a:ext>
              </a:extLst>
            </p:cNvPr>
            <p:cNvSpPr/>
            <p:nvPr/>
          </p:nvSpPr>
          <p:spPr>
            <a:xfrm>
              <a:off x="8406324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BA43A50-C8AF-9C61-9B40-B199FE9423FF}"/>
                </a:ext>
              </a:extLst>
            </p:cNvPr>
            <p:cNvCxnSpPr>
              <a:cxnSpLocks/>
              <a:stCxn id="8" idx="0"/>
              <a:endCxn id="20" idx="2"/>
            </p:cNvCxnSpPr>
            <p:nvPr/>
          </p:nvCxnSpPr>
          <p:spPr>
            <a:xfrm flipV="1">
              <a:off x="6444580" y="4372700"/>
              <a:ext cx="827226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3E0E529-44B8-7BBC-A562-B87F744C387D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7717281" y="4372700"/>
              <a:ext cx="0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B18F3EB-BDEB-1739-A414-DD3A2A72D223}"/>
                </a:ext>
              </a:extLst>
            </p:cNvPr>
            <p:cNvCxnSpPr>
              <a:cxnSpLocks/>
              <a:stCxn id="13" idx="0"/>
              <a:endCxn id="20" idx="1"/>
            </p:cNvCxnSpPr>
            <p:nvPr/>
          </p:nvCxnSpPr>
          <p:spPr>
            <a:xfrm flipH="1" flipV="1">
              <a:off x="8162754" y="4372700"/>
              <a:ext cx="827229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692A800D-89B9-062A-FE29-EB1775914398}"/>
                </a:ext>
              </a:extLst>
            </p:cNvPr>
            <p:cNvSpPr/>
            <p:nvPr/>
          </p:nvSpPr>
          <p:spPr>
            <a:xfrm>
              <a:off x="7028236" y="3487483"/>
              <a:ext cx="1378086" cy="885216"/>
            </a:xfrm>
            <a:prstGeom prst="hexago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PCIe</a:t>
              </a:r>
              <a:br>
                <a:rPr lang="en-US" sz="1200" dirty="0"/>
              </a:br>
              <a:r>
                <a:rPr lang="en-US" sz="1200" dirty="0"/>
                <a:t>Switch</a:t>
              </a:r>
              <a:endParaRPr lang="en-IL" sz="1200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0730F60-536E-A877-4CC5-165FDEB34C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1711" y="2898206"/>
              <a:ext cx="459637" cy="608851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0017B8B-7E57-95B5-25F7-95CE0B383319}"/>
                </a:ext>
              </a:extLst>
            </p:cNvPr>
            <p:cNvSpPr/>
            <p:nvPr/>
          </p:nvSpPr>
          <p:spPr>
            <a:xfrm>
              <a:off x="7898860" y="2121533"/>
              <a:ext cx="1549940" cy="52031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Memory</a:t>
              </a:r>
              <a:endParaRPr lang="en-IL" sz="120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65B78E9-D156-ABC9-E2B1-11FD34439099}"/>
                </a:ext>
              </a:extLst>
            </p:cNvPr>
            <p:cNvCxnSpPr>
              <a:endCxn id="27" idx="1"/>
            </p:cNvCxnSpPr>
            <p:nvPr/>
          </p:nvCxnSpPr>
          <p:spPr>
            <a:xfrm flipV="1">
              <a:off x="7334656" y="2381689"/>
              <a:ext cx="564204" cy="1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B632F8A-92DC-F30E-9AD2-AAA6B10B0A19}"/>
              </a:ext>
            </a:extLst>
          </p:cNvPr>
          <p:cNvGrpSpPr/>
          <p:nvPr/>
        </p:nvGrpSpPr>
        <p:grpSpPr>
          <a:xfrm>
            <a:off x="1680581" y="2714192"/>
            <a:ext cx="4313674" cy="2749339"/>
            <a:chOff x="2921918" y="1825625"/>
            <a:chExt cx="6651724" cy="385197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95E89EE-1FDA-EA21-10C8-D30F80926E94}"/>
                </a:ext>
              </a:extLst>
            </p:cNvPr>
            <p:cNvGrpSpPr/>
            <p:nvPr/>
          </p:nvGrpSpPr>
          <p:grpSpPr>
            <a:xfrm>
              <a:off x="5048656" y="1825625"/>
              <a:ext cx="2286000" cy="1112129"/>
              <a:chOff x="5048656" y="1825625"/>
              <a:chExt cx="2286000" cy="1112129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2EE92ADB-8F4F-0955-2D14-82415438F36D}"/>
                  </a:ext>
                </a:extLst>
              </p:cNvPr>
              <p:cNvSpPr/>
              <p:nvPr/>
            </p:nvSpPr>
            <p:spPr>
              <a:xfrm>
                <a:off x="5048656" y="1825625"/>
                <a:ext cx="2286000" cy="111212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CPU</a:t>
                </a:r>
                <a:endParaRPr lang="en-IL" sz="1200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B455720-1B39-BF07-C465-727EA543CC3F}"/>
                  </a:ext>
                </a:extLst>
              </p:cNvPr>
              <p:cNvSpPr/>
              <p:nvPr/>
            </p:nvSpPr>
            <p:spPr>
              <a:xfrm>
                <a:off x="5048656" y="2572848"/>
                <a:ext cx="2286000" cy="345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PCIe Root Complex</a:t>
                </a:r>
                <a:endParaRPr lang="en-IL" sz="1200" dirty="0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0E3090E-0D51-782B-5E1A-AC4F239E3ED4}"/>
                </a:ext>
              </a:extLst>
            </p:cNvPr>
            <p:cNvSpPr/>
            <p:nvPr/>
          </p:nvSpPr>
          <p:spPr>
            <a:xfrm>
              <a:off x="3052861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423164B-5D33-5512-FDF2-B5C6DDE2EF99}"/>
                </a:ext>
              </a:extLst>
            </p:cNvPr>
            <p:cNvSpPr/>
            <p:nvPr/>
          </p:nvSpPr>
          <p:spPr>
            <a:xfrm>
              <a:off x="4325563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684661B-757E-D3A6-0755-D30E9646EB6F}"/>
                </a:ext>
              </a:extLst>
            </p:cNvPr>
            <p:cNvSpPr/>
            <p:nvPr/>
          </p:nvSpPr>
          <p:spPr>
            <a:xfrm>
              <a:off x="5598265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142FD89-2DEE-AD92-59F1-334A00B35392}"/>
                </a:ext>
              </a:extLst>
            </p:cNvPr>
            <p:cNvCxnSpPr>
              <a:stCxn id="36" idx="0"/>
            </p:cNvCxnSpPr>
            <p:nvPr/>
          </p:nvCxnSpPr>
          <p:spPr>
            <a:xfrm flipV="1">
              <a:off x="3636520" y="2937754"/>
              <a:ext cx="1528867" cy="500974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1025E9A-61E3-CAC6-C80E-45E00570E1CC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V="1">
              <a:off x="4909222" y="2918180"/>
              <a:ext cx="583659" cy="52054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338A317-ED49-AE4A-EF55-D90E8170F4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71226" y="2937754"/>
              <a:ext cx="405314" cy="496110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D8499BB-CFD6-1A46-2340-FE26C50DFF5F}"/>
                </a:ext>
              </a:extLst>
            </p:cNvPr>
            <p:cNvSpPr/>
            <p:nvPr/>
          </p:nvSpPr>
          <p:spPr>
            <a:xfrm>
              <a:off x="5860920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BA529B9-18A1-A543-B741-BA0C57A0E1D0}"/>
                </a:ext>
              </a:extLst>
            </p:cNvPr>
            <p:cNvSpPr/>
            <p:nvPr/>
          </p:nvSpPr>
          <p:spPr>
            <a:xfrm>
              <a:off x="7133622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0E25BF6-A99C-7B78-44B8-20D30F10E39D}"/>
                </a:ext>
              </a:extLst>
            </p:cNvPr>
            <p:cNvSpPr/>
            <p:nvPr/>
          </p:nvSpPr>
          <p:spPr>
            <a:xfrm>
              <a:off x="8406324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0AA55056-CC6A-2B4C-62EC-A132F3036A24}"/>
                </a:ext>
              </a:extLst>
            </p:cNvPr>
            <p:cNvCxnSpPr>
              <a:cxnSpLocks/>
              <a:stCxn id="42" idx="0"/>
              <a:endCxn id="48" idx="2"/>
            </p:cNvCxnSpPr>
            <p:nvPr/>
          </p:nvCxnSpPr>
          <p:spPr>
            <a:xfrm flipV="1">
              <a:off x="6444580" y="4372700"/>
              <a:ext cx="827226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A5CE1A4-FD81-5EBC-6975-1C87CC53369D}"/>
                </a:ext>
              </a:extLst>
            </p:cNvPr>
            <p:cNvCxnSpPr>
              <a:cxnSpLocks/>
              <a:stCxn id="43" idx="0"/>
            </p:cNvCxnSpPr>
            <p:nvPr/>
          </p:nvCxnSpPr>
          <p:spPr>
            <a:xfrm flipV="1">
              <a:off x="7717281" y="4372700"/>
              <a:ext cx="0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3EE8DAD-B9FF-91D6-53E1-E0792CA729B2}"/>
                </a:ext>
              </a:extLst>
            </p:cNvPr>
            <p:cNvCxnSpPr>
              <a:cxnSpLocks/>
              <a:stCxn id="44" idx="0"/>
              <a:endCxn id="48" idx="1"/>
            </p:cNvCxnSpPr>
            <p:nvPr/>
          </p:nvCxnSpPr>
          <p:spPr>
            <a:xfrm flipH="1" flipV="1">
              <a:off x="8162754" y="4372700"/>
              <a:ext cx="827229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Hexagon 47">
              <a:extLst>
                <a:ext uri="{FF2B5EF4-FFF2-40B4-BE49-F238E27FC236}">
                  <a16:creationId xmlns:a16="http://schemas.microsoft.com/office/drawing/2014/main" id="{C11B2E8A-7F5A-FF64-DA7D-C498C4BD8428}"/>
                </a:ext>
              </a:extLst>
            </p:cNvPr>
            <p:cNvSpPr/>
            <p:nvPr/>
          </p:nvSpPr>
          <p:spPr>
            <a:xfrm>
              <a:off x="7028236" y="3487483"/>
              <a:ext cx="1378086" cy="885216"/>
            </a:xfrm>
            <a:prstGeom prst="hexago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PCIe</a:t>
              </a:r>
              <a:br>
                <a:rPr lang="en-US" sz="1200" dirty="0"/>
              </a:br>
              <a:r>
                <a:rPr lang="en-US" sz="1200" dirty="0"/>
                <a:t>Switch</a:t>
              </a:r>
              <a:endParaRPr lang="en-IL" sz="1200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74FBC3AC-D6EC-407A-F315-265BEF829B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1711" y="2898206"/>
              <a:ext cx="459637" cy="608851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041BA30-5550-7E03-FEE3-DA38AEF38C5A}"/>
                </a:ext>
              </a:extLst>
            </p:cNvPr>
            <p:cNvSpPr/>
            <p:nvPr/>
          </p:nvSpPr>
          <p:spPr>
            <a:xfrm>
              <a:off x="2921918" y="2060011"/>
              <a:ext cx="1549940" cy="52031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Memory</a:t>
              </a:r>
              <a:endParaRPr lang="en-IL" sz="1200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3CCF615-772B-F9BD-44F7-4EF8681731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4452" y="2343218"/>
              <a:ext cx="564204" cy="1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Arrow: Left-Right 53">
            <a:extLst>
              <a:ext uri="{FF2B5EF4-FFF2-40B4-BE49-F238E27FC236}">
                <a16:creationId xmlns:a16="http://schemas.microsoft.com/office/drawing/2014/main" id="{450C4611-A298-98A3-AFF5-779E0A5F1481}"/>
              </a:ext>
            </a:extLst>
          </p:cNvPr>
          <p:cNvSpPr/>
          <p:nvPr/>
        </p:nvSpPr>
        <p:spPr>
          <a:xfrm>
            <a:off x="4542261" y="3044771"/>
            <a:ext cx="3624199" cy="20213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3901EF-9045-BD19-4244-C7955346E1E2}"/>
              </a:ext>
            </a:extLst>
          </p:cNvPr>
          <p:cNvSpPr txBox="1"/>
          <p:nvPr/>
        </p:nvSpPr>
        <p:spPr>
          <a:xfrm>
            <a:off x="4632686" y="2457622"/>
            <a:ext cx="3341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Vendor-specific link</a:t>
            </a:r>
            <a:br>
              <a:rPr lang="en-US" dirty="0"/>
            </a:br>
            <a:r>
              <a:rPr lang="en-US" dirty="0"/>
              <a:t>(Intel QPI, AMD </a:t>
            </a:r>
            <a:r>
              <a:rPr lang="en-US" dirty="0" err="1"/>
              <a:t>HyperTransport</a:t>
            </a:r>
            <a:r>
              <a:rPr lang="en-US" dirty="0"/>
              <a:t>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4169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93E0-5F7C-181D-95DA-029F2BFB5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topology with multiple CPUs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B10B7-E30D-412E-E339-0BF0C963A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Device-to-device can be limited by topology</a:t>
            </a:r>
          </a:p>
          <a:p>
            <a:endParaRPr lang="en-US" dirty="0"/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We want direct GPU-NIC connectivity</a:t>
            </a:r>
          </a:p>
          <a:p>
            <a:pPr lvl="1"/>
            <a:r>
              <a:rPr lang="en-US" dirty="0"/>
              <a:t>What happens if we place them randomly?</a:t>
            </a:r>
          </a:p>
          <a:p>
            <a:endParaRPr lang="en-US" dirty="0"/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9CA00-13AF-BFDD-44A1-7BF116A4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37387-122D-669A-ACBB-5EB8D84B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64610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BE17E-35E4-B9E5-68EB-621663CC6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62882-59D7-A2C3-9BAF-F77FCFE50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topology with multiple CPUs</a:t>
            </a:r>
            <a:br>
              <a:rPr lang="en-US" dirty="0"/>
            </a:br>
            <a:r>
              <a:rPr lang="en-US" sz="3200" dirty="0"/>
              <a:t>Bad placement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45AF9-A07F-4F5C-555E-975961A1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70572-56B4-A259-9CF8-2380171D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BAAC2D0-FA04-2F5E-4C3A-B0F3B8E0CEA8}"/>
              </a:ext>
            </a:extLst>
          </p:cNvPr>
          <p:cNvGrpSpPr/>
          <p:nvPr/>
        </p:nvGrpSpPr>
        <p:grpSpPr>
          <a:xfrm>
            <a:off x="6872179" y="2717111"/>
            <a:ext cx="4228756" cy="2749339"/>
            <a:chOff x="3052861" y="1825625"/>
            <a:chExt cx="6520781" cy="385197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120659E-6738-0389-C711-5326BF6623DE}"/>
                </a:ext>
              </a:extLst>
            </p:cNvPr>
            <p:cNvGrpSpPr/>
            <p:nvPr/>
          </p:nvGrpSpPr>
          <p:grpSpPr>
            <a:xfrm>
              <a:off x="5048656" y="1825625"/>
              <a:ext cx="2286000" cy="1112129"/>
              <a:chOff x="5048656" y="1825625"/>
              <a:chExt cx="2286000" cy="111212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DB91FCF-30FE-1E4B-287E-81BDC2A6DFE5}"/>
                  </a:ext>
                </a:extLst>
              </p:cNvPr>
              <p:cNvSpPr/>
              <p:nvPr/>
            </p:nvSpPr>
            <p:spPr>
              <a:xfrm>
                <a:off x="5048656" y="1825625"/>
                <a:ext cx="2286000" cy="111212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CPU</a:t>
                </a:r>
                <a:endParaRPr lang="en-IL" sz="1200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DA66D6D-348D-C83F-1B55-B88424879C57}"/>
                  </a:ext>
                </a:extLst>
              </p:cNvPr>
              <p:cNvSpPr/>
              <p:nvPr/>
            </p:nvSpPr>
            <p:spPr>
              <a:xfrm>
                <a:off x="5048656" y="2572848"/>
                <a:ext cx="2286000" cy="345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PCIe Root Complex</a:t>
                </a:r>
                <a:endParaRPr lang="en-IL" sz="1200" dirty="0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4BFF500-23E4-4092-6200-997AF38A6508}"/>
                </a:ext>
              </a:extLst>
            </p:cNvPr>
            <p:cNvSpPr/>
            <p:nvPr/>
          </p:nvSpPr>
          <p:spPr>
            <a:xfrm>
              <a:off x="3052861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F95C7BF-75D0-B468-4009-3C157E1E56BD}"/>
                </a:ext>
              </a:extLst>
            </p:cNvPr>
            <p:cNvSpPr/>
            <p:nvPr/>
          </p:nvSpPr>
          <p:spPr>
            <a:xfrm>
              <a:off x="4325563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BDB11A-8E05-36F8-D399-148544761F15}"/>
                </a:ext>
              </a:extLst>
            </p:cNvPr>
            <p:cNvSpPr/>
            <p:nvPr/>
          </p:nvSpPr>
          <p:spPr>
            <a:xfrm>
              <a:off x="5598265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AA453AF-25BC-36F0-7E2F-45090BB60773}"/>
                </a:ext>
              </a:extLst>
            </p:cNvPr>
            <p:cNvCxnSpPr>
              <a:stCxn id="7" idx="0"/>
            </p:cNvCxnSpPr>
            <p:nvPr/>
          </p:nvCxnSpPr>
          <p:spPr>
            <a:xfrm flipV="1">
              <a:off x="3636520" y="2937754"/>
              <a:ext cx="1528867" cy="500974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D0ADED8-CDD2-D425-D47A-B271564FE525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V="1">
              <a:off x="4909222" y="2918180"/>
              <a:ext cx="583659" cy="52054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914B2EC-A870-7866-561D-675DDDDDE0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71226" y="2937754"/>
              <a:ext cx="405314" cy="496110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079B71-3FCB-0508-8CD5-FD244C5E72D4}"/>
                </a:ext>
              </a:extLst>
            </p:cNvPr>
            <p:cNvSpPr/>
            <p:nvPr/>
          </p:nvSpPr>
          <p:spPr>
            <a:xfrm>
              <a:off x="5860920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6C8977-A52B-26EB-37D4-6893E0CC5747}"/>
                </a:ext>
              </a:extLst>
            </p:cNvPr>
            <p:cNvSpPr/>
            <p:nvPr/>
          </p:nvSpPr>
          <p:spPr>
            <a:xfrm>
              <a:off x="7133622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978863-6557-5C23-C3FA-7131A983BEAE}"/>
                </a:ext>
              </a:extLst>
            </p:cNvPr>
            <p:cNvSpPr/>
            <p:nvPr/>
          </p:nvSpPr>
          <p:spPr>
            <a:xfrm>
              <a:off x="8406324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F338FA1-7AC2-89EF-D578-5F070CF2BE9C}"/>
                </a:ext>
              </a:extLst>
            </p:cNvPr>
            <p:cNvCxnSpPr>
              <a:cxnSpLocks/>
              <a:stCxn id="8" idx="0"/>
              <a:endCxn id="20" idx="2"/>
            </p:cNvCxnSpPr>
            <p:nvPr/>
          </p:nvCxnSpPr>
          <p:spPr>
            <a:xfrm flipV="1">
              <a:off x="6444580" y="4372700"/>
              <a:ext cx="827226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1C76EC8-33DB-4537-2B2A-95AD6A409B25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7717281" y="4372700"/>
              <a:ext cx="0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2076968-4B65-213F-0524-DFD3D2CB7808}"/>
                </a:ext>
              </a:extLst>
            </p:cNvPr>
            <p:cNvCxnSpPr>
              <a:cxnSpLocks/>
              <a:stCxn id="13" idx="0"/>
              <a:endCxn id="20" idx="1"/>
            </p:cNvCxnSpPr>
            <p:nvPr/>
          </p:nvCxnSpPr>
          <p:spPr>
            <a:xfrm flipH="1" flipV="1">
              <a:off x="8162754" y="4372700"/>
              <a:ext cx="827229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B1A230F6-AAB6-0A51-2175-9E2C9CDB1D5B}"/>
                </a:ext>
              </a:extLst>
            </p:cNvPr>
            <p:cNvSpPr/>
            <p:nvPr/>
          </p:nvSpPr>
          <p:spPr>
            <a:xfrm>
              <a:off x="7028236" y="3487483"/>
              <a:ext cx="1378086" cy="885216"/>
            </a:xfrm>
            <a:prstGeom prst="hexago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PCIe</a:t>
              </a:r>
              <a:br>
                <a:rPr lang="en-US" sz="1200" dirty="0"/>
              </a:br>
              <a:r>
                <a:rPr lang="en-US" sz="1200" dirty="0"/>
                <a:t>Switch</a:t>
              </a:r>
              <a:endParaRPr lang="en-IL" sz="1200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732F854-5237-7E95-FE8A-CD4275E89B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1711" y="2898206"/>
              <a:ext cx="459637" cy="608851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5DEE563-BE66-08E9-8792-6627C07C64F9}"/>
                </a:ext>
              </a:extLst>
            </p:cNvPr>
            <p:cNvSpPr/>
            <p:nvPr/>
          </p:nvSpPr>
          <p:spPr>
            <a:xfrm>
              <a:off x="7898860" y="2121533"/>
              <a:ext cx="1549940" cy="52031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Memory</a:t>
              </a:r>
              <a:endParaRPr lang="en-IL" sz="120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327C1C3-D3D4-71DD-A2D7-5E400E53B9D8}"/>
                </a:ext>
              </a:extLst>
            </p:cNvPr>
            <p:cNvCxnSpPr>
              <a:endCxn id="27" idx="1"/>
            </p:cNvCxnSpPr>
            <p:nvPr/>
          </p:nvCxnSpPr>
          <p:spPr>
            <a:xfrm flipV="1">
              <a:off x="7334656" y="2381689"/>
              <a:ext cx="564204" cy="1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5CEEC1E-E26F-0224-4153-7F0E190C9AAE}"/>
              </a:ext>
            </a:extLst>
          </p:cNvPr>
          <p:cNvGrpSpPr/>
          <p:nvPr/>
        </p:nvGrpSpPr>
        <p:grpSpPr>
          <a:xfrm>
            <a:off x="1680581" y="2714192"/>
            <a:ext cx="4313674" cy="2749339"/>
            <a:chOff x="2921918" y="1825625"/>
            <a:chExt cx="6651724" cy="385197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0081A25-6CB6-86EE-EF82-011439BACF6E}"/>
                </a:ext>
              </a:extLst>
            </p:cNvPr>
            <p:cNvGrpSpPr/>
            <p:nvPr/>
          </p:nvGrpSpPr>
          <p:grpSpPr>
            <a:xfrm>
              <a:off x="5048656" y="1825625"/>
              <a:ext cx="2286000" cy="1112129"/>
              <a:chOff x="5048656" y="1825625"/>
              <a:chExt cx="2286000" cy="1112129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B684445-769C-9CC2-330E-7BE68472287B}"/>
                  </a:ext>
                </a:extLst>
              </p:cNvPr>
              <p:cNvSpPr/>
              <p:nvPr/>
            </p:nvSpPr>
            <p:spPr>
              <a:xfrm>
                <a:off x="5048656" y="1825625"/>
                <a:ext cx="2286000" cy="111212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CPU</a:t>
                </a:r>
                <a:endParaRPr lang="en-IL" sz="1200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F44A43A-2BB4-B997-2A1D-E1F03BD7D930}"/>
                  </a:ext>
                </a:extLst>
              </p:cNvPr>
              <p:cNvSpPr/>
              <p:nvPr/>
            </p:nvSpPr>
            <p:spPr>
              <a:xfrm>
                <a:off x="5048656" y="2572848"/>
                <a:ext cx="2286000" cy="345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PCIe Root Complex</a:t>
                </a:r>
                <a:endParaRPr lang="en-IL" sz="1200" dirty="0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09AB49C-4977-3F6C-C437-2D73B6100877}"/>
                </a:ext>
              </a:extLst>
            </p:cNvPr>
            <p:cNvSpPr/>
            <p:nvPr/>
          </p:nvSpPr>
          <p:spPr>
            <a:xfrm>
              <a:off x="3052861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7AE4AEE-B0D6-462C-22A5-F8BEBBB24382}"/>
                </a:ext>
              </a:extLst>
            </p:cNvPr>
            <p:cNvSpPr/>
            <p:nvPr/>
          </p:nvSpPr>
          <p:spPr>
            <a:xfrm>
              <a:off x="4325563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53DBFA-D6E8-4F68-AD69-99AC9DB1F407}"/>
                </a:ext>
              </a:extLst>
            </p:cNvPr>
            <p:cNvSpPr/>
            <p:nvPr/>
          </p:nvSpPr>
          <p:spPr>
            <a:xfrm>
              <a:off x="5598265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FE4DFE2-1246-7DBE-36E3-71D729359FEC}"/>
                </a:ext>
              </a:extLst>
            </p:cNvPr>
            <p:cNvCxnSpPr>
              <a:stCxn id="36" idx="0"/>
            </p:cNvCxnSpPr>
            <p:nvPr/>
          </p:nvCxnSpPr>
          <p:spPr>
            <a:xfrm flipV="1">
              <a:off x="3636520" y="2937754"/>
              <a:ext cx="1528867" cy="500974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916499B-78F2-FD28-613C-B7E602BE37ED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V="1">
              <a:off x="4909222" y="2918180"/>
              <a:ext cx="583659" cy="52054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9C9F0ED-785D-3361-A011-D337D7747E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71226" y="2937754"/>
              <a:ext cx="405314" cy="496110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ABAE0E7-840B-8D9A-77AB-FCCD47C0B994}"/>
                </a:ext>
              </a:extLst>
            </p:cNvPr>
            <p:cNvSpPr/>
            <p:nvPr/>
          </p:nvSpPr>
          <p:spPr>
            <a:xfrm>
              <a:off x="5860920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445AF4-117A-F228-8E3F-EC0905C9B789}"/>
                </a:ext>
              </a:extLst>
            </p:cNvPr>
            <p:cNvSpPr/>
            <p:nvPr/>
          </p:nvSpPr>
          <p:spPr>
            <a:xfrm>
              <a:off x="7133622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85ACB33-B1D4-3D1E-B80B-E4A37761ACE1}"/>
                </a:ext>
              </a:extLst>
            </p:cNvPr>
            <p:cNvSpPr/>
            <p:nvPr/>
          </p:nvSpPr>
          <p:spPr>
            <a:xfrm>
              <a:off x="8406324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CE2BB9A-7C3E-D90A-D1AD-2ABAC1986559}"/>
                </a:ext>
              </a:extLst>
            </p:cNvPr>
            <p:cNvCxnSpPr>
              <a:cxnSpLocks/>
              <a:stCxn id="42" idx="0"/>
              <a:endCxn id="48" idx="2"/>
            </p:cNvCxnSpPr>
            <p:nvPr/>
          </p:nvCxnSpPr>
          <p:spPr>
            <a:xfrm flipV="1">
              <a:off x="6444580" y="4372700"/>
              <a:ext cx="827226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94CDC1A-3D34-FB7D-FED2-0644C145A8D4}"/>
                </a:ext>
              </a:extLst>
            </p:cNvPr>
            <p:cNvCxnSpPr>
              <a:cxnSpLocks/>
              <a:stCxn id="43" idx="0"/>
            </p:cNvCxnSpPr>
            <p:nvPr/>
          </p:nvCxnSpPr>
          <p:spPr>
            <a:xfrm flipV="1">
              <a:off x="7717281" y="4372700"/>
              <a:ext cx="0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D7B6C79-19E9-D390-9EFE-749F3523A5FD}"/>
                </a:ext>
              </a:extLst>
            </p:cNvPr>
            <p:cNvCxnSpPr>
              <a:cxnSpLocks/>
              <a:stCxn id="44" idx="0"/>
              <a:endCxn id="48" idx="1"/>
            </p:cNvCxnSpPr>
            <p:nvPr/>
          </p:nvCxnSpPr>
          <p:spPr>
            <a:xfrm flipH="1" flipV="1">
              <a:off x="8162754" y="4372700"/>
              <a:ext cx="827229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Hexagon 47">
              <a:extLst>
                <a:ext uri="{FF2B5EF4-FFF2-40B4-BE49-F238E27FC236}">
                  <a16:creationId xmlns:a16="http://schemas.microsoft.com/office/drawing/2014/main" id="{A27ECD01-CCE1-5CB6-363F-E30D2FF7D102}"/>
                </a:ext>
              </a:extLst>
            </p:cNvPr>
            <p:cNvSpPr/>
            <p:nvPr/>
          </p:nvSpPr>
          <p:spPr>
            <a:xfrm>
              <a:off x="7028236" y="3487483"/>
              <a:ext cx="1378086" cy="885216"/>
            </a:xfrm>
            <a:prstGeom prst="hexago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PCIe</a:t>
              </a:r>
              <a:br>
                <a:rPr lang="en-US" sz="1200" dirty="0"/>
              </a:br>
              <a:r>
                <a:rPr lang="en-US" sz="1200" dirty="0"/>
                <a:t>Switch</a:t>
              </a:r>
              <a:endParaRPr lang="en-IL" sz="1200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3F1B519-F4F4-0474-E47C-C79401DB9D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1711" y="2898206"/>
              <a:ext cx="459637" cy="608851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A297792-9404-20EE-2D87-E69B754C1355}"/>
                </a:ext>
              </a:extLst>
            </p:cNvPr>
            <p:cNvSpPr/>
            <p:nvPr/>
          </p:nvSpPr>
          <p:spPr>
            <a:xfrm>
              <a:off x="2921918" y="2060011"/>
              <a:ext cx="1549940" cy="52031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Memory</a:t>
              </a:r>
              <a:endParaRPr lang="en-IL" sz="1200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3755C9A6-B71C-B9AB-54F3-56902D00DA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4452" y="2343218"/>
              <a:ext cx="564204" cy="1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Arrow: Left-Right 53">
            <a:extLst>
              <a:ext uri="{FF2B5EF4-FFF2-40B4-BE49-F238E27FC236}">
                <a16:creationId xmlns:a16="http://schemas.microsoft.com/office/drawing/2014/main" id="{BCD91C9B-2CBD-6EC3-1347-B9F90F84EB3F}"/>
              </a:ext>
            </a:extLst>
          </p:cNvPr>
          <p:cNvSpPr/>
          <p:nvPr/>
        </p:nvSpPr>
        <p:spPr>
          <a:xfrm>
            <a:off x="4542261" y="3044771"/>
            <a:ext cx="3624199" cy="20213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F34135-F89A-FFA9-F858-5238DC5E02DA}"/>
              </a:ext>
            </a:extLst>
          </p:cNvPr>
          <p:cNvSpPr txBox="1"/>
          <p:nvPr/>
        </p:nvSpPr>
        <p:spPr>
          <a:xfrm>
            <a:off x="4632686" y="2457622"/>
            <a:ext cx="3341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Vendor-specific link</a:t>
            </a:r>
            <a:br>
              <a:rPr lang="en-US" dirty="0"/>
            </a:br>
            <a:r>
              <a:rPr lang="en-US" dirty="0"/>
              <a:t>(Intel QPI, AMD </a:t>
            </a:r>
            <a:r>
              <a:rPr lang="en-US" dirty="0" err="1"/>
              <a:t>HyperTransport</a:t>
            </a:r>
            <a:r>
              <a:rPr lang="en-US" dirty="0"/>
              <a:t>)</a:t>
            </a:r>
            <a:endParaRPr lang="en-I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F09487-5A72-821C-25E3-4B1DEEA1912F}"/>
              </a:ext>
            </a:extLst>
          </p:cNvPr>
          <p:cNvSpPr txBox="1"/>
          <p:nvPr/>
        </p:nvSpPr>
        <p:spPr>
          <a:xfrm>
            <a:off x="3496808" y="5477501"/>
            <a:ext cx="915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GPU</a:t>
            </a:r>
            <a:endParaRPr lang="en-IL" sz="28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1238BD-B99A-9E66-3ED5-7D1CC546A25E}"/>
              </a:ext>
            </a:extLst>
          </p:cNvPr>
          <p:cNvSpPr txBox="1"/>
          <p:nvPr/>
        </p:nvSpPr>
        <p:spPr>
          <a:xfrm>
            <a:off x="10286615" y="5456442"/>
            <a:ext cx="915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NIC</a:t>
            </a:r>
            <a:endParaRPr lang="en-IL" sz="2800" b="1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27C4583-83D6-A93C-B05E-E7AFD49F88AE}"/>
              </a:ext>
            </a:extLst>
          </p:cNvPr>
          <p:cNvSpPr/>
          <p:nvPr/>
        </p:nvSpPr>
        <p:spPr>
          <a:xfrm>
            <a:off x="3929743" y="2917372"/>
            <a:ext cx="6934200" cy="2188028"/>
          </a:xfrm>
          <a:custGeom>
            <a:avLst/>
            <a:gdLst>
              <a:gd name="connsiteX0" fmla="*/ 0 w 6934200"/>
              <a:gd name="connsiteY0" fmla="*/ 2144485 h 2188028"/>
              <a:gd name="connsiteX1" fmla="*/ 54428 w 6934200"/>
              <a:gd name="connsiteY1" fmla="*/ 2100943 h 2188028"/>
              <a:gd name="connsiteX2" fmla="*/ 119743 w 6934200"/>
              <a:gd name="connsiteY2" fmla="*/ 2024743 h 2188028"/>
              <a:gd name="connsiteX3" fmla="*/ 152400 w 6934200"/>
              <a:gd name="connsiteY3" fmla="*/ 1992085 h 2188028"/>
              <a:gd name="connsiteX4" fmla="*/ 195943 w 6934200"/>
              <a:gd name="connsiteY4" fmla="*/ 1937657 h 2188028"/>
              <a:gd name="connsiteX5" fmla="*/ 250371 w 6934200"/>
              <a:gd name="connsiteY5" fmla="*/ 1894114 h 2188028"/>
              <a:gd name="connsiteX6" fmla="*/ 293914 w 6934200"/>
              <a:gd name="connsiteY6" fmla="*/ 1828800 h 2188028"/>
              <a:gd name="connsiteX7" fmla="*/ 337457 w 6934200"/>
              <a:gd name="connsiteY7" fmla="*/ 1774371 h 2188028"/>
              <a:gd name="connsiteX8" fmla="*/ 511628 w 6934200"/>
              <a:gd name="connsiteY8" fmla="*/ 1578428 h 2188028"/>
              <a:gd name="connsiteX9" fmla="*/ 555171 w 6934200"/>
              <a:gd name="connsiteY9" fmla="*/ 1513114 h 2188028"/>
              <a:gd name="connsiteX10" fmla="*/ 631371 w 6934200"/>
              <a:gd name="connsiteY10" fmla="*/ 1426028 h 2188028"/>
              <a:gd name="connsiteX11" fmla="*/ 631371 w 6934200"/>
              <a:gd name="connsiteY11" fmla="*/ 1251857 h 2188028"/>
              <a:gd name="connsiteX12" fmla="*/ 587828 w 6934200"/>
              <a:gd name="connsiteY12" fmla="*/ 1175657 h 2188028"/>
              <a:gd name="connsiteX13" fmla="*/ 533400 w 6934200"/>
              <a:gd name="connsiteY13" fmla="*/ 1023257 h 2188028"/>
              <a:gd name="connsiteX14" fmla="*/ 511628 w 6934200"/>
              <a:gd name="connsiteY14" fmla="*/ 947057 h 2188028"/>
              <a:gd name="connsiteX15" fmla="*/ 468086 w 6934200"/>
              <a:gd name="connsiteY15" fmla="*/ 859971 h 2188028"/>
              <a:gd name="connsiteX16" fmla="*/ 446314 w 6934200"/>
              <a:gd name="connsiteY16" fmla="*/ 772885 h 2188028"/>
              <a:gd name="connsiteX17" fmla="*/ 370114 w 6934200"/>
              <a:gd name="connsiteY17" fmla="*/ 598714 h 2188028"/>
              <a:gd name="connsiteX18" fmla="*/ 326571 w 6934200"/>
              <a:gd name="connsiteY18" fmla="*/ 500743 h 2188028"/>
              <a:gd name="connsiteX19" fmla="*/ 283028 w 6934200"/>
              <a:gd name="connsiteY19" fmla="*/ 337457 h 2188028"/>
              <a:gd name="connsiteX20" fmla="*/ 250371 w 6934200"/>
              <a:gd name="connsiteY20" fmla="*/ 239485 h 2188028"/>
              <a:gd name="connsiteX21" fmla="*/ 228600 w 6934200"/>
              <a:gd name="connsiteY21" fmla="*/ 152400 h 2188028"/>
              <a:gd name="connsiteX22" fmla="*/ 239486 w 6934200"/>
              <a:gd name="connsiteY22" fmla="*/ 76200 h 2188028"/>
              <a:gd name="connsiteX23" fmla="*/ 478971 w 6934200"/>
              <a:gd name="connsiteY23" fmla="*/ 10885 h 2188028"/>
              <a:gd name="connsiteX24" fmla="*/ 1110343 w 6934200"/>
              <a:gd name="connsiteY24" fmla="*/ 21771 h 2188028"/>
              <a:gd name="connsiteX25" fmla="*/ 1197428 w 6934200"/>
              <a:gd name="connsiteY25" fmla="*/ 32657 h 2188028"/>
              <a:gd name="connsiteX26" fmla="*/ 1436914 w 6934200"/>
              <a:gd name="connsiteY26" fmla="*/ 54428 h 2188028"/>
              <a:gd name="connsiteX27" fmla="*/ 3548743 w 6934200"/>
              <a:gd name="connsiteY27" fmla="*/ 43543 h 2188028"/>
              <a:gd name="connsiteX28" fmla="*/ 3897086 w 6934200"/>
              <a:gd name="connsiteY28" fmla="*/ 32657 h 2188028"/>
              <a:gd name="connsiteX29" fmla="*/ 4005943 w 6934200"/>
              <a:gd name="connsiteY29" fmla="*/ 10885 h 2188028"/>
              <a:gd name="connsiteX30" fmla="*/ 4245428 w 6934200"/>
              <a:gd name="connsiteY30" fmla="*/ 0 h 2188028"/>
              <a:gd name="connsiteX31" fmla="*/ 4691743 w 6934200"/>
              <a:gd name="connsiteY31" fmla="*/ 10885 h 2188028"/>
              <a:gd name="connsiteX32" fmla="*/ 4985657 w 6934200"/>
              <a:gd name="connsiteY32" fmla="*/ 32657 h 2188028"/>
              <a:gd name="connsiteX33" fmla="*/ 5029200 w 6934200"/>
              <a:gd name="connsiteY33" fmla="*/ 43543 h 2188028"/>
              <a:gd name="connsiteX34" fmla="*/ 5061857 w 6934200"/>
              <a:gd name="connsiteY34" fmla="*/ 65314 h 2188028"/>
              <a:gd name="connsiteX35" fmla="*/ 5127171 w 6934200"/>
              <a:gd name="connsiteY35" fmla="*/ 76200 h 2188028"/>
              <a:gd name="connsiteX36" fmla="*/ 5236028 w 6934200"/>
              <a:gd name="connsiteY36" fmla="*/ 119743 h 2188028"/>
              <a:gd name="connsiteX37" fmla="*/ 5268686 w 6934200"/>
              <a:gd name="connsiteY37" fmla="*/ 130628 h 2188028"/>
              <a:gd name="connsiteX38" fmla="*/ 5377543 w 6934200"/>
              <a:gd name="connsiteY38" fmla="*/ 228600 h 2188028"/>
              <a:gd name="connsiteX39" fmla="*/ 5453743 w 6934200"/>
              <a:gd name="connsiteY39" fmla="*/ 272143 h 2188028"/>
              <a:gd name="connsiteX40" fmla="*/ 5671457 w 6934200"/>
              <a:gd name="connsiteY40" fmla="*/ 468085 h 2188028"/>
              <a:gd name="connsiteX41" fmla="*/ 5747657 w 6934200"/>
              <a:gd name="connsiteY41" fmla="*/ 511628 h 2188028"/>
              <a:gd name="connsiteX42" fmla="*/ 5856514 w 6934200"/>
              <a:gd name="connsiteY42" fmla="*/ 620485 h 2188028"/>
              <a:gd name="connsiteX43" fmla="*/ 5889171 w 6934200"/>
              <a:gd name="connsiteY43" fmla="*/ 674914 h 2188028"/>
              <a:gd name="connsiteX44" fmla="*/ 5998028 w 6934200"/>
              <a:gd name="connsiteY44" fmla="*/ 772885 h 2188028"/>
              <a:gd name="connsiteX45" fmla="*/ 6041571 w 6934200"/>
              <a:gd name="connsiteY45" fmla="*/ 881743 h 2188028"/>
              <a:gd name="connsiteX46" fmla="*/ 6063343 w 6934200"/>
              <a:gd name="connsiteY46" fmla="*/ 968828 h 2188028"/>
              <a:gd name="connsiteX47" fmla="*/ 6139543 w 6934200"/>
              <a:gd name="connsiteY47" fmla="*/ 1099457 h 2188028"/>
              <a:gd name="connsiteX48" fmla="*/ 6183086 w 6934200"/>
              <a:gd name="connsiteY48" fmla="*/ 1153885 h 2188028"/>
              <a:gd name="connsiteX49" fmla="*/ 6226628 w 6934200"/>
              <a:gd name="connsiteY49" fmla="*/ 1219200 h 2188028"/>
              <a:gd name="connsiteX50" fmla="*/ 6302828 w 6934200"/>
              <a:gd name="connsiteY50" fmla="*/ 1349828 h 2188028"/>
              <a:gd name="connsiteX51" fmla="*/ 6379028 w 6934200"/>
              <a:gd name="connsiteY51" fmla="*/ 1447800 h 2188028"/>
              <a:gd name="connsiteX52" fmla="*/ 6542314 w 6934200"/>
              <a:gd name="connsiteY52" fmla="*/ 1665514 h 2188028"/>
              <a:gd name="connsiteX53" fmla="*/ 6672943 w 6934200"/>
              <a:gd name="connsiteY53" fmla="*/ 1785257 h 2188028"/>
              <a:gd name="connsiteX54" fmla="*/ 6716486 w 6934200"/>
              <a:gd name="connsiteY54" fmla="*/ 1861457 h 2188028"/>
              <a:gd name="connsiteX55" fmla="*/ 6792686 w 6934200"/>
              <a:gd name="connsiteY55" fmla="*/ 1948543 h 2188028"/>
              <a:gd name="connsiteX56" fmla="*/ 6803571 w 6934200"/>
              <a:gd name="connsiteY56" fmla="*/ 1981200 h 2188028"/>
              <a:gd name="connsiteX57" fmla="*/ 6825343 w 6934200"/>
              <a:gd name="connsiteY57" fmla="*/ 2002971 h 2188028"/>
              <a:gd name="connsiteX58" fmla="*/ 6847114 w 6934200"/>
              <a:gd name="connsiteY58" fmla="*/ 2035628 h 2188028"/>
              <a:gd name="connsiteX59" fmla="*/ 6901543 w 6934200"/>
              <a:gd name="connsiteY59" fmla="*/ 2111828 h 2188028"/>
              <a:gd name="connsiteX60" fmla="*/ 6934200 w 6934200"/>
              <a:gd name="connsiteY60" fmla="*/ 2188028 h 218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6934200" h="2188028">
                <a:moveTo>
                  <a:pt x="0" y="2144485"/>
                </a:moveTo>
                <a:cubicBezTo>
                  <a:pt x="18143" y="2129971"/>
                  <a:pt x="36788" y="2116063"/>
                  <a:pt x="54428" y="2100943"/>
                </a:cubicBezTo>
                <a:cubicBezTo>
                  <a:pt x="81802" y="2077480"/>
                  <a:pt x="94299" y="2053822"/>
                  <a:pt x="119743" y="2024743"/>
                </a:cubicBezTo>
                <a:cubicBezTo>
                  <a:pt x="129881" y="2013157"/>
                  <a:pt x="142262" y="2003671"/>
                  <a:pt x="152400" y="1992085"/>
                </a:cubicBezTo>
                <a:cubicBezTo>
                  <a:pt x="167700" y="1974600"/>
                  <a:pt x="179514" y="1954086"/>
                  <a:pt x="195943" y="1937657"/>
                </a:cubicBezTo>
                <a:cubicBezTo>
                  <a:pt x="212372" y="1921228"/>
                  <a:pt x="234828" y="1911384"/>
                  <a:pt x="250371" y="1894114"/>
                </a:cubicBezTo>
                <a:cubicBezTo>
                  <a:pt x="267875" y="1874665"/>
                  <a:pt x="278524" y="1849961"/>
                  <a:pt x="293914" y="1828800"/>
                </a:cubicBezTo>
                <a:cubicBezTo>
                  <a:pt x="307580" y="1810010"/>
                  <a:pt x="321914" y="1791641"/>
                  <a:pt x="337457" y="1774371"/>
                </a:cubicBezTo>
                <a:cubicBezTo>
                  <a:pt x="417311" y="1685645"/>
                  <a:pt x="419311" y="1716903"/>
                  <a:pt x="511628" y="1578428"/>
                </a:cubicBezTo>
                <a:cubicBezTo>
                  <a:pt x="526142" y="1556657"/>
                  <a:pt x="538602" y="1533365"/>
                  <a:pt x="555171" y="1513114"/>
                </a:cubicBezTo>
                <a:cubicBezTo>
                  <a:pt x="669788" y="1373027"/>
                  <a:pt x="569395" y="1518993"/>
                  <a:pt x="631371" y="1426028"/>
                </a:cubicBezTo>
                <a:cubicBezTo>
                  <a:pt x="648489" y="1357559"/>
                  <a:pt x="656250" y="1346395"/>
                  <a:pt x="631371" y="1251857"/>
                </a:cubicBezTo>
                <a:cubicBezTo>
                  <a:pt x="623926" y="1223566"/>
                  <a:pt x="602342" y="1201057"/>
                  <a:pt x="587828" y="1175657"/>
                </a:cubicBezTo>
                <a:cubicBezTo>
                  <a:pt x="531028" y="976852"/>
                  <a:pt x="605166" y="1224200"/>
                  <a:pt x="533400" y="1023257"/>
                </a:cubicBezTo>
                <a:cubicBezTo>
                  <a:pt x="524515" y="998380"/>
                  <a:pt x="521439" y="971584"/>
                  <a:pt x="511628" y="947057"/>
                </a:cubicBezTo>
                <a:cubicBezTo>
                  <a:pt x="499575" y="916923"/>
                  <a:pt x="479482" y="890359"/>
                  <a:pt x="468086" y="859971"/>
                </a:cubicBezTo>
                <a:cubicBezTo>
                  <a:pt x="457580" y="831954"/>
                  <a:pt x="456820" y="800902"/>
                  <a:pt x="446314" y="772885"/>
                </a:cubicBezTo>
                <a:cubicBezTo>
                  <a:pt x="424063" y="713550"/>
                  <a:pt x="395636" y="656718"/>
                  <a:pt x="370114" y="598714"/>
                </a:cubicBezTo>
                <a:cubicBezTo>
                  <a:pt x="355721" y="566003"/>
                  <a:pt x="335238" y="535413"/>
                  <a:pt x="326571" y="500743"/>
                </a:cubicBezTo>
                <a:cubicBezTo>
                  <a:pt x="311128" y="438969"/>
                  <a:pt x="301778" y="397456"/>
                  <a:pt x="283028" y="337457"/>
                </a:cubicBezTo>
                <a:cubicBezTo>
                  <a:pt x="272760" y="304600"/>
                  <a:pt x="257122" y="273240"/>
                  <a:pt x="250371" y="239485"/>
                </a:cubicBezTo>
                <a:cubicBezTo>
                  <a:pt x="237236" y="173805"/>
                  <a:pt x="245337" y="202609"/>
                  <a:pt x="228600" y="152400"/>
                </a:cubicBezTo>
                <a:cubicBezTo>
                  <a:pt x="232229" y="127000"/>
                  <a:pt x="220501" y="93459"/>
                  <a:pt x="239486" y="76200"/>
                </a:cubicBezTo>
                <a:cubicBezTo>
                  <a:pt x="251004" y="65729"/>
                  <a:pt x="477848" y="11166"/>
                  <a:pt x="478971" y="10885"/>
                </a:cubicBezTo>
                <a:lnTo>
                  <a:pt x="1110343" y="21771"/>
                </a:lnTo>
                <a:cubicBezTo>
                  <a:pt x="1139584" y="22657"/>
                  <a:pt x="1168353" y="29426"/>
                  <a:pt x="1197428" y="32657"/>
                </a:cubicBezTo>
                <a:cubicBezTo>
                  <a:pt x="1288841" y="42814"/>
                  <a:pt x="1342940" y="46597"/>
                  <a:pt x="1436914" y="54428"/>
                </a:cubicBezTo>
                <a:lnTo>
                  <a:pt x="3548743" y="43543"/>
                </a:lnTo>
                <a:cubicBezTo>
                  <a:pt x="3664909" y="42515"/>
                  <a:pt x="3781210" y="40934"/>
                  <a:pt x="3897086" y="32657"/>
                </a:cubicBezTo>
                <a:cubicBezTo>
                  <a:pt x="3933996" y="30020"/>
                  <a:pt x="3969100" y="14339"/>
                  <a:pt x="4005943" y="10885"/>
                </a:cubicBezTo>
                <a:cubicBezTo>
                  <a:pt x="4085505" y="3426"/>
                  <a:pt x="4165600" y="3628"/>
                  <a:pt x="4245428" y="0"/>
                </a:cubicBezTo>
                <a:lnTo>
                  <a:pt x="4691743" y="10885"/>
                </a:lnTo>
                <a:cubicBezTo>
                  <a:pt x="4789887" y="15215"/>
                  <a:pt x="4985657" y="32657"/>
                  <a:pt x="4985657" y="32657"/>
                </a:cubicBezTo>
                <a:cubicBezTo>
                  <a:pt x="5000171" y="36286"/>
                  <a:pt x="5015449" y="37650"/>
                  <a:pt x="5029200" y="43543"/>
                </a:cubicBezTo>
                <a:cubicBezTo>
                  <a:pt x="5041225" y="48697"/>
                  <a:pt x="5049445" y="61177"/>
                  <a:pt x="5061857" y="65314"/>
                </a:cubicBezTo>
                <a:cubicBezTo>
                  <a:pt x="5082796" y="72294"/>
                  <a:pt x="5105758" y="70847"/>
                  <a:pt x="5127171" y="76200"/>
                </a:cubicBezTo>
                <a:cubicBezTo>
                  <a:pt x="5206476" y="96026"/>
                  <a:pt x="5172953" y="92711"/>
                  <a:pt x="5236028" y="119743"/>
                </a:cubicBezTo>
                <a:cubicBezTo>
                  <a:pt x="5246575" y="124263"/>
                  <a:pt x="5257800" y="127000"/>
                  <a:pt x="5268686" y="130628"/>
                </a:cubicBezTo>
                <a:cubicBezTo>
                  <a:pt x="5305354" y="167296"/>
                  <a:pt x="5333619" y="198191"/>
                  <a:pt x="5377543" y="228600"/>
                </a:cubicBezTo>
                <a:cubicBezTo>
                  <a:pt x="5401596" y="245252"/>
                  <a:pt x="5430339" y="254590"/>
                  <a:pt x="5453743" y="272143"/>
                </a:cubicBezTo>
                <a:cubicBezTo>
                  <a:pt x="5599013" y="381096"/>
                  <a:pt x="5376741" y="299675"/>
                  <a:pt x="5671457" y="468085"/>
                </a:cubicBezTo>
                <a:cubicBezTo>
                  <a:pt x="5696857" y="482599"/>
                  <a:pt x="5725075" y="493031"/>
                  <a:pt x="5747657" y="511628"/>
                </a:cubicBezTo>
                <a:cubicBezTo>
                  <a:pt x="5787269" y="544250"/>
                  <a:pt x="5830113" y="576482"/>
                  <a:pt x="5856514" y="620485"/>
                </a:cubicBezTo>
                <a:cubicBezTo>
                  <a:pt x="5867400" y="638628"/>
                  <a:pt x="5875626" y="658660"/>
                  <a:pt x="5889171" y="674914"/>
                </a:cubicBezTo>
                <a:cubicBezTo>
                  <a:pt x="5942578" y="739003"/>
                  <a:pt x="5947154" y="738969"/>
                  <a:pt x="5998028" y="772885"/>
                </a:cubicBezTo>
                <a:cubicBezTo>
                  <a:pt x="6020554" y="817935"/>
                  <a:pt x="6028117" y="827930"/>
                  <a:pt x="6041571" y="881743"/>
                </a:cubicBezTo>
                <a:cubicBezTo>
                  <a:pt x="6048828" y="910771"/>
                  <a:pt x="6044651" y="945463"/>
                  <a:pt x="6063343" y="968828"/>
                </a:cubicBezTo>
                <a:cubicBezTo>
                  <a:pt x="6171022" y="1103427"/>
                  <a:pt x="6041985" y="932215"/>
                  <a:pt x="6139543" y="1099457"/>
                </a:cubicBezTo>
                <a:cubicBezTo>
                  <a:pt x="6151250" y="1119526"/>
                  <a:pt x="6169420" y="1135095"/>
                  <a:pt x="6183086" y="1153885"/>
                </a:cubicBezTo>
                <a:cubicBezTo>
                  <a:pt x="6198476" y="1175046"/>
                  <a:pt x="6213444" y="1196598"/>
                  <a:pt x="6226628" y="1219200"/>
                </a:cubicBezTo>
                <a:cubicBezTo>
                  <a:pt x="6286486" y="1321815"/>
                  <a:pt x="6229124" y="1249322"/>
                  <a:pt x="6302828" y="1349828"/>
                </a:cubicBezTo>
                <a:cubicBezTo>
                  <a:pt x="6327294" y="1383191"/>
                  <a:pt x="6354486" y="1414493"/>
                  <a:pt x="6379028" y="1447800"/>
                </a:cubicBezTo>
                <a:cubicBezTo>
                  <a:pt x="6439226" y="1529497"/>
                  <a:pt x="6472304" y="1590503"/>
                  <a:pt x="6542314" y="1665514"/>
                </a:cubicBezTo>
                <a:cubicBezTo>
                  <a:pt x="6620835" y="1749644"/>
                  <a:pt x="6598937" y="1689051"/>
                  <a:pt x="6672943" y="1785257"/>
                </a:cubicBezTo>
                <a:cubicBezTo>
                  <a:pt x="6690780" y="1808445"/>
                  <a:pt x="6700259" y="1837116"/>
                  <a:pt x="6716486" y="1861457"/>
                </a:cubicBezTo>
                <a:cubicBezTo>
                  <a:pt x="6743067" y="1901328"/>
                  <a:pt x="6761211" y="1917068"/>
                  <a:pt x="6792686" y="1948543"/>
                </a:cubicBezTo>
                <a:cubicBezTo>
                  <a:pt x="6796314" y="1959429"/>
                  <a:pt x="6797667" y="1971361"/>
                  <a:pt x="6803571" y="1981200"/>
                </a:cubicBezTo>
                <a:cubicBezTo>
                  <a:pt x="6808851" y="1990001"/>
                  <a:pt x="6818932" y="1994957"/>
                  <a:pt x="6825343" y="2002971"/>
                </a:cubicBezTo>
                <a:cubicBezTo>
                  <a:pt x="6833516" y="2013187"/>
                  <a:pt x="6840623" y="2024269"/>
                  <a:pt x="6847114" y="2035628"/>
                </a:cubicBezTo>
                <a:cubicBezTo>
                  <a:pt x="6885322" y="2102491"/>
                  <a:pt x="6848351" y="2058636"/>
                  <a:pt x="6901543" y="2111828"/>
                </a:cubicBezTo>
                <a:cubicBezTo>
                  <a:pt x="6926327" y="2173790"/>
                  <a:pt x="6914575" y="2148780"/>
                  <a:pt x="6934200" y="2188028"/>
                </a:cubicBezTo>
              </a:path>
            </a:pathLst>
          </a:custGeom>
          <a:noFill/>
          <a:ln w="1111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955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AF241-7DA5-F020-3ECE-9A813365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21E92-A29D-C72F-1D3E-BE22372A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topology with multiple CPUs</a:t>
            </a:r>
            <a:br>
              <a:rPr lang="en-US" dirty="0"/>
            </a:br>
            <a:r>
              <a:rPr lang="en-US" sz="3200" dirty="0"/>
              <a:t>Good placement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5B9C9-BF1C-D08E-CBBB-224EA29D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6CFCB-0B46-65E5-6F0D-E5528E592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CE7C998-F82D-CB11-B64C-106FBEBC39AF}"/>
              </a:ext>
            </a:extLst>
          </p:cNvPr>
          <p:cNvGrpSpPr/>
          <p:nvPr/>
        </p:nvGrpSpPr>
        <p:grpSpPr>
          <a:xfrm>
            <a:off x="6872179" y="2717111"/>
            <a:ext cx="4228756" cy="2749339"/>
            <a:chOff x="3052861" y="1825625"/>
            <a:chExt cx="6520781" cy="385197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28E2D8-1569-50E5-B40A-A1BCA432E448}"/>
                </a:ext>
              </a:extLst>
            </p:cNvPr>
            <p:cNvGrpSpPr/>
            <p:nvPr/>
          </p:nvGrpSpPr>
          <p:grpSpPr>
            <a:xfrm>
              <a:off x="5048656" y="1825625"/>
              <a:ext cx="2286000" cy="1112129"/>
              <a:chOff x="5048656" y="1825625"/>
              <a:chExt cx="2286000" cy="111212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07DB71E-A979-9284-A95E-70DFCDAE1342}"/>
                  </a:ext>
                </a:extLst>
              </p:cNvPr>
              <p:cNvSpPr/>
              <p:nvPr/>
            </p:nvSpPr>
            <p:spPr>
              <a:xfrm>
                <a:off x="5048656" y="1825625"/>
                <a:ext cx="2286000" cy="111212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CPU</a:t>
                </a:r>
                <a:endParaRPr lang="en-IL" sz="1200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0AE618B-0418-791F-995A-BC75EC70F50E}"/>
                  </a:ext>
                </a:extLst>
              </p:cNvPr>
              <p:cNvSpPr/>
              <p:nvPr/>
            </p:nvSpPr>
            <p:spPr>
              <a:xfrm>
                <a:off x="5048656" y="2572848"/>
                <a:ext cx="2286000" cy="345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PCIe Root Complex</a:t>
                </a:r>
                <a:endParaRPr lang="en-IL" sz="1200" dirty="0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21F73B0-8DFC-CE52-D0CD-B613A25C88D7}"/>
                </a:ext>
              </a:extLst>
            </p:cNvPr>
            <p:cNvSpPr/>
            <p:nvPr/>
          </p:nvSpPr>
          <p:spPr>
            <a:xfrm>
              <a:off x="3052861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73B538A-076B-8F24-A24D-BD39FC41B5E6}"/>
                </a:ext>
              </a:extLst>
            </p:cNvPr>
            <p:cNvSpPr/>
            <p:nvPr/>
          </p:nvSpPr>
          <p:spPr>
            <a:xfrm>
              <a:off x="4325563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D153FE-A051-0067-EEB6-C767B195020E}"/>
                </a:ext>
              </a:extLst>
            </p:cNvPr>
            <p:cNvSpPr/>
            <p:nvPr/>
          </p:nvSpPr>
          <p:spPr>
            <a:xfrm>
              <a:off x="5598265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896E5D1-DD71-E90C-1B4F-6D5EABECB7F0}"/>
                </a:ext>
              </a:extLst>
            </p:cNvPr>
            <p:cNvCxnSpPr>
              <a:stCxn id="7" idx="0"/>
            </p:cNvCxnSpPr>
            <p:nvPr/>
          </p:nvCxnSpPr>
          <p:spPr>
            <a:xfrm flipV="1">
              <a:off x="3636520" y="2937754"/>
              <a:ext cx="1528867" cy="500974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EAA80B1-8BEF-8DDD-A8FE-D8B14DB2FD00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V="1">
              <a:off x="4909222" y="2918180"/>
              <a:ext cx="583659" cy="52054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5CFFAD8-136B-EC9F-4EFD-4B1C3F6BD2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71226" y="2937754"/>
              <a:ext cx="405314" cy="496110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30777C5-7E9B-5C7D-FDE4-D89E8F1A77BE}"/>
                </a:ext>
              </a:extLst>
            </p:cNvPr>
            <p:cNvSpPr/>
            <p:nvPr/>
          </p:nvSpPr>
          <p:spPr>
            <a:xfrm>
              <a:off x="5860920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7BE8F7C-18D8-34CA-D699-093DD7CE1254}"/>
                </a:ext>
              </a:extLst>
            </p:cNvPr>
            <p:cNvSpPr/>
            <p:nvPr/>
          </p:nvSpPr>
          <p:spPr>
            <a:xfrm>
              <a:off x="7133622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825F69-5E7B-153C-029C-7255FF45734A}"/>
                </a:ext>
              </a:extLst>
            </p:cNvPr>
            <p:cNvSpPr/>
            <p:nvPr/>
          </p:nvSpPr>
          <p:spPr>
            <a:xfrm>
              <a:off x="8406324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080EAE8-2FB2-B865-C7CF-B5DCC9066B3E}"/>
                </a:ext>
              </a:extLst>
            </p:cNvPr>
            <p:cNvCxnSpPr>
              <a:cxnSpLocks/>
              <a:stCxn id="8" idx="0"/>
              <a:endCxn id="20" idx="2"/>
            </p:cNvCxnSpPr>
            <p:nvPr/>
          </p:nvCxnSpPr>
          <p:spPr>
            <a:xfrm flipV="1">
              <a:off x="6444580" y="4372700"/>
              <a:ext cx="827226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178A20B-3A6D-9CF2-E2D3-96F205814255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7717281" y="4372700"/>
              <a:ext cx="0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8B03720-C8BA-A2D2-7A2A-41C93E73663E}"/>
                </a:ext>
              </a:extLst>
            </p:cNvPr>
            <p:cNvCxnSpPr>
              <a:cxnSpLocks/>
              <a:stCxn id="13" idx="0"/>
              <a:endCxn id="20" idx="1"/>
            </p:cNvCxnSpPr>
            <p:nvPr/>
          </p:nvCxnSpPr>
          <p:spPr>
            <a:xfrm flipH="1" flipV="1">
              <a:off x="8162754" y="4372700"/>
              <a:ext cx="827229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76C77E83-5797-B74E-59CB-2E98554E4219}"/>
                </a:ext>
              </a:extLst>
            </p:cNvPr>
            <p:cNvSpPr/>
            <p:nvPr/>
          </p:nvSpPr>
          <p:spPr>
            <a:xfrm>
              <a:off x="7028236" y="3487483"/>
              <a:ext cx="1378086" cy="885216"/>
            </a:xfrm>
            <a:prstGeom prst="hexago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PCIe</a:t>
              </a:r>
              <a:br>
                <a:rPr lang="en-US" sz="1200" dirty="0"/>
              </a:br>
              <a:r>
                <a:rPr lang="en-US" sz="1200" dirty="0"/>
                <a:t>Switch</a:t>
              </a:r>
              <a:endParaRPr lang="en-IL" sz="1200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EAC549F-DC10-9233-1DB8-3A29A01D9A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1711" y="2898206"/>
              <a:ext cx="459637" cy="608851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AB331E5-D7D2-D981-B30F-06C57EF7A707}"/>
                </a:ext>
              </a:extLst>
            </p:cNvPr>
            <p:cNvSpPr/>
            <p:nvPr/>
          </p:nvSpPr>
          <p:spPr>
            <a:xfrm>
              <a:off x="7898860" y="2121533"/>
              <a:ext cx="1549940" cy="52031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Memory</a:t>
              </a:r>
              <a:endParaRPr lang="en-IL" sz="120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26D3B38-DBF5-D123-2B5D-ACE7E708A4E7}"/>
                </a:ext>
              </a:extLst>
            </p:cNvPr>
            <p:cNvCxnSpPr>
              <a:endCxn id="27" idx="1"/>
            </p:cNvCxnSpPr>
            <p:nvPr/>
          </p:nvCxnSpPr>
          <p:spPr>
            <a:xfrm flipV="1">
              <a:off x="7334656" y="2381689"/>
              <a:ext cx="564204" cy="1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9F891FB-EE96-6252-0753-0C7AF67747B3}"/>
              </a:ext>
            </a:extLst>
          </p:cNvPr>
          <p:cNvGrpSpPr/>
          <p:nvPr/>
        </p:nvGrpSpPr>
        <p:grpSpPr>
          <a:xfrm>
            <a:off x="1680581" y="2714192"/>
            <a:ext cx="4313674" cy="2749339"/>
            <a:chOff x="2921918" y="1825625"/>
            <a:chExt cx="6651724" cy="385197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42A0A29-A414-A754-DB76-0A32DC927474}"/>
                </a:ext>
              </a:extLst>
            </p:cNvPr>
            <p:cNvGrpSpPr/>
            <p:nvPr/>
          </p:nvGrpSpPr>
          <p:grpSpPr>
            <a:xfrm>
              <a:off x="5048656" y="1825625"/>
              <a:ext cx="2286000" cy="1112129"/>
              <a:chOff x="5048656" y="1825625"/>
              <a:chExt cx="2286000" cy="1112129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201301D-8E95-AC97-B3FF-4F015F720268}"/>
                  </a:ext>
                </a:extLst>
              </p:cNvPr>
              <p:cNvSpPr/>
              <p:nvPr/>
            </p:nvSpPr>
            <p:spPr>
              <a:xfrm>
                <a:off x="5048656" y="1825625"/>
                <a:ext cx="2286000" cy="111212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CPU</a:t>
                </a:r>
                <a:endParaRPr lang="en-IL" sz="1200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6DC93C06-E7F4-70B8-966C-E216C2008888}"/>
                  </a:ext>
                </a:extLst>
              </p:cNvPr>
              <p:cNvSpPr/>
              <p:nvPr/>
            </p:nvSpPr>
            <p:spPr>
              <a:xfrm>
                <a:off x="5048656" y="2572848"/>
                <a:ext cx="2286000" cy="345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PCIe Root Complex</a:t>
                </a:r>
                <a:endParaRPr lang="en-IL" sz="1200" dirty="0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3C176C0-B3F1-8BE0-5376-AC46740A92A2}"/>
                </a:ext>
              </a:extLst>
            </p:cNvPr>
            <p:cNvSpPr/>
            <p:nvPr/>
          </p:nvSpPr>
          <p:spPr>
            <a:xfrm>
              <a:off x="3052861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EDCDF9A-3E6A-F2A6-D3C1-C849929169B8}"/>
                </a:ext>
              </a:extLst>
            </p:cNvPr>
            <p:cNvSpPr/>
            <p:nvPr/>
          </p:nvSpPr>
          <p:spPr>
            <a:xfrm>
              <a:off x="4325563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CC0C403-60E6-1B97-18A6-1664A8166CA1}"/>
                </a:ext>
              </a:extLst>
            </p:cNvPr>
            <p:cNvSpPr/>
            <p:nvPr/>
          </p:nvSpPr>
          <p:spPr>
            <a:xfrm>
              <a:off x="5598265" y="343872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1848A96-76D1-D1C9-5A62-95DB29C7146E}"/>
                </a:ext>
              </a:extLst>
            </p:cNvPr>
            <p:cNvCxnSpPr>
              <a:stCxn id="36" idx="0"/>
            </p:cNvCxnSpPr>
            <p:nvPr/>
          </p:nvCxnSpPr>
          <p:spPr>
            <a:xfrm flipV="1">
              <a:off x="3636520" y="2937754"/>
              <a:ext cx="1528867" cy="500974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586EC593-67F5-0C59-1333-047A96E60F08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V="1">
              <a:off x="4909222" y="2918180"/>
              <a:ext cx="583659" cy="52054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54BF587-A4F3-96E7-2129-CB823D718C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71226" y="2937754"/>
              <a:ext cx="405314" cy="496110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299F3C6-1657-F3A4-A9E5-CBC0385818AD}"/>
                </a:ext>
              </a:extLst>
            </p:cNvPr>
            <p:cNvSpPr/>
            <p:nvPr/>
          </p:nvSpPr>
          <p:spPr>
            <a:xfrm>
              <a:off x="5860920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C421331-12BD-2867-40DA-7890F3481A55}"/>
                </a:ext>
              </a:extLst>
            </p:cNvPr>
            <p:cNvSpPr/>
            <p:nvPr/>
          </p:nvSpPr>
          <p:spPr>
            <a:xfrm>
              <a:off x="7133622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0EC3035-1B7C-0692-168C-C0A5A6D18FC2}"/>
                </a:ext>
              </a:extLst>
            </p:cNvPr>
            <p:cNvSpPr/>
            <p:nvPr/>
          </p:nvSpPr>
          <p:spPr>
            <a:xfrm>
              <a:off x="8406324" y="5060008"/>
              <a:ext cx="1167318" cy="6175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PCIe Endpoint</a:t>
              </a:r>
              <a:endParaRPr lang="en-IL" sz="1100" dirty="0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8566C50-C35A-2887-F733-1A7115D7AEDF}"/>
                </a:ext>
              </a:extLst>
            </p:cNvPr>
            <p:cNvCxnSpPr>
              <a:cxnSpLocks/>
              <a:stCxn id="42" idx="0"/>
              <a:endCxn id="48" idx="2"/>
            </p:cNvCxnSpPr>
            <p:nvPr/>
          </p:nvCxnSpPr>
          <p:spPr>
            <a:xfrm flipV="1">
              <a:off x="6444580" y="4372700"/>
              <a:ext cx="827226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53F9FFF-07BB-C4EB-CA99-A4902CA3A2B2}"/>
                </a:ext>
              </a:extLst>
            </p:cNvPr>
            <p:cNvCxnSpPr>
              <a:cxnSpLocks/>
              <a:stCxn id="43" idx="0"/>
            </p:cNvCxnSpPr>
            <p:nvPr/>
          </p:nvCxnSpPr>
          <p:spPr>
            <a:xfrm flipV="1">
              <a:off x="7717281" y="4372700"/>
              <a:ext cx="0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456ACEE-B602-79B8-A706-84D725E76D07}"/>
                </a:ext>
              </a:extLst>
            </p:cNvPr>
            <p:cNvCxnSpPr>
              <a:cxnSpLocks/>
              <a:stCxn id="44" idx="0"/>
              <a:endCxn id="48" idx="1"/>
            </p:cNvCxnSpPr>
            <p:nvPr/>
          </p:nvCxnSpPr>
          <p:spPr>
            <a:xfrm flipH="1" flipV="1">
              <a:off x="8162754" y="4372700"/>
              <a:ext cx="827229" cy="687308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Hexagon 47">
              <a:extLst>
                <a:ext uri="{FF2B5EF4-FFF2-40B4-BE49-F238E27FC236}">
                  <a16:creationId xmlns:a16="http://schemas.microsoft.com/office/drawing/2014/main" id="{0308C96B-F0D0-C144-1EE8-CA6985970475}"/>
                </a:ext>
              </a:extLst>
            </p:cNvPr>
            <p:cNvSpPr/>
            <p:nvPr/>
          </p:nvSpPr>
          <p:spPr>
            <a:xfrm>
              <a:off x="7028236" y="3487483"/>
              <a:ext cx="1378086" cy="885216"/>
            </a:xfrm>
            <a:prstGeom prst="hexago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PCIe</a:t>
              </a:r>
              <a:br>
                <a:rPr lang="en-US" sz="1200" dirty="0"/>
              </a:br>
              <a:r>
                <a:rPr lang="en-US" sz="1200" dirty="0"/>
                <a:t>Switch</a:t>
              </a:r>
              <a:endParaRPr lang="en-IL" sz="1200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8B463D1-B298-2B4D-7188-77562406F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1711" y="2898206"/>
              <a:ext cx="459637" cy="608851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3FDDCAD-5536-224C-AB05-0DBA332F9B5A}"/>
                </a:ext>
              </a:extLst>
            </p:cNvPr>
            <p:cNvSpPr/>
            <p:nvPr/>
          </p:nvSpPr>
          <p:spPr>
            <a:xfrm>
              <a:off x="2921918" y="2060011"/>
              <a:ext cx="1549940" cy="52031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Memory</a:t>
              </a:r>
              <a:endParaRPr lang="en-IL" sz="1200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17876B6E-1D97-F160-66D3-A18AF7CA14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4452" y="2343218"/>
              <a:ext cx="564204" cy="1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Arrow: Left-Right 53">
            <a:extLst>
              <a:ext uri="{FF2B5EF4-FFF2-40B4-BE49-F238E27FC236}">
                <a16:creationId xmlns:a16="http://schemas.microsoft.com/office/drawing/2014/main" id="{C7D22895-255C-1771-AD20-549461CBEB2A}"/>
              </a:ext>
            </a:extLst>
          </p:cNvPr>
          <p:cNvSpPr/>
          <p:nvPr/>
        </p:nvSpPr>
        <p:spPr>
          <a:xfrm>
            <a:off x="4542261" y="3044771"/>
            <a:ext cx="3624199" cy="20213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337094-A959-64FB-FB98-48FFE2889032}"/>
              </a:ext>
            </a:extLst>
          </p:cNvPr>
          <p:cNvSpPr txBox="1"/>
          <p:nvPr/>
        </p:nvSpPr>
        <p:spPr>
          <a:xfrm>
            <a:off x="4632686" y="2457622"/>
            <a:ext cx="3341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Vendor-specific link</a:t>
            </a:r>
            <a:br>
              <a:rPr lang="en-US" dirty="0"/>
            </a:br>
            <a:r>
              <a:rPr lang="en-US" dirty="0"/>
              <a:t>(Intel QPI, AMD </a:t>
            </a:r>
            <a:r>
              <a:rPr lang="en-US" dirty="0" err="1"/>
              <a:t>HyperTransport</a:t>
            </a:r>
            <a:r>
              <a:rPr lang="en-US" dirty="0"/>
              <a:t>)</a:t>
            </a:r>
            <a:endParaRPr lang="en-I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FFC645-AA66-D4FB-FDE3-0F99084B3AD0}"/>
              </a:ext>
            </a:extLst>
          </p:cNvPr>
          <p:cNvSpPr txBox="1"/>
          <p:nvPr/>
        </p:nvSpPr>
        <p:spPr>
          <a:xfrm>
            <a:off x="3496808" y="5477501"/>
            <a:ext cx="915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GPU</a:t>
            </a:r>
            <a:endParaRPr lang="en-IL" sz="28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AB13BF-88CD-0086-2BB9-BC36F04A71E9}"/>
              </a:ext>
            </a:extLst>
          </p:cNvPr>
          <p:cNvSpPr txBox="1"/>
          <p:nvPr/>
        </p:nvSpPr>
        <p:spPr>
          <a:xfrm>
            <a:off x="5158207" y="5494214"/>
            <a:ext cx="915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NIC</a:t>
            </a:r>
            <a:endParaRPr lang="en-IL" sz="2800" b="1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38FA9CC-D6E8-6D81-F83F-D137D6507ADC}"/>
              </a:ext>
            </a:extLst>
          </p:cNvPr>
          <p:cNvSpPr/>
          <p:nvPr/>
        </p:nvSpPr>
        <p:spPr>
          <a:xfrm>
            <a:off x="3918857" y="4539343"/>
            <a:ext cx="1698249" cy="566057"/>
          </a:xfrm>
          <a:custGeom>
            <a:avLst/>
            <a:gdLst>
              <a:gd name="connsiteX0" fmla="*/ 0 w 1698249"/>
              <a:gd name="connsiteY0" fmla="*/ 566057 h 566057"/>
              <a:gd name="connsiteX1" fmla="*/ 54429 w 1698249"/>
              <a:gd name="connsiteY1" fmla="*/ 424543 h 566057"/>
              <a:gd name="connsiteX2" fmla="*/ 97972 w 1698249"/>
              <a:gd name="connsiteY2" fmla="*/ 391886 h 566057"/>
              <a:gd name="connsiteX3" fmla="*/ 130629 w 1698249"/>
              <a:gd name="connsiteY3" fmla="*/ 359228 h 566057"/>
              <a:gd name="connsiteX4" fmla="*/ 206829 w 1698249"/>
              <a:gd name="connsiteY4" fmla="*/ 304800 h 566057"/>
              <a:gd name="connsiteX5" fmla="*/ 250372 w 1698249"/>
              <a:gd name="connsiteY5" fmla="*/ 272143 h 566057"/>
              <a:gd name="connsiteX6" fmla="*/ 283029 w 1698249"/>
              <a:gd name="connsiteY6" fmla="*/ 239486 h 566057"/>
              <a:gd name="connsiteX7" fmla="*/ 315686 w 1698249"/>
              <a:gd name="connsiteY7" fmla="*/ 228600 h 566057"/>
              <a:gd name="connsiteX8" fmla="*/ 337457 w 1698249"/>
              <a:gd name="connsiteY8" fmla="*/ 206828 h 566057"/>
              <a:gd name="connsiteX9" fmla="*/ 370114 w 1698249"/>
              <a:gd name="connsiteY9" fmla="*/ 185057 h 566057"/>
              <a:gd name="connsiteX10" fmla="*/ 402772 w 1698249"/>
              <a:gd name="connsiteY10" fmla="*/ 141514 h 566057"/>
              <a:gd name="connsiteX11" fmla="*/ 468086 w 1698249"/>
              <a:gd name="connsiteY11" fmla="*/ 97971 h 566057"/>
              <a:gd name="connsiteX12" fmla="*/ 544286 w 1698249"/>
              <a:gd name="connsiteY12" fmla="*/ 43543 h 566057"/>
              <a:gd name="connsiteX13" fmla="*/ 631372 w 1698249"/>
              <a:gd name="connsiteY13" fmla="*/ 0 h 566057"/>
              <a:gd name="connsiteX14" fmla="*/ 914400 w 1698249"/>
              <a:gd name="connsiteY14" fmla="*/ 32657 h 566057"/>
              <a:gd name="connsiteX15" fmla="*/ 1012372 w 1698249"/>
              <a:gd name="connsiteY15" fmla="*/ 65314 h 566057"/>
              <a:gd name="connsiteX16" fmla="*/ 1088572 w 1698249"/>
              <a:gd name="connsiteY16" fmla="*/ 97971 h 566057"/>
              <a:gd name="connsiteX17" fmla="*/ 1110343 w 1698249"/>
              <a:gd name="connsiteY17" fmla="*/ 119743 h 566057"/>
              <a:gd name="connsiteX18" fmla="*/ 1164772 w 1698249"/>
              <a:gd name="connsiteY18" fmla="*/ 130628 h 566057"/>
              <a:gd name="connsiteX19" fmla="*/ 1208314 w 1698249"/>
              <a:gd name="connsiteY19" fmla="*/ 163286 h 566057"/>
              <a:gd name="connsiteX20" fmla="*/ 1251857 w 1698249"/>
              <a:gd name="connsiteY20" fmla="*/ 174171 h 566057"/>
              <a:gd name="connsiteX21" fmla="*/ 1284514 w 1698249"/>
              <a:gd name="connsiteY21" fmla="*/ 185057 h 566057"/>
              <a:gd name="connsiteX22" fmla="*/ 1328057 w 1698249"/>
              <a:gd name="connsiteY22" fmla="*/ 206828 h 566057"/>
              <a:gd name="connsiteX23" fmla="*/ 1415143 w 1698249"/>
              <a:gd name="connsiteY23" fmla="*/ 239486 h 566057"/>
              <a:gd name="connsiteX24" fmla="*/ 1447800 w 1698249"/>
              <a:gd name="connsiteY24" fmla="*/ 261257 h 566057"/>
              <a:gd name="connsiteX25" fmla="*/ 1469572 w 1698249"/>
              <a:gd name="connsiteY25" fmla="*/ 293914 h 566057"/>
              <a:gd name="connsiteX26" fmla="*/ 1491343 w 1698249"/>
              <a:gd name="connsiteY26" fmla="*/ 315686 h 566057"/>
              <a:gd name="connsiteX27" fmla="*/ 1534886 w 1698249"/>
              <a:gd name="connsiteY27" fmla="*/ 381000 h 566057"/>
              <a:gd name="connsiteX28" fmla="*/ 1632857 w 1698249"/>
              <a:gd name="connsiteY28" fmla="*/ 457200 h 566057"/>
              <a:gd name="connsiteX29" fmla="*/ 1654629 w 1698249"/>
              <a:gd name="connsiteY29" fmla="*/ 478971 h 566057"/>
              <a:gd name="connsiteX30" fmla="*/ 1676400 w 1698249"/>
              <a:gd name="connsiteY30" fmla="*/ 511628 h 566057"/>
              <a:gd name="connsiteX31" fmla="*/ 1698172 w 1698249"/>
              <a:gd name="connsiteY31" fmla="*/ 544286 h 566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98249" h="566057">
                <a:moveTo>
                  <a:pt x="0" y="566057"/>
                </a:moveTo>
                <a:cubicBezTo>
                  <a:pt x="1953" y="560198"/>
                  <a:pt x="34155" y="448195"/>
                  <a:pt x="54429" y="424543"/>
                </a:cubicBezTo>
                <a:cubicBezTo>
                  <a:pt x="66236" y="410768"/>
                  <a:pt x="84197" y="403693"/>
                  <a:pt x="97972" y="391886"/>
                </a:cubicBezTo>
                <a:cubicBezTo>
                  <a:pt x="109661" y="381867"/>
                  <a:pt x="118940" y="369247"/>
                  <a:pt x="130629" y="359228"/>
                </a:cubicBezTo>
                <a:cubicBezTo>
                  <a:pt x="166203" y="328736"/>
                  <a:pt x="172370" y="329413"/>
                  <a:pt x="206829" y="304800"/>
                </a:cubicBezTo>
                <a:cubicBezTo>
                  <a:pt x="221593" y="294255"/>
                  <a:pt x="236597" y="283950"/>
                  <a:pt x="250372" y="272143"/>
                </a:cubicBezTo>
                <a:cubicBezTo>
                  <a:pt x="262061" y="262124"/>
                  <a:pt x="270220" y="248025"/>
                  <a:pt x="283029" y="239486"/>
                </a:cubicBezTo>
                <a:cubicBezTo>
                  <a:pt x="292576" y="233121"/>
                  <a:pt x="304800" y="232229"/>
                  <a:pt x="315686" y="228600"/>
                </a:cubicBezTo>
                <a:cubicBezTo>
                  <a:pt x="322943" y="221343"/>
                  <a:pt x="329443" y="213239"/>
                  <a:pt x="337457" y="206828"/>
                </a:cubicBezTo>
                <a:cubicBezTo>
                  <a:pt x="347673" y="198655"/>
                  <a:pt x="360863" y="194308"/>
                  <a:pt x="370114" y="185057"/>
                </a:cubicBezTo>
                <a:cubicBezTo>
                  <a:pt x="382943" y="172228"/>
                  <a:pt x="389212" y="153568"/>
                  <a:pt x="402772" y="141514"/>
                </a:cubicBezTo>
                <a:cubicBezTo>
                  <a:pt x="422329" y="124130"/>
                  <a:pt x="468086" y="97971"/>
                  <a:pt x="468086" y="97971"/>
                </a:cubicBezTo>
                <a:cubicBezTo>
                  <a:pt x="508038" y="38043"/>
                  <a:pt x="466745" y="86621"/>
                  <a:pt x="544286" y="43543"/>
                </a:cubicBezTo>
                <a:cubicBezTo>
                  <a:pt x="635126" y="-6923"/>
                  <a:pt x="541095" y="22570"/>
                  <a:pt x="631372" y="0"/>
                </a:cubicBezTo>
                <a:cubicBezTo>
                  <a:pt x="758448" y="7060"/>
                  <a:pt x="809019" y="-2470"/>
                  <a:pt x="914400" y="32657"/>
                </a:cubicBezTo>
                <a:lnTo>
                  <a:pt x="1012372" y="65314"/>
                </a:lnTo>
                <a:cubicBezTo>
                  <a:pt x="1131238" y="144561"/>
                  <a:pt x="947988" y="27679"/>
                  <a:pt x="1088572" y="97971"/>
                </a:cubicBezTo>
                <a:cubicBezTo>
                  <a:pt x="1097752" y="102561"/>
                  <a:pt x="1100910" y="115700"/>
                  <a:pt x="1110343" y="119743"/>
                </a:cubicBezTo>
                <a:cubicBezTo>
                  <a:pt x="1127349" y="127031"/>
                  <a:pt x="1146629" y="127000"/>
                  <a:pt x="1164772" y="130628"/>
                </a:cubicBezTo>
                <a:cubicBezTo>
                  <a:pt x="1179286" y="141514"/>
                  <a:pt x="1192087" y="155172"/>
                  <a:pt x="1208314" y="163286"/>
                </a:cubicBezTo>
                <a:cubicBezTo>
                  <a:pt x="1221695" y="169977"/>
                  <a:pt x="1237472" y="170061"/>
                  <a:pt x="1251857" y="174171"/>
                </a:cubicBezTo>
                <a:cubicBezTo>
                  <a:pt x="1262890" y="177323"/>
                  <a:pt x="1273967" y="180537"/>
                  <a:pt x="1284514" y="185057"/>
                </a:cubicBezTo>
                <a:cubicBezTo>
                  <a:pt x="1299429" y="191449"/>
                  <a:pt x="1313142" y="200436"/>
                  <a:pt x="1328057" y="206828"/>
                </a:cubicBezTo>
                <a:cubicBezTo>
                  <a:pt x="1394002" y="235090"/>
                  <a:pt x="1324941" y="194385"/>
                  <a:pt x="1415143" y="239486"/>
                </a:cubicBezTo>
                <a:cubicBezTo>
                  <a:pt x="1426845" y="245337"/>
                  <a:pt x="1436914" y="254000"/>
                  <a:pt x="1447800" y="261257"/>
                </a:cubicBezTo>
                <a:cubicBezTo>
                  <a:pt x="1455057" y="272143"/>
                  <a:pt x="1461399" y="283698"/>
                  <a:pt x="1469572" y="293914"/>
                </a:cubicBezTo>
                <a:cubicBezTo>
                  <a:pt x="1475983" y="301928"/>
                  <a:pt x="1485185" y="307475"/>
                  <a:pt x="1491343" y="315686"/>
                </a:cubicBezTo>
                <a:cubicBezTo>
                  <a:pt x="1507042" y="336619"/>
                  <a:pt x="1514232" y="364936"/>
                  <a:pt x="1534886" y="381000"/>
                </a:cubicBezTo>
                <a:cubicBezTo>
                  <a:pt x="1567543" y="406400"/>
                  <a:pt x="1603602" y="427946"/>
                  <a:pt x="1632857" y="457200"/>
                </a:cubicBezTo>
                <a:cubicBezTo>
                  <a:pt x="1640114" y="464457"/>
                  <a:pt x="1648218" y="470957"/>
                  <a:pt x="1654629" y="478971"/>
                </a:cubicBezTo>
                <a:cubicBezTo>
                  <a:pt x="1662802" y="489187"/>
                  <a:pt x="1668227" y="501412"/>
                  <a:pt x="1676400" y="511628"/>
                </a:cubicBezTo>
                <a:cubicBezTo>
                  <a:pt x="1700738" y="542050"/>
                  <a:pt x="1698172" y="520985"/>
                  <a:pt x="1698172" y="544286"/>
                </a:cubicBezTo>
              </a:path>
            </a:pathLst>
          </a:custGeom>
          <a:noFill/>
          <a:ln w="857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9369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ED72C-CD08-BA4C-62ED-ED1DD9A02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lanes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1F7E-D4D7-6D22-0444-E45DB5E8C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74F9D-F7FB-FB12-52AB-1AE8E20D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E43A3-7715-135C-D04E-F3E559471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5F34DC-3E4E-F39D-C489-8E98052BB1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828" b="7076"/>
          <a:stretch/>
        </p:blipFill>
        <p:spPr>
          <a:xfrm>
            <a:off x="506119" y="1825625"/>
            <a:ext cx="7939605" cy="446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832F44-ACF1-E408-F3D1-ADEB92659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772" y="2905754"/>
            <a:ext cx="6173061" cy="790685"/>
          </a:xfrm>
          <a:prstGeom prst="rect">
            <a:avLst/>
          </a:prstGeom>
          <a:ln w="31750">
            <a:solidFill>
              <a:srgbClr val="00B050"/>
            </a:solidFill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C32111-1283-A8C3-34B3-B7EA7A89EA9B}"/>
              </a:ext>
            </a:extLst>
          </p:cNvPr>
          <p:cNvCxnSpPr>
            <a:cxnSpLocks/>
          </p:cNvCxnSpPr>
          <p:nvPr/>
        </p:nvCxnSpPr>
        <p:spPr>
          <a:xfrm>
            <a:off x="5857772" y="3696439"/>
            <a:ext cx="95556" cy="1867782"/>
          </a:xfrm>
          <a:prstGeom prst="line">
            <a:avLst/>
          </a:prstGeom>
          <a:ln w="3175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619556-5EDA-1EEF-2E7F-AD7C745D759C}"/>
              </a:ext>
            </a:extLst>
          </p:cNvPr>
          <p:cNvCxnSpPr>
            <a:cxnSpLocks/>
          </p:cNvCxnSpPr>
          <p:nvPr/>
        </p:nvCxnSpPr>
        <p:spPr>
          <a:xfrm flipH="1">
            <a:off x="7976681" y="3696439"/>
            <a:ext cx="4054152" cy="1867782"/>
          </a:xfrm>
          <a:prstGeom prst="line">
            <a:avLst/>
          </a:prstGeom>
          <a:ln w="3175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42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F5FCA-DF30-F88F-1A45-0D866623E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lanes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F9168-6100-F5A1-65A0-13916F269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PCIe links are composed of serial lanes</a:t>
            </a:r>
          </a:p>
          <a:p>
            <a:pPr lvl="1"/>
            <a:r>
              <a:rPr lang="en-US" dirty="0"/>
              <a:t>E.g., a x16 device supports a link with 16 lanes</a:t>
            </a:r>
          </a:p>
          <a:p>
            <a:endParaRPr lang="en-US" dirty="0"/>
          </a:p>
          <a:p>
            <a:r>
              <a:rPr lang="en-US" dirty="0"/>
              <a:t>Each lane is full duplex</a:t>
            </a:r>
          </a:p>
          <a:p>
            <a:pPr lvl="1"/>
            <a:endParaRPr lang="en-US" dirty="0"/>
          </a:p>
          <a:p>
            <a:r>
              <a:rPr lang="en-US" dirty="0"/>
              <a:t>PCIe uses Low-voltage differential signaling (LVDS)</a:t>
            </a:r>
          </a:p>
          <a:p>
            <a:pPr lvl="1"/>
            <a:r>
              <a:rPr lang="en-US" dirty="0"/>
              <a:t>Passing a bit over two wires: D+ and D-</a:t>
            </a:r>
          </a:p>
          <a:p>
            <a:pPr lvl="1"/>
            <a:r>
              <a:rPr lang="en-US" dirty="0"/>
              <a:t>Receiving end checks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V=D</a:t>
            </a:r>
            <a:r>
              <a:rPr lang="en-US" b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-D</a:t>
            </a:r>
            <a:r>
              <a:rPr lang="en-US" b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</a:p>
          <a:p>
            <a:pPr lvl="1"/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Why?</a:t>
            </a:r>
          </a:p>
          <a:p>
            <a:pPr lvl="1"/>
            <a:endParaRPr lang="en-US" dirty="0"/>
          </a:p>
          <a:p>
            <a:r>
              <a:rPr lang="en-US" dirty="0"/>
              <a:t>Total 4 wires per lane (two wires in each direction)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F1850-DE4B-1373-D0D6-4895B17A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A9979-7346-0EF0-359C-D412AD042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29084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0BD6A-ABC9-1EA3-2339-EF72A3768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LVDS signaling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EDC21-43C7-530C-2383-460505F6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1F702-C850-C6EB-632E-737BBF47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A8294D-5FF9-431C-4A03-87005D14A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832" y="1690688"/>
            <a:ext cx="8016389" cy="462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589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7AB2-B5E0-89E9-AC7F-CD2162BA7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lane speeds</a:t>
            </a:r>
            <a:endParaRPr lang="en-IL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EF479FE-0B6B-1229-808D-27516D197C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506888"/>
              </p:ext>
            </p:extLst>
          </p:nvPr>
        </p:nvGraphicFramePr>
        <p:xfrm>
          <a:off x="838199" y="1921933"/>
          <a:ext cx="10929256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4">
                  <a:extLst>
                    <a:ext uri="{9D8B030D-6E8A-4147-A177-3AD203B41FA5}">
                      <a16:colId xmlns:a16="http://schemas.microsoft.com/office/drawing/2014/main" val="2488779026"/>
                    </a:ext>
                  </a:extLst>
                </a:gridCol>
                <a:gridCol w="2732314">
                  <a:extLst>
                    <a:ext uri="{9D8B030D-6E8A-4147-A177-3AD203B41FA5}">
                      <a16:colId xmlns:a16="http://schemas.microsoft.com/office/drawing/2014/main" val="3573587905"/>
                    </a:ext>
                  </a:extLst>
                </a:gridCol>
                <a:gridCol w="2732314">
                  <a:extLst>
                    <a:ext uri="{9D8B030D-6E8A-4147-A177-3AD203B41FA5}">
                      <a16:colId xmlns:a16="http://schemas.microsoft.com/office/drawing/2014/main" val="1905931954"/>
                    </a:ext>
                  </a:extLst>
                </a:gridCol>
                <a:gridCol w="2732314">
                  <a:extLst>
                    <a:ext uri="{9D8B030D-6E8A-4147-A177-3AD203B41FA5}">
                      <a16:colId xmlns:a16="http://schemas.microsoft.com/office/drawing/2014/main" val="1950966842"/>
                    </a:ext>
                  </a:extLst>
                </a:gridCol>
              </a:tblGrid>
              <a:tr h="274532">
                <a:tc>
                  <a:txBody>
                    <a:bodyPr/>
                    <a:lstStyle/>
                    <a:p>
                      <a:r>
                        <a:rPr lang="en-US" dirty="0"/>
                        <a:t>Generation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Lane speed (TPS)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Lane speed (bits/bytes)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365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PCIe 1.0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2.5GT/s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2gbs = 250MB/s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832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PCIe 2.0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5.0GT/s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4gbs = 500MB/s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711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PCIe 3.0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8.0GT/s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8gbs = 1GB/s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13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PCIe 4.0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16.0GT/s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16gbs = 2GB/s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8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PCIe 5.0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32.0GT/s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32gbs = 4GB/s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553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PCIe 6.0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64.0GT/s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64gbs = 8BG/s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PAM4 signaling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07751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9E436-CFED-E356-C357-70994E75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EFF8F-13B3-3B9A-48A4-85463FA9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44805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2C4FB-A761-8C01-8AE1-30071B090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HW/SW interface: Host-to-Device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FF14F-DE5F-87C0-8E4C-8BE3643BB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0514" cy="4351338"/>
          </a:xfrm>
        </p:spPr>
        <p:txBody>
          <a:bodyPr/>
          <a:lstStyle/>
          <a:p>
            <a:r>
              <a:rPr lang="en-US" dirty="0"/>
              <a:t>Device define memory spaces that can be mapped to OS/application</a:t>
            </a:r>
          </a:p>
          <a:p>
            <a:endParaRPr lang="en-US" dirty="0"/>
          </a:p>
          <a:p>
            <a:r>
              <a:rPr lang="en-US" dirty="0"/>
              <a:t>Device’s control registers and memory (as defined by their designer) are mapped to these regions</a:t>
            </a:r>
          </a:p>
          <a:p>
            <a:endParaRPr lang="en-US" dirty="0"/>
          </a:p>
          <a:p>
            <a:r>
              <a:rPr lang="en-US" dirty="0"/>
              <a:t>Regions controlled by Base Address Registers (BARs) in config space</a:t>
            </a:r>
          </a:p>
          <a:p>
            <a:pPr lvl="1"/>
            <a:r>
              <a:rPr lang="en-US" dirty="0"/>
              <a:t>Up to 6 BARs in 32b mode, 3 BARs in 64b mode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38D8E-D38B-9148-C8B6-3A46D0C7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1FE41-E770-9F65-75AF-0A77FEE1C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90805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61E2B-9B37-05E8-20C1-D4F2659C2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HW/SW interface: Host-to-Device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13E0F-1369-AA7C-B072-3112BD635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Broadcom NIC defined 3x 64KB spaces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923CF-D6D7-6260-8FA8-C176AF9A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527E14-09CE-0471-127D-C6661696F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3F68F5-B323-8812-1122-4A62CA57E4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-1" r="34131" b="18874"/>
          <a:stretch/>
        </p:blipFill>
        <p:spPr>
          <a:xfrm>
            <a:off x="275412" y="3727055"/>
            <a:ext cx="7668000" cy="2844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5692168-B701-393C-4A0C-110CA2D307D2}"/>
              </a:ext>
            </a:extLst>
          </p:cNvPr>
          <p:cNvSpPr/>
          <p:nvPr/>
        </p:nvSpPr>
        <p:spPr>
          <a:xfrm>
            <a:off x="1132114" y="5638802"/>
            <a:ext cx="6596743" cy="718457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9739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135F0-0882-41F4-9FE9-1FC3E0CE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60FF-C2A7-1D26-CB7D-5FEDFF1E7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HW/SW interface: Host-to-Device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7227-C2C8-A015-8EB6-C8C989A18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4351338"/>
          </a:xfrm>
        </p:spPr>
        <p:txBody>
          <a:bodyPr/>
          <a:lstStyle/>
          <a:p>
            <a:r>
              <a:rPr lang="en-US" dirty="0"/>
              <a:t>Broadcom NIC defined 3x 64KB spaces</a:t>
            </a:r>
          </a:p>
          <a:p>
            <a:r>
              <a:rPr lang="en-US" dirty="0"/>
              <a:t>BIOS/OS maps BARs to physical address space</a:t>
            </a:r>
            <a:br>
              <a:rPr lang="en-US" dirty="0"/>
            </a:br>
            <a:r>
              <a:rPr lang="en-US" dirty="0"/>
              <a:t>at enumeration time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3457A-313D-CD7F-BF2C-53AFE537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69E77-2113-1E7E-918E-099770CC4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 dirty="0"/>
              <a:t>00460882 </a:t>
            </a:r>
            <a:r>
              <a:rPr lang="en-US" dirty="0"/>
              <a:t> - HW/SW Co-design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3E67EF-8DEB-0A16-E6B9-23471A11752A}"/>
              </a:ext>
            </a:extLst>
          </p:cNvPr>
          <p:cNvSpPr/>
          <p:nvPr/>
        </p:nvSpPr>
        <p:spPr>
          <a:xfrm>
            <a:off x="10461171" y="1905000"/>
            <a:ext cx="1186543" cy="44460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24C57-C2ED-8442-C172-DF78930BDBD2}"/>
              </a:ext>
            </a:extLst>
          </p:cNvPr>
          <p:cNvSpPr txBox="1"/>
          <p:nvPr/>
        </p:nvSpPr>
        <p:spPr>
          <a:xfrm>
            <a:off x="10285629" y="1258669"/>
            <a:ext cx="1630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Phys. Address </a:t>
            </a:r>
            <a:br>
              <a:rPr lang="en-US" dirty="0"/>
            </a:br>
            <a:r>
              <a:rPr lang="en-US" dirty="0"/>
              <a:t>space (64b)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34A7A2-D7D2-1352-2477-FB84789D3CDE}"/>
              </a:ext>
            </a:extLst>
          </p:cNvPr>
          <p:cNvSpPr/>
          <p:nvPr/>
        </p:nvSpPr>
        <p:spPr>
          <a:xfrm>
            <a:off x="8965595" y="1905494"/>
            <a:ext cx="1186543" cy="1592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Phys. Memory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50861F-3977-43B3-760E-636E826FF2E7}"/>
              </a:ext>
            </a:extLst>
          </p:cNvPr>
          <p:cNvCxnSpPr/>
          <p:nvPr/>
        </p:nvCxnSpPr>
        <p:spPr>
          <a:xfrm>
            <a:off x="10461169" y="4454126"/>
            <a:ext cx="11865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FAC0DA8-DA1C-CCFC-DAD3-D46B3C7E53CF}"/>
              </a:ext>
            </a:extLst>
          </p:cNvPr>
          <p:cNvCxnSpPr/>
          <p:nvPr/>
        </p:nvCxnSpPr>
        <p:spPr>
          <a:xfrm>
            <a:off x="10461168" y="4809800"/>
            <a:ext cx="11865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0BB609B-9FA3-C4C7-B7C0-EE5344C560F8}"/>
              </a:ext>
            </a:extLst>
          </p:cNvPr>
          <p:cNvCxnSpPr/>
          <p:nvPr/>
        </p:nvCxnSpPr>
        <p:spPr>
          <a:xfrm>
            <a:off x="10461168" y="5516265"/>
            <a:ext cx="11865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A52538B-8C77-CE90-4FD3-D5BE7537D2C8}"/>
              </a:ext>
            </a:extLst>
          </p:cNvPr>
          <p:cNvSpPr txBox="1"/>
          <p:nvPr/>
        </p:nvSpPr>
        <p:spPr>
          <a:xfrm>
            <a:off x="10489633" y="4392817"/>
            <a:ext cx="1135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0x91b30000</a:t>
            </a:r>
            <a:endParaRPr lang="en-IL" sz="14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B2DD02E-65AB-F946-0EA6-EFFC250080A1}"/>
              </a:ext>
            </a:extLst>
          </p:cNvPr>
          <p:cNvGrpSpPr/>
          <p:nvPr/>
        </p:nvGrpSpPr>
        <p:grpSpPr>
          <a:xfrm>
            <a:off x="8986153" y="4442404"/>
            <a:ext cx="1487595" cy="528120"/>
            <a:chOff x="8986153" y="4653422"/>
            <a:chExt cx="1487595" cy="52812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586255-C2EF-4765-06F7-2DC689624880}"/>
                </a:ext>
              </a:extLst>
            </p:cNvPr>
            <p:cNvSpPr/>
            <p:nvPr/>
          </p:nvSpPr>
          <p:spPr>
            <a:xfrm>
              <a:off x="8986153" y="4816417"/>
              <a:ext cx="1186543" cy="3651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BAR0</a:t>
              </a:r>
              <a:endParaRPr lang="en-IL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78A4965-2795-3E14-4DD8-56C5BDCA7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72696" y="4653422"/>
              <a:ext cx="288472" cy="1595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6968DCD-0AB3-AB96-C894-12188605B6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85276" y="5011100"/>
              <a:ext cx="288472" cy="1595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D2F138F-7783-FA6B-AC65-170EB499CC67}"/>
              </a:ext>
            </a:extLst>
          </p:cNvPr>
          <p:cNvGrpSpPr/>
          <p:nvPr/>
        </p:nvGrpSpPr>
        <p:grpSpPr>
          <a:xfrm>
            <a:off x="8986152" y="4826756"/>
            <a:ext cx="1487592" cy="515055"/>
            <a:chOff x="8986152" y="5175098"/>
            <a:chExt cx="1487592" cy="5150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01C0EA-733E-47A3-9A6B-5344C8840B04}"/>
                </a:ext>
              </a:extLst>
            </p:cNvPr>
            <p:cNvSpPr/>
            <p:nvPr/>
          </p:nvSpPr>
          <p:spPr>
            <a:xfrm>
              <a:off x="8986152" y="5325028"/>
              <a:ext cx="1186543" cy="3651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BAR2</a:t>
              </a:r>
              <a:endParaRPr lang="en-IL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903E97D-60EE-4E35-4143-8C6CE61D3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72692" y="5175098"/>
              <a:ext cx="288472" cy="1595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A652E90-D847-3C27-149A-1B31AF3E65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85272" y="5521052"/>
              <a:ext cx="288472" cy="1595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0CB3117-7970-76EB-0A10-5D74ABAE2A71}"/>
              </a:ext>
            </a:extLst>
          </p:cNvPr>
          <p:cNvGrpSpPr/>
          <p:nvPr/>
        </p:nvGrpSpPr>
        <p:grpSpPr>
          <a:xfrm>
            <a:off x="8986155" y="5186833"/>
            <a:ext cx="1481721" cy="522884"/>
            <a:chOff x="8986155" y="5632307"/>
            <a:chExt cx="1481721" cy="52288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B5B075-D643-3255-2E8B-6AC0FC0154E9}"/>
                </a:ext>
              </a:extLst>
            </p:cNvPr>
            <p:cNvSpPr/>
            <p:nvPr/>
          </p:nvSpPr>
          <p:spPr>
            <a:xfrm>
              <a:off x="8986155" y="5790066"/>
              <a:ext cx="1186543" cy="3651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BAR4</a:t>
              </a:r>
              <a:endParaRPr lang="en-IL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DA2CE73-A52C-8C1D-7E32-42E26168E5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78548" y="5632307"/>
              <a:ext cx="288472" cy="1595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0AB9EC5-758E-78FA-AAAF-7D4BF8C86F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79404" y="5989985"/>
              <a:ext cx="288472" cy="1595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D94F38E-024D-DEA4-0520-6BF2FC5E9C92}"/>
              </a:ext>
            </a:extLst>
          </p:cNvPr>
          <p:cNvSpPr txBox="1"/>
          <p:nvPr/>
        </p:nvSpPr>
        <p:spPr>
          <a:xfrm>
            <a:off x="10486815" y="4762912"/>
            <a:ext cx="1135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0x91b40000</a:t>
            </a:r>
            <a:endParaRPr lang="en-IL" sz="14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DB2019-8EF6-6A74-68C0-F60CFD83633E}"/>
              </a:ext>
            </a:extLst>
          </p:cNvPr>
          <p:cNvCxnSpPr/>
          <p:nvPr/>
        </p:nvCxnSpPr>
        <p:spPr>
          <a:xfrm>
            <a:off x="10473744" y="5175644"/>
            <a:ext cx="11865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30C9742-3EC2-73B1-796F-82B3AF60AE86}"/>
              </a:ext>
            </a:extLst>
          </p:cNvPr>
          <p:cNvSpPr txBox="1"/>
          <p:nvPr/>
        </p:nvSpPr>
        <p:spPr>
          <a:xfrm>
            <a:off x="10486815" y="5114283"/>
            <a:ext cx="1135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0x91b50000</a:t>
            </a:r>
            <a:endParaRPr lang="en-IL" sz="14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980E2AF-0A16-91BE-B507-F084705CA6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-1" r="34131" b="18874"/>
          <a:stretch/>
        </p:blipFill>
        <p:spPr>
          <a:xfrm>
            <a:off x="275412" y="3727055"/>
            <a:ext cx="7668000" cy="284400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8F0436DF-95F5-A4EE-003F-FD625C2CD037}"/>
              </a:ext>
            </a:extLst>
          </p:cNvPr>
          <p:cNvSpPr/>
          <p:nvPr/>
        </p:nvSpPr>
        <p:spPr>
          <a:xfrm>
            <a:off x="1132114" y="5638802"/>
            <a:ext cx="6596743" cy="718457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860C82F-E0A8-622A-11AC-EF639FF69224}"/>
              </a:ext>
            </a:extLst>
          </p:cNvPr>
          <p:cNvGrpSpPr/>
          <p:nvPr/>
        </p:nvGrpSpPr>
        <p:grpSpPr>
          <a:xfrm>
            <a:off x="8986277" y="3985574"/>
            <a:ext cx="1487595" cy="528120"/>
            <a:chOff x="8986153" y="4653422"/>
            <a:chExt cx="1487595" cy="52812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7D141FD-CABC-43A2-7AEA-94E3616DE731}"/>
                </a:ext>
              </a:extLst>
            </p:cNvPr>
            <p:cNvSpPr/>
            <p:nvPr/>
          </p:nvSpPr>
          <p:spPr>
            <a:xfrm>
              <a:off x="8986153" y="4816417"/>
              <a:ext cx="1186543" cy="3651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config</a:t>
              </a:r>
              <a:endParaRPr lang="en-IL" dirty="0">
                <a:solidFill>
                  <a:schemeClr val="tx1"/>
                </a:solidFill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AF5BAED-7831-49F1-6130-4894F7EFC4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72696" y="4653422"/>
              <a:ext cx="288472" cy="1595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38DD171-DD29-8141-5B18-3240B42366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85276" y="5011100"/>
              <a:ext cx="288472" cy="1595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BDA3DBD-F5A9-A7BD-FC08-8F1B644907C4}"/>
              </a:ext>
            </a:extLst>
          </p:cNvPr>
          <p:cNvCxnSpPr/>
          <p:nvPr/>
        </p:nvCxnSpPr>
        <p:spPr>
          <a:xfrm>
            <a:off x="10461168" y="3991058"/>
            <a:ext cx="11865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767E908-5A2B-238C-B69D-26B31EFB92E7}"/>
              </a:ext>
            </a:extLst>
          </p:cNvPr>
          <p:cNvCxnSpPr/>
          <p:nvPr/>
        </p:nvCxnSpPr>
        <p:spPr>
          <a:xfrm>
            <a:off x="10461052" y="4354850"/>
            <a:ext cx="11865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246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CB7CD-D757-24E9-E5B6-3C4AF1F70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HW/SW interface: Host-to-Device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FF378-C2E8-FD34-50CF-960CED14C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Host only accesses device logic through BARs</a:t>
            </a:r>
          </a:p>
          <a:p>
            <a:pPr lvl="1"/>
            <a:r>
              <a:rPr lang="en-US" dirty="0"/>
              <a:t>And whatever the designer put in the BARs</a:t>
            </a:r>
          </a:p>
          <a:p>
            <a:pPr lvl="1"/>
            <a:endParaRPr lang="en-US" dirty="0"/>
          </a:p>
          <a:p>
            <a:r>
              <a:rPr lang="en-US" dirty="0"/>
              <a:t>When host accesses a BAR, the PCIe root complex translates the memory address into a BDF address</a:t>
            </a:r>
          </a:p>
          <a:p>
            <a:endParaRPr lang="en-US" dirty="0"/>
          </a:p>
          <a:p>
            <a:r>
              <a:rPr lang="en-US" dirty="0"/>
              <a:t>Packet is sent to BDF address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073B7-F1B8-3BAD-328D-171EDD1D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3A630-23D2-8AA3-0605-C0FA56665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32060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63BE8-EA2D-22CC-C3C3-5593DDE0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392B1-29D6-BED9-4E20-682A89B23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HW/SW interface: Device-to-Host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47FBE-B399-00F4-622A-18C43384A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34057" cy="4351338"/>
          </a:xfrm>
        </p:spPr>
        <p:txBody>
          <a:bodyPr/>
          <a:lstStyle/>
          <a:p>
            <a:r>
              <a:rPr lang="en-US" dirty="0"/>
              <a:t>Devices see the IO address space, defined by the host</a:t>
            </a:r>
          </a:p>
          <a:p>
            <a:endParaRPr lang="en-US" dirty="0"/>
          </a:p>
          <a:p>
            <a:r>
              <a:rPr lang="en-US" dirty="0"/>
              <a:t>All device accesses go to addresses in the IO space</a:t>
            </a:r>
          </a:p>
          <a:p>
            <a:pPr lvl="1"/>
            <a:r>
              <a:rPr lang="en-US" dirty="0"/>
              <a:t>Even interrupts use special addresses</a:t>
            </a:r>
          </a:p>
          <a:p>
            <a:pPr lvl="1"/>
            <a:endParaRPr lang="en-US" dirty="0"/>
          </a:p>
          <a:p>
            <a:r>
              <a:rPr lang="en-US" dirty="0"/>
              <a:t>Host uses IOMMU to map device memory accesses to phys. memory</a:t>
            </a:r>
          </a:p>
          <a:p>
            <a:endParaRPr lang="en-US" dirty="0"/>
          </a:p>
          <a:p>
            <a:r>
              <a:rPr lang="en-US" dirty="0"/>
              <a:t>IOMMU uses device’s BDF address to find the per-device page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89FF2-5F79-3257-2C92-6EEF7C306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BBB81B-FBB2-B361-484D-22CCFD1E5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85244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701D0-F556-44F5-9C6E-7C106151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HW/SW interface: Device-to-Host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73D21-CC4E-9B52-5560-3EAAABED9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376DE-72A3-17BD-CA07-0DD23337B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616723-168A-8B8F-B805-594D31837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8641" y="1912711"/>
            <a:ext cx="8374527" cy="503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7384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FED24-9D6C-7A61-7F6A-87C6475A8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PCIe support for device virtualization</a:t>
            </a:r>
            <a:br>
              <a:rPr lang="en-US" dirty="0"/>
            </a:br>
            <a:r>
              <a:rPr lang="en-US" sz="3200" dirty="0"/>
              <a:t>HW/SW co-design example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9CDBE-9AF2-4DC4-14EA-B70A329C4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837822"/>
          </a:xfrm>
        </p:spPr>
        <p:txBody>
          <a:bodyPr>
            <a:normAutofit/>
          </a:bodyPr>
          <a:lstStyle/>
          <a:p>
            <a:r>
              <a:rPr lang="en-US" dirty="0"/>
              <a:t>A device can be mapped to a VM/container/app using the IOMMU</a:t>
            </a:r>
          </a:p>
          <a:p>
            <a:pPr lvl="1"/>
            <a:r>
              <a:rPr lang="en-US" dirty="0"/>
              <a:t>But the number of devices is limited</a:t>
            </a:r>
          </a:p>
          <a:p>
            <a:pPr lvl="1"/>
            <a:r>
              <a:rPr lang="en-US" dirty="0"/>
              <a:t>Can we dynamically allocate new virtual devices?</a:t>
            </a:r>
          </a:p>
          <a:p>
            <a:pPr lvl="1"/>
            <a:endParaRPr lang="en-US" dirty="0"/>
          </a:p>
          <a:p>
            <a:r>
              <a:rPr lang="en-US" dirty="0"/>
              <a:t>PCIe </a:t>
            </a:r>
            <a:r>
              <a:rPr lang="en-US" b="1" dirty="0"/>
              <a:t>Single-root IO Virtualization</a:t>
            </a:r>
            <a:r>
              <a:rPr lang="en-US" dirty="0"/>
              <a:t> (SR-IOV)</a:t>
            </a:r>
          </a:p>
          <a:p>
            <a:pPr lvl="1"/>
            <a:r>
              <a:rPr lang="en-US" dirty="0"/>
              <a:t>Every device has a physical function 0</a:t>
            </a:r>
          </a:p>
          <a:p>
            <a:pPr lvl="1"/>
            <a:r>
              <a:rPr lang="en-US" dirty="0"/>
              <a:t>SR-IOV lets host dynamically create/destroy virtual functions </a:t>
            </a:r>
          </a:p>
          <a:p>
            <a:pPr lvl="2"/>
            <a:r>
              <a:rPr lang="en-US" dirty="0"/>
              <a:t>Using Hypervisor-controlled physical function 0</a:t>
            </a:r>
          </a:p>
          <a:p>
            <a:pPr lvl="1"/>
            <a:r>
              <a:rPr lang="en-US" dirty="0"/>
              <a:t>Each virtual function has its own BARs that can be mapped to VM/container/app</a:t>
            </a:r>
          </a:p>
          <a:p>
            <a:pPr lvl="1"/>
            <a:endParaRPr lang="en-US" dirty="0"/>
          </a:p>
          <a:p>
            <a:r>
              <a:rPr lang="en-US" dirty="0"/>
              <a:t>Device designer defines how to multiplex requests from all its functions</a:t>
            </a:r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455DC-1AD2-6C94-0195-2F986E61B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CAF1C-EAA4-38D7-2BB3-C1A16DB81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4602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E6D4D-D19E-59AB-44C5-9436D9481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A7E253-9C43-38D8-97F5-165FF7F17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EEB023-4D5B-9F97-B67E-DE75D9256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967" y="0"/>
            <a:ext cx="629257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61AE67-EB61-B342-D168-56B9759F01B1}"/>
              </a:ext>
            </a:extLst>
          </p:cNvPr>
          <p:cNvSpPr txBox="1"/>
          <p:nvPr/>
        </p:nvSpPr>
        <p:spPr>
          <a:xfrm>
            <a:off x="191039" y="612568"/>
            <a:ext cx="2497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Native system</a:t>
            </a:r>
            <a:endParaRPr lang="en-IL" sz="2800" b="1" dirty="0"/>
          </a:p>
        </p:txBody>
      </p:sp>
    </p:spTree>
    <p:extLst>
      <p:ext uri="{BB962C8B-B14F-4D97-AF65-F5344CB8AC3E}">
        <p14:creationId xmlns:p14="http://schemas.microsoft.com/office/powerpoint/2010/main" val="2822847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14C30-CD44-F51A-A7FA-1CAA939C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3B92E-4BCC-2B96-AFE2-682F6447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906A89-10A6-EFAC-A0C7-A054A0949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966" y="0"/>
            <a:ext cx="563806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7739A4-7594-939F-C49A-BADAE1C81AEE}"/>
              </a:ext>
            </a:extLst>
          </p:cNvPr>
          <p:cNvSpPr txBox="1"/>
          <p:nvPr/>
        </p:nvSpPr>
        <p:spPr>
          <a:xfrm>
            <a:off x="8776050" y="983343"/>
            <a:ext cx="1736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=hypervisor</a:t>
            </a:r>
            <a:endParaRPr lang="en-IL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380557-84F3-04F5-E758-A02FE314DAB2}"/>
              </a:ext>
            </a:extLst>
          </p:cNvPr>
          <p:cNvSpPr txBox="1"/>
          <p:nvPr/>
        </p:nvSpPr>
        <p:spPr>
          <a:xfrm>
            <a:off x="8776050" y="150903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=VMs</a:t>
            </a:r>
            <a:endParaRPr lang="en-IL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A022C-32FC-8244-AE74-DD45CE45875F}"/>
              </a:ext>
            </a:extLst>
          </p:cNvPr>
          <p:cNvSpPr txBox="1"/>
          <p:nvPr/>
        </p:nvSpPr>
        <p:spPr>
          <a:xfrm>
            <a:off x="191039" y="612568"/>
            <a:ext cx="295298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SW virtualization</a:t>
            </a:r>
            <a:br>
              <a:rPr lang="en-US" sz="2800" b="1" dirty="0"/>
            </a:br>
            <a:r>
              <a:rPr lang="en-US" sz="2800" b="1" dirty="0"/>
              <a:t>(no SR-IOV)</a:t>
            </a:r>
            <a:endParaRPr lang="en-IL" sz="2800" b="1" dirty="0"/>
          </a:p>
        </p:txBody>
      </p:sp>
    </p:spTree>
    <p:extLst>
      <p:ext uri="{BB962C8B-B14F-4D97-AF65-F5344CB8AC3E}">
        <p14:creationId xmlns:p14="http://schemas.microsoft.com/office/powerpoint/2010/main" val="30768759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F335D-11C5-0A28-51D2-A091E267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CB35D4-BFFB-E764-41E0-F8320E282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C2640-2DFC-7176-786C-4AF5BAD35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715" y="0"/>
            <a:ext cx="456056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CCDB74-201C-6436-BDAE-BAB969021B35}"/>
              </a:ext>
            </a:extLst>
          </p:cNvPr>
          <p:cNvSpPr txBox="1"/>
          <p:nvPr/>
        </p:nvSpPr>
        <p:spPr>
          <a:xfrm>
            <a:off x="8044420" y="680040"/>
            <a:ext cx="1736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=hypervisor</a:t>
            </a:r>
            <a:endParaRPr lang="en-IL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51C9C-7E53-6327-B72B-EB9E4C4E9468}"/>
              </a:ext>
            </a:extLst>
          </p:cNvPr>
          <p:cNvSpPr txBox="1"/>
          <p:nvPr/>
        </p:nvSpPr>
        <p:spPr>
          <a:xfrm>
            <a:off x="8044420" y="0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=VMs</a:t>
            </a:r>
            <a:endParaRPr lang="en-IL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87718-D257-020C-2841-BBDD1490CA51}"/>
              </a:ext>
            </a:extLst>
          </p:cNvPr>
          <p:cNvSpPr txBox="1"/>
          <p:nvPr/>
        </p:nvSpPr>
        <p:spPr>
          <a:xfrm>
            <a:off x="8827633" y="1686652"/>
            <a:ext cx="3069623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SR-PCIM</a:t>
            </a:r>
            <a:r>
              <a:rPr lang="en-US" sz="2000" dirty="0"/>
              <a:t>: </a:t>
            </a:r>
            <a:br>
              <a:rPr lang="en-US" sz="2000" dirty="0"/>
            </a:br>
            <a:r>
              <a:rPr lang="en-US" sz="2000" dirty="0"/>
              <a:t>SW that controls SR-IOV</a:t>
            </a:r>
          </a:p>
          <a:p>
            <a:r>
              <a:rPr lang="en-US" sz="2000" dirty="0"/>
              <a:t>(single-root PCI manager)</a:t>
            </a:r>
          </a:p>
          <a:p>
            <a:endParaRPr lang="en-US" sz="2000" dirty="0"/>
          </a:p>
          <a:p>
            <a:r>
              <a:rPr lang="en-US" sz="2000" b="1" dirty="0"/>
              <a:t>Translation agent</a:t>
            </a:r>
            <a:r>
              <a:rPr lang="en-US" sz="2000" dirty="0"/>
              <a:t>: </a:t>
            </a:r>
            <a:br>
              <a:rPr lang="en-US" sz="2000" dirty="0"/>
            </a:br>
            <a:r>
              <a:rPr lang="en-US" sz="2000" dirty="0"/>
              <a:t>Address translation </a:t>
            </a:r>
            <a:br>
              <a:rPr lang="en-US" sz="2000" dirty="0"/>
            </a:br>
            <a:r>
              <a:rPr lang="en-US" sz="2000" dirty="0"/>
              <a:t>logic in IOMMU</a:t>
            </a:r>
          </a:p>
          <a:p>
            <a:endParaRPr lang="en-US" sz="2000" dirty="0"/>
          </a:p>
          <a:p>
            <a:r>
              <a:rPr lang="en-US" sz="2000" b="1" dirty="0"/>
              <a:t>ATPT:  </a:t>
            </a:r>
            <a:br>
              <a:rPr lang="en-US" sz="2000" b="1" dirty="0"/>
            </a:br>
            <a:r>
              <a:rPr lang="en-US" sz="2000" dirty="0"/>
              <a:t>IOMMU page table</a:t>
            </a:r>
          </a:p>
          <a:p>
            <a:endParaRPr lang="en-US" sz="2000" dirty="0"/>
          </a:p>
          <a:p>
            <a:r>
              <a:rPr lang="en-US" sz="2000" b="1" dirty="0"/>
              <a:t>ATC:</a:t>
            </a:r>
            <a:br>
              <a:rPr lang="en-US" sz="2000" dirty="0"/>
            </a:br>
            <a:r>
              <a:rPr lang="en-US" sz="2000" dirty="0"/>
              <a:t>Address translation cache</a:t>
            </a:r>
          </a:p>
          <a:p>
            <a:r>
              <a:rPr lang="en-US" sz="2000" dirty="0"/>
              <a:t>(more on that soon)</a:t>
            </a:r>
            <a:endParaRPr lang="en-IL" sz="20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ACAA286-5A22-D887-CF58-6AB6E1900B42}"/>
              </a:ext>
            </a:extLst>
          </p:cNvPr>
          <p:cNvSpPr/>
          <p:nvPr/>
        </p:nvSpPr>
        <p:spPr>
          <a:xfrm>
            <a:off x="3635829" y="5116286"/>
            <a:ext cx="1665514" cy="2939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E16FC0-8FD5-63EB-C233-C3CD8CC9E8E0}"/>
              </a:ext>
            </a:extLst>
          </p:cNvPr>
          <p:cNvSpPr txBox="1"/>
          <p:nvPr/>
        </p:nvSpPr>
        <p:spPr>
          <a:xfrm>
            <a:off x="166577" y="612568"/>
            <a:ext cx="300191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HW virtualization</a:t>
            </a:r>
            <a:br>
              <a:rPr lang="en-US" sz="2800" b="1" dirty="0"/>
            </a:br>
            <a:r>
              <a:rPr lang="en-US" sz="2800" b="1" dirty="0"/>
              <a:t>(SR-IOV)</a:t>
            </a:r>
            <a:endParaRPr lang="en-IL" sz="2800" b="1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C559A56-A916-BAEF-793A-E603DFA76DAE}"/>
              </a:ext>
            </a:extLst>
          </p:cNvPr>
          <p:cNvSpPr/>
          <p:nvPr/>
        </p:nvSpPr>
        <p:spPr>
          <a:xfrm>
            <a:off x="5094515" y="6329588"/>
            <a:ext cx="1665514" cy="2939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DBDF4A3-122B-568D-CFE7-A0936B370029}"/>
              </a:ext>
            </a:extLst>
          </p:cNvPr>
          <p:cNvSpPr/>
          <p:nvPr/>
        </p:nvSpPr>
        <p:spPr>
          <a:xfrm>
            <a:off x="6781799" y="6329591"/>
            <a:ext cx="1665514" cy="2939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88AEEAE-70F0-7F75-3A46-A4AAA2EA0EA9}"/>
              </a:ext>
            </a:extLst>
          </p:cNvPr>
          <p:cNvCxnSpPr/>
          <p:nvPr/>
        </p:nvCxnSpPr>
        <p:spPr>
          <a:xfrm>
            <a:off x="573932" y="4212078"/>
            <a:ext cx="7873381" cy="0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6CE530-352B-2245-5F28-32F54934FA9C}"/>
              </a:ext>
            </a:extLst>
          </p:cNvPr>
          <p:cNvSpPr txBox="1"/>
          <p:nvPr/>
        </p:nvSpPr>
        <p:spPr>
          <a:xfrm>
            <a:off x="447472" y="3887254"/>
            <a:ext cx="165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Chip boundary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915184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D0D0-1CA7-749F-D3E5-DEA3E196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HW/SW co-design challenges in PCIe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9B465-5BA7-F80F-0E6D-DED87798A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PCIe is a central component in modern systems</a:t>
            </a:r>
          </a:p>
          <a:p>
            <a:endParaRPr lang="en-US" dirty="0"/>
          </a:p>
          <a:p>
            <a:r>
              <a:rPr lang="en-US" dirty="0"/>
              <a:t>As such, it poses many improvement opportunities</a:t>
            </a:r>
          </a:p>
          <a:p>
            <a:pPr lvl="1"/>
            <a:r>
              <a:rPr lang="en-US" dirty="0"/>
              <a:t>E.g., performance bottlenecks, security challenges, scaling challenges</a:t>
            </a:r>
          </a:p>
          <a:p>
            <a:pPr lvl="1"/>
            <a:endParaRPr lang="en-US" dirty="0"/>
          </a:p>
          <a:p>
            <a:r>
              <a:rPr lang="en-US" dirty="0"/>
              <a:t>Let’s examine some of the challenges in the virtualization domain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FA243-71AD-39C8-7573-99F28C411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845B0-CCC1-CA67-7647-7C117BA67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387209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2CBC-4EF2-EEA7-BBEB-6A43D5F24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IOMMU throughput: The challenge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82C3-6B51-E637-7DBF-D32CF0770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traffic to the host goes through the IOMMU</a:t>
            </a:r>
          </a:p>
          <a:p>
            <a:endParaRPr lang="en-US" dirty="0"/>
          </a:p>
          <a:p>
            <a:r>
              <a:rPr lang="en-US" dirty="0"/>
              <a:t>IOMMU translation throughput can become a bottleneck</a:t>
            </a:r>
          </a:p>
          <a:p>
            <a:pPr lvl="1"/>
            <a:r>
              <a:rPr lang="en-US" dirty="0"/>
              <a:t>800gbs Ethernet NIC = 100GB/s</a:t>
            </a:r>
          </a:p>
          <a:p>
            <a:pPr lvl="1"/>
            <a:r>
              <a:rPr lang="en-US" dirty="0"/>
              <a:t>1500B frames: 66,666,667 translations/sec</a:t>
            </a:r>
          </a:p>
          <a:p>
            <a:pPr lvl="1"/>
            <a:r>
              <a:rPr lang="en-US" dirty="0"/>
              <a:t>64B frames: </a:t>
            </a:r>
            <a:r>
              <a:rPr lang="en-IL" b="0" i="0" dirty="0">
                <a:solidFill>
                  <a:srgbClr val="1F1F1F"/>
                </a:solidFill>
                <a:effectLst/>
                <a:latin typeface="Google Sans"/>
              </a:rPr>
              <a:t>1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,</a:t>
            </a:r>
            <a:r>
              <a:rPr lang="en-IL" b="0" i="0" dirty="0">
                <a:solidFill>
                  <a:srgbClr val="1F1F1F"/>
                </a:solidFill>
                <a:effectLst/>
                <a:latin typeface="Google Sans"/>
              </a:rPr>
              <a:t>562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,</a:t>
            </a:r>
            <a:r>
              <a:rPr lang="en-IL" b="0" i="0" dirty="0">
                <a:solidFill>
                  <a:srgbClr val="1F1F1F"/>
                </a:solidFill>
                <a:effectLst/>
                <a:latin typeface="Google Sans"/>
              </a:rPr>
              <a:t>500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,000 translations/sec</a:t>
            </a:r>
          </a:p>
          <a:p>
            <a:pPr lvl="1"/>
            <a:endParaRPr lang="en-US" dirty="0">
              <a:solidFill>
                <a:srgbClr val="1F1F1F"/>
              </a:solidFill>
              <a:latin typeface="Google Sans"/>
            </a:endParaRPr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F18D1-09B1-1C5B-243D-037F34961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13618-334A-7CDE-B404-347499B48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261959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54A1A-B37A-9149-6935-3C903933D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79ACC-D83A-F800-27F8-EEEE8B3F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IOMMU throughput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84539-03C1-EEB5-F878-A3BABCDC3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Hot research topic</a:t>
            </a:r>
          </a:p>
          <a:p>
            <a:pPr lvl="1"/>
            <a:endParaRPr lang="en-US" sz="2400" dirty="0"/>
          </a:p>
          <a:p>
            <a:r>
              <a:rPr lang="en-US" dirty="0"/>
              <a:t>Malka et al., “</a:t>
            </a:r>
            <a:r>
              <a:rPr lang="en-US" dirty="0" err="1"/>
              <a:t>rIOMMU</a:t>
            </a:r>
            <a:r>
              <a:rPr lang="en-US" dirty="0"/>
              <a:t>: Efficient IOMMU for I/O devices that employ ring buffers”. In ASPLOS 2015</a:t>
            </a:r>
          </a:p>
          <a:p>
            <a:pPr lvl="1"/>
            <a:r>
              <a:rPr lang="en-US" b="1" dirty="0"/>
              <a:t>Idea:</a:t>
            </a:r>
            <a:r>
              <a:rPr lang="en-US" dirty="0"/>
              <a:t> Refactor IOMMU to use lists of buffers instead of page tables</a:t>
            </a:r>
          </a:p>
          <a:p>
            <a:pPr lvl="1"/>
            <a:r>
              <a:rPr lang="en-US" b="1" dirty="0"/>
              <a:t>Pros: </a:t>
            </a:r>
            <a:r>
              <a:rPr lang="en-US" dirty="0"/>
              <a:t>Access pattern matches NIC traffic</a:t>
            </a:r>
          </a:p>
          <a:p>
            <a:pPr lvl="1"/>
            <a:r>
              <a:rPr lang="en-US" b="1" dirty="0"/>
              <a:t>Cons: </a:t>
            </a:r>
            <a:r>
              <a:rPr lang="en-US" dirty="0"/>
              <a:t>GPUs exhibit different traffic patterns (not just ring buffers)</a:t>
            </a:r>
          </a:p>
          <a:p>
            <a:pPr lvl="1"/>
            <a:endParaRPr lang="en-US" dirty="0"/>
          </a:p>
          <a:p>
            <a:r>
              <a:rPr lang="en-US" dirty="0"/>
              <a:t>Real world (PCIe specification):</a:t>
            </a:r>
          </a:p>
          <a:p>
            <a:pPr lvl="1"/>
            <a:r>
              <a:rPr lang="en-US" dirty="0"/>
              <a:t>Multiple IOMMUs per chip/root complex</a:t>
            </a:r>
          </a:p>
          <a:p>
            <a:pPr lvl="1"/>
            <a:r>
              <a:rPr lang="en-US" dirty="0"/>
              <a:t>Increase IOTLB as much as possible</a:t>
            </a:r>
          </a:p>
          <a:p>
            <a:pPr lvl="1"/>
            <a:r>
              <a:rPr lang="en-US" dirty="0"/>
              <a:t>Distribute IOTLB by pushing caches to devices</a:t>
            </a:r>
          </a:p>
          <a:p>
            <a:pPr lvl="1"/>
            <a:endParaRPr lang="en-US" dirty="0">
              <a:solidFill>
                <a:srgbClr val="1F1F1F"/>
              </a:solidFill>
              <a:latin typeface="Google Sans"/>
            </a:endParaRPr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E219B-A42F-92D2-8A70-DF58CF8C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D731-9C8E-431D-DFF0-A647F6B41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759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2D73A-FEB6-816E-CB47-C1E966F14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E838E-C393-BDFC-962F-D2CF28D8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96170-BD73-6C0B-1C77-F9E268F80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AE39CC-2D45-88BA-AACF-7FC110AE1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715" y="0"/>
            <a:ext cx="456056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86C3DF-C022-4262-FA28-49393A704646}"/>
              </a:ext>
            </a:extLst>
          </p:cNvPr>
          <p:cNvSpPr txBox="1"/>
          <p:nvPr/>
        </p:nvSpPr>
        <p:spPr>
          <a:xfrm>
            <a:off x="8044420" y="680040"/>
            <a:ext cx="1736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=hypervisor</a:t>
            </a:r>
            <a:endParaRPr lang="en-IL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4BAB0E-4C45-994C-D4B0-4656734D42DB}"/>
              </a:ext>
            </a:extLst>
          </p:cNvPr>
          <p:cNvSpPr txBox="1"/>
          <p:nvPr/>
        </p:nvSpPr>
        <p:spPr>
          <a:xfrm>
            <a:off x="8044420" y="0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=VMs</a:t>
            </a:r>
            <a:endParaRPr lang="en-IL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9893EF-9339-3448-98EC-928CC6A5A3C6}"/>
              </a:ext>
            </a:extLst>
          </p:cNvPr>
          <p:cNvSpPr txBox="1"/>
          <p:nvPr/>
        </p:nvSpPr>
        <p:spPr>
          <a:xfrm>
            <a:off x="8827633" y="1686652"/>
            <a:ext cx="3069623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SR-PCIM</a:t>
            </a:r>
            <a:r>
              <a:rPr lang="en-US" sz="2000" dirty="0"/>
              <a:t>: </a:t>
            </a:r>
            <a:br>
              <a:rPr lang="en-US" sz="2000" dirty="0"/>
            </a:br>
            <a:r>
              <a:rPr lang="en-US" sz="2000" dirty="0"/>
              <a:t>SW that controls SR-IOV</a:t>
            </a:r>
          </a:p>
          <a:p>
            <a:r>
              <a:rPr lang="en-US" sz="2000" dirty="0"/>
              <a:t>(single-root PCI manager)</a:t>
            </a:r>
          </a:p>
          <a:p>
            <a:endParaRPr lang="en-US" sz="2000" dirty="0"/>
          </a:p>
          <a:p>
            <a:r>
              <a:rPr lang="en-US" sz="2000" b="1" dirty="0"/>
              <a:t>Translation agent</a:t>
            </a:r>
            <a:r>
              <a:rPr lang="en-US" sz="2000" dirty="0"/>
              <a:t>: </a:t>
            </a:r>
            <a:br>
              <a:rPr lang="en-US" sz="2000" dirty="0"/>
            </a:br>
            <a:r>
              <a:rPr lang="en-US" sz="2000" dirty="0"/>
              <a:t>Address translation </a:t>
            </a:r>
            <a:br>
              <a:rPr lang="en-US" sz="2000" dirty="0"/>
            </a:br>
            <a:r>
              <a:rPr lang="en-US" sz="2000" dirty="0"/>
              <a:t>logic in IOMMU</a:t>
            </a:r>
          </a:p>
          <a:p>
            <a:endParaRPr lang="en-US" sz="2000" dirty="0"/>
          </a:p>
          <a:p>
            <a:r>
              <a:rPr lang="en-US" sz="2000" b="1" dirty="0"/>
              <a:t>ATPT:  </a:t>
            </a:r>
            <a:br>
              <a:rPr lang="en-US" sz="2000" b="1" dirty="0"/>
            </a:br>
            <a:r>
              <a:rPr lang="en-US" sz="2000" dirty="0"/>
              <a:t>IOMMU page table</a:t>
            </a:r>
          </a:p>
          <a:p>
            <a:endParaRPr lang="en-US" sz="2000" dirty="0"/>
          </a:p>
          <a:p>
            <a:r>
              <a:rPr lang="en-US" sz="2000" b="1" dirty="0"/>
              <a:t>ATC:</a:t>
            </a:r>
            <a:br>
              <a:rPr lang="en-US" sz="2000" dirty="0"/>
            </a:br>
            <a:r>
              <a:rPr lang="en-US" sz="2000" dirty="0"/>
              <a:t>Address translation cache</a:t>
            </a:r>
          </a:p>
          <a:p>
            <a:r>
              <a:rPr lang="en-US" sz="2000" dirty="0"/>
              <a:t>(</a:t>
            </a:r>
            <a:r>
              <a:rPr lang="en-US" sz="2000" b="1" dirty="0"/>
              <a:t>now’s the time!</a:t>
            </a:r>
            <a:r>
              <a:rPr lang="en-US" sz="2000" dirty="0"/>
              <a:t>)</a:t>
            </a:r>
          </a:p>
          <a:p>
            <a:r>
              <a:rPr lang="en-US" sz="2000" dirty="0"/>
              <a:t>- Aka </a:t>
            </a:r>
            <a:r>
              <a:rPr lang="en-US" sz="2000" dirty="0" err="1"/>
              <a:t>DeviceTLB</a:t>
            </a:r>
            <a:endParaRPr lang="en-IL" sz="20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A02ABA-1D10-744F-0BC6-1D050BA87242}"/>
              </a:ext>
            </a:extLst>
          </p:cNvPr>
          <p:cNvSpPr/>
          <p:nvPr/>
        </p:nvSpPr>
        <p:spPr>
          <a:xfrm>
            <a:off x="4038601" y="4441371"/>
            <a:ext cx="827314" cy="4354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805690-5A19-D1C8-6329-08FFD715EC5D}"/>
              </a:ext>
            </a:extLst>
          </p:cNvPr>
          <p:cNvSpPr txBox="1"/>
          <p:nvPr/>
        </p:nvSpPr>
        <p:spPr>
          <a:xfrm>
            <a:off x="166577" y="612568"/>
            <a:ext cx="300191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HW virtualization</a:t>
            </a:r>
            <a:br>
              <a:rPr lang="en-US" sz="2800" b="1" dirty="0"/>
            </a:br>
            <a:r>
              <a:rPr lang="en-US" sz="2800" b="1" dirty="0"/>
              <a:t>(SR-IOV)</a:t>
            </a:r>
            <a:endParaRPr lang="en-IL" sz="2800" b="1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40BFF2E-89D6-B9CD-4A24-87B363099C5E}"/>
              </a:ext>
            </a:extLst>
          </p:cNvPr>
          <p:cNvSpPr/>
          <p:nvPr/>
        </p:nvSpPr>
        <p:spPr>
          <a:xfrm>
            <a:off x="5529943" y="5630656"/>
            <a:ext cx="827314" cy="4354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CBF02D6-035B-F63B-25F0-7A59A5D96664}"/>
              </a:ext>
            </a:extLst>
          </p:cNvPr>
          <p:cNvSpPr/>
          <p:nvPr/>
        </p:nvSpPr>
        <p:spPr>
          <a:xfrm>
            <a:off x="7217106" y="5619770"/>
            <a:ext cx="827314" cy="4354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161813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6557E-A4F9-018E-A7B9-5B4C30ADB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IOMMU throughput: Distributed caching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67FF5-5F25-FEAD-8A8D-007EA2E46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4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Base idea: Devices know which buffers they are going to access</a:t>
            </a:r>
          </a:p>
          <a:p>
            <a:pPr lvl="1"/>
            <a:r>
              <a:rPr lang="en-US" dirty="0"/>
              <a:t>Let devices cache translations internally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IOMMU offers address translation service (ATS)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Devices can ask IOMMU for VA-&gt;PA translation when needed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Store translation in the devices address translation cache (ATC)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Send requests to host using phys. addresses</a:t>
            </a:r>
          </a:p>
          <a:p>
            <a:endParaRPr lang="en-US" dirty="0"/>
          </a:p>
          <a:p>
            <a:r>
              <a:rPr lang="en-US" dirty="0"/>
              <a:t>Pros:</a:t>
            </a:r>
          </a:p>
          <a:p>
            <a:pPr lvl="1"/>
            <a:r>
              <a:rPr lang="en-US" dirty="0"/>
              <a:t>Requests with phys. addresses do not require translation</a:t>
            </a:r>
          </a:p>
          <a:p>
            <a:pPr lvl="1"/>
            <a:r>
              <a:rPr lang="en-US" dirty="0"/>
              <a:t>Reduces load from IOMMU translation logic</a:t>
            </a:r>
          </a:p>
          <a:p>
            <a:r>
              <a:rPr lang="en-US" dirty="0"/>
              <a:t>Cons: Well…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BE6DF-D7C3-0536-26BA-571935770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7CBC9-FAA1-C8F9-4895-8E87E77AE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372928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558F2-FEAA-F3A9-42F7-2195B5B1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9DED7-9594-60A5-0929-7FF14FA1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Malicious devices: The challenge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A221A-537E-18B3-2569-F705F0DE2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66714" cy="4351338"/>
          </a:xfrm>
        </p:spPr>
        <p:txBody>
          <a:bodyPr>
            <a:normAutofit/>
          </a:bodyPr>
          <a:lstStyle/>
          <a:p>
            <a:r>
              <a:rPr lang="en-US" dirty="0"/>
              <a:t>Allowing devices to use PAs creates a security vulnerability </a:t>
            </a:r>
          </a:p>
          <a:p>
            <a:pPr lvl="1"/>
            <a:r>
              <a:rPr lang="en-US" dirty="0"/>
              <a:t>Can we trust a device to only access PA returned by PCIe’s ATS?</a:t>
            </a:r>
          </a:p>
          <a:p>
            <a:pPr lvl="1"/>
            <a:endParaRPr lang="en-US" dirty="0"/>
          </a:p>
          <a:p>
            <a:r>
              <a:rPr lang="en-US" dirty="0"/>
              <a:t>Vulnerability demonstrated using Thunderbolt devices</a:t>
            </a:r>
          </a:p>
          <a:p>
            <a:pPr lvl="1"/>
            <a:endParaRPr 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Markettos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et al. “Thunderclap: Exploring vulnerabilities in operating system IOMMU protection via DMA from untrustworthy peripherals”. In </a:t>
            </a:r>
            <a:r>
              <a:rPr lang="en-US" sz="2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NDSS 2019</a:t>
            </a:r>
          </a:p>
          <a:p>
            <a:pPr lvl="1"/>
            <a:r>
              <a:rPr lang="en-US" b="1" dirty="0"/>
              <a:t>Idea</a:t>
            </a:r>
            <a:r>
              <a:rPr lang="en-US" dirty="0"/>
              <a:t>: Thunderbolt tunnels PCIe packets over USB-C</a:t>
            </a:r>
          </a:p>
          <a:p>
            <a:pPr lvl="1"/>
            <a:r>
              <a:rPr lang="en-US" b="1" dirty="0"/>
              <a:t>Attack</a:t>
            </a:r>
            <a:r>
              <a:rPr lang="en-US" dirty="0"/>
              <a:t>: Implement a malicious NIC that uses ATS on a Thunderbolt FPGA card</a:t>
            </a:r>
          </a:p>
          <a:p>
            <a:pPr lvl="1"/>
            <a:r>
              <a:rPr lang="en-US" b="1" dirty="0"/>
              <a:t>Mitigation</a:t>
            </a:r>
            <a:r>
              <a:rPr lang="en-US" dirty="0"/>
              <a:t>: Block ATS for USB controllers (at performance cost)</a:t>
            </a:r>
          </a:p>
          <a:p>
            <a:endParaRPr lang="en-US" dirty="0"/>
          </a:p>
          <a:p>
            <a:endParaRPr lang="en-US" dirty="0">
              <a:solidFill>
                <a:srgbClr val="1F1F1F"/>
              </a:solidFill>
              <a:latin typeface="Google Sans"/>
            </a:endParaRPr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F5169-8EAA-5391-5C58-ED470529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8A717-A1BA-143F-D5C1-7DE041DA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416827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FACD-23AE-0859-3A01-FAB061A8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Malicious devices: Defenses?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50283-68B5-66C3-68BD-EF226C9E8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lang="en-US" dirty="0"/>
              <a:t>Open research area</a:t>
            </a:r>
          </a:p>
          <a:p>
            <a:pPr lvl="1"/>
            <a:endParaRPr lang="en-US" sz="2000" b="0" i="0" dirty="0">
              <a:solidFill>
                <a:srgbClr val="333333"/>
              </a:solidFill>
              <a:effectLst/>
              <a:latin typeface="HelveticaNeue Regular"/>
            </a:endParaRPr>
          </a:p>
          <a:p>
            <a:r>
              <a:rPr lang="en-US" sz="2400" b="0" i="0" dirty="0">
                <a:solidFill>
                  <a:srgbClr val="333333"/>
                </a:solidFill>
                <a:effectLst/>
                <a:latin typeface="HelveticaNeue Regular"/>
              </a:rPr>
              <a:t>Alam et al.,  "</a:t>
            </a:r>
            <a:r>
              <a:rPr lang="en-US" sz="2400" b="0" i="0" dirty="0" err="1">
                <a:solidFill>
                  <a:srgbClr val="333333"/>
                </a:solidFill>
                <a:effectLst/>
                <a:latin typeface="HelveticaNeue Regular"/>
              </a:rPr>
              <a:t>CryptoMMU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HelveticaNeue Regular"/>
              </a:rPr>
              <a:t>: Enabling Scalable and Secure Access Control of Third-Party Accelerators”. In MICRO 2023</a:t>
            </a:r>
          </a:p>
          <a:p>
            <a:pPr lvl="1"/>
            <a:r>
              <a:rPr lang="en-US" sz="2000" b="1" dirty="0">
                <a:solidFill>
                  <a:srgbClr val="333333"/>
                </a:solidFill>
                <a:latin typeface="HelveticaNeue Regular"/>
              </a:rPr>
              <a:t>Idea: </a:t>
            </a:r>
            <a:r>
              <a:rPr lang="en-US" sz="2000" dirty="0">
                <a:solidFill>
                  <a:srgbClr val="333333"/>
                </a:solidFill>
                <a:latin typeface="HelveticaNeue Regular"/>
              </a:rPr>
              <a:t>Cryptographically sign ATS translation; allows only signed translations through IOMMU</a:t>
            </a:r>
          </a:p>
          <a:p>
            <a:pPr lvl="1"/>
            <a:r>
              <a:rPr lang="en-US" sz="2000" b="1" dirty="0">
                <a:solidFill>
                  <a:srgbClr val="333333"/>
                </a:solidFill>
                <a:latin typeface="HelveticaNeue Regular"/>
              </a:rPr>
              <a:t>Pros: </a:t>
            </a:r>
            <a:r>
              <a:rPr lang="en-US" sz="2000" dirty="0">
                <a:solidFill>
                  <a:srgbClr val="333333"/>
                </a:solidFill>
                <a:latin typeface="HelveticaNeue Regular"/>
              </a:rPr>
              <a:t>simple hardware; nice solution</a:t>
            </a:r>
          </a:p>
          <a:p>
            <a:pPr lvl="1"/>
            <a:r>
              <a:rPr lang="en-US" sz="2000" b="1" dirty="0">
                <a:solidFill>
                  <a:srgbClr val="333333"/>
                </a:solidFill>
                <a:latin typeface="HelveticaNeue Regular"/>
              </a:rPr>
              <a:t>Cons</a:t>
            </a:r>
            <a:r>
              <a:rPr lang="en-US" sz="2000" dirty="0">
                <a:solidFill>
                  <a:srgbClr val="333333"/>
                </a:solidFill>
                <a:latin typeface="HelveticaNeue Regular"/>
              </a:rPr>
              <a:t>: Not fully compatible with existing devices</a:t>
            </a:r>
          </a:p>
          <a:p>
            <a:pPr lvl="1"/>
            <a:endParaRPr lang="en-US" sz="2000" dirty="0">
              <a:solidFill>
                <a:srgbClr val="333333"/>
              </a:solidFill>
              <a:latin typeface="HelveticaNeue Regular"/>
            </a:endParaRPr>
          </a:p>
          <a:p>
            <a:r>
              <a:rPr lang="en-US" sz="2400" dirty="0">
                <a:solidFill>
                  <a:srgbClr val="333333"/>
                </a:solidFill>
                <a:latin typeface="HelveticaNeue Regular"/>
              </a:rPr>
              <a:t>More ideas are welcome</a:t>
            </a:r>
          </a:p>
          <a:p>
            <a:pPr lvl="1"/>
            <a:endParaRPr lang="en-US" sz="2000" dirty="0">
              <a:solidFill>
                <a:srgbClr val="333333"/>
              </a:solidFill>
              <a:latin typeface="HelveticaNeue Regular"/>
            </a:endParaRPr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67D39-2896-396E-5D3D-89C398BD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E49CF-B821-E753-B466-11FA3452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814326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6898C-842A-22AE-9553-74CDEF77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PCIe: Summary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FF957-4476-03DB-D908-23CF5FA6F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4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PCIe is a crucial component in modern system</a:t>
            </a:r>
          </a:p>
          <a:p>
            <a:pPr lvl="1"/>
            <a:r>
              <a:rPr lang="en-US" dirty="0"/>
              <a:t>New CXL standard </a:t>
            </a:r>
            <a:r>
              <a:rPr lang="en-US"/>
              <a:t>builds on PCIe</a:t>
            </a:r>
            <a:endParaRPr lang="en-US" dirty="0"/>
          </a:p>
          <a:p>
            <a:endParaRPr lang="en-US" dirty="0"/>
          </a:p>
          <a:p>
            <a:r>
              <a:rPr lang="en-US" dirty="0"/>
              <a:t>Built to serve devices inside a single server</a:t>
            </a:r>
          </a:p>
          <a:p>
            <a:pPr lvl="1"/>
            <a:r>
              <a:rPr lang="en-US" dirty="0"/>
              <a:t>Several companies that tried to scale it beyond the server failed</a:t>
            </a:r>
          </a:p>
          <a:p>
            <a:endParaRPr lang="en-US" dirty="0"/>
          </a:p>
          <a:p>
            <a:r>
              <a:rPr lang="en-US" dirty="0"/>
              <a:t>High-performance interconnect that binds all devices together</a:t>
            </a:r>
          </a:p>
          <a:p>
            <a:endParaRPr lang="en-US" dirty="0"/>
          </a:p>
          <a:p>
            <a:r>
              <a:rPr lang="en-US" dirty="0"/>
              <a:t>Very effective, but presents many challenges, e.g.,</a:t>
            </a:r>
          </a:p>
          <a:p>
            <a:pPr lvl="1"/>
            <a:r>
              <a:rPr lang="en-US" dirty="0"/>
              <a:t>Performance, esp. IOMMU </a:t>
            </a:r>
          </a:p>
          <a:p>
            <a:pPr lvl="1"/>
            <a:r>
              <a:rPr lang="en-US" dirty="0"/>
              <a:t>Secure system from malicious/buggy devices</a:t>
            </a:r>
          </a:p>
          <a:p>
            <a:pPr lvl="1"/>
            <a:r>
              <a:rPr lang="en-US" dirty="0"/>
              <a:t>And we haven’t even discussed device-to-device communications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DA229-4DE9-1120-B854-B37871F47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25A00-3C0C-7461-B3AB-D95869C3D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57767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27236</TotalTime>
  <Words>2099</Words>
  <Application>Microsoft Office PowerPoint</Application>
  <PresentationFormat>Widescreen</PresentationFormat>
  <Paragraphs>490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PCIe  (Peripheral Component Interconnect Express)</vt:lpstr>
      <vt:lpstr>Welcome to the PCIe spec </vt:lpstr>
      <vt:lpstr>PCIe overview</vt:lpstr>
      <vt:lpstr>PowerPoint Presentation</vt:lpstr>
      <vt:lpstr>PCIe overview</vt:lpstr>
      <vt:lpstr>PCIe topology</vt:lpstr>
      <vt:lpstr>PCIe topology</vt:lpstr>
      <vt:lpstr>PCIe topology</vt:lpstr>
      <vt:lpstr>PCIe topology in the spec</vt:lpstr>
      <vt:lpstr>PCIe topology</vt:lpstr>
      <vt:lpstr>PCIe topology</vt:lpstr>
      <vt:lpstr>PCIe enumeration</vt:lpstr>
      <vt:lpstr>PCIe topology after enumeration</vt:lpstr>
      <vt:lpstr>PCIe addressing: Bus:Device.Function (BDF)</vt:lpstr>
      <vt:lpstr>Addressing examples</vt:lpstr>
      <vt:lpstr>Device configuration space</vt:lpstr>
      <vt:lpstr>Device configuration space</vt:lpstr>
      <vt:lpstr>Device configuration space</vt:lpstr>
      <vt:lpstr>PCIe topology with multiple CPUs</vt:lpstr>
      <vt:lpstr>PCIe topology with multiple CPUs</vt:lpstr>
      <vt:lpstr>PCIe topology with multiple CPUs Bad placement</vt:lpstr>
      <vt:lpstr>PCIe topology with multiple CPUs Good placement</vt:lpstr>
      <vt:lpstr>PCIe lanes</vt:lpstr>
      <vt:lpstr>PCIe lanes</vt:lpstr>
      <vt:lpstr>PCIe LVDS signaling</vt:lpstr>
      <vt:lpstr>PCIe lane speeds</vt:lpstr>
      <vt:lpstr>PCIe HW/SW interface: Host-to-Device</vt:lpstr>
      <vt:lpstr>PCIe HW/SW interface: Host-to-Device</vt:lpstr>
      <vt:lpstr>PCIe HW/SW interface: Host-to-Device</vt:lpstr>
      <vt:lpstr>PCIe HW/SW interface: Host-to-Device</vt:lpstr>
      <vt:lpstr>PCIe HW/SW interface: Device-to-Host</vt:lpstr>
      <vt:lpstr>PCIe HW/SW interface: Device-to-Host</vt:lpstr>
      <vt:lpstr>PCIe support for device virtualization HW/SW co-design example</vt:lpstr>
      <vt:lpstr>PowerPoint Presentation</vt:lpstr>
      <vt:lpstr>PowerPoint Presentation</vt:lpstr>
      <vt:lpstr>PowerPoint Presentation</vt:lpstr>
      <vt:lpstr>HW/SW co-design challenges in PCIe</vt:lpstr>
      <vt:lpstr>IOMMU throughput: The challenge</vt:lpstr>
      <vt:lpstr>IOMMU throughput</vt:lpstr>
      <vt:lpstr>PowerPoint Presentation</vt:lpstr>
      <vt:lpstr>IOMMU throughput: Distributed caching</vt:lpstr>
      <vt:lpstr>Malicious devices: The challenge</vt:lpstr>
      <vt:lpstr>Malicious devices: Defenses?</vt:lpstr>
      <vt:lpstr>PCIe: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Yoav Etsion</dc:creator>
  <cp:lastModifiedBy>Yoav Etsion</cp:lastModifiedBy>
  <cp:revision>4</cp:revision>
  <dcterms:created xsi:type="dcterms:W3CDTF">2025-03-20T10:33:10Z</dcterms:created>
  <dcterms:modified xsi:type="dcterms:W3CDTF">2026-06-15T11:28:14Z</dcterms:modified>
</cp:coreProperties>
</file>