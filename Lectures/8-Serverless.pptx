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sldIdLst>
    <p:sldId id="256" r:id="rId2"/>
    <p:sldId id="332" r:id="rId3"/>
    <p:sldId id="373" r:id="rId4"/>
    <p:sldId id="357" r:id="rId5"/>
    <p:sldId id="348" r:id="rId6"/>
    <p:sldId id="352" r:id="rId7"/>
    <p:sldId id="353" r:id="rId8"/>
    <p:sldId id="354" r:id="rId9"/>
    <p:sldId id="339" r:id="rId10"/>
    <p:sldId id="355" r:id="rId11"/>
    <p:sldId id="356" r:id="rId12"/>
    <p:sldId id="362" r:id="rId13"/>
    <p:sldId id="361" r:id="rId14"/>
    <p:sldId id="363" r:id="rId15"/>
    <p:sldId id="358" r:id="rId16"/>
    <p:sldId id="338" r:id="rId17"/>
    <p:sldId id="349" r:id="rId18"/>
    <p:sldId id="350" r:id="rId19"/>
    <p:sldId id="351" r:id="rId20"/>
    <p:sldId id="333" r:id="rId21"/>
    <p:sldId id="334" r:id="rId22"/>
    <p:sldId id="335" r:id="rId23"/>
    <p:sldId id="336" r:id="rId24"/>
    <p:sldId id="337" r:id="rId25"/>
    <p:sldId id="364" r:id="rId26"/>
    <p:sldId id="262" r:id="rId27"/>
    <p:sldId id="365" r:id="rId28"/>
    <p:sldId id="340" r:id="rId29"/>
    <p:sldId id="366" r:id="rId30"/>
    <p:sldId id="367" r:id="rId31"/>
    <p:sldId id="341" r:id="rId32"/>
    <p:sldId id="359" r:id="rId33"/>
    <p:sldId id="342" r:id="rId34"/>
    <p:sldId id="343" r:id="rId35"/>
    <p:sldId id="344" r:id="rId36"/>
    <p:sldId id="368" r:id="rId37"/>
    <p:sldId id="369" r:id="rId38"/>
    <p:sldId id="345" r:id="rId39"/>
    <p:sldId id="346" r:id="rId40"/>
    <p:sldId id="370" r:id="rId41"/>
    <p:sldId id="347" r:id="rId42"/>
    <p:sldId id="371" r:id="rId43"/>
    <p:sldId id="374" r:id="rId44"/>
    <p:sldId id="372" r:id="rId45"/>
    <p:sldId id="331" r:id="rId46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3D566E-61D1-4D32-A076-64997AB4965F}" v="21" dt="2026-07-06T09:06:19.2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4002" y="7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av Etsion" userId="6817d923-c30e-4d6b-be87-a47c131a91a7" providerId="ADAL" clId="{687D8E6A-57AF-45AE-B177-36E0AC6490D8}"/>
    <pc:docChg chg="undo custSel delSld modSld">
      <pc:chgData name="Yoav Etsion" userId="6817d923-c30e-4d6b-be87-a47c131a91a7" providerId="ADAL" clId="{687D8E6A-57AF-45AE-B177-36E0AC6490D8}" dt="2026-07-06T09:11:49.545" v="219" actId="478"/>
      <pc:docMkLst>
        <pc:docMk/>
      </pc:docMkLst>
      <pc:sldChg chg="modSp modAnim">
        <pc:chgData name="Yoav Etsion" userId="6817d923-c30e-4d6b-be87-a47c131a91a7" providerId="ADAL" clId="{687D8E6A-57AF-45AE-B177-36E0AC6490D8}" dt="2026-07-05T22:08:43.747" v="50" actId="20577"/>
        <pc:sldMkLst>
          <pc:docMk/>
          <pc:sldMk cId="1774303332" sldId="337"/>
        </pc:sldMkLst>
        <pc:spChg chg="mod">
          <ac:chgData name="Yoav Etsion" userId="6817d923-c30e-4d6b-be87-a47c131a91a7" providerId="ADAL" clId="{687D8E6A-57AF-45AE-B177-36E0AC6490D8}" dt="2026-07-05T22:08:43.747" v="50" actId="20577"/>
          <ac:spMkLst>
            <pc:docMk/>
            <pc:sldMk cId="1774303332" sldId="337"/>
            <ac:spMk id="8" creationId="{C5E15836-8724-2885-5987-A69C31DF8B4E}"/>
          </ac:spMkLst>
        </pc:spChg>
      </pc:sldChg>
      <pc:sldChg chg="modSp mod">
        <pc:chgData name="Yoav Etsion" userId="6817d923-c30e-4d6b-be87-a47c131a91a7" providerId="ADAL" clId="{687D8E6A-57AF-45AE-B177-36E0AC6490D8}" dt="2026-07-05T22:12:08.480" v="53" actId="1076"/>
        <pc:sldMkLst>
          <pc:docMk/>
          <pc:sldMk cId="2243388757" sldId="359"/>
        </pc:sldMkLst>
        <pc:spChg chg="mod">
          <ac:chgData name="Yoav Etsion" userId="6817d923-c30e-4d6b-be87-a47c131a91a7" providerId="ADAL" clId="{687D8E6A-57AF-45AE-B177-36E0AC6490D8}" dt="2026-07-05T22:12:08.480" v="53" actId="1076"/>
          <ac:spMkLst>
            <pc:docMk/>
            <pc:sldMk cId="2243388757" sldId="359"/>
            <ac:spMk id="10" creationId="{1D792298-F971-29A3-8210-B884FB0C3FFC}"/>
          </ac:spMkLst>
        </pc:spChg>
      </pc:sldChg>
      <pc:sldChg chg="del">
        <pc:chgData name="Yoav Etsion" userId="6817d923-c30e-4d6b-be87-a47c131a91a7" providerId="ADAL" clId="{687D8E6A-57AF-45AE-B177-36E0AC6490D8}" dt="2026-07-05T22:12:29.554" v="54" actId="47"/>
        <pc:sldMkLst>
          <pc:docMk/>
          <pc:sldMk cId="308939276" sldId="360"/>
        </pc:sldMkLst>
      </pc:sldChg>
      <pc:sldChg chg="modSp mod">
        <pc:chgData name="Yoav Etsion" userId="6817d923-c30e-4d6b-be87-a47c131a91a7" providerId="ADAL" clId="{687D8E6A-57AF-45AE-B177-36E0AC6490D8}" dt="2026-07-05T22:05:25.154" v="31" actId="14100"/>
        <pc:sldMkLst>
          <pc:docMk/>
          <pc:sldMk cId="4098516316" sldId="361"/>
        </pc:sldMkLst>
        <pc:spChg chg="mod">
          <ac:chgData name="Yoav Etsion" userId="6817d923-c30e-4d6b-be87-a47c131a91a7" providerId="ADAL" clId="{687D8E6A-57AF-45AE-B177-36E0AC6490D8}" dt="2026-07-05T22:05:25.154" v="31" actId="14100"/>
          <ac:spMkLst>
            <pc:docMk/>
            <pc:sldMk cId="4098516316" sldId="361"/>
            <ac:spMk id="3" creationId="{AACEC423-202F-3C68-C721-79C7A540F2D1}"/>
          </ac:spMkLst>
        </pc:spChg>
      </pc:sldChg>
      <pc:sldChg chg="addSp modSp mod">
        <pc:chgData name="Yoav Etsion" userId="6817d923-c30e-4d6b-be87-a47c131a91a7" providerId="ADAL" clId="{687D8E6A-57AF-45AE-B177-36E0AC6490D8}" dt="2026-07-06T09:11:44.944" v="217" actId="1076"/>
        <pc:sldMkLst>
          <pc:docMk/>
          <pc:sldMk cId="3959222743" sldId="368"/>
        </pc:sldMkLst>
        <pc:spChg chg="add mod">
          <ac:chgData name="Yoav Etsion" userId="6817d923-c30e-4d6b-be87-a47c131a91a7" providerId="ADAL" clId="{687D8E6A-57AF-45AE-B177-36E0AC6490D8}" dt="2026-07-06T09:11:44.944" v="217" actId="1076"/>
          <ac:spMkLst>
            <pc:docMk/>
            <pc:sldMk cId="3959222743" sldId="368"/>
            <ac:spMk id="7" creationId="{787BC285-547B-1A04-8BE2-8F8D2CB88B4A}"/>
          </ac:spMkLst>
        </pc:spChg>
      </pc:sldChg>
      <pc:sldChg chg="addSp delSp mod">
        <pc:chgData name="Yoav Etsion" userId="6817d923-c30e-4d6b-be87-a47c131a91a7" providerId="ADAL" clId="{687D8E6A-57AF-45AE-B177-36E0AC6490D8}" dt="2026-07-06T09:11:49.545" v="219" actId="478"/>
        <pc:sldMkLst>
          <pc:docMk/>
          <pc:sldMk cId="995414523" sldId="369"/>
        </pc:sldMkLst>
        <pc:spChg chg="add del">
          <ac:chgData name="Yoav Etsion" userId="6817d923-c30e-4d6b-be87-a47c131a91a7" providerId="ADAL" clId="{687D8E6A-57AF-45AE-B177-36E0AC6490D8}" dt="2026-07-06T09:11:49.545" v="219" actId="478"/>
          <ac:spMkLst>
            <pc:docMk/>
            <pc:sldMk cId="995414523" sldId="369"/>
            <ac:spMk id="7" creationId="{CAA7AEB0-2521-CF31-EB0A-6B91A1B4BDA4}"/>
          </ac:spMkLst>
        </pc:spChg>
        <pc:spChg chg="add">
          <ac:chgData name="Yoav Etsion" userId="6817d923-c30e-4d6b-be87-a47c131a91a7" providerId="ADAL" clId="{687D8E6A-57AF-45AE-B177-36E0AC6490D8}" dt="2026-07-06T09:11:46.740" v="218" actId="22"/>
          <ac:spMkLst>
            <pc:docMk/>
            <pc:sldMk cId="995414523" sldId="369"/>
            <ac:spMk id="9" creationId="{A92BBA35-6A55-86F2-EDE2-137C2801F800}"/>
          </ac:spMkLst>
        </pc:spChg>
      </pc:sldChg>
      <pc:sldChg chg="addSp modSp mod">
        <pc:chgData name="Yoav Etsion" userId="6817d923-c30e-4d6b-be87-a47c131a91a7" providerId="ADAL" clId="{687D8E6A-57AF-45AE-B177-36E0AC6490D8}" dt="2026-07-05T22:23:19.806" v="96" actId="1076"/>
        <pc:sldMkLst>
          <pc:docMk/>
          <pc:sldMk cId="522057396" sldId="374"/>
        </pc:sldMkLst>
        <pc:spChg chg="mod">
          <ac:chgData name="Yoav Etsion" userId="6817d923-c30e-4d6b-be87-a47c131a91a7" providerId="ADAL" clId="{687D8E6A-57AF-45AE-B177-36E0AC6490D8}" dt="2026-07-05T22:22:57.701" v="79" actId="20577"/>
          <ac:spMkLst>
            <pc:docMk/>
            <pc:sldMk cId="522057396" sldId="374"/>
            <ac:spMk id="2" creationId="{48D09CDB-4D1A-D433-F35D-5DCE79163561}"/>
          </ac:spMkLst>
        </pc:spChg>
        <pc:spChg chg="add mod">
          <ac:chgData name="Yoav Etsion" userId="6817d923-c30e-4d6b-be87-a47c131a91a7" providerId="ADAL" clId="{687D8E6A-57AF-45AE-B177-36E0AC6490D8}" dt="2026-07-05T22:23:19.806" v="96" actId="1076"/>
          <ac:spMkLst>
            <pc:docMk/>
            <pc:sldMk cId="522057396" sldId="374"/>
            <ac:spMk id="6" creationId="{710BDAF7-26EB-9DD0-0CA0-CE837C03693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40706D-918D-40D4-AB56-D905264A97A2}" type="datetimeFigureOut">
              <a:rPr lang="en-IL" smtClean="0"/>
              <a:t>06/07/2026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00DA0-B09A-4B1E-A976-B5CA6AE4163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0521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40AAE-C72B-A4AE-9E09-A4F4AA61B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55BFF-969A-2343-38F5-7F3CDC946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86888C64-DF02-80A3-F18A-3B044661C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7D92455-BD50-2E5E-3C5C-E463B43A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3BC2F51-D5C7-9AF1-3B66-90A715A64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50832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2BFA3-5D52-EDD5-7282-4798E34B0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291D7B-E466-6DF4-7347-D0435C99A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2F19EE44-3524-1645-E735-26E60E9E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41EE952B-0D34-8C33-1DA9-74062F9A3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673A26AE-074D-75D6-D7B1-18FC1F29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8290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716B7-A5E9-C1A1-D40A-45CCFF53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95AC6-BAA5-907F-298B-21E2DE690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DA6B36A-CA1E-1A3B-05FB-96918B9D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6142F3F1-3B8B-CB9F-A746-2619B931B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3585D94-8C0D-746C-7FC2-A29E58D8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80403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5FD71-857F-8F28-8198-68818BD0B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230F2-7392-B2F1-BB58-6C1C56C82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BCF7C4-E529-C1AB-85CF-44F24940B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D581B15D-4F72-8297-E394-12F7A538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67F0B058-F855-75B2-1843-04B368EA4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8F12C73-D7DC-FF51-C6D7-7D1667A1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6315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8BE20-BA00-706C-61EA-9174E307E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49403-4C5E-3354-5C30-7D4E2925A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D5139-909F-6B30-3FA7-969A0C119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64A7D5-B179-C674-6D5F-F4E4DFB17E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3F0444-D600-6215-2ADA-B266944752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5A0602A0-01AD-FF9B-F7B2-D1498707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04BA96CB-BBA6-6A93-AC9D-AA166AEA2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54E9F31C-D6E9-AB33-CBE9-370E42F48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40096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FF1B8-3A4A-D5E3-729D-10C24A43B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EF24AA7-E476-E26F-9F60-92086DAA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CDF8AD36-04E6-BF32-A8FC-7305D4596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F238118-9265-B874-CD9F-21F6E7420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54310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B5ECDCC-7D89-091E-65CE-498FB266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C568ECC-FD4D-DCB0-296B-826E2B0CE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E3DC3CB-A195-399D-930F-664F9106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75644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D7F3-5D4A-168E-36A4-1C307561F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A9E0C-AA3E-02E8-1C67-21ADBFC0F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6FD66-0C17-432B-383C-D06ECB0BD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1771A27E-8E69-8A75-C5F1-D9954073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FA8C14F3-490D-5ADD-7A7C-7563BC08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E428FA5-C5D1-87A4-4111-808AA3F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94518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A75F-FAFD-BF02-59AA-299A92437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88E22-BC4D-21D5-DA0E-0AF1FECF4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06F6D-EAD6-92D7-6351-B54A980910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48695FE-02D2-98FF-14FB-3DFD93169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27891E57-D6C1-C04C-3001-D5E9B5D4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78774E6-7092-7366-98A2-6F62A51D2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63750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FA8A-8790-ADD8-00FD-80AF7ECB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3F95E-D280-39F8-2EDF-A5DC96382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CF4D0463-7251-0765-5362-9F50EBBC5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32A3BB21-D240-6C0E-3984-2B0FBF83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8A22F75-421A-68AC-CB9D-060C18F5B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51043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7A53B3-FC3E-EAC4-8B6B-8A9A6A1D4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A8611-A906-6FF4-A129-F79CC05ED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40B80C7A-EC15-9F17-7DE7-8746CE05B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15A8DADC-84C6-DDFC-FC63-C0B9A6823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062A1489-95DA-675B-C7CC-6F5CB5E5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24962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96638-FD88-6646-70D6-5FD30DCB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F1199-8706-7CE9-4ED2-95917AB88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B144B-36F4-A435-4A51-30BC3AA82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3A061-AF03-BE50-D5FA-4CB9F3D3EF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C41B3-42FB-8EDD-632C-CB2237D75C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L" dirty="0"/>
              <a:t>00460882 </a:t>
            </a:r>
            <a:r>
              <a:rPr lang="en-US" dirty="0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6893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FD095-6BC7-9E5A-AE81-0E40B914FF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The Shift to Serverless / </a:t>
            </a:r>
            <a:r>
              <a:rPr lang="en-US" sz="5400" dirty="0" err="1"/>
              <a:t>FaaS</a:t>
            </a:r>
            <a:endParaRPr lang="en-IL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52F5A9-0273-791C-8450-7DB78DF58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Yoav Etsion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907702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A56CD-2691-F2D5-F0E2-17792039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3582" cy="1325563"/>
          </a:xfrm>
        </p:spPr>
        <p:txBody>
          <a:bodyPr/>
          <a:lstStyle/>
          <a:p>
            <a:r>
              <a:rPr lang="en-US" dirty="0"/>
              <a:t>Disaggregating software services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D7946-F888-AD8E-5C8A-374D118FC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>
            <a:normAutofit/>
          </a:bodyPr>
          <a:lstStyle/>
          <a:p>
            <a:r>
              <a:rPr lang="en-US" dirty="0"/>
              <a:t>We’re used to think of large software services are monoliths</a:t>
            </a:r>
          </a:p>
          <a:p>
            <a:pPr lvl="1"/>
            <a:r>
              <a:rPr lang="en-US" dirty="0"/>
              <a:t>E.g., web servers, E-commerce, Banking</a:t>
            </a:r>
          </a:p>
          <a:p>
            <a:endParaRPr lang="en-US" dirty="0"/>
          </a:p>
          <a:p>
            <a:r>
              <a:rPr lang="en-US" dirty="0"/>
              <a:t>But services are composed of a variety of individual logic elements</a:t>
            </a:r>
          </a:p>
          <a:p>
            <a:pPr lvl="1"/>
            <a:r>
              <a:rPr lang="en-US" dirty="0"/>
              <a:t>E.g., HTTP server, database, storage services</a:t>
            </a:r>
          </a:p>
          <a:p>
            <a:pPr lvl="1"/>
            <a:endParaRPr lang="en-US" dirty="0"/>
          </a:p>
          <a:p>
            <a:r>
              <a:rPr lang="en-US" dirty="0"/>
              <a:t>SW is easier to manage when it’s disaggregated into small components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7AB66-9516-C850-AF21-EEE118519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3733FE-5763-DF6D-27A4-8A07CC94B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072459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BD3E2-9AEC-A755-F8CE-CDFB5C87A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02A90-B1EA-C932-92AC-2A738AE2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3582" cy="1325563"/>
          </a:xfrm>
        </p:spPr>
        <p:txBody>
          <a:bodyPr/>
          <a:lstStyle/>
          <a:p>
            <a:r>
              <a:rPr lang="en-US" dirty="0"/>
              <a:t>Disaggregating software services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78D73-276E-C69D-CC70-B3FD6F3CD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>
            <a:normAutofit/>
          </a:bodyPr>
          <a:lstStyle/>
          <a:p>
            <a:r>
              <a:rPr lang="en-US" dirty="0"/>
              <a:t>Cloud providers started with renting hardware, but now provide SaaS </a:t>
            </a:r>
          </a:p>
          <a:p>
            <a:pPr lvl="1"/>
            <a:r>
              <a:rPr lang="en-US" dirty="0"/>
              <a:t>E.g., database-as-a-service, HTTP server-as-a-service, storage-as-a-service</a:t>
            </a:r>
          </a:p>
          <a:p>
            <a:endParaRPr lang="en-US" dirty="0"/>
          </a:p>
          <a:p>
            <a:r>
              <a:rPr lang="en-US" dirty="0"/>
              <a:t>The large variety of available SaaS breaks down traditional SW server</a:t>
            </a:r>
          </a:p>
          <a:p>
            <a:pPr lvl="1"/>
            <a:r>
              <a:rPr lang="en-US" dirty="0"/>
              <a:t>Cloud customers can focus on business logic and integration</a:t>
            </a:r>
          </a:p>
          <a:p>
            <a:pPr lvl="1"/>
            <a:endParaRPr lang="en-US" dirty="0"/>
          </a:p>
          <a:p>
            <a:r>
              <a:rPr lang="en-US" dirty="0"/>
              <a:t>Business logic and integration require stateless functions, not servers</a:t>
            </a:r>
          </a:p>
          <a:p>
            <a:pPr lvl="1"/>
            <a:endParaRPr lang="en-US" dirty="0"/>
          </a:p>
          <a:p>
            <a:r>
              <a:rPr lang="en-US" dirty="0"/>
              <a:t>This new structure challenges existing HW/SW co-design paradigms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0A3A1-341F-917C-47DA-F4D827110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8877A-9FEC-84FA-44A4-0B8A437BA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0936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28985-7B80-6359-5678-B76E49B21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</a:t>
            </a:r>
            <a:r>
              <a:rPr lang="en-US" dirty="0" err="1"/>
              <a:t>FaaS</a:t>
            </a:r>
            <a:r>
              <a:rPr lang="en-US" dirty="0"/>
              <a:t>?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AA1F1-7E6D-F3E8-3DCA-027C4CE6C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DED111-564B-488E-A4CB-10BD857FC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959115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BA428-F2C7-D7D4-72B2-AA35222D0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9510-B0C5-0F77-1F65-2EA49D845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3582" cy="1325563"/>
          </a:xfrm>
        </p:spPr>
        <p:txBody>
          <a:bodyPr/>
          <a:lstStyle/>
          <a:p>
            <a:r>
              <a:rPr lang="en-US" dirty="0"/>
              <a:t>Before the cloud, there was the monolith server</a:t>
            </a:r>
            <a:br>
              <a:rPr lang="en-US" dirty="0"/>
            </a:br>
            <a:r>
              <a:rPr lang="en-US" dirty="0"/>
              <a:t>(on-prem)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78850-F5AE-B211-DAF5-1E36C9408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69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Consider a web serving company:</a:t>
            </a:r>
          </a:p>
          <a:p>
            <a:pPr lvl="1"/>
            <a:r>
              <a:rPr lang="en-US" dirty="0"/>
              <a:t>Business logic is in web server</a:t>
            </a:r>
          </a:p>
          <a:p>
            <a:pPr lvl="1"/>
            <a:r>
              <a:rPr lang="en-US" dirty="0"/>
              <a:t>IT is responsible to maintain host</a:t>
            </a:r>
          </a:p>
          <a:p>
            <a:pPr lvl="2"/>
            <a:r>
              <a:rPr lang="en-US" dirty="0"/>
              <a:t>Services</a:t>
            </a:r>
          </a:p>
          <a:p>
            <a:pPr lvl="2"/>
            <a:r>
              <a:rPr lang="en-US" dirty="0"/>
              <a:t>OS</a:t>
            </a:r>
          </a:p>
          <a:p>
            <a:pPr lvl="2"/>
            <a:r>
              <a:rPr lang="en-US" dirty="0"/>
              <a:t>HW</a:t>
            </a:r>
          </a:p>
          <a:p>
            <a:pPr lvl="2"/>
            <a:r>
              <a:rPr lang="en-US" dirty="0"/>
              <a:t>Update SW against vulnerabilities</a:t>
            </a:r>
          </a:p>
          <a:p>
            <a:endParaRPr lang="en-US" dirty="0"/>
          </a:p>
          <a:p>
            <a:r>
              <a:rPr lang="en-US" dirty="0"/>
              <a:t>If business scales, need to buy more machines</a:t>
            </a:r>
          </a:p>
          <a:p>
            <a:pPr lvl="1"/>
            <a:r>
              <a:rPr lang="en-US" dirty="0"/>
              <a:t>More real estate, cooling, power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B4A1E-3B02-9B25-DC53-7EBFD1662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20D13-BC6A-847E-4C55-9005C359A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828173-4D94-65AC-7AD7-1B1A226D9A5B}"/>
              </a:ext>
            </a:extLst>
          </p:cNvPr>
          <p:cNvSpPr/>
          <p:nvPr/>
        </p:nvSpPr>
        <p:spPr>
          <a:xfrm>
            <a:off x="7601527" y="2798618"/>
            <a:ext cx="4368800" cy="317730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E0F79-62F0-2927-2AC9-EE9010D1D945}"/>
              </a:ext>
            </a:extLst>
          </p:cNvPr>
          <p:cNvSpPr txBox="1"/>
          <p:nvPr/>
        </p:nvSpPr>
        <p:spPr>
          <a:xfrm>
            <a:off x="9596293" y="2392430"/>
            <a:ext cx="66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484F9D-1006-60CB-8F11-9FAD87E7F0DA}"/>
              </a:ext>
            </a:extLst>
          </p:cNvPr>
          <p:cNvSpPr/>
          <p:nvPr/>
        </p:nvSpPr>
        <p:spPr>
          <a:xfrm>
            <a:off x="7601527" y="5456131"/>
            <a:ext cx="4368800" cy="51271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Hardware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022E06-1F62-BF7C-1474-DCF44CE9DD3E}"/>
              </a:ext>
            </a:extLst>
          </p:cNvPr>
          <p:cNvSpPr/>
          <p:nvPr/>
        </p:nvSpPr>
        <p:spPr>
          <a:xfrm>
            <a:off x="9770165" y="4943413"/>
            <a:ext cx="2200162" cy="51271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77AB13-E35F-43A9-45F7-74994A561E61}"/>
              </a:ext>
            </a:extLst>
          </p:cNvPr>
          <p:cNvSpPr/>
          <p:nvPr/>
        </p:nvSpPr>
        <p:spPr>
          <a:xfrm>
            <a:off x="10018768" y="3835482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Database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F9E365-B3F5-9ABE-B18D-1750B54D2E43}"/>
              </a:ext>
            </a:extLst>
          </p:cNvPr>
          <p:cNvSpPr/>
          <p:nvPr/>
        </p:nvSpPr>
        <p:spPr>
          <a:xfrm>
            <a:off x="8106992" y="3429000"/>
            <a:ext cx="1663173" cy="110628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 server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(+PHP, JS, CSS)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1B784E-A687-FEE4-DE66-968DC6B482B3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515099" y="3982143"/>
            <a:ext cx="1591893" cy="0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197F754-E33E-9BAB-D4AD-27A0EEDFB22D}"/>
              </a:ext>
            </a:extLst>
          </p:cNvPr>
          <p:cNvSpPr txBox="1"/>
          <p:nvPr/>
        </p:nvSpPr>
        <p:spPr>
          <a:xfrm>
            <a:off x="6515098" y="3631962"/>
            <a:ext cx="1012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</a:t>
            </a:r>
            <a:endParaRPr lang="en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1A146A-2855-72EA-B54B-CE47D25A476A}"/>
              </a:ext>
            </a:extLst>
          </p:cNvPr>
          <p:cNvSpPr/>
          <p:nvPr/>
        </p:nvSpPr>
        <p:spPr>
          <a:xfrm>
            <a:off x="10018768" y="2968633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NFS/File server</a:t>
            </a:r>
            <a:endParaRPr lang="en-IL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04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B013-FCDE-2ADF-1071-C1D20273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C6ED7C-3A7C-3820-88A4-2CDE4D8FF94D}"/>
              </a:ext>
            </a:extLst>
          </p:cNvPr>
          <p:cNvSpPr/>
          <p:nvPr/>
        </p:nvSpPr>
        <p:spPr>
          <a:xfrm>
            <a:off x="7084491" y="2037522"/>
            <a:ext cx="5019260" cy="4455352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853400-A322-EFCD-17E8-B6997233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3582" cy="1325563"/>
          </a:xfrm>
        </p:spPr>
        <p:txBody>
          <a:bodyPr>
            <a:normAutofit/>
          </a:bodyPr>
          <a:lstStyle/>
          <a:p>
            <a:r>
              <a:rPr lang="en-US" dirty="0"/>
              <a:t>In early cloud, we used virtual monolith servers</a:t>
            </a:r>
            <a:br>
              <a:rPr lang="en-US" dirty="0"/>
            </a:br>
            <a:r>
              <a:rPr lang="en-US"/>
              <a:t>(IaaS)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AAD8B-6E4A-0C6C-6342-6B43F6220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95461" cy="4351338"/>
          </a:xfrm>
        </p:spPr>
        <p:txBody>
          <a:bodyPr>
            <a:normAutofit/>
          </a:bodyPr>
          <a:lstStyle/>
          <a:p>
            <a:r>
              <a:rPr lang="en-US" dirty="0"/>
              <a:t>Cloud initially rented hardware</a:t>
            </a:r>
          </a:p>
          <a:p>
            <a:endParaRPr lang="en-US" dirty="0"/>
          </a:p>
          <a:p>
            <a:r>
              <a:rPr lang="en-US" dirty="0"/>
              <a:t>Monoliths moved as-is</a:t>
            </a:r>
          </a:p>
          <a:p>
            <a:pPr lvl="1"/>
            <a:r>
              <a:rPr lang="en-US" dirty="0"/>
              <a:t>Server consolidation</a:t>
            </a:r>
          </a:p>
          <a:p>
            <a:pPr lvl="1"/>
            <a:endParaRPr lang="en-US" dirty="0"/>
          </a:p>
          <a:p>
            <a:r>
              <a:rPr lang="en-US" dirty="0"/>
              <a:t>Customers could scale their business by renting more hardware</a:t>
            </a:r>
          </a:p>
          <a:p>
            <a:pPr lvl="1"/>
            <a:r>
              <a:rPr lang="en-US" dirty="0"/>
              <a:t>No need to buy hardware</a:t>
            </a:r>
          </a:p>
          <a:p>
            <a:pPr lvl="1"/>
            <a:r>
              <a:rPr lang="en-US" dirty="0"/>
              <a:t>Someone else manages real estate, cooling, power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7959B-7A23-CE9B-6806-5E89876EA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F28A0-DFC5-E538-DEAF-D8FFF2CC9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242DCD-5B24-6D5D-A295-DA5B8EC862E4}"/>
              </a:ext>
            </a:extLst>
          </p:cNvPr>
          <p:cNvSpPr/>
          <p:nvPr/>
        </p:nvSpPr>
        <p:spPr>
          <a:xfrm>
            <a:off x="7601527" y="2798618"/>
            <a:ext cx="4368800" cy="317730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15E746-D817-3165-4D4B-3E0A326F5729}"/>
              </a:ext>
            </a:extLst>
          </p:cNvPr>
          <p:cNvSpPr txBox="1"/>
          <p:nvPr/>
        </p:nvSpPr>
        <p:spPr>
          <a:xfrm>
            <a:off x="9012748" y="2392430"/>
            <a:ext cx="1688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Guest Machine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2702D2-C7EA-EE15-C9A5-AA4A39335110}"/>
              </a:ext>
            </a:extLst>
          </p:cNvPr>
          <p:cNvSpPr/>
          <p:nvPr/>
        </p:nvSpPr>
        <p:spPr>
          <a:xfrm>
            <a:off x="7601527" y="5456131"/>
            <a:ext cx="4368800" cy="51271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Virtual Hardware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2896F6-4940-7ABD-F33D-52C9AD218B84}"/>
              </a:ext>
            </a:extLst>
          </p:cNvPr>
          <p:cNvSpPr/>
          <p:nvPr/>
        </p:nvSpPr>
        <p:spPr>
          <a:xfrm>
            <a:off x="9770165" y="4943413"/>
            <a:ext cx="2200162" cy="51271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Guest OS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3AA6CA-31A4-CB3D-6AD5-CD24A54593E0}"/>
              </a:ext>
            </a:extLst>
          </p:cNvPr>
          <p:cNvSpPr/>
          <p:nvPr/>
        </p:nvSpPr>
        <p:spPr>
          <a:xfrm>
            <a:off x="10018768" y="3835482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Database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D25764-8AF9-4C49-4FC6-CA56126CF759}"/>
              </a:ext>
            </a:extLst>
          </p:cNvPr>
          <p:cNvSpPr/>
          <p:nvPr/>
        </p:nvSpPr>
        <p:spPr>
          <a:xfrm>
            <a:off x="8106992" y="3429000"/>
            <a:ext cx="1663173" cy="110628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 server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(+PHP, JS, CSS)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C560913-1773-5253-0DCA-6FC5AC4D81A6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515099" y="3982143"/>
            <a:ext cx="1591893" cy="0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6023AE5-8EB7-B884-8001-9F48FAC5F7B7}"/>
              </a:ext>
            </a:extLst>
          </p:cNvPr>
          <p:cNvSpPr txBox="1"/>
          <p:nvPr/>
        </p:nvSpPr>
        <p:spPr>
          <a:xfrm>
            <a:off x="6515098" y="3631962"/>
            <a:ext cx="1012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</a:t>
            </a:r>
            <a:endParaRPr lang="en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B02831-E6BC-0193-BDF1-CFBDB65F1AEC}"/>
              </a:ext>
            </a:extLst>
          </p:cNvPr>
          <p:cNvSpPr/>
          <p:nvPr/>
        </p:nvSpPr>
        <p:spPr>
          <a:xfrm>
            <a:off x="10018768" y="2968633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NFS/File server</a:t>
            </a:r>
            <a:endParaRPr lang="en-IL" sz="16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8992D0-AA32-0361-0A66-3D75A52A4580}"/>
              </a:ext>
            </a:extLst>
          </p:cNvPr>
          <p:cNvSpPr txBox="1"/>
          <p:nvPr/>
        </p:nvSpPr>
        <p:spPr>
          <a:xfrm>
            <a:off x="9035941" y="1690065"/>
            <a:ext cx="66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35332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CEB35-E240-D73C-8C75-DA375EEB1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5F05ADD-F8DA-1CBD-1B14-C901EE6352A3}"/>
              </a:ext>
            </a:extLst>
          </p:cNvPr>
          <p:cNvSpPr/>
          <p:nvPr/>
        </p:nvSpPr>
        <p:spPr>
          <a:xfrm>
            <a:off x="7284497" y="2196661"/>
            <a:ext cx="3071191" cy="4455352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64EBE-1C00-4A78-7AF5-05016A8CA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3582" cy="1325563"/>
          </a:xfrm>
        </p:spPr>
        <p:txBody>
          <a:bodyPr>
            <a:normAutofit/>
          </a:bodyPr>
          <a:lstStyle/>
          <a:p>
            <a:r>
              <a:rPr lang="en-US" dirty="0"/>
              <a:t>The rise of SaaS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36FED-9B6D-50CC-2735-48A9F35AE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95461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Cloud providers saw that many customers use similar services</a:t>
            </a:r>
          </a:p>
          <a:p>
            <a:pPr lvl="1"/>
            <a:r>
              <a:rPr lang="en-US" dirty="0"/>
              <a:t>E.g., storage, databases</a:t>
            </a:r>
          </a:p>
          <a:p>
            <a:endParaRPr lang="en-US" dirty="0"/>
          </a:p>
          <a:p>
            <a:r>
              <a:rPr lang="en-US" dirty="0"/>
              <a:t>Offering  SaaS has added benefits:</a:t>
            </a:r>
          </a:p>
          <a:p>
            <a:pPr lvl="1"/>
            <a:r>
              <a:rPr lang="en-US" dirty="0"/>
              <a:t>Better utilization</a:t>
            </a:r>
          </a:p>
          <a:p>
            <a:pPr lvl="1"/>
            <a:r>
              <a:rPr lang="en-US" dirty="0"/>
              <a:t>Better scaling</a:t>
            </a:r>
          </a:p>
          <a:p>
            <a:pPr lvl="1"/>
            <a:r>
              <a:rPr lang="en-US" dirty="0"/>
              <a:t>Globally consistent databases</a:t>
            </a:r>
          </a:p>
          <a:p>
            <a:pPr lvl="1"/>
            <a:r>
              <a:rPr lang="en-US" dirty="0"/>
              <a:t>Reduced operating costs</a:t>
            </a:r>
          </a:p>
          <a:p>
            <a:pPr lvl="1"/>
            <a:r>
              <a:rPr lang="en-US" dirty="0"/>
              <a:t>Additional revenue sources</a:t>
            </a:r>
          </a:p>
          <a:p>
            <a:pPr lvl="1"/>
            <a:endParaRPr lang="en-US" dirty="0"/>
          </a:p>
          <a:p>
            <a:r>
              <a:rPr lang="en-US" dirty="0"/>
              <a:t>But customers still need to maintain entire VMs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8995C-CA5E-140E-0EC9-B36132000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AA5744-4690-75D4-0E11-6FFF7E7A2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800F99-22AA-554E-3E2A-284C725945DE}"/>
              </a:ext>
            </a:extLst>
          </p:cNvPr>
          <p:cNvSpPr/>
          <p:nvPr/>
        </p:nvSpPr>
        <p:spPr>
          <a:xfrm>
            <a:off x="7601527" y="2798618"/>
            <a:ext cx="2437132" cy="3177309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0A0861-9C75-8194-B082-C4AAD56CF6C7}"/>
              </a:ext>
            </a:extLst>
          </p:cNvPr>
          <p:cNvSpPr txBox="1"/>
          <p:nvPr/>
        </p:nvSpPr>
        <p:spPr>
          <a:xfrm>
            <a:off x="8038234" y="2494454"/>
            <a:ext cx="1688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Guest Machine</a:t>
            </a:r>
            <a:endParaRPr lang="en-I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A6DEF6-4DED-399C-30AA-5D20F4646298}"/>
              </a:ext>
            </a:extLst>
          </p:cNvPr>
          <p:cNvSpPr/>
          <p:nvPr/>
        </p:nvSpPr>
        <p:spPr>
          <a:xfrm>
            <a:off x="7601527" y="5456131"/>
            <a:ext cx="2437132" cy="51271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Virtual Hardware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253A4-F531-660D-A18E-759530244F98}"/>
              </a:ext>
            </a:extLst>
          </p:cNvPr>
          <p:cNvSpPr/>
          <p:nvPr/>
        </p:nvSpPr>
        <p:spPr>
          <a:xfrm>
            <a:off x="8746435" y="4952684"/>
            <a:ext cx="1292224" cy="503447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Guest OS</a:t>
            </a:r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745BD6-12BF-8AB4-3F12-4017F5B8D448}"/>
              </a:ext>
            </a:extLst>
          </p:cNvPr>
          <p:cNvSpPr/>
          <p:nvPr/>
        </p:nvSpPr>
        <p:spPr>
          <a:xfrm>
            <a:off x="10524246" y="4185384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NFS/File Server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SaaS</a:t>
            </a:r>
            <a:endParaRPr lang="en-IL" dirty="0">
              <a:solidFill>
                <a:schemeClr val="tx1"/>
              </a:solidFill>
            </a:endParaRPr>
          </a:p>
          <a:p>
            <a:pPr algn="ctr"/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62206C-E312-F921-6A63-4E90190635A8}"/>
              </a:ext>
            </a:extLst>
          </p:cNvPr>
          <p:cNvSpPr/>
          <p:nvPr/>
        </p:nvSpPr>
        <p:spPr>
          <a:xfrm>
            <a:off x="8106992" y="3429000"/>
            <a:ext cx="1663173" cy="1106286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Web server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(+PHP, JS, CSS)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4A72F0-C55B-555B-BB3B-E2A66BA08D2D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6848061" y="3982143"/>
            <a:ext cx="1258931" cy="0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22659E2-875A-70C3-12E7-90D389C3715B}"/>
              </a:ext>
            </a:extLst>
          </p:cNvPr>
          <p:cNvSpPr txBox="1"/>
          <p:nvPr/>
        </p:nvSpPr>
        <p:spPr>
          <a:xfrm>
            <a:off x="6738729" y="3631962"/>
            <a:ext cx="1051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</a:t>
            </a:r>
            <a:endParaRPr lang="en-IL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87F249-7B4F-6262-95D4-EE31EDB5B291}"/>
              </a:ext>
            </a:extLst>
          </p:cNvPr>
          <p:cNvSpPr/>
          <p:nvPr/>
        </p:nvSpPr>
        <p:spPr>
          <a:xfrm>
            <a:off x="10524246" y="3031639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Database</a:t>
            </a:r>
            <a:br>
              <a:rPr lang="en-US" sz="1600">
                <a:solidFill>
                  <a:schemeClr val="tx1"/>
                </a:solidFill>
              </a:rPr>
            </a:br>
            <a:r>
              <a:rPr lang="en-US" sz="1600">
                <a:solidFill>
                  <a:schemeClr val="tx1"/>
                </a:solidFill>
              </a:rPr>
              <a:t>SaaS</a:t>
            </a:r>
            <a:endParaRPr lang="en-IL" sz="1600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70B2E8-574A-DCE5-1F95-D93CBC37C5DB}"/>
              </a:ext>
            </a:extLst>
          </p:cNvPr>
          <p:cNvSpPr txBox="1"/>
          <p:nvPr/>
        </p:nvSpPr>
        <p:spPr>
          <a:xfrm>
            <a:off x="8469706" y="1819482"/>
            <a:ext cx="661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</a:t>
            </a:r>
            <a:endParaRPr lang="en-IL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9587417-6350-9AC5-0B01-F2F5A045CD98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9770165" y="3381541"/>
            <a:ext cx="754081" cy="414604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2EA802-50BD-AC4C-7CEC-1F4AA85C5902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9770165" y="4185384"/>
            <a:ext cx="754081" cy="349902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478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A8659-7CC6-9911-0C08-C1DC63D8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AA0C-B384-A506-2398-A2AC2B7BF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3582" cy="1325563"/>
          </a:xfrm>
        </p:spPr>
        <p:txBody>
          <a:bodyPr>
            <a:normAutofit/>
          </a:bodyPr>
          <a:lstStyle/>
          <a:p>
            <a:r>
              <a:rPr lang="en-US" dirty="0"/>
              <a:t>The rise of </a:t>
            </a:r>
            <a:r>
              <a:rPr lang="en-US" dirty="0" err="1"/>
              <a:t>FaaS</a:t>
            </a:r>
            <a:r>
              <a:rPr lang="en-US" dirty="0"/>
              <a:t>/microservices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95336-D221-0381-C5A5-F6C167789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033725" cy="4351338"/>
          </a:xfrm>
        </p:spPr>
        <p:txBody>
          <a:bodyPr>
            <a:normAutofit/>
          </a:bodyPr>
          <a:lstStyle/>
          <a:p>
            <a:r>
              <a:rPr lang="en-US" dirty="0"/>
              <a:t>The next logical step was to let customers just run their code</a:t>
            </a:r>
          </a:p>
          <a:p>
            <a:pPr lvl="1"/>
            <a:r>
              <a:rPr lang="en-US" dirty="0"/>
              <a:t>No need to maintain a VM</a:t>
            </a:r>
          </a:p>
          <a:p>
            <a:endParaRPr lang="en-US" dirty="0"/>
          </a:p>
          <a:p>
            <a:r>
              <a:rPr lang="en-US" dirty="0"/>
              <a:t>AKA: Function-as-a-Service</a:t>
            </a:r>
          </a:p>
          <a:p>
            <a:endParaRPr lang="en-US" dirty="0"/>
          </a:p>
          <a:p>
            <a:r>
              <a:rPr lang="en-US" dirty="0"/>
              <a:t>Customers can build large services by integrating SaaS with own logic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5A17E-AFA2-0A5A-6D45-766237DD5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41601-F9D9-FB22-76D6-F18EC8569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4DD758-5141-C247-B29E-F4EFC99369D7}"/>
              </a:ext>
            </a:extLst>
          </p:cNvPr>
          <p:cNvSpPr/>
          <p:nvPr/>
        </p:nvSpPr>
        <p:spPr>
          <a:xfrm>
            <a:off x="8130145" y="1875673"/>
            <a:ext cx="1663173" cy="67321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HTTP server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SaaS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0F2EBCD-C3AB-AD5F-BA4F-C12DFAE865D5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7050118" y="2212282"/>
            <a:ext cx="1080027" cy="0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32E1354-E14A-8A82-D7FB-FE9A07D23A2C}"/>
              </a:ext>
            </a:extLst>
          </p:cNvPr>
          <p:cNvSpPr txBox="1"/>
          <p:nvPr/>
        </p:nvSpPr>
        <p:spPr>
          <a:xfrm>
            <a:off x="6937852" y="1893647"/>
            <a:ext cx="1051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</a:t>
            </a:r>
            <a:endParaRPr lang="en-IL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A65EE03-5B14-6CD6-D62D-2BB6123D3BDA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9661462" y="3372052"/>
            <a:ext cx="862784" cy="9489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F5F7351-2290-A410-F736-D0E8457A27F4}"/>
              </a:ext>
            </a:extLst>
          </p:cNvPr>
          <p:cNvCxnSpPr>
            <a:cxnSpLocks/>
            <a:stCxn id="36" idx="3"/>
            <a:endCxn id="30" idx="1"/>
          </p:cNvCxnSpPr>
          <p:nvPr/>
        </p:nvCxnSpPr>
        <p:spPr>
          <a:xfrm>
            <a:off x="9722190" y="4520270"/>
            <a:ext cx="802056" cy="15016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0398958-1F2F-46D2-9397-8354DE614ABA}"/>
              </a:ext>
            </a:extLst>
          </p:cNvPr>
          <p:cNvSpPr/>
          <p:nvPr/>
        </p:nvSpPr>
        <p:spPr>
          <a:xfrm>
            <a:off x="8251601" y="3048219"/>
            <a:ext cx="1409861" cy="647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html</a:t>
            </a:r>
            <a:br>
              <a:rPr lang="en-US" dirty="0"/>
            </a:br>
            <a:r>
              <a:rPr lang="en-US" dirty="0"/>
              <a:t>from DB</a:t>
            </a:r>
            <a:endParaRPr lang="en-IL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7822D42-8FEC-9615-6826-E87ADD00D02F}"/>
              </a:ext>
            </a:extLst>
          </p:cNvPr>
          <p:cNvSpPr/>
          <p:nvPr/>
        </p:nvSpPr>
        <p:spPr>
          <a:xfrm>
            <a:off x="10524246" y="4185384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NFS/File Server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SaaS</a:t>
            </a:r>
            <a:endParaRPr lang="en-IL" dirty="0">
              <a:solidFill>
                <a:schemeClr val="tx1"/>
              </a:solidFill>
            </a:endParaRPr>
          </a:p>
          <a:p>
            <a:pPr algn="ctr"/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FA05F7-9073-A4CA-AD0A-8D0B2350810C}"/>
              </a:ext>
            </a:extLst>
          </p:cNvPr>
          <p:cNvSpPr/>
          <p:nvPr/>
        </p:nvSpPr>
        <p:spPr>
          <a:xfrm>
            <a:off x="10524246" y="3031639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Database</a:t>
            </a:r>
            <a:br>
              <a:rPr lang="en-US" sz="1600">
                <a:solidFill>
                  <a:schemeClr val="tx1"/>
                </a:solidFill>
              </a:rPr>
            </a:br>
            <a:r>
              <a:rPr lang="en-US" sz="1600">
                <a:solidFill>
                  <a:schemeClr val="tx1"/>
                </a:solidFill>
              </a:rPr>
              <a:t>SaaS</a:t>
            </a:r>
            <a:endParaRPr lang="en-IL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9179F02-9BBA-5E51-BEE6-9DAC372B3952}"/>
              </a:ext>
            </a:extLst>
          </p:cNvPr>
          <p:cNvCxnSpPr>
            <a:cxnSpLocks/>
            <a:stCxn id="29" idx="0"/>
            <a:endCxn id="11" idx="2"/>
          </p:cNvCxnSpPr>
          <p:nvPr/>
        </p:nvCxnSpPr>
        <p:spPr>
          <a:xfrm flipV="1">
            <a:off x="8956532" y="2548891"/>
            <a:ext cx="5200" cy="49932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BCE8CDA-D82A-355C-2DF6-C206ABAA715E}"/>
              </a:ext>
            </a:extLst>
          </p:cNvPr>
          <p:cNvSpPr/>
          <p:nvPr/>
        </p:nvSpPr>
        <p:spPr>
          <a:xfrm>
            <a:off x="8190873" y="4196437"/>
            <a:ext cx="1531317" cy="647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images</a:t>
            </a:r>
            <a:br>
              <a:rPr lang="en-US" dirty="0"/>
            </a:br>
            <a:r>
              <a:rPr lang="en-US" dirty="0"/>
              <a:t>from storage</a:t>
            </a:r>
            <a:endParaRPr lang="en-IL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6092ED9-2041-CA3E-707C-B410D10E347E}"/>
              </a:ext>
            </a:extLst>
          </p:cNvPr>
          <p:cNvCxnSpPr>
            <a:cxnSpLocks/>
            <a:stCxn id="29" idx="2"/>
            <a:endCxn id="36" idx="0"/>
          </p:cNvCxnSpPr>
          <p:nvPr/>
        </p:nvCxnSpPr>
        <p:spPr>
          <a:xfrm>
            <a:off x="8956532" y="3695884"/>
            <a:ext cx="0" cy="500553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0D87721-4C15-E00B-3931-9A9379886CD4}"/>
              </a:ext>
            </a:extLst>
          </p:cNvPr>
          <p:cNvSpPr txBox="1"/>
          <p:nvPr/>
        </p:nvSpPr>
        <p:spPr>
          <a:xfrm>
            <a:off x="6065236" y="3731442"/>
            <a:ext cx="1699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</a:t>
            </a:r>
            <a:r>
              <a:rPr lang="en-US" b="1" dirty="0"/>
              <a:t>functions</a:t>
            </a:r>
            <a:endParaRPr lang="en-IL" b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FC3D671-9074-80C9-DFE2-0F17FCA87BB2}"/>
              </a:ext>
            </a:extLst>
          </p:cNvPr>
          <p:cNvCxnSpPr>
            <a:stCxn id="48" idx="3"/>
            <a:endCxn id="29" idx="1"/>
          </p:cNvCxnSpPr>
          <p:nvPr/>
        </p:nvCxnSpPr>
        <p:spPr>
          <a:xfrm flipV="1">
            <a:off x="7764484" y="3372052"/>
            <a:ext cx="487117" cy="544056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522DE83-83BD-25B2-4800-6B0DBB0AF884}"/>
              </a:ext>
            </a:extLst>
          </p:cNvPr>
          <p:cNvCxnSpPr>
            <a:cxnSpLocks/>
            <a:stCxn id="48" idx="3"/>
            <a:endCxn id="36" idx="1"/>
          </p:cNvCxnSpPr>
          <p:nvPr/>
        </p:nvCxnSpPr>
        <p:spPr>
          <a:xfrm>
            <a:off x="7764484" y="3916108"/>
            <a:ext cx="426389" cy="604162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145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1F079-3D53-743C-4BA1-4DD3755A0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FaaS</a:t>
            </a:r>
            <a:r>
              <a:rPr lang="en-US" dirty="0"/>
              <a:t> invocation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8C875-1A59-2722-D2A8-7FA1DAF30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353801" cy="4351338"/>
          </a:xfrm>
        </p:spPr>
        <p:txBody>
          <a:bodyPr/>
          <a:lstStyle/>
          <a:p>
            <a:r>
              <a:rPr lang="en-US" dirty="0"/>
              <a:t>Orchestrator may run on a different machine; manages many cores</a:t>
            </a:r>
          </a:p>
          <a:p>
            <a:r>
              <a:rPr lang="en-US" b="1" dirty="0"/>
              <a:t>Each invocation must be isolated and run in a separate VM/sandbox</a:t>
            </a:r>
          </a:p>
          <a:p>
            <a:pPr lvl="1"/>
            <a:r>
              <a:rPr lang="en-US" dirty="0"/>
              <a:t>Major source of overhead</a:t>
            </a:r>
          </a:p>
          <a:p>
            <a:pPr lvl="1"/>
            <a:r>
              <a:rPr lang="en-US" dirty="0"/>
              <a:t>Prompts new avenues</a:t>
            </a:r>
            <a:br>
              <a:rPr lang="en-US" dirty="0"/>
            </a:br>
            <a:r>
              <a:rPr lang="en-US" dirty="0"/>
              <a:t>of HW/SW co-design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A02C4F-E9E4-AC07-5321-3B4DFBE0B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EEC91-5717-69DA-21D0-BB1D02478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544BF9-5846-F754-B6B0-320305DC4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095" y="3278088"/>
            <a:ext cx="7201905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82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A7DF-8AA4-1D42-BCBA-39399B73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</a:t>
            </a:r>
            <a:r>
              <a:rPr lang="en-US" dirty="0" err="1"/>
              <a:t>FaaS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AD883-E5BE-9E0A-9EB1-69342E4C72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7627621" cy="466724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Programmer provides function and a trigger event</a:t>
            </a:r>
          </a:p>
          <a:p>
            <a:pPr lvl="1"/>
            <a:r>
              <a:rPr lang="en-US" dirty="0"/>
              <a:t>Function is invoked when event happens</a:t>
            </a:r>
          </a:p>
          <a:p>
            <a:endParaRPr lang="en-US" dirty="0"/>
          </a:p>
          <a:p>
            <a:r>
              <a:rPr lang="en-US" dirty="0"/>
              <a:t>Functions typically stateless; state is stored in DB</a:t>
            </a:r>
          </a:p>
          <a:p>
            <a:endParaRPr lang="en-US" dirty="0"/>
          </a:p>
          <a:p>
            <a:r>
              <a:rPr lang="en-US" dirty="0"/>
              <a:t>Providers offer variety of potential triggers</a:t>
            </a:r>
          </a:p>
          <a:p>
            <a:pPr lvl="1"/>
            <a:r>
              <a:rPr lang="en-US" dirty="0"/>
              <a:t>E.g., HTTP request, stored object, data item streamed</a:t>
            </a:r>
          </a:p>
          <a:p>
            <a:endParaRPr lang="en-US" dirty="0"/>
          </a:p>
          <a:p>
            <a:r>
              <a:rPr lang="en-US" dirty="0"/>
              <a:t>Functions can be coded in a variety of languages</a:t>
            </a:r>
          </a:p>
          <a:p>
            <a:endParaRPr lang="en-US" dirty="0"/>
          </a:p>
          <a:p>
            <a:r>
              <a:rPr lang="en-US" b="1" dirty="0"/>
              <a:t>Programmers do not need to manage scale*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462F1-5878-CE74-D471-E00028E59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D76EB4-33A0-EE78-014D-FCB9F3E89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32631B-5A20-CB85-CD5D-12CF574BF0E4}"/>
              </a:ext>
            </a:extLst>
          </p:cNvPr>
          <p:cNvSpPr/>
          <p:nvPr/>
        </p:nvSpPr>
        <p:spPr>
          <a:xfrm>
            <a:off x="9988761" y="2481960"/>
            <a:ext cx="1663173" cy="67321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HTTP server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SaaS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82E8D1-F85E-F32A-C6CF-C47BA2DC625D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8908734" y="2818569"/>
            <a:ext cx="1080027" cy="0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F9CA976-98B4-A278-4137-E3A3D0CAF9D7}"/>
              </a:ext>
            </a:extLst>
          </p:cNvPr>
          <p:cNvSpPr txBox="1"/>
          <p:nvPr/>
        </p:nvSpPr>
        <p:spPr>
          <a:xfrm>
            <a:off x="8796468" y="2499934"/>
            <a:ext cx="1051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</a:t>
            </a:r>
            <a:endParaRPr lang="en-IL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A0D865-E9CA-827F-750F-357DCF986C2C}"/>
              </a:ext>
            </a:extLst>
          </p:cNvPr>
          <p:cNvSpPr/>
          <p:nvPr/>
        </p:nvSpPr>
        <p:spPr>
          <a:xfrm>
            <a:off x="10110217" y="3654506"/>
            <a:ext cx="1409861" cy="647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html</a:t>
            </a:r>
            <a:br>
              <a:rPr lang="en-US" dirty="0"/>
            </a:br>
            <a:r>
              <a:rPr lang="en-US" dirty="0"/>
              <a:t>from DB</a:t>
            </a:r>
            <a:endParaRPr lang="en-I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3E53566-1691-E540-2A39-1FBC660663ED}"/>
              </a:ext>
            </a:extLst>
          </p:cNvPr>
          <p:cNvCxnSpPr>
            <a:cxnSpLocks/>
            <a:stCxn id="9" idx="0"/>
            <a:endCxn id="6" idx="2"/>
          </p:cNvCxnSpPr>
          <p:nvPr/>
        </p:nvCxnSpPr>
        <p:spPr>
          <a:xfrm flipV="1">
            <a:off x="10815148" y="3155178"/>
            <a:ext cx="5200" cy="49932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72153EE-A3EF-2B80-7BDE-003D14E3607D}"/>
              </a:ext>
            </a:extLst>
          </p:cNvPr>
          <p:cNvSpPr txBox="1"/>
          <p:nvPr/>
        </p:nvSpPr>
        <p:spPr>
          <a:xfrm>
            <a:off x="10378175" y="1449527"/>
            <a:ext cx="932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Trigger </a:t>
            </a:r>
            <a:endParaRPr lang="en-IL" b="1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6E7B396-5599-9759-15AC-8BCDD9A21BE2}"/>
              </a:ext>
            </a:extLst>
          </p:cNvPr>
          <p:cNvCxnSpPr>
            <a:cxnSpLocks/>
            <a:stCxn id="16" idx="2"/>
            <a:endCxn id="6" idx="0"/>
          </p:cNvCxnSpPr>
          <p:nvPr/>
        </p:nvCxnSpPr>
        <p:spPr>
          <a:xfrm flipH="1">
            <a:off x="10820348" y="1818859"/>
            <a:ext cx="24269" cy="663101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9CDC359-1172-DEC5-E77F-AB6CB3CF1C58}"/>
              </a:ext>
            </a:extLst>
          </p:cNvPr>
          <p:cNvSpPr txBox="1"/>
          <p:nvPr/>
        </p:nvSpPr>
        <p:spPr>
          <a:xfrm>
            <a:off x="8390991" y="4392003"/>
            <a:ext cx="1288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Invocation</a:t>
            </a:r>
            <a:endParaRPr lang="en-IL" b="1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D96E25D-1F75-3058-7D3B-188C80582992}"/>
              </a:ext>
            </a:extLst>
          </p:cNvPr>
          <p:cNvCxnSpPr>
            <a:cxnSpLocks/>
            <a:stCxn id="21" idx="3"/>
            <a:endCxn id="9" idx="1"/>
          </p:cNvCxnSpPr>
          <p:nvPr/>
        </p:nvCxnSpPr>
        <p:spPr>
          <a:xfrm flipV="1">
            <a:off x="9679742" y="3978339"/>
            <a:ext cx="430475" cy="598330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737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60860-B899-CF81-45AD-2B375B2B8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CBDFA-AFEE-B3B4-D62C-EF997BB32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functions trigger one another?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B8779-3BAC-19E5-C4A4-D66923D03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7160090" cy="4961674"/>
          </a:xfrm>
        </p:spPr>
        <p:txBody>
          <a:bodyPr>
            <a:normAutofit fontScale="92500"/>
          </a:bodyPr>
          <a:lstStyle/>
          <a:p>
            <a:r>
              <a:rPr lang="en-US" dirty="0"/>
              <a:t>Functions trigger one another over network</a:t>
            </a:r>
          </a:p>
          <a:p>
            <a:pPr lvl="1"/>
            <a:r>
              <a:rPr lang="en-US" dirty="0"/>
              <a:t>E.g., RPC, REST API</a:t>
            </a:r>
          </a:p>
          <a:p>
            <a:pPr lvl="1"/>
            <a:r>
              <a:rPr lang="en-US" dirty="0"/>
              <a:t>Need to got through </a:t>
            </a:r>
            <a:r>
              <a:rPr lang="en-US" dirty="0" err="1"/>
              <a:t>FaaS</a:t>
            </a:r>
            <a:r>
              <a:rPr lang="en-US" dirty="0"/>
              <a:t> orchestrator </a:t>
            </a:r>
          </a:p>
          <a:p>
            <a:pPr lvl="1"/>
            <a:endParaRPr lang="en-US" dirty="0"/>
          </a:p>
          <a:p>
            <a:r>
              <a:rPr lang="en-US" dirty="0"/>
              <a:t>Arguments are packed (marshalled)</a:t>
            </a:r>
            <a:br>
              <a:rPr lang="en-US" dirty="0"/>
            </a:br>
            <a:r>
              <a:rPr lang="en-US" dirty="0"/>
              <a:t>and sent to orchestrator</a:t>
            </a:r>
          </a:p>
          <a:p>
            <a:r>
              <a:rPr lang="en-US" dirty="0"/>
              <a:t>Orchestrator unpacks (</a:t>
            </a:r>
            <a:r>
              <a:rPr lang="en-US" dirty="0" err="1"/>
              <a:t>demarshals</a:t>
            </a:r>
            <a:r>
              <a:rPr lang="en-US" dirty="0"/>
              <a:t>) data and schedules function</a:t>
            </a:r>
          </a:p>
          <a:p>
            <a:endParaRPr lang="en-US" dirty="0"/>
          </a:p>
          <a:p>
            <a:r>
              <a:rPr lang="en-US" b="1" dirty="0"/>
              <a:t>Remote calls are a major source of overhead</a:t>
            </a:r>
          </a:p>
          <a:p>
            <a:pPr lvl="1"/>
            <a:r>
              <a:rPr lang="en-US" dirty="0"/>
              <a:t>Prompted extensive research on offloading RPC management (mostly to </a:t>
            </a:r>
            <a:r>
              <a:rPr lang="en-US" dirty="0" err="1"/>
              <a:t>SmartNIC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6E1D8-5A67-EA34-A46F-BA4B73495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0A02A-E4E9-5274-176E-8185F0AD2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9C9622-10D9-3854-5CBB-49E4D9ED201A}"/>
              </a:ext>
            </a:extLst>
          </p:cNvPr>
          <p:cNvCxnSpPr>
            <a:cxnSpLocks/>
            <a:stCxn id="13" idx="3"/>
            <a:endCxn id="15" idx="1"/>
          </p:cNvCxnSpPr>
          <p:nvPr/>
        </p:nvCxnSpPr>
        <p:spPr>
          <a:xfrm>
            <a:off x="9661462" y="2596799"/>
            <a:ext cx="862784" cy="9489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1C1212-7ECD-A79D-4398-DFB08C64F130}"/>
              </a:ext>
            </a:extLst>
          </p:cNvPr>
          <p:cNvCxnSpPr>
            <a:cxnSpLocks/>
            <a:stCxn id="18" idx="3"/>
            <a:endCxn id="14" idx="1"/>
          </p:cNvCxnSpPr>
          <p:nvPr/>
        </p:nvCxnSpPr>
        <p:spPr>
          <a:xfrm>
            <a:off x="9722190" y="3745017"/>
            <a:ext cx="802056" cy="15016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5D93927-9FBA-57D3-9BC5-E3A830E83F91}"/>
              </a:ext>
            </a:extLst>
          </p:cNvPr>
          <p:cNvSpPr/>
          <p:nvPr/>
        </p:nvSpPr>
        <p:spPr>
          <a:xfrm>
            <a:off x="8251601" y="2272966"/>
            <a:ext cx="1409861" cy="647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html</a:t>
            </a:r>
            <a:br>
              <a:rPr lang="en-US" dirty="0"/>
            </a:br>
            <a:r>
              <a:rPr lang="en-US" dirty="0"/>
              <a:t>from DB</a:t>
            </a:r>
            <a:endParaRPr lang="en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BACC3CE-5F57-36D0-59C4-DA8592BD545A}"/>
              </a:ext>
            </a:extLst>
          </p:cNvPr>
          <p:cNvSpPr/>
          <p:nvPr/>
        </p:nvSpPr>
        <p:spPr>
          <a:xfrm>
            <a:off x="10524246" y="3410131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NFS/File Server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SaaS</a:t>
            </a:r>
            <a:endParaRPr lang="en-IL" dirty="0">
              <a:solidFill>
                <a:schemeClr val="tx1"/>
              </a:solidFill>
            </a:endParaRPr>
          </a:p>
          <a:p>
            <a:pPr algn="ctr"/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BF2D3E-DC2E-DE33-E9DF-68DB791433A4}"/>
              </a:ext>
            </a:extLst>
          </p:cNvPr>
          <p:cNvSpPr/>
          <p:nvPr/>
        </p:nvSpPr>
        <p:spPr>
          <a:xfrm>
            <a:off x="10524246" y="2256386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Database</a:t>
            </a:r>
            <a:br>
              <a:rPr lang="en-US" sz="1600">
                <a:solidFill>
                  <a:schemeClr val="tx1"/>
                </a:solidFill>
              </a:rPr>
            </a:br>
            <a:r>
              <a:rPr lang="en-US" sz="1600">
                <a:solidFill>
                  <a:schemeClr val="tx1"/>
                </a:solidFill>
              </a:rPr>
              <a:t>SaaS</a:t>
            </a:r>
            <a:endParaRPr lang="en-IL" sz="1600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C262BE5-DD84-81CE-8757-1BA615F2E6B5}"/>
              </a:ext>
            </a:extLst>
          </p:cNvPr>
          <p:cNvSpPr/>
          <p:nvPr/>
        </p:nvSpPr>
        <p:spPr>
          <a:xfrm>
            <a:off x="8190873" y="3421184"/>
            <a:ext cx="1531317" cy="647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images</a:t>
            </a:r>
            <a:br>
              <a:rPr lang="en-US" dirty="0"/>
            </a:br>
            <a:r>
              <a:rPr lang="en-US" dirty="0"/>
              <a:t>from storage</a:t>
            </a:r>
            <a:endParaRPr lang="en-IL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A4C84EE-AB1A-71DF-160F-980BECFC3588}"/>
              </a:ext>
            </a:extLst>
          </p:cNvPr>
          <p:cNvCxnSpPr>
            <a:cxnSpLocks/>
            <a:stCxn id="13" idx="2"/>
            <a:endCxn id="18" idx="0"/>
          </p:cNvCxnSpPr>
          <p:nvPr/>
        </p:nvCxnSpPr>
        <p:spPr>
          <a:xfrm>
            <a:off x="8956532" y="2920631"/>
            <a:ext cx="0" cy="500553"/>
          </a:xfrm>
          <a:prstGeom prst="straightConnector1">
            <a:avLst/>
          </a:prstGeom>
          <a:ln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3001288-C6EC-3A98-FE8D-81066C607275}"/>
              </a:ext>
            </a:extLst>
          </p:cNvPr>
          <p:cNvSpPr txBox="1"/>
          <p:nvPr/>
        </p:nvSpPr>
        <p:spPr>
          <a:xfrm>
            <a:off x="6395333" y="2920631"/>
            <a:ext cx="1699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</a:t>
            </a:r>
            <a:r>
              <a:rPr lang="en-US" b="1" dirty="0"/>
              <a:t>functions</a:t>
            </a:r>
            <a:endParaRPr lang="en-IL" b="1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3C64F4D-323B-1AB5-ACD3-D44CB08682F2}"/>
              </a:ext>
            </a:extLst>
          </p:cNvPr>
          <p:cNvCxnSpPr>
            <a:stCxn id="20" idx="3"/>
            <a:endCxn id="13" idx="1"/>
          </p:cNvCxnSpPr>
          <p:nvPr/>
        </p:nvCxnSpPr>
        <p:spPr>
          <a:xfrm flipV="1">
            <a:off x="8094581" y="2596799"/>
            <a:ext cx="157020" cy="508498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F127E9-0B01-8AFC-6502-6BBE6EBD2990}"/>
              </a:ext>
            </a:extLst>
          </p:cNvPr>
          <p:cNvCxnSpPr>
            <a:cxnSpLocks/>
            <a:stCxn id="20" idx="3"/>
            <a:endCxn id="18" idx="1"/>
          </p:cNvCxnSpPr>
          <p:nvPr/>
        </p:nvCxnSpPr>
        <p:spPr>
          <a:xfrm>
            <a:off x="8094581" y="3105297"/>
            <a:ext cx="96292" cy="639720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C84354FB-0088-6914-FDEE-6BFDB4F8C6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688" y="4683975"/>
            <a:ext cx="3587059" cy="1584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0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117D3-F8B9-AE25-432D-19F5C15B2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45B8-5124-CC9A-650D-156A6F8BC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3582" cy="1325563"/>
          </a:xfrm>
        </p:spPr>
        <p:txBody>
          <a:bodyPr>
            <a:normAutofit/>
          </a:bodyPr>
          <a:lstStyle/>
          <a:p>
            <a:r>
              <a:rPr lang="en-US" dirty="0"/>
              <a:t>Key benefits of </a:t>
            </a:r>
            <a:r>
              <a:rPr lang="en-US" dirty="0" err="1"/>
              <a:t>FaaS</a:t>
            </a:r>
            <a:r>
              <a:rPr lang="en-US" dirty="0"/>
              <a:t>/microservices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5A386-36D4-A711-6747-3693351D6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5673"/>
            <a:ext cx="6033725" cy="4351338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Benefits for customers:</a:t>
            </a:r>
          </a:p>
          <a:p>
            <a:pPr lvl="1"/>
            <a:endParaRPr lang="en-US" dirty="0"/>
          </a:p>
          <a:p>
            <a:r>
              <a:rPr lang="en-US" dirty="0"/>
              <a:t>Focus on business logic (functions) and service integration</a:t>
            </a:r>
          </a:p>
          <a:p>
            <a:pPr lvl="1"/>
            <a:r>
              <a:rPr lang="en-US" dirty="0"/>
              <a:t>Customers do not deal with OS</a:t>
            </a:r>
          </a:p>
          <a:p>
            <a:pPr lvl="1"/>
            <a:r>
              <a:rPr lang="en-US" dirty="0"/>
              <a:t>Customers do not need to upgrade SW</a:t>
            </a:r>
          </a:p>
          <a:p>
            <a:endParaRPr lang="en-US" dirty="0"/>
          </a:p>
          <a:p>
            <a:r>
              <a:rPr lang="en-US" dirty="0"/>
              <a:t>Functions provide modularity </a:t>
            </a:r>
          </a:p>
          <a:p>
            <a:pPr lvl="1"/>
            <a:r>
              <a:rPr lang="en-US" dirty="0"/>
              <a:t>Customers can upgrade/improve</a:t>
            </a:r>
            <a:br>
              <a:rPr lang="en-US" dirty="0"/>
            </a:br>
            <a:r>
              <a:rPr lang="en-US" dirty="0"/>
              <a:t>specific functions</a:t>
            </a:r>
          </a:p>
          <a:p>
            <a:endParaRPr lang="en-US" dirty="0"/>
          </a:p>
          <a:p>
            <a:r>
              <a:rPr lang="en-US" dirty="0"/>
              <a:t>Billed only for own run time and memory usage, not for OS services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48349-47EE-6108-ECC5-6A42FF637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F30F1-D505-AB02-FB88-FFD49E0B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2A5AC1-69CF-37D1-D6AB-8DB5385DCBE5}"/>
              </a:ext>
            </a:extLst>
          </p:cNvPr>
          <p:cNvSpPr/>
          <p:nvPr/>
        </p:nvSpPr>
        <p:spPr>
          <a:xfrm>
            <a:off x="8130145" y="1875673"/>
            <a:ext cx="1663173" cy="67321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HTTP server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SaaS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707836-4A62-74E8-1E16-CE3E80FC7BC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7050118" y="2212282"/>
            <a:ext cx="1080027" cy="0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99E7EB9-D3BC-3609-DC0F-6BDFA6C83DCA}"/>
              </a:ext>
            </a:extLst>
          </p:cNvPr>
          <p:cNvSpPr txBox="1"/>
          <p:nvPr/>
        </p:nvSpPr>
        <p:spPr>
          <a:xfrm>
            <a:off x="6937852" y="1893647"/>
            <a:ext cx="1051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</a:t>
            </a:r>
            <a:endParaRPr lang="en-IL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73C41D9-9E69-E3E4-B9DD-0FFCD8AEC89E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9661462" y="3372052"/>
            <a:ext cx="862784" cy="9489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9D5CEB6-B247-FC29-E560-FD60A90B4272}"/>
              </a:ext>
            </a:extLst>
          </p:cNvPr>
          <p:cNvCxnSpPr>
            <a:cxnSpLocks/>
            <a:stCxn id="36" idx="3"/>
            <a:endCxn id="30" idx="1"/>
          </p:cNvCxnSpPr>
          <p:nvPr/>
        </p:nvCxnSpPr>
        <p:spPr>
          <a:xfrm>
            <a:off x="9722190" y="4520270"/>
            <a:ext cx="802056" cy="15016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006D5E3-FF12-0079-B521-8A2B086FBBFB}"/>
              </a:ext>
            </a:extLst>
          </p:cNvPr>
          <p:cNvSpPr/>
          <p:nvPr/>
        </p:nvSpPr>
        <p:spPr>
          <a:xfrm>
            <a:off x="8251601" y="3048219"/>
            <a:ext cx="1409861" cy="647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html</a:t>
            </a:r>
            <a:br>
              <a:rPr lang="en-US" dirty="0"/>
            </a:br>
            <a:r>
              <a:rPr lang="en-US" dirty="0"/>
              <a:t>from DB</a:t>
            </a:r>
            <a:endParaRPr lang="en-IL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A65BB9-C95B-BB0D-A1DF-5366935FB2A9}"/>
              </a:ext>
            </a:extLst>
          </p:cNvPr>
          <p:cNvSpPr/>
          <p:nvPr/>
        </p:nvSpPr>
        <p:spPr>
          <a:xfrm>
            <a:off x="10524246" y="4185384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NFS/File Server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SaaS</a:t>
            </a:r>
            <a:endParaRPr lang="en-IL" dirty="0">
              <a:solidFill>
                <a:schemeClr val="tx1"/>
              </a:solidFill>
            </a:endParaRPr>
          </a:p>
          <a:p>
            <a:pPr algn="ctr"/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433630-03E5-6895-38F4-0096E7945DAC}"/>
              </a:ext>
            </a:extLst>
          </p:cNvPr>
          <p:cNvSpPr/>
          <p:nvPr/>
        </p:nvSpPr>
        <p:spPr>
          <a:xfrm>
            <a:off x="10524246" y="3031639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Database</a:t>
            </a:r>
            <a:br>
              <a:rPr lang="en-US" sz="1600">
                <a:solidFill>
                  <a:schemeClr val="tx1"/>
                </a:solidFill>
              </a:rPr>
            </a:br>
            <a:r>
              <a:rPr lang="en-US" sz="1600">
                <a:solidFill>
                  <a:schemeClr val="tx1"/>
                </a:solidFill>
              </a:rPr>
              <a:t>SaaS</a:t>
            </a:r>
            <a:endParaRPr lang="en-IL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280A21-AAA3-9383-C233-081CE1D25D69}"/>
              </a:ext>
            </a:extLst>
          </p:cNvPr>
          <p:cNvCxnSpPr>
            <a:cxnSpLocks/>
            <a:stCxn id="29" idx="0"/>
            <a:endCxn id="11" idx="2"/>
          </p:cNvCxnSpPr>
          <p:nvPr/>
        </p:nvCxnSpPr>
        <p:spPr>
          <a:xfrm flipV="1">
            <a:off x="8956532" y="2548891"/>
            <a:ext cx="5200" cy="49932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265ABEB-BC23-8006-8F2F-113D83B4A94F}"/>
              </a:ext>
            </a:extLst>
          </p:cNvPr>
          <p:cNvSpPr/>
          <p:nvPr/>
        </p:nvSpPr>
        <p:spPr>
          <a:xfrm>
            <a:off x="8190873" y="4196437"/>
            <a:ext cx="1531317" cy="647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images</a:t>
            </a:r>
            <a:br>
              <a:rPr lang="en-US" dirty="0"/>
            </a:br>
            <a:r>
              <a:rPr lang="en-US" dirty="0"/>
              <a:t>from storage</a:t>
            </a:r>
            <a:endParaRPr lang="en-IL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A8B606F-5196-229B-3BD4-5BAE6F44DFDD}"/>
              </a:ext>
            </a:extLst>
          </p:cNvPr>
          <p:cNvCxnSpPr>
            <a:cxnSpLocks/>
            <a:stCxn id="29" idx="2"/>
            <a:endCxn id="36" idx="0"/>
          </p:cNvCxnSpPr>
          <p:nvPr/>
        </p:nvCxnSpPr>
        <p:spPr>
          <a:xfrm>
            <a:off x="8956532" y="3695884"/>
            <a:ext cx="0" cy="500553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8226661-997E-9EC4-1682-7C4B01E68C06}"/>
              </a:ext>
            </a:extLst>
          </p:cNvPr>
          <p:cNvSpPr txBox="1"/>
          <p:nvPr/>
        </p:nvSpPr>
        <p:spPr>
          <a:xfrm>
            <a:off x="6055264" y="4185384"/>
            <a:ext cx="1699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</a:t>
            </a:r>
            <a:r>
              <a:rPr lang="en-US" b="1" dirty="0"/>
              <a:t>functions</a:t>
            </a:r>
            <a:endParaRPr lang="en-IL" b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834ED21-E907-4367-86A4-E73DB32CF5CB}"/>
              </a:ext>
            </a:extLst>
          </p:cNvPr>
          <p:cNvCxnSpPr>
            <a:stCxn id="48" idx="3"/>
            <a:endCxn id="29" idx="1"/>
          </p:cNvCxnSpPr>
          <p:nvPr/>
        </p:nvCxnSpPr>
        <p:spPr>
          <a:xfrm flipV="1">
            <a:off x="7754512" y="3372052"/>
            <a:ext cx="497089" cy="997998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4311A058-5935-EDDB-4F59-480FB8DFFF46}"/>
              </a:ext>
            </a:extLst>
          </p:cNvPr>
          <p:cNvCxnSpPr>
            <a:cxnSpLocks/>
            <a:stCxn id="48" idx="3"/>
            <a:endCxn id="36" idx="1"/>
          </p:cNvCxnSpPr>
          <p:nvPr/>
        </p:nvCxnSpPr>
        <p:spPr>
          <a:xfrm>
            <a:off x="7754512" y="4370050"/>
            <a:ext cx="436361" cy="150220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021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AD229-F004-EBEE-9AED-E1254C905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D378A-F98C-B5F1-DE52-A9ADB54D1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93582" cy="1325563"/>
          </a:xfrm>
        </p:spPr>
        <p:txBody>
          <a:bodyPr>
            <a:normAutofit/>
          </a:bodyPr>
          <a:lstStyle/>
          <a:p>
            <a:r>
              <a:rPr lang="en-US" dirty="0"/>
              <a:t>Key benefits of </a:t>
            </a:r>
            <a:r>
              <a:rPr lang="en-US" dirty="0" err="1"/>
              <a:t>FaaS</a:t>
            </a:r>
            <a:r>
              <a:rPr lang="en-US" dirty="0"/>
              <a:t>/microservices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EC423-202F-3C68-C721-79C7A540F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521088" cy="4351338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Benefits for cloud providers:</a:t>
            </a:r>
          </a:p>
          <a:p>
            <a:pPr lvl="1"/>
            <a:endParaRPr lang="en-US" dirty="0"/>
          </a:p>
          <a:p>
            <a:r>
              <a:rPr lang="en-US" dirty="0"/>
              <a:t>Machines run homogeneous workloads</a:t>
            </a:r>
          </a:p>
          <a:p>
            <a:r>
              <a:rPr lang="en-US" dirty="0" err="1"/>
              <a:t>FaaS</a:t>
            </a:r>
            <a:r>
              <a:rPr lang="en-US" dirty="0"/>
              <a:t> infrastructure optimized for hardware</a:t>
            </a:r>
          </a:p>
          <a:p>
            <a:r>
              <a:rPr lang="en-US" dirty="0"/>
              <a:t>Disaggregating facilitates scaling</a:t>
            </a:r>
          </a:p>
          <a:p>
            <a:r>
              <a:rPr lang="en-US" dirty="0"/>
              <a:t>Unified software infrastructure</a:t>
            </a:r>
          </a:p>
          <a:p>
            <a:pPr lvl="1"/>
            <a:r>
              <a:rPr lang="en-US" dirty="0"/>
              <a:t>Build their SaaS on top of </a:t>
            </a:r>
            <a:r>
              <a:rPr lang="en-US" dirty="0" err="1"/>
              <a:t>FaaS</a:t>
            </a:r>
            <a:r>
              <a:rPr lang="en-US" dirty="0"/>
              <a:t> infra.</a:t>
            </a:r>
          </a:p>
          <a:p>
            <a:pPr lvl="1"/>
            <a:endParaRPr lang="en-US" dirty="0"/>
          </a:p>
          <a:p>
            <a:r>
              <a:rPr lang="en-US" dirty="0"/>
              <a:t>Ultimately, </a:t>
            </a:r>
            <a:r>
              <a:rPr lang="en-US" dirty="0" err="1"/>
              <a:t>FaaS</a:t>
            </a:r>
            <a:r>
              <a:rPr lang="en-US" dirty="0"/>
              <a:t> lowers operational costs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F0273B-34BD-6C6E-159A-E7CB30DC0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03728-D731-EA2B-13C4-8E86AF055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54DAE-8A6A-FBC0-00DB-E724C151C3EC}"/>
              </a:ext>
            </a:extLst>
          </p:cNvPr>
          <p:cNvSpPr/>
          <p:nvPr/>
        </p:nvSpPr>
        <p:spPr>
          <a:xfrm>
            <a:off x="8130145" y="1875673"/>
            <a:ext cx="1663173" cy="673218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HTTP server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SaaS</a:t>
            </a:r>
            <a:endParaRPr lang="en-IL" dirty="0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AB75CB2-640F-267F-8118-893F2ACC83FE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7050118" y="2212282"/>
            <a:ext cx="1080027" cy="0"/>
          </a:xfrm>
          <a:prstGeom prst="straightConnector1">
            <a:avLst/>
          </a:prstGeom>
          <a:ln w="31750"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6CBD97E-EA5B-93FF-C8B5-DEE17DEE833A}"/>
              </a:ext>
            </a:extLst>
          </p:cNvPr>
          <p:cNvSpPr txBox="1"/>
          <p:nvPr/>
        </p:nvSpPr>
        <p:spPr>
          <a:xfrm>
            <a:off x="6937852" y="1893647"/>
            <a:ext cx="1051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</a:t>
            </a:r>
            <a:endParaRPr lang="en-IL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EE000F-BA43-757A-E4D2-2888C690D88E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>
            <a:off x="9661462" y="3372052"/>
            <a:ext cx="862784" cy="9489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DE91D2-29C1-ECF6-3615-9961B6CC6BE5}"/>
              </a:ext>
            </a:extLst>
          </p:cNvPr>
          <p:cNvCxnSpPr>
            <a:cxnSpLocks/>
            <a:stCxn id="36" idx="3"/>
            <a:endCxn id="30" idx="1"/>
          </p:cNvCxnSpPr>
          <p:nvPr/>
        </p:nvCxnSpPr>
        <p:spPr>
          <a:xfrm>
            <a:off x="9722190" y="4520270"/>
            <a:ext cx="802056" cy="15016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5B0BA47-B103-4172-CFD4-361F58D04E46}"/>
              </a:ext>
            </a:extLst>
          </p:cNvPr>
          <p:cNvSpPr/>
          <p:nvPr/>
        </p:nvSpPr>
        <p:spPr>
          <a:xfrm>
            <a:off x="8251601" y="3048219"/>
            <a:ext cx="1409861" cy="647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html</a:t>
            </a:r>
            <a:br>
              <a:rPr lang="en-US" dirty="0"/>
            </a:br>
            <a:r>
              <a:rPr lang="en-US" dirty="0"/>
              <a:t>from DB</a:t>
            </a:r>
            <a:endParaRPr lang="en-IL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6C4BEFE-376D-69FF-5E81-2FEC29286C4B}"/>
              </a:ext>
            </a:extLst>
          </p:cNvPr>
          <p:cNvSpPr/>
          <p:nvPr/>
        </p:nvSpPr>
        <p:spPr>
          <a:xfrm>
            <a:off x="10524246" y="4185384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NFS/File Server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SaaS</a:t>
            </a:r>
            <a:endParaRPr lang="en-IL" dirty="0">
              <a:solidFill>
                <a:schemeClr val="tx1"/>
              </a:solidFill>
            </a:endParaRPr>
          </a:p>
          <a:p>
            <a:pPr algn="ctr"/>
            <a:endParaRPr lang="en-IL" dirty="0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C1AA19-E2D3-FFB3-BEFE-93D9F2D87D07}"/>
              </a:ext>
            </a:extLst>
          </p:cNvPr>
          <p:cNvSpPr/>
          <p:nvPr/>
        </p:nvSpPr>
        <p:spPr>
          <a:xfrm>
            <a:off x="10524246" y="3031639"/>
            <a:ext cx="1663173" cy="699803"/>
          </a:xfrm>
          <a:prstGeom prst="rect">
            <a:avLst/>
          </a:prstGeom>
          <a:noFill/>
          <a:ln w="254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/>
                </a:solidFill>
              </a:rPr>
              <a:t>Database</a:t>
            </a:r>
            <a:br>
              <a:rPr lang="en-US" sz="1600">
                <a:solidFill>
                  <a:schemeClr val="tx1"/>
                </a:solidFill>
              </a:rPr>
            </a:br>
            <a:r>
              <a:rPr lang="en-US" sz="1600">
                <a:solidFill>
                  <a:schemeClr val="tx1"/>
                </a:solidFill>
              </a:rPr>
              <a:t>SaaS</a:t>
            </a:r>
            <a:endParaRPr lang="en-IL" sz="16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AB8DED4-DB5F-2EA1-44A3-70E55A1764DC}"/>
              </a:ext>
            </a:extLst>
          </p:cNvPr>
          <p:cNvCxnSpPr>
            <a:cxnSpLocks/>
            <a:stCxn id="29" idx="0"/>
            <a:endCxn id="11" idx="2"/>
          </p:cNvCxnSpPr>
          <p:nvPr/>
        </p:nvCxnSpPr>
        <p:spPr>
          <a:xfrm flipV="1">
            <a:off x="8956532" y="2548891"/>
            <a:ext cx="5200" cy="499328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693F2E4-8104-9C72-1839-A78FE4A3AEC2}"/>
              </a:ext>
            </a:extLst>
          </p:cNvPr>
          <p:cNvSpPr/>
          <p:nvPr/>
        </p:nvSpPr>
        <p:spPr>
          <a:xfrm>
            <a:off x="8190873" y="4196437"/>
            <a:ext cx="1531317" cy="6476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Read images</a:t>
            </a:r>
            <a:br>
              <a:rPr lang="en-US" dirty="0"/>
            </a:br>
            <a:r>
              <a:rPr lang="en-US" dirty="0"/>
              <a:t>from storage</a:t>
            </a:r>
            <a:endParaRPr lang="en-IL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B747976-D940-312E-A02D-3DE0282877F5}"/>
              </a:ext>
            </a:extLst>
          </p:cNvPr>
          <p:cNvCxnSpPr>
            <a:cxnSpLocks/>
            <a:stCxn id="29" idx="2"/>
            <a:endCxn id="36" idx="0"/>
          </p:cNvCxnSpPr>
          <p:nvPr/>
        </p:nvCxnSpPr>
        <p:spPr>
          <a:xfrm>
            <a:off x="8956532" y="3695884"/>
            <a:ext cx="0" cy="500553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A5B2B9E-0CA7-A332-83B3-D4CA7AACD266}"/>
              </a:ext>
            </a:extLst>
          </p:cNvPr>
          <p:cNvSpPr txBox="1"/>
          <p:nvPr/>
        </p:nvSpPr>
        <p:spPr>
          <a:xfrm>
            <a:off x="6055264" y="4185384"/>
            <a:ext cx="1699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</a:t>
            </a:r>
            <a:r>
              <a:rPr lang="en-US" b="1" dirty="0"/>
              <a:t>functions</a:t>
            </a:r>
            <a:endParaRPr lang="en-IL" b="1" dirty="0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37C195A-2570-C3CA-47AF-7C1214F651D5}"/>
              </a:ext>
            </a:extLst>
          </p:cNvPr>
          <p:cNvCxnSpPr>
            <a:stCxn id="48" idx="3"/>
            <a:endCxn id="29" idx="1"/>
          </p:cNvCxnSpPr>
          <p:nvPr/>
        </p:nvCxnSpPr>
        <p:spPr>
          <a:xfrm flipV="1">
            <a:off x="7754512" y="3372052"/>
            <a:ext cx="497089" cy="997998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679D03B-5A0E-8B4B-FF60-9CD7C272AB74}"/>
              </a:ext>
            </a:extLst>
          </p:cNvPr>
          <p:cNvCxnSpPr>
            <a:cxnSpLocks/>
            <a:stCxn id="48" idx="3"/>
            <a:endCxn id="36" idx="1"/>
          </p:cNvCxnSpPr>
          <p:nvPr/>
        </p:nvCxnSpPr>
        <p:spPr>
          <a:xfrm>
            <a:off x="7754512" y="4370050"/>
            <a:ext cx="436361" cy="150220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8516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A403E-D9C5-FFE6-33EB-9A0829FBD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 availability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AB210-24B1-CB49-A3A1-1E3D04177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Public cloud</a:t>
            </a:r>
          </a:p>
          <a:p>
            <a:pPr lvl="1"/>
            <a:r>
              <a:rPr lang="en-US" dirty="0"/>
              <a:t>AWS Lambda</a:t>
            </a:r>
          </a:p>
          <a:p>
            <a:pPr lvl="1"/>
            <a:r>
              <a:rPr lang="en-US" dirty="0"/>
              <a:t>Azure Functions</a:t>
            </a:r>
          </a:p>
          <a:p>
            <a:pPr lvl="1"/>
            <a:r>
              <a:rPr lang="en-US" dirty="0"/>
              <a:t>GCP Cloud Run functions</a:t>
            </a:r>
          </a:p>
          <a:p>
            <a:pPr lvl="1"/>
            <a:endParaRPr lang="en-US" dirty="0"/>
          </a:p>
          <a:p>
            <a:r>
              <a:rPr lang="en-US" dirty="0"/>
              <a:t>Billed for run time and memory used</a:t>
            </a:r>
          </a:p>
          <a:p>
            <a:pPr lvl="1"/>
            <a:r>
              <a:rPr lang="en-US" dirty="0"/>
              <a:t>E.g. sum of X*CPU milliseconds + Y*GB/s</a:t>
            </a:r>
          </a:p>
          <a:p>
            <a:endParaRPr lang="en-US" dirty="0"/>
          </a:p>
          <a:p>
            <a:r>
              <a:rPr lang="en-US" dirty="0"/>
              <a:t>Open-source systems available for self-managed data centers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OpenWhisk</a:t>
            </a:r>
            <a:r>
              <a:rPr lang="en-US" dirty="0"/>
              <a:t>, </a:t>
            </a:r>
            <a:r>
              <a:rPr lang="en-US" dirty="0" err="1"/>
              <a:t>OpenFaaS</a:t>
            </a:r>
            <a:r>
              <a:rPr lang="en-US" dirty="0"/>
              <a:t>, Oracle FN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2B933-FDE1-45BE-DD37-23E07A01B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69911F-8467-E225-0D81-DD19D874B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87839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399CD-DEF0-DE40-8046-9470FFF89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2BB2F-90B1-073E-8A6E-FD0BE1CC0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</a:t>
            </a:r>
            <a:r>
              <a:rPr lang="en-US" dirty="0" err="1"/>
              <a:t>FaaS</a:t>
            </a:r>
            <a:r>
              <a:rPr lang="en-US" dirty="0"/>
              <a:t>-based services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BE381-8595-7F1D-16C9-FD7E6C5D1B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CD857-4253-E7D0-DC28-8097C1C8C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A65AC-BE7B-A229-B713-B1D0E336A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835696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4CEAA-8F81-6510-6245-75540AC0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benchmark suite: </a:t>
            </a:r>
            <a:r>
              <a:rPr lang="en-US" dirty="0" err="1"/>
              <a:t>DeathStar</a:t>
            </a:r>
            <a:r>
              <a:rPr lang="en-US" dirty="0"/>
              <a:t> 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3C79-84D4-57D3-B7DD-227BDFC8A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DeathStar</a:t>
            </a:r>
            <a:r>
              <a:rPr lang="en-US" dirty="0"/>
              <a:t> </a:t>
            </a:r>
            <a:r>
              <a:rPr lang="en-US" dirty="0" err="1"/>
              <a:t>Benhmark</a:t>
            </a:r>
            <a:r>
              <a:rPr lang="en-US" dirty="0"/>
              <a:t> suite is a collection of open-source end-to-end microservices that mimic real world services</a:t>
            </a:r>
          </a:p>
          <a:p>
            <a:pPr lvl="1"/>
            <a:r>
              <a:rPr lang="en-US" dirty="0"/>
              <a:t>E.g., Social network, E-commerce, Media serving, Banking</a:t>
            </a:r>
          </a:p>
          <a:p>
            <a:endParaRPr lang="en-US" dirty="0"/>
          </a:p>
          <a:p>
            <a:r>
              <a:rPr lang="en-US" dirty="0"/>
              <a:t>A great work that presents the benchmark and analyzes how the architecture impacts system design</a:t>
            </a:r>
          </a:p>
          <a:p>
            <a:pPr lvl="1"/>
            <a:r>
              <a:rPr lang="en-US" sz="2000" dirty="0"/>
              <a:t>Y. Gan et al., "</a:t>
            </a:r>
            <a:r>
              <a:rPr lang="en-US" sz="2000" i="1" dirty="0"/>
              <a:t>An Open-Source Benchmark Suite for Microservices and Their Hardware-Software Implications for Cloud and Edge Systems“. </a:t>
            </a:r>
            <a:r>
              <a:rPr lang="en-US" sz="2000" dirty="0"/>
              <a:t>In ASPLOS 2019.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FFB73-8B93-28F6-ECB4-E9B15719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E90C1-B5DC-35F6-3746-209C516D0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378386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1BBC-FDEF-7F56-438A-CC357ACC4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DeathStar</a:t>
            </a:r>
            <a:r>
              <a:rPr lang="en-US" dirty="0"/>
              <a:t> benchmarks</a:t>
            </a:r>
            <a:endParaRPr lang="en-I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6B45BF1-472E-BC38-ACC9-38428F3C6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99170"/>
            <a:ext cx="10515600" cy="320424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EC98A-78F4-E7B2-52DD-F516B5761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E55E5-6074-49E7-DC04-145E309CD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31D8B1-0F08-2B94-D4D4-7D4ADAFBD676}"/>
              </a:ext>
            </a:extLst>
          </p:cNvPr>
          <p:cNvSpPr/>
          <p:nvPr/>
        </p:nvSpPr>
        <p:spPr>
          <a:xfrm>
            <a:off x="742121" y="2359414"/>
            <a:ext cx="1338470" cy="35681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35718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70B65-9E09-6FAA-5D00-648D4485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850E-2765-27C6-A3B0-D1FD42646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DeathStar</a:t>
            </a:r>
            <a:r>
              <a:rPr lang="en-US" dirty="0"/>
              <a:t> benchmarks: Decomposition</a:t>
            </a:r>
            <a:endParaRPr lang="en-I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CDCB655-42D6-2B19-8580-1D85E649D7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99170"/>
            <a:ext cx="10515600" cy="320424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2FC8D-1009-D2D0-9BA4-55D3813CF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777D5A-C8C7-8C5E-0924-C07F6AF4D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ADB6E6D-D21A-C395-02CE-1938A0B81C52}"/>
              </a:ext>
            </a:extLst>
          </p:cNvPr>
          <p:cNvSpPr/>
          <p:nvPr/>
        </p:nvSpPr>
        <p:spPr>
          <a:xfrm>
            <a:off x="6096000" y="2196548"/>
            <a:ext cx="1338470" cy="356814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44398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DA7DE-92BB-BFA3-4327-EC4A3A488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54AB-E0C9-B01E-B9BD-9C5461695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DeathStar</a:t>
            </a:r>
            <a:r>
              <a:rPr lang="en-US" dirty="0"/>
              <a:t> benchmarks: Heterogeneity</a:t>
            </a:r>
            <a:endParaRPr lang="en-IL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94FA8C5-A8DC-7914-6FE5-69FD7B5FE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99170"/>
            <a:ext cx="10515600" cy="320424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7D50C-6BEF-E0D6-D3D2-2D6EDB718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838E6D-5E64-2311-5F24-E33E34A9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BE21D25-BF00-3EAF-ABD0-557CEE90639B}"/>
              </a:ext>
            </a:extLst>
          </p:cNvPr>
          <p:cNvSpPr/>
          <p:nvPr/>
        </p:nvSpPr>
        <p:spPr>
          <a:xfrm>
            <a:off x="7268816" y="1948069"/>
            <a:ext cx="4369905" cy="40750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6432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F2CF5-E93C-CBAA-3741-5DC677817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80BE-DE52-6FF1-0592-70EF2D30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Social network benchmark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59D0C-7C56-BF30-78BF-3258A0172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800620-8F20-C895-AE66-DB8904AEA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38D64D31-DE23-85DB-009F-2F5E13588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536" y="1637421"/>
            <a:ext cx="8074323" cy="485545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59BA23-E262-4927-DA52-BBB86525E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E.g., X, FB, Instagram</a:t>
            </a:r>
          </a:p>
          <a:p>
            <a:pPr marL="0" indent="0">
              <a:buNone/>
            </a:pP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1292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E5351-D484-C114-0E8C-D3C287B5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C4C34-AB6E-3A18-6814-93D08714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Social network benchmark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6C5FD-328F-953F-208E-90D099C0D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CA8E77-4A47-132B-145F-5A9E20A5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BABF2F6A-62CB-638A-36C9-3166D656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536" y="1637421"/>
            <a:ext cx="8074323" cy="485545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283055C-0C0A-D010-6FBC-6A859599C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E.g., X, FB, Instagram</a:t>
            </a:r>
          </a:p>
          <a:p>
            <a:r>
              <a:rPr lang="en-US" dirty="0"/>
              <a:t>Frontend gets client</a:t>
            </a:r>
            <a:br>
              <a:rPr lang="en-US" dirty="0"/>
            </a:br>
            <a:r>
              <a:rPr lang="en-US" dirty="0"/>
              <a:t>requests</a:t>
            </a:r>
          </a:p>
          <a:p>
            <a:pPr marL="0" indent="0">
              <a:buNone/>
            </a:pPr>
            <a:endParaRPr lang="en-IL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61026E8-B098-8F20-8948-5898AE11D389}"/>
              </a:ext>
            </a:extLst>
          </p:cNvPr>
          <p:cNvSpPr/>
          <p:nvPr/>
        </p:nvSpPr>
        <p:spPr>
          <a:xfrm>
            <a:off x="4493342" y="3429000"/>
            <a:ext cx="2546555" cy="101518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3312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B769F-85A7-D008-5121-CC4565DD4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56527-7674-11E3-DA46-D442AD285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Social network benchmark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07514-28E2-3882-6840-944D8200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93A811-01D2-ED8A-8DC6-4832C76D8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4A694729-01F0-41DC-9090-E51090268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536" y="1637421"/>
            <a:ext cx="8074323" cy="485545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0D1C68-5DBA-E918-EEB1-C8E6A9D3A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E.g., X, FB, Instagram</a:t>
            </a:r>
          </a:p>
          <a:p>
            <a:r>
              <a:rPr lang="en-US" dirty="0"/>
              <a:t>Frontend gets client</a:t>
            </a:r>
            <a:br>
              <a:rPr lang="en-US" dirty="0"/>
            </a:br>
            <a:r>
              <a:rPr lang="en-US" dirty="0"/>
              <a:t>requests; calls service</a:t>
            </a:r>
          </a:p>
          <a:p>
            <a:r>
              <a:rPr lang="en-US" dirty="0"/>
              <a:t>Backend maintains</a:t>
            </a:r>
            <a:br>
              <a:rPr lang="en-US" dirty="0"/>
            </a:br>
            <a:r>
              <a:rPr lang="en-US" dirty="0"/>
              <a:t>state</a:t>
            </a:r>
          </a:p>
          <a:p>
            <a:pPr marL="0" indent="0">
              <a:buNone/>
            </a:pPr>
            <a:endParaRPr lang="en-IL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993C616-E102-3E9E-DC12-2C4825668A6E}"/>
              </a:ext>
            </a:extLst>
          </p:cNvPr>
          <p:cNvSpPr/>
          <p:nvPr/>
        </p:nvSpPr>
        <p:spPr>
          <a:xfrm>
            <a:off x="10766322" y="2408903"/>
            <a:ext cx="1425677" cy="421890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584451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5DC38-29D3-011E-01AB-7E20C1D34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831D-F2A3-3048-1FE0-66286CB44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Social network benchmark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D357D-770D-83B5-F56C-F3DF4ED6E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B836D7-5E44-AC12-16AA-ABF9199F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83D55483-7CB6-DC06-407D-E9D82419E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536" y="1637421"/>
            <a:ext cx="8074323" cy="485545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8718BEA-B3CF-5B90-2D3B-455FCBDA0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E.g., X, FB, Instagram</a:t>
            </a:r>
          </a:p>
          <a:p>
            <a:r>
              <a:rPr lang="en-US" dirty="0"/>
              <a:t>Frontend gets client</a:t>
            </a:r>
            <a:br>
              <a:rPr lang="en-US" dirty="0"/>
            </a:br>
            <a:r>
              <a:rPr lang="en-US" dirty="0"/>
              <a:t>requests; calls service</a:t>
            </a:r>
          </a:p>
          <a:p>
            <a:r>
              <a:rPr lang="en-US" dirty="0"/>
              <a:t>Backend maintains</a:t>
            </a:r>
            <a:br>
              <a:rPr lang="en-US" dirty="0"/>
            </a:br>
            <a:r>
              <a:rPr lang="en-US" dirty="0"/>
              <a:t>state</a:t>
            </a:r>
          </a:p>
          <a:p>
            <a:r>
              <a:rPr lang="en-US" dirty="0"/>
              <a:t>Processing done in</a:t>
            </a:r>
            <a:br>
              <a:rPr lang="en-US" dirty="0"/>
            </a:br>
            <a:r>
              <a:rPr lang="en-US" dirty="0"/>
              <a:t>stateless </a:t>
            </a:r>
            <a:r>
              <a:rPr lang="en-US" dirty="0" err="1"/>
              <a:t>FaaS</a:t>
            </a:r>
            <a:endParaRPr lang="en-US" dirty="0"/>
          </a:p>
          <a:p>
            <a:pPr marL="0" indent="0">
              <a:buNone/>
            </a:pPr>
            <a:endParaRPr lang="en-IL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5FFA1D-16B5-FF69-EB3B-EEFA81607273}"/>
              </a:ext>
            </a:extLst>
          </p:cNvPr>
          <p:cNvSpPr/>
          <p:nvPr/>
        </p:nvSpPr>
        <p:spPr>
          <a:xfrm>
            <a:off x="6518788" y="1690688"/>
            <a:ext cx="4496704" cy="485545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111390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F7AE-AA70-89A2-CFD0-E83CB06FC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FA6C3-581E-0703-0B41-E0C7FF421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Social network benchmark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0C606-614C-254D-FA22-9BC5CA47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42B19-496D-D605-CBC1-839547C62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964303B4-16EF-2C7D-6485-AE82BE444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536" y="1637421"/>
            <a:ext cx="8074323" cy="485545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E15836-8724-2885-5987-A69C31DF8B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Read posts</a:t>
            </a:r>
          </a:p>
          <a:p>
            <a:pPr lvl="1"/>
            <a:r>
              <a:rPr lang="en-US" dirty="0"/>
              <a:t>Go to main service</a:t>
            </a:r>
          </a:p>
          <a:p>
            <a:pPr lvl="1"/>
            <a:r>
              <a:rPr lang="en-US" dirty="0"/>
              <a:t>Authenticate user</a:t>
            </a:r>
          </a:p>
          <a:p>
            <a:pPr lvl="1"/>
            <a:r>
              <a:rPr lang="en-US" dirty="0"/>
              <a:t>Checked if blocked</a:t>
            </a:r>
          </a:p>
          <a:p>
            <a:pPr lvl="1"/>
            <a:r>
              <a:rPr lang="en-US" dirty="0"/>
              <a:t>Get list of posts</a:t>
            </a:r>
            <a:br>
              <a:rPr lang="en-US" dirty="0"/>
            </a:br>
            <a:r>
              <a:rPr lang="en-US" dirty="0"/>
              <a:t>from storage</a:t>
            </a:r>
          </a:p>
          <a:p>
            <a:pPr lvl="1"/>
            <a:r>
              <a:rPr lang="en-US" dirty="0"/>
              <a:t>Get posts from storage</a:t>
            </a:r>
          </a:p>
          <a:p>
            <a:r>
              <a:rPr lang="en-US" dirty="0"/>
              <a:t>Each call is networked</a:t>
            </a:r>
            <a:br>
              <a:rPr lang="en-US" dirty="0"/>
            </a:br>
            <a:r>
              <a:rPr lang="en-US" dirty="0"/>
              <a:t>(e.g., RPC, REST API)</a:t>
            </a:r>
          </a:p>
          <a:p>
            <a:pPr marL="0" indent="0">
              <a:buNone/>
            </a:pPr>
            <a:endParaRPr lang="en-IL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88EFA6F-AFAD-062E-0A7A-40FF88F75955}"/>
              </a:ext>
            </a:extLst>
          </p:cNvPr>
          <p:cNvCxnSpPr/>
          <p:nvPr/>
        </p:nvCxnSpPr>
        <p:spPr>
          <a:xfrm flipV="1">
            <a:off x="6862916" y="2438400"/>
            <a:ext cx="1356852" cy="14158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0BFEBDF-852D-9A1A-30CC-D7BB7EA67CBB}"/>
              </a:ext>
            </a:extLst>
          </p:cNvPr>
          <p:cNvCxnSpPr>
            <a:cxnSpLocks/>
          </p:cNvCxnSpPr>
          <p:nvPr/>
        </p:nvCxnSpPr>
        <p:spPr>
          <a:xfrm flipV="1">
            <a:off x="8740878" y="2438400"/>
            <a:ext cx="0" cy="176980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2432-8E1D-0E2D-25B9-867868233937}"/>
              </a:ext>
            </a:extLst>
          </p:cNvPr>
          <p:cNvCxnSpPr>
            <a:cxnSpLocks/>
          </p:cNvCxnSpPr>
          <p:nvPr/>
        </p:nvCxnSpPr>
        <p:spPr>
          <a:xfrm flipH="1">
            <a:off x="9139084" y="2325329"/>
            <a:ext cx="40803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1DD2145-BCBE-D65D-51E7-AA126DDA2BBA}"/>
              </a:ext>
            </a:extLst>
          </p:cNvPr>
          <p:cNvCxnSpPr>
            <a:cxnSpLocks/>
          </p:cNvCxnSpPr>
          <p:nvPr/>
        </p:nvCxnSpPr>
        <p:spPr>
          <a:xfrm flipH="1" flipV="1">
            <a:off x="9139084" y="2325329"/>
            <a:ext cx="408039" cy="86032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AD664B-DD20-E4D2-1A10-2819182009CC}"/>
              </a:ext>
            </a:extLst>
          </p:cNvPr>
          <p:cNvCxnSpPr>
            <a:cxnSpLocks/>
          </p:cNvCxnSpPr>
          <p:nvPr/>
        </p:nvCxnSpPr>
        <p:spPr>
          <a:xfrm flipH="1" flipV="1">
            <a:off x="9139084" y="2438400"/>
            <a:ext cx="408039" cy="196645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0C800C0-E2BF-456B-62AC-9D3CE14B4EC8}"/>
              </a:ext>
            </a:extLst>
          </p:cNvPr>
          <p:cNvCxnSpPr>
            <a:cxnSpLocks/>
          </p:cNvCxnSpPr>
          <p:nvPr/>
        </p:nvCxnSpPr>
        <p:spPr>
          <a:xfrm flipH="1">
            <a:off x="10737129" y="3185652"/>
            <a:ext cx="3110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EF06EA3-C097-0B0D-7502-5A2C27C85267}"/>
              </a:ext>
            </a:extLst>
          </p:cNvPr>
          <p:cNvCxnSpPr>
            <a:cxnSpLocks/>
          </p:cNvCxnSpPr>
          <p:nvPr/>
        </p:nvCxnSpPr>
        <p:spPr>
          <a:xfrm flipH="1">
            <a:off x="10737129" y="4279769"/>
            <a:ext cx="311085" cy="12508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F783A1B-24C5-4624-4DF4-62AAAC6565D9}"/>
              </a:ext>
            </a:extLst>
          </p:cNvPr>
          <p:cNvCxnSpPr>
            <a:cxnSpLocks/>
          </p:cNvCxnSpPr>
          <p:nvPr/>
        </p:nvCxnSpPr>
        <p:spPr>
          <a:xfrm flipH="1" flipV="1">
            <a:off x="10737129" y="3185652"/>
            <a:ext cx="311085" cy="24334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4F8A5A7-A195-C67A-D640-2FE6DDFE9295}"/>
              </a:ext>
            </a:extLst>
          </p:cNvPr>
          <p:cNvCxnSpPr>
            <a:cxnSpLocks/>
          </p:cNvCxnSpPr>
          <p:nvPr/>
        </p:nvCxnSpPr>
        <p:spPr>
          <a:xfrm flipH="1" flipV="1">
            <a:off x="10737129" y="4432169"/>
            <a:ext cx="311085" cy="12097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30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E5A9E-FF53-CB17-F31A-CFD049405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E714-CA61-9DA1-D5D1-55F9A83E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Social network benchmark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FC50B-80BE-72D2-8834-25F76B104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70F5ED-05A1-62F9-06F5-2BC043604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49E4A217-DE0B-F507-0E01-2991251CD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8536" y="1637421"/>
            <a:ext cx="8074323" cy="485545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4D5CFD6-E618-A329-25AE-791A70CD6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Upload video</a:t>
            </a:r>
          </a:p>
          <a:p>
            <a:pPr lvl="1"/>
            <a:r>
              <a:rPr lang="en-US" dirty="0"/>
              <a:t>Go to main service</a:t>
            </a:r>
          </a:p>
          <a:p>
            <a:pPr lvl="1"/>
            <a:r>
              <a:rPr lang="en-US" dirty="0"/>
              <a:t>Compose post</a:t>
            </a:r>
          </a:p>
          <a:p>
            <a:pPr lvl="1"/>
            <a:r>
              <a:rPr lang="en-US" dirty="0"/>
              <a:t>Authenticate user</a:t>
            </a:r>
          </a:p>
          <a:p>
            <a:pPr lvl="1"/>
            <a:r>
              <a:rPr lang="en-US" dirty="0"/>
              <a:t>Store post</a:t>
            </a:r>
          </a:p>
          <a:p>
            <a:pPr lvl="1"/>
            <a:r>
              <a:rPr lang="en-US" dirty="0"/>
              <a:t>Write to timeline</a:t>
            </a:r>
          </a:p>
          <a:p>
            <a:pPr lvl="1"/>
            <a:r>
              <a:rPr lang="en-US" dirty="0"/>
              <a:t>Update graph</a:t>
            </a:r>
          </a:p>
          <a:p>
            <a:pPr marL="0" indent="0">
              <a:buNone/>
            </a:pPr>
            <a:endParaRPr lang="en-IL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BB97E8-7C2A-D12A-CE74-DD44682AB8F8}"/>
              </a:ext>
            </a:extLst>
          </p:cNvPr>
          <p:cNvCxnSpPr>
            <a:cxnSpLocks/>
          </p:cNvCxnSpPr>
          <p:nvPr/>
        </p:nvCxnSpPr>
        <p:spPr>
          <a:xfrm>
            <a:off x="6788426" y="3995530"/>
            <a:ext cx="367748" cy="28823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A063A43-C1BA-1E25-4A5A-19E91C142357}"/>
              </a:ext>
            </a:extLst>
          </p:cNvPr>
          <p:cNvCxnSpPr>
            <a:cxnSpLocks/>
          </p:cNvCxnSpPr>
          <p:nvPr/>
        </p:nvCxnSpPr>
        <p:spPr>
          <a:xfrm flipH="1" flipV="1">
            <a:off x="7881730" y="4283765"/>
            <a:ext cx="218661" cy="70567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EFFE0EF-C5AC-EB44-E80F-259CA856B4CB}"/>
              </a:ext>
            </a:extLst>
          </p:cNvPr>
          <p:cNvCxnSpPr>
            <a:cxnSpLocks/>
          </p:cNvCxnSpPr>
          <p:nvPr/>
        </p:nvCxnSpPr>
        <p:spPr>
          <a:xfrm flipH="1">
            <a:off x="9343103" y="4989443"/>
            <a:ext cx="223684" cy="696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46C2CA-4320-CD06-D688-1340DEACC90C}"/>
              </a:ext>
            </a:extLst>
          </p:cNvPr>
          <p:cNvCxnSpPr>
            <a:cxnSpLocks/>
          </p:cNvCxnSpPr>
          <p:nvPr/>
        </p:nvCxnSpPr>
        <p:spPr>
          <a:xfrm>
            <a:off x="8726557" y="4532671"/>
            <a:ext cx="0" cy="32756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68B9EFF-FC9C-845C-91B3-5B6CD08D0ABE}"/>
              </a:ext>
            </a:extLst>
          </p:cNvPr>
          <p:cNvCxnSpPr>
            <a:cxnSpLocks/>
          </p:cNvCxnSpPr>
          <p:nvPr/>
        </p:nvCxnSpPr>
        <p:spPr>
          <a:xfrm flipH="1">
            <a:off x="10765672" y="4860235"/>
            <a:ext cx="286641" cy="1292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4A4B725-F9F6-DC68-DC63-9466B2559BFF}"/>
              </a:ext>
            </a:extLst>
          </p:cNvPr>
          <p:cNvCxnSpPr>
            <a:cxnSpLocks/>
          </p:cNvCxnSpPr>
          <p:nvPr/>
        </p:nvCxnSpPr>
        <p:spPr>
          <a:xfrm flipH="1">
            <a:off x="9343103" y="4283765"/>
            <a:ext cx="223684" cy="64499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4A289-E5BA-BB01-4935-6C36AF216A67}"/>
              </a:ext>
            </a:extLst>
          </p:cNvPr>
          <p:cNvCxnSpPr>
            <a:cxnSpLocks/>
          </p:cNvCxnSpPr>
          <p:nvPr/>
        </p:nvCxnSpPr>
        <p:spPr>
          <a:xfrm flipH="1" flipV="1">
            <a:off x="10820400" y="4989443"/>
            <a:ext cx="190500" cy="1709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5CE3FFD-53F7-86A9-6EBF-FAACFC2594BB}"/>
              </a:ext>
            </a:extLst>
          </p:cNvPr>
          <p:cNvCxnSpPr>
            <a:cxnSpLocks/>
          </p:cNvCxnSpPr>
          <p:nvPr/>
        </p:nvCxnSpPr>
        <p:spPr>
          <a:xfrm flipH="1" flipV="1">
            <a:off x="9353550" y="5007999"/>
            <a:ext cx="213237" cy="5729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60E3AAF-1EB0-E062-FA8F-9347247FF342}"/>
              </a:ext>
            </a:extLst>
          </p:cNvPr>
          <p:cNvCxnSpPr>
            <a:cxnSpLocks/>
          </p:cNvCxnSpPr>
          <p:nvPr/>
        </p:nvCxnSpPr>
        <p:spPr>
          <a:xfrm flipH="1" flipV="1">
            <a:off x="10808724" y="5624535"/>
            <a:ext cx="190500" cy="1709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1478D61-55D8-978E-B729-91B2C5DC49E9}"/>
              </a:ext>
            </a:extLst>
          </p:cNvPr>
          <p:cNvCxnSpPr>
            <a:cxnSpLocks/>
          </p:cNvCxnSpPr>
          <p:nvPr/>
        </p:nvCxnSpPr>
        <p:spPr>
          <a:xfrm flipH="1">
            <a:off x="10852123" y="5518599"/>
            <a:ext cx="200190" cy="10593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7FB58D-C842-A396-7919-7EF08DE7012D}"/>
              </a:ext>
            </a:extLst>
          </p:cNvPr>
          <p:cNvCxnSpPr>
            <a:cxnSpLocks/>
          </p:cNvCxnSpPr>
          <p:nvPr/>
        </p:nvCxnSpPr>
        <p:spPr>
          <a:xfrm flipH="1">
            <a:off x="10708802" y="4244185"/>
            <a:ext cx="286641" cy="1292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8D7F96-8449-F689-194C-281417872931}"/>
              </a:ext>
            </a:extLst>
          </p:cNvPr>
          <p:cNvCxnSpPr>
            <a:cxnSpLocks/>
          </p:cNvCxnSpPr>
          <p:nvPr/>
        </p:nvCxnSpPr>
        <p:spPr>
          <a:xfrm flipH="1" flipV="1">
            <a:off x="10763530" y="4373393"/>
            <a:ext cx="190500" cy="1709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504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7624D-7929-DA06-C21E-420E9D54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Media Service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723FC-713C-A647-3746-9A276580F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C88980-7C0D-5A9F-9C8D-8F496C67D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91" name="Picture 90">
            <a:extLst>
              <a:ext uri="{FF2B5EF4-FFF2-40B4-BE49-F238E27FC236}">
                <a16:creationId xmlns:a16="http://schemas.microsoft.com/office/drawing/2014/main" id="{03D65FE7-02A5-FDFA-1032-08FFDE350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769" y="1690687"/>
            <a:ext cx="7919185" cy="4834387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FCDAF5-3A27-B127-1F6C-872437DAB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E.g</a:t>
            </a:r>
            <a:r>
              <a:rPr lang="en-US" dirty="0"/>
              <a:t>, Netflix, </a:t>
            </a:r>
            <a:r>
              <a:rPr lang="en-US" dirty="0" err="1"/>
              <a:t>AppleTV</a:t>
            </a:r>
            <a:endParaRPr lang="en-US" dirty="0"/>
          </a:p>
          <a:p>
            <a:r>
              <a:rPr lang="en-US" dirty="0"/>
              <a:t>Same frontend</a:t>
            </a:r>
            <a:br>
              <a:rPr lang="en-US" dirty="0"/>
            </a:br>
            <a:r>
              <a:rPr lang="en-US" dirty="0"/>
              <a:t>and backend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Different </a:t>
            </a:r>
            <a:r>
              <a:rPr lang="en-US" dirty="0" err="1"/>
              <a:t>FaaS</a:t>
            </a:r>
            <a:r>
              <a:rPr lang="en-US" dirty="0"/>
              <a:t> flows</a:t>
            </a:r>
            <a:endParaRPr lang="en-IL" dirty="0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733E6ED0-67FA-F403-E5CC-8E0CFE3E330B}"/>
              </a:ext>
            </a:extLst>
          </p:cNvPr>
          <p:cNvSpPr/>
          <p:nvPr/>
        </p:nvSpPr>
        <p:spPr>
          <a:xfrm>
            <a:off x="10455564" y="1477513"/>
            <a:ext cx="1736435" cy="515029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0194FED0-2FDE-925A-0A98-9BCB294B739E}"/>
              </a:ext>
            </a:extLst>
          </p:cNvPr>
          <p:cNvSpPr/>
          <p:nvPr/>
        </p:nvSpPr>
        <p:spPr>
          <a:xfrm>
            <a:off x="3962398" y="3371272"/>
            <a:ext cx="3011054" cy="132080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4171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A8817-D722-5BA8-CD39-440AE032B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5623C82-C017-FEDB-8F35-1ECC59522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769" y="1690687"/>
            <a:ext cx="7919185" cy="483438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69148B-7783-C168-8A83-E89E2DE99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Media Service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DB960-F10F-D2D9-DF6C-43FD98D07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FE1BDC-5788-E70D-2D69-0ED506D7A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8A6CA62-F88A-F066-2F0F-E1202ACF2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Rent a movie</a:t>
            </a:r>
          </a:p>
          <a:p>
            <a:pPr lvl="1"/>
            <a:r>
              <a:rPr lang="en-US" dirty="0"/>
              <a:t>Go to main service</a:t>
            </a:r>
          </a:p>
          <a:p>
            <a:pPr lvl="1"/>
            <a:r>
              <a:rPr lang="en-US" dirty="0"/>
              <a:t>Authenticate user</a:t>
            </a:r>
          </a:p>
          <a:p>
            <a:pPr lvl="1"/>
            <a:r>
              <a:rPr lang="en-US" dirty="0"/>
              <a:t>Start streaming </a:t>
            </a:r>
          </a:p>
          <a:p>
            <a:pPr lvl="2"/>
            <a:r>
              <a:rPr lang="en-US" dirty="0"/>
              <a:t>Send file a chunks,</a:t>
            </a:r>
            <a:br>
              <a:rPr lang="en-US" dirty="0"/>
            </a:br>
            <a:r>
              <a:rPr lang="en-US" dirty="0"/>
              <a:t>few MBs at a time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lvl="1"/>
            <a:endParaRPr lang="en-US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E22DAD7-9E77-BECD-43BA-ABC07FCA0D14}"/>
              </a:ext>
            </a:extLst>
          </p:cNvPr>
          <p:cNvCxnSpPr>
            <a:cxnSpLocks/>
          </p:cNvCxnSpPr>
          <p:nvPr/>
        </p:nvCxnSpPr>
        <p:spPr>
          <a:xfrm flipV="1">
            <a:off x="6660180" y="2134786"/>
            <a:ext cx="461914" cy="18665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869147-14D8-D576-E677-5C44EBCEFBFA}"/>
              </a:ext>
            </a:extLst>
          </p:cNvPr>
          <p:cNvCxnSpPr>
            <a:cxnSpLocks/>
          </p:cNvCxnSpPr>
          <p:nvPr/>
        </p:nvCxnSpPr>
        <p:spPr>
          <a:xfrm flipH="1" flipV="1">
            <a:off x="7730836" y="2253673"/>
            <a:ext cx="480291" cy="5264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B10BF5-DD93-C820-9FE1-1387408AF462}"/>
              </a:ext>
            </a:extLst>
          </p:cNvPr>
          <p:cNvCxnSpPr>
            <a:cxnSpLocks/>
          </p:cNvCxnSpPr>
          <p:nvPr/>
        </p:nvCxnSpPr>
        <p:spPr>
          <a:xfrm flipH="1">
            <a:off x="8757655" y="2780145"/>
            <a:ext cx="10278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666974-5429-243C-8F5C-583043ACD47D}"/>
              </a:ext>
            </a:extLst>
          </p:cNvPr>
          <p:cNvCxnSpPr>
            <a:cxnSpLocks/>
          </p:cNvCxnSpPr>
          <p:nvPr/>
        </p:nvCxnSpPr>
        <p:spPr>
          <a:xfrm flipH="1">
            <a:off x="10537964" y="2641600"/>
            <a:ext cx="282436" cy="1385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2D5DEB-FE9B-1FC8-FF34-FBE34A749B1A}"/>
              </a:ext>
            </a:extLst>
          </p:cNvPr>
          <p:cNvCxnSpPr>
            <a:cxnSpLocks/>
          </p:cNvCxnSpPr>
          <p:nvPr/>
        </p:nvCxnSpPr>
        <p:spPr>
          <a:xfrm flipH="1" flipV="1">
            <a:off x="10537964" y="2794000"/>
            <a:ext cx="282436" cy="8774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ED6DEE3-F673-DEEE-CDD0-62A5E63493BA}"/>
              </a:ext>
            </a:extLst>
          </p:cNvPr>
          <p:cNvCxnSpPr>
            <a:cxnSpLocks/>
          </p:cNvCxnSpPr>
          <p:nvPr/>
        </p:nvCxnSpPr>
        <p:spPr>
          <a:xfrm flipH="1">
            <a:off x="7708965" y="2235200"/>
            <a:ext cx="108017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332DAE-3E9A-5412-0884-DF697C8ADEA4}"/>
              </a:ext>
            </a:extLst>
          </p:cNvPr>
          <p:cNvCxnSpPr>
            <a:cxnSpLocks/>
          </p:cNvCxnSpPr>
          <p:nvPr/>
        </p:nvCxnSpPr>
        <p:spPr>
          <a:xfrm flipH="1" flipV="1">
            <a:off x="9794741" y="2204057"/>
            <a:ext cx="1325841" cy="3114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41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77630-B09A-F48A-36FA-AFC9C64F3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on system design: </a:t>
            </a:r>
            <a:br>
              <a:rPr lang="en-US" dirty="0"/>
            </a:br>
            <a:r>
              <a:rPr lang="en-US" sz="4000" b="1" dirty="0"/>
              <a:t>Limited IPC</a:t>
            </a:r>
            <a:endParaRPr lang="en-I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A8D09-CC19-5383-444E-7E0444F0E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7F5E0-2951-34D6-8330-457FFED3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858DC-C1B4-1410-FA1A-AF8AEE9D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728DF8-C208-8CBC-AEE9-5A122DE5F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7562"/>
            <a:ext cx="12192000" cy="492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197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C2B72-CBE4-5230-41AF-2D7B6576F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DBF6-8601-47D0-A7DD-6D2609F0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on system design: </a:t>
            </a:r>
            <a:br>
              <a:rPr lang="en-US" dirty="0"/>
            </a:br>
            <a:r>
              <a:rPr lang="en-US" sz="4000" b="1" dirty="0"/>
              <a:t>Limited IPC</a:t>
            </a:r>
            <a:endParaRPr lang="en-I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202F0-0650-2094-A8E4-F0EB13256A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C551F-01A3-7038-6412-4A18E0AE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ACEAD1-BF09-4912-228E-8CD735012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4F10FD-A2FC-3D5C-EF5C-311FD6D11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7562"/>
            <a:ext cx="12192000" cy="49251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9C2917-4680-5758-1367-BC47AB1B3B03}"/>
              </a:ext>
            </a:extLst>
          </p:cNvPr>
          <p:cNvSpPr txBox="1"/>
          <p:nvPr/>
        </p:nvSpPr>
        <p:spPr>
          <a:xfrm>
            <a:off x="5259029" y="6090303"/>
            <a:ext cx="2401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IPC is fairly low!</a:t>
            </a:r>
            <a:endParaRPr lang="en-IL" sz="24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E3FD61-820C-A178-C58F-7FC07FE0E76C}"/>
              </a:ext>
            </a:extLst>
          </p:cNvPr>
          <p:cNvSpPr/>
          <p:nvPr/>
        </p:nvSpPr>
        <p:spPr>
          <a:xfrm>
            <a:off x="5259029" y="5921663"/>
            <a:ext cx="2364511" cy="8174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2BBB9CB-0F08-A07B-DBD8-FC888FAF8283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4810539" y="3940896"/>
            <a:ext cx="794765" cy="21004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5555DA8-B3F6-41E3-3EA2-2DA5BC9FC899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7277265" y="4462670"/>
            <a:ext cx="1926370" cy="1578701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2592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28221-177D-1848-9EA6-AC06D7917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D937-4AFD-209A-7056-2B96656DC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on system design: </a:t>
            </a:r>
            <a:br>
              <a:rPr lang="en-US" dirty="0"/>
            </a:br>
            <a:r>
              <a:rPr lang="en-US" sz="4000" b="1" dirty="0"/>
              <a:t>Limited IPC</a:t>
            </a:r>
            <a:endParaRPr lang="en-I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575E7-42CF-B5AE-8D9B-806C552A39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914F1-5E37-DCD7-C828-912C84601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FB41FD-FBB1-6EDE-94A8-D3D9B491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537571-BD6F-58E7-3C6A-C901E4569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7562"/>
            <a:ext cx="12192000" cy="49251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83FF7C-AD2E-7DE7-BB6C-59266858AE6A}"/>
              </a:ext>
            </a:extLst>
          </p:cNvPr>
          <p:cNvSpPr txBox="1"/>
          <p:nvPr/>
        </p:nvSpPr>
        <p:spPr>
          <a:xfrm>
            <a:off x="5127100" y="5921663"/>
            <a:ext cx="2776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/>
              <a:t>Pipeline stalled on</a:t>
            </a:r>
            <a:br>
              <a:rPr lang="en-US" sz="2400" b="1" dirty="0"/>
            </a:br>
            <a:r>
              <a:rPr lang="en-US" sz="2400" b="1" dirty="0"/>
              <a:t>instruction fetch</a:t>
            </a:r>
            <a:endParaRPr lang="en-IL" sz="24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8063C1-CE25-B270-DE96-B28815A1990C}"/>
              </a:ext>
            </a:extLst>
          </p:cNvPr>
          <p:cNvSpPr/>
          <p:nvPr/>
        </p:nvSpPr>
        <p:spPr>
          <a:xfrm>
            <a:off x="4820478" y="5826483"/>
            <a:ext cx="3215465" cy="95235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E6C426-8D6C-B130-AB79-52D83F49232D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4114800" y="4850295"/>
            <a:ext cx="1176572" cy="1115657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2A0FDB3-6393-B269-DBAA-B8CAB9B77F74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7565049" y="4999382"/>
            <a:ext cx="1797612" cy="9665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5826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45492E-2A7B-E535-C4D4-8D040153B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A366E-228D-F025-842F-614D8890C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on system design: </a:t>
            </a:r>
            <a:br>
              <a:rPr lang="en-US" dirty="0"/>
            </a:br>
            <a:r>
              <a:rPr lang="en-US" b="1" dirty="0"/>
              <a:t>Instruction cache</a:t>
            </a:r>
            <a:endParaRPr lang="en-IL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71C18-E107-63A0-19C5-4BAD4878A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F8CA51-3A47-F051-9167-B2C6AD2E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C2B6D68-A936-28D4-2CAA-C3C7A8A99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2050034"/>
            <a:ext cx="11736438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2264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D678C-3AA6-9360-65F0-47E7D51EA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86A70-A6ED-B436-3E1E-0AB93CC7C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on system design: </a:t>
            </a:r>
            <a:br>
              <a:rPr lang="en-US" dirty="0"/>
            </a:br>
            <a:r>
              <a:rPr lang="en-US" b="1" dirty="0"/>
              <a:t>Instruction cache</a:t>
            </a:r>
            <a:endParaRPr lang="en-IL" b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E1FFC-2AB3-C187-ABCD-A0C90DF42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08787C-3C79-DB0C-5C8C-03C309953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ACE70B-6C2A-9054-1B98-833EB16E1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2050034"/>
            <a:ext cx="11736438" cy="412490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589F84F-186B-2F29-F52D-A26D9DB0EE77}"/>
              </a:ext>
            </a:extLst>
          </p:cNvPr>
          <p:cNvSpPr/>
          <p:nvPr/>
        </p:nvSpPr>
        <p:spPr>
          <a:xfrm>
            <a:off x="951345" y="3334327"/>
            <a:ext cx="350982" cy="173643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8B21A3-F47E-D035-E648-295CE0C08CF0}"/>
              </a:ext>
            </a:extLst>
          </p:cNvPr>
          <p:cNvSpPr/>
          <p:nvPr/>
        </p:nvSpPr>
        <p:spPr>
          <a:xfrm>
            <a:off x="4403536" y="3334326"/>
            <a:ext cx="655482" cy="173643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15D1336-B374-8C02-B0B2-D4F85053C041}"/>
              </a:ext>
            </a:extLst>
          </p:cNvPr>
          <p:cNvSpPr/>
          <p:nvPr/>
        </p:nvSpPr>
        <p:spPr>
          <a:xfrm>
            <a:off x="10350448" y="3244265"/>
            <a:ext cx="801255" cy="173643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792298-F971-29A3-8210-B884FB0C3FFC}"/>
              </a:ext>
            </a:extLst>
          </p:cNvPr>
          <p:cNvSpPr txBox="1"/>
          <p:nvPr/>
        </p:nvSpPr>
        <p:spPr>
          <a:xfrm>
            <a:off x="4958578" y="6054801"/>
            <a:ext cx="2844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Inst. Cache misses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2908A9-D247-5557-F8A6-17AB2CC02F2A}"/>
              </a:ext>
            </a:extLst>
          </p:cNvPr>
          <p:cNvSpPr/>
          <p:nvPr/>
        </p:nvSpPr>
        <p:spPr>
          <a:xfrm>
            <a:off x="4333462" y="5784574"/>
            <a:ext cx="4094922" cy="10734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433887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B07FE-3BF4-F6CB-9F3A-18EBA849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2A7A-00C4-2FB6-DA01-FF53C651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on system design: </a:t>
            </a:r>
            <a:br>
              <a:rPr lang="en-US" dirty="0"/>
            </a:br>
            <a:r>
              <a:rPr lang="en-US" b="1" dirty="0"/>
              <a:t>The cost of RPC/REST API</a:t>
            </a:r>
            <a:endParaRPr lang="en-I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EFA79-AB83-217D-CFCD-E87994074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Reminder:</a:t>
            </a:r>
          </a:p>
          <a:p>
            <a:pPr lvl="1"/>
            <a:r>
              <a:rPr lang="en-US" dirty="0"/>
              <a:t>Inter-service calls are</a:t>
            </a:r>
            <a:br>
              <a:rPr lang="en-US" dirty="0"/>
            </a:br>
            <a:r>
              <a:rPr lang="en-US" dirty="0"/>
              <a:t>not regular function calls</a:t>
            </a:r>
          </a:p>
          <a:p>
            <a:pPr lvl="1"/>
            <a:r>
              <a:rPr lang="en-US" dirty="0"/>
              <a:t>Calls must go through OS</a:t>
            </a:r>
            <a:br>
              <a:rPr lang="en-US" dirty="0"/>
            </a:br>
            <a:r>
              <a:rPr lang="en-US" dirty="0"/>
              <a:t>TCP stack</a:t>
            </a:r>
          </a:p>
          <a:p>
            <a:endParaRPr lang="en-US" dirty="0"/>
          </a:p>
          <a:p>
            <a:r>
              <a:rPr lang="en-US" dirty="0" err="1"/>
              <a:t>Syscalls</a:t>
            </a:r>
            <a:r>
              <a:rPr lang="en-US" dirty="0"/>
              <a:t> + network</a:t>
            </a:r>
            <a:br>
              <a:rPr lang="en-US" dirty="0"/>
            </a:br>
            <a:r>
              <a:rPr lang="en-US" dirty="0"/>
              <a:t>incur major overheads</a:t>
            </a:r>
          </a:p>
          <a:p>
            <a:r>
              <a:rPr lang="en-US" dirty="0" err="1"/>
              <a:t>FaaS</a:t>
            </a:r>
            <a:r>
              <a:rPr lang="en-US" dirty="0"/>
              <a:t> scalability comes</a:t>
            </a:r>
            <a:br>
              <a:rPr lang="en-US" dirty="0"/>
            </a:br>
            <a:r>
              <a:rPr lang="en-US" dirty="0"/>
              <a:t>at a cost!</a:t>
            </a:r>
            <a:endParaRPr lang="en-IL" dirty="0"/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CBFF8-C853-7727-E60C-4F166E64E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A9FA24-197F-0813-77CC-CA3FC1A4D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EBE877-B5C8-90A6-A15E-A64111C93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287" y="1656407"/>
            <a:ext cx="7118728" cy="4795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9C8E55-0BEA-FF27-9BF3-38904C457C37}"/>
              </a:ext>
            </a:extLst>
          </p:cNvPr>
          <p:cNvSpPr txBox="1"/>
          <p:nvPr/>
        </p:nvSpPr>
        <p:spPr>
          <a:xfrm>
            <a:off x="5957455" y="6263728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C=Cycles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I=Instructions</a:t>
            </a:r>
            <a:endParaRPr lang="en-IL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45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C9452-233B-39B4-674E-C4C77EBB6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9140-67B4-383C-FBB8-EB6B157CD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Implications on system design: </a:t>
            </a:r>
            <a:br>
              <a:rPr lang="en-US" dirty="0"/>
            </a:br>
            <a:r>
              <a:rPr lang="en-US" b="1" dirty="0"/>
              <a:t>The cost of RPC/REST API</a:t>
            </a:r>
            <a:endParaRPr lang="en-IL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53DCF-23AD-C68F-2183-9AD07A55C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Reminder:</a:t>
            </a:r>
          </a:p>
          <a:p>
            <a:pPr lvl="1"/>
            <a:r>
              <a:rPr lang="en-US" dirty="0"/>
              <a:t>Inter-service calls are</a:t>
            </a:r>
            <a:br>
              <a:rPr lang="en-US" dirty="0"/>
            </a:br>
            <a:r>
              <a:rPr lang="en-US" dirty="0"/>
              <a:t>not regular function calls</a:t>
            </a:r>
          </a:p>
          <a:p>
            <a:pPr lvl="1"/>
            <a:r>
              <a:rPr lang="en-US" dirty="0"/>
              <a:t>Calls must go through OS</a:t>
            </a:r>
            <a:br>
              <a:rPr lang="en-US" dirty="0"/>
            </a:br>
            <a:r>
              <a:rPr lang="en-US" dirty="0"/>
              <a:t>TCP stack</a:t>
            </a:r>
          </a:p>
          <a:p>
            <a:endParaRPr lang="en-US" dirty="0"/>
          </a:p>
          <a:p>
            <a:r>
              <a:rPr lang="en-US" dirty="0" err="1"/>
              <a:t>Syscalls</a:t>
            </a:r>
            <a:r>
              <a:rPr lang="en-US" dirty="0"/>
              <a:t> + network</a:t>
            </a:r>
            <a:br>
              <a:rPr lang="en-US" dirty="0"/>
            </a:br>
            <a:r>
              <a:rPr lang="en-US" dirty="0"/>
              <a:t>incur major overheads</a:t>
            </a:r>
          </a:p>
          <a:p>
            <a:r>
              <a:rPr lang="en-US" dirty="0" err="1"/>
              <a:t>FaaS</a:t>
            </a:r>
            <a:r>
              <a:rPr lang="en-US" dirty="0"/>
              <a:t> scalability comes</a:t>
            </a:r>
            <a:br>
              <a:rPr lang="en-US" dirty="0"/>
            </a:br>
            <a:r>
              <a:rPr lang="en-US" dirty="0"/>
              <a:t>at a cost!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3CC97-B907-9ED3-6DB2-E608DD1D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EAFDF3-4285-5765-1436-D5D245B75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6AACDA-3F52-EE3B-FDDA-3A4CA5845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263" y="3629891"/>
            <a:ext cx="7435737" cy="270502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268D2330-4629-8A1E-D81C-453C07E84145}"/>
              </a:ext>
            </a:extLst>
          </p:cNvPr>
          <p:cNvSpPr/>
          <p:nvPr/>
        </p:nvSpPr>
        <p:spPr>
          <a:xfrm>
            <a:off x="8078771" y="3987537"/>
            <a:ext cx="348792" cy="171567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474032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2FD88-AF68-9B1A-82F0-64D323DE4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overheads: </a:t>
            </a:r>
            <a:r>
              <a:rPr lang="en-US" dirty="0" err="1"/>
              <a:t>FaaS</a:t>
            </a:r>
            <a:r>
              <a:rPr lang="en-US" dirty="0"/>
              <a:t> invocation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D93F4-D113-C387-99E2-EE8293A20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</a:t>
            </a:r>
            <a:r>
              <a:rPr lang="en-US" dirty="0" err="1"/>
              <a:t>FaaS</a:t>
            </a:r>
            <a:r>
              <a:rPr lang="en-US" dirty="0"/>
              <a:t> invocation must be isolated from other tenants</a:t>
            </a:r>
          </a:p>
          <a:p>
            <a:r>
              <a:rPr lang="en-US" dirty="0"/>
              <a:t>But invoking a full VM for each function is costly (time + memory)</a:t>
            </a:r>
          </a:p>
          <a:p>
            <a:r>
              <a:rPr lang="en-US" dirty="0"/>
              <a:t>AWS Firecracker is a dedicated hypervisor for </a:t>
            </a:r>
            <a:r>
              <a:rPr lang="en-US" dirty="0" err="1"/>
              <a:t>FaaS</a:t>
            </a:r>
            <a:endParaRPr lang="en-US" dirty="0"/>
          </a:p>
          <a:p>
            <a:pPr lvl="1"/>
            <a:r>
              <a:rPr lang="en-US" sz="1800" dirty="0"/>
              <a:t>Agache et al., “Firecracker: Lightweight Virtualization for Serverless Applications”. In NSDI 2020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84101-7CEF-2E30-8320-F326A84E1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07FC9B-253C-EA69-DE92-F74C7CD48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B01437-21E2-CCF2-2F54-A2288E13F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156" y="3854397"/>
            <a:ext cx="5526297" cy="27312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92041D1-9B73-4849-9B4B-7A615ECAC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51414"/>
            <a:ext cx="5578764" cy="264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052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1FCC6-2937-52CC-E600-8478EB2AE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1DB9-1FCA-576B-65C1-ED4263F21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overheads: </a:t>
            </a:r>
            <a:r>
              <a:rPr lang="en-US" dirty="0" err="1"/>
              <a:t>FaaS</a:t>
            </a:r>
            <a:r>
              <a:rPr lang="en-US" dirty="0"/>
              <a:t> invocation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368BE-F63F-52A8-01B8-A12D63028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</a:t>
            </a:r>
            <a:r>
              <a:rPr lang="en-US" dirty="0" err="1"/>
              <a:t>FaaS</a:t>
            </a:r>
            <a:r>
              <a:rPr lang="en-US" dirty="0"/>
              <a:t> invocation must be isolated from other tenants</a:t>
            </a:r>
          </a:p>
          <a:p>
            <a:r>
              <a:rPr lang="en-US" dirty="0"/>
              <a:t>But invoking a full VM for each function is costly (time + memory)</a:t>
            </a:r>
          </a:p>
          <a:p>
            <a:r>
              <a:rPr lang="en-US" dirty="0"/>
              <a:t>AWS Firecracker is a dedicated hypervisor for </a:t>
            </a:r>
            <a:r>
              <a:rPr lang="en-US" dirty="0" err="1"/>
              <a:t>FaaS</a:t>
            </a:r>
            <a:endParaRPr lang="en-US" dirty="0"/>
          </a:p>
          <a:p>
            <a:pPr lvl="1"/>
            <a:r>
              <a:rPr lang="en-US" sz="1800" dirty="0"/>
              <a:t>Agache et al., “Firecracker: Lightweight Virtualization for Serverless Applications”. In NSDI 2020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8735D-F69B-A2DD-4682-0026A1C88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F33E4-5EFE-8E62-BB13-3D4EFB73C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46081F-92DB-FEFB-C334-198E4A2B5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156" y="3854397"/>
            <a:ext cx="5526297" cy="27312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4C95E32-9260-D899-3001-9000BC0CC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51414"/>
            <a:ext cx="5578764" cy="264146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9CBCD5-EFA0-2F40-DD4B-75BFC2CFB570}"/>
              </a:ext>
            </a:extLst>
          </p:cNvPr>
          <p:cNvCxnSpPr>
            <a:cxnSpLocks/>
          </p:cNvCxnSpPr>
          <p:nvPr/>
        </p:nvCxnSpPr>
        <p:spPr>
          <a:xfrm flipH="1">
            <a:off x="3945835" y="4810539"/>
            <a:ext cx="695739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090E2F3-EA8C-AB3A-FAAF-C99305670D36}"/>
              </a:ext>
            </a:extLst>
          </p:cNvPr>
          <p:cNvCxnSpPr>
            <a:cxnSpLocks/>
          </p:cNvCxnSpPr>
          <p:nvPr/>
        </p:nvCxnSpPr>
        <p:spPr>
          <a:xfrm flipH="1">
            <a:off x="2985053" y="4810539"/>
            <a:ext cx="695739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87BC285-547B-1A04-8BE2-8F8D2CB88B4A}"/>
              </a:ext>
            </a:extLst>
          </p:cNvPr>
          <p:cNvSpPr txBox="1"/>
          <p:nvPr/>
        </p:nvSpPr>
        <p:spPr>
          <a:xfrm>
            <a:off x="4859261" y="6169708"/>
            <a:ext cx="3392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FC-pre=pre-configured FC (warm)</a:t>
            </a:r>
          </a:p>
          <a:p>
            <a:r>
              <a:rPr lang="en-US" sz="1200" dirty="0" err="1"/>
              <a:t>CloudHV</a:t>
            </a:r>
            <a:r>
              <a:rPr lang="en-US" sz="1200" dirty="0"/>
              <a:t>=Intel Cloud Hypervisor (resembles FC)</a:t>
            </a:r>
          </a:p>
          <a:p>
            <a:r>
              <a:rPr lang="en-US" sz="1200" dirty="0"/>
              <a:t>QEMU=full blown KVM machine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39592227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19560-3037-4CC4-6ADA-5A4BD934C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01778-2C8B-E45C-2B00-993AB21D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overheads: </a:t>
            </a:r>
            <a:r>
              <a:rPr lang="en-US" dirty="0" err="1"/>
              <a:t>FaaS</a:t>
            </a:r>
            <a:r>
              <a:rPr lang="en-US" dirty="0"/>
              <a:t> invocation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8D515-6515-F366-3F79-5D08375EA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</a:t>
            </a:r>
            <a:r>
              <a:rPr lang="en-US" dirty="0" err="1"/>
              <a:t>FaaS</a:t>
            </a:r>
            <a:r>
              <a:rPr lang="en-US" dirty="0"/>
              <a:t> invocation must be isolated from other tenants</a:t>
            </a:r>
          </a:p>
          <a:p>
            <a:r>
              <a:rPr lang="en-US" dirty="0"/>
              <a:t>But invoking a full VM for each function is costly (time + memory)</a:t>
            </a:r>
          </a:p>
          <a:p>
            <a:r>
              <a:rPr lang="en-US" dirty="0"/>
              <a:t>AWS Firecracker is a dedicated hypervisor for </a:t>
            </a:r>
            <a:r>
              <a:rPr lang="en-US" dirty="0" err="1"/>
              <a:t>FaaS</a:t>
            </a:r>
            <a:endParaRPr lang="en-US" dirty="0"/>
          </a:p>
          <a:p>
            <a:pPr lvl="1"/>
            <a:r>
              <a:rPr lang="en-US" sz="1800" dirty="0"/>
              <a:t>Agache et al., “Firecracker: Lightweight Virtualization for Serverless Applications”. In NSDI 2020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EAFEA-FD2C-A97D-0999-193C7940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70B8F4-CFD1-A135-1DD1-9B5EDCD7D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B9B02F-375F-0780-8FC3-BF51FCD86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156" y="3854397"/>
            <a:ext cx="5526297" cy="273126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EA758B9-3D80-3F5C-A552-46584A147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51414"/>
            <a:ext cx="5578764" cy="264146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2927A2-AD31-E049-9F15-9E821B5A7C0A}"/>
              </a:ext>
            </a:extLst>
          </p:cNvPr>
          <p:cNvCxnSpPr>
            <a:cxnSpLocks/>
          </p:cNvCxnSpPr>
          <p:nvPr/>
        </p:nvCxnSpPr>
        <p:spPr>
          <a:xfrm>
            <a:off x="9100930" y="4403035"/>
            <a:ext cx="0" cy="1262269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92BBA35-6A55-86F2-EDE2-137C2801F800}"/>
              </a:ext>
            </a:extLst>
          </p:cNvPr>
          <p:cNvSpPr txBox="1"/>
          <p:nvPr/>
        </p:nvSpPr>
        <p:spPr>
          <a:xfrm>
            <a:off x="4859261" y="6169708"/>
            <a:ext cx="3392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FC-pre=pre-configured FC (warm)</a:t>
            </a:r>
          </a:p>
          <a:p>
            <a:r>
              <a:rPr lang="en-US" sz="1200" dirty="0" err="1"/>
              <a:t>CloudHV</a:t>
            </a:r>
            <a:r>
              <a:rPr lang="en-US" sz="1200" dirty="0"/>
              <a:t>=Intel Cloud Hypervisor (resembles FC)</a:t>
            </a:r>
          </a:p>
          <a:p>
            <a:r>
              <a:rPr lang="en-US" sz="1200" dirty="0"/>
              <a:t>QEMU=full blown KVM machine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9954145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09812-2C57-C259-6541-EDD9B1D43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6B7A5-A892-5C00-E36F-920AF6DC2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overheads: </a:t>
            </a:r>
            <a:r>
              <a:rPr lang="en-US" dirty="0" err="1"/>
              <a:t>FaaS</a:t>
            </a:r>
            <a:r>
              <a:rPr lang="en-US" dirty="0"/>
              <a:t> invocation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A9495-B26A-BD79-B799-215FAEA4B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6084"/>
          </a:xfrm>
        </p:spPr>
        <p:txBody>
          <a:bodyPr>
            <a:normAutofit/>
          </a:bodyPr>
          <a:lstStyle/>
          <a:p>
            <a:r>
              <a:rPr lang="en-US" dirty="0"/>
              <a:t>Do we really need a full VM? Why not do it in user space?</a:t>
            </a:r>
          </a:p>
          <a:p>
            <a:r>
              <a:rPr lang="en-US" dirty="0"/>
              <a:t>The </a:t>
            </a:r>
            <a:r>
              <a:rPr lang="en-US" dirty="0" err="1"/>
              <a:t>Nightcore</a:t>
            </a:r>
            <a:r>
              <a:rPr lang="en-US" dirty="0"/>
              <a:t> project build a lightweight </a:t>
            </a:r>
            <a:r>
              <a:rPr lang="en-US" dirty="0" err="1"/>
              <a:t>FaaS</a:t>
            </a:r>
            <a:r>
              <a:rPr lang="en-US" dirty="0"/>
              <a:t> hypervisor</a:t>
            </a:r>
          </a:p>
          <a:p>
            <a:pPr lvl="1"/>
            <a:r>
              <a:rPr lang="en-US" dirty="0"/>
              <a:t>Function “boot time” is done at user-level</a:t>
            </a:r>
          </a:p>
          <a:p>
            <a:pPr lvl="1"/>
            <a:r>
              <a:rPr lang="en-US" dirty="0"/>
              <a:t>Functions invoke others using shared memory and UNIX domain sockets</a:t>
            </a:r>
          </a:p>
          <a:p>
            <a:r>
              <a:rPr lang="en-US" dirty="0"/>
              <a:t>Got the overheads down from milliseconds to microseconds</a:t>
            </a:r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endParaRPr lang="en-US" sz="1800" dirty="0"/>
          </a:p>
          <a:p>
            <a:pPr lvl="1"/>
            <a:r>
              <a:rPr lang="en-US" sz="1800" dirty="0"/>
              <a:t>Jia &amp; Witchell, “</a:t>
            </a:r>
            <a:r>
              <a:rPr lang="en-US" sz="1800" dirty="0" err="1"/>
              <a:t>Nightcore</a:t>
            </a:r>
            <a:r>
              <a:rPr lang="en-US" sz="1800" dirty="0"/>
              <a:t>: Efficient and Scalable Serverless Computing for Latency-Sensitive, Interactive Microservices”. In ASPLOS 2021</a:t>
            </a:r>
            <a:endParaRPr lang="en-IL" dirty="0"/>
          </a:p>
          <a:p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EACC1-EC04-52E3-F7D4-684AFCAAE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8A6080-E58B-7B5A-CFC9-F149D57E9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0285CE7-92F1-AAEA-6756-5F40EA4AFEE2}"/>
              </a:ext>
            </a:extLst>
          </p:cNvPr>
          <p:cNvGrpSpPr/>
          <p:nvPr/>
        </p:nvGrpSpPr>
        <p:grpSpPr>
          <a:xfrm>
            <a:off x="3163008" y="4064004"/>
            <a:ext cx="5694665" cy="2190071"/>
            <a:chOff x="6386499" y="3363017"/>
            <a:chExt cx="4967301" cy="172727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45199A6-DDAA-DDAD-45BA-1BCF1A192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57617" y="3363017"/>
              <a:ext cx="4763165" cy="1457528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414E487-F35D-DDD0-6FD4-3705F51C5A2E}"/>
                </a:ext>
              </a:extLst>
            </p:cNvPr>
            <p:cNvSpPr txBox="1"/>
            <p:nvPr/>
          </p:nvSpPr>
          <p:spPr>
            <a:xfrm>
              <a:off x="6386499" y="4813290"/>
              <a:ext cx="49673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IL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91105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835B4-5717-F237-0875-975A55181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can only go so far: Hardware view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DBFCB-0FDC-5DB8-906C-B87633DAC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81253" cy="4351338"/>
          </a:xfrm>
        </p:spPr>
        <p:txBody>
          <a:bodyPr/>
          <a:lstStyle/>
          <a:p>
            <a:r>
              <a:rPr lang="en-US" dirty="0"/>
              <a:t>Software isolation is based on virtual memory address spaces</a:t>
            </a:r>
          </a:p>
          <a:p>
            <a:pPr lvl="1"/>
            <a:r>
              <a:rPr lang="en-US" dirty="0"/>
              <a:t>Each application is isolated in its own address space</a:t>
            </a:r>
          </a:p>
          <a:p>
            <a:pPr lvl="1"/>
            <a:endParaRPr lang="en-US" dirty="0"/>
          </a:p>
          <a:p>
            <a:r>
              <a:rPr lang="en-US" dirty="0"/>
              <a:t>Today’s mechanisms are based on 1980s apps</a:t>
            </a:r>
          </a:p>
          <a:p>
            <a:pPr lvl="1"/>
            <a:r>
              <a:rPr lang="en-US" dirty="0"/>
              <a:t>Monolithic</a:t>
            </a:r>
          </a:p>
          <a:p>
            <a:pPr lvl="1"/>
            <a:r>
              <a:rPr lang="en-US" dirty="0"/>
              <a:t>Individual users</a:t>
            </a:r>
          </a:p>
          <a:p>
            <a:pPr lvl="1"/>
            <a:r>
              <a:rPr lang="en-US" b="1" dirty="0"/>
              <a:t>Long-running</a:t>
            </a:r>
          </a:p>
          <a:p>
            <a:pPr lvl="1"/>
            <a:endParaRPr lang="en-US" dirty="0"/>
          </a:p>
          <a:p>
            <a:r>
              <a:rPr lang="en-US" dirty="0"/>
              <a:t>High overheads when crossing address spaces were acceptable</a:t>
            </a:r>
          </a:p>
          <a:p>
            <a:pPr lvl="1"/>
            <a:r>
              <a:rPr lang="en-US" dirty="0"/>
              <a:t>10s of milliseconds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28A86-116F-5F9D-7620-7E5586DE7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A59488-73DE-80FC-4D8D-2B54C0DF3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298875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4486B-2357-4EE0-F813-020B09FBE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19791" cy="1325563"/>
          </a:xfrm>
        </p:spPr>
        <p:txBody>
          <a:bodyPr/>
          <a:lstStyle/>
          <a:p>
            <a:r>
              <a:rPr lang="en-US" dirty="0"/>
              <a:t>Software can only go so far: </a:t>
            </a:r>
            <a:r>
              <a:rPr lang="en-US" dirty="0" err="1"/>
              <a:t>FaaS</a:t>
            </a:r>
            <a:r>
              <a:rPr lang="en-US" dirty="0"/>
              <a:t> view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C4A0D-C1E2-1FEC-1155-9070E68EA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FaaS</a:t>
            </a:r>
            <a:r>
              <a:rPr lang="en-US" dirty="0"/>
              <a:t> functions are short-lived, targeting 10s of microseconds</a:t>
            </a:r>
          </a:p>
          <a:p>
            <a:pPr lvl="1"/>
            <a:r>
              <a:rPr lang="en-US" dirty="0"/>
              <a:t>Short-lived functions are easier to scale</a:t>
            </a:r>
          </a:p>
          <a:p>
            <a:pPr lvl="1"/>
            <a:endParaRPr lang="en-US" dirty="0"/>
          </a:p>
          <a:p>
            <a:r>
              <a:rPr lang="en-US" dirty="0"/>
              <a:t>Firecracker and </a:t>
            </a:r>
            <a:r>
              <a:rPr lang="en-US" dirty="0" err="1"/>
              <a:t>Nightcore</a:t>
            </a:r>
            <a:r>
              <a:rPr lang="en-US" dirty="0"/>
              <a:t> show that isolation is a major overhead</a:t>
            </a:r>
          </a:p>
          <a:p>
            <a:pPr lvl="1"/>
            <a:r>
              <a:rPr lang="en-US" dirty="0"/>
              <a:t>Initialize an address space</a:t>
            </a:r>
          </a:p>
          <a:p>
            <a:pPr lvl="1"/>
            <a:r>
              <a:rPr lang="en-US" dirty="0"/>
              <a:t>Cross an address space to call kernel networking code</a:t>
            </a:r>
          </a:p>
          <a:p>
            <a:pPr lvl="1"/>
            <a:r>
              <a:rPr lang="en-US" dirty="0"/>
              <a:t>Orchestrator has its own address space</a:t>
            </a:r>
          </a:p>
          <a:p>
            <a:pPr lvl="1"/>
            <a:endParaRPr lang="en-US" dirty="0"/>
          </a:p>
          <a:p>
            <a:r>
              <a:rPr lang="en-US" dirty="0"/>
              <a:t>What if we can map an entire </a:t>
            </a:r>
            <a:r>
              <a:rPr lang="en-US" dirty="0" err="1"/>
              <a:t>FaaS</a:t>
            </a:r>
            <a:r>
              <a:rPr lang="en-US" dirty="0"/>
              <a:t> into a single address space?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DA4B5-DEFD-DDD4-3401-F3787A750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E9109-A489-B522-BE8F-7B9CFCEF3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776597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3C42B-8FCD-2999-30A5-F33BD79E9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Jord: Rethinking address-space isolation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2A9D8-2DC3-E5F8-B762-74AE7D2AB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Principles:</a:t>
            </a:r>
          </a:p>
          <a:p>
            <a:pPr lvl="1"/>
            <a:r>
              <a:rPr lang="en-US" dirty="0"/>
              <a:t>Map orchestrator and functions into a single address space</a:t>
            </a:r>
          </a:p>
          <a:p>
            <a:pPr lvl="1"/>
            <a:r>
              <a:rPr lang="en-US" dirty="0"/>
              <a:t>Provide lightweight protection domains within an address space</a:t>
            </a:r>
          </a:p>
          <a:p>
            <a:pPr lvl="1"/>
            <a:r>
              <a:rPr lang="en-US" dirty="0"/>
              <a:t>Function invocations become simple function calls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More details in Li et al., “</a:t>
            </a:r>
            <a:r>
              <a:rPr lang="en-US" sz="2000" i="1" dirty="0"/>
              <a:t>Single-Address-Space </a:t>
            </a:r>
            <a:r>
              <a:rPr lang="en-US" sz="2000" i="1" dirty="0" err="1"/>
              <a:t>FaaS</a:t>
            </a:r>
            <a:r>
              <a:rPr lang="en-US" sz="2000" i="1" dirty="0"/>
              <a:t> with Jord</a:t>
            </a:r>
            <a:r>
              <a:rPr lang="en-US" sz="2000" dirty="0"/>
              <a:t>”. In ISCA 2025</a:t>
            </a:r>
            <a:endParaRPr lang="en-IL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EEAC-A9ED-1704-A01A-3190D62A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7A808-8388-6570-9E9F-9A3AD5284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45C67B-5415-7BBA-E096-D36DC16500DF}"/>
              </a:ext>
            </a:extLst>
          </p:cNvPr>
          <p:cNvSpPr/>
          <p:nvPr/>
        </p:nvSpPr>
        <p:spPr>
          <a:xfrm>
            <a:off x="1133061" y="3578087"/>
            <a:ext cx="9799982" cy="81500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Function A</a:t>
            </a:r>
            <a:br>
              <a:rPr lang="en-US" dirty="0"/>
            </a:br>
            <a:r>
              <a:rPr lang="en-US" dirty="0"/>
              <a:t>(code + data)</a:t>
            </a:r>
            <a:endParaRPr lang="en-IL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770A30-16BE-99BA-69F2-7BCFBEA22B5F}"/>
              </a:ext>
            </a:extLst>
          </p:cNvPr>
          <p:cNvCxnSpPr/>
          <p:nvPr/>
        </p:nvCxnSpPr>
        <p:spPr>
          <a:xfrm>
            <a:off x="5208104" y="3578087"/>
            <a:ext cx="0" cy="815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73EBEA-FEEF-191F-65B1-40B7EDCD4F6A}"/>
              </a:ext>
            </a:extLst>
          </p:cNvPr>
          <p:cNvCxnSpPr/>
          <p:nvPr/>
        </p:nvCxnSpPr>
        <p:spPr>
          <a:xfrm>
            <a:off x="7179365" y="3578087"/>
            <a:ext cx="0" cy="815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B16820E-DB79-3A27-11F2-B666B8583697}"/>
              </a:ext>
            </a:extLst>
          </p:cNvPr>
          <p:cNvCxnSpPr/>
          <p:nvPr/>
        </p:nvCxnSpPr>
        <p:spPr>
          <a:xfrm>
            <a:off x="8633791" y="3578087"/>
            <a:ext cx="0" cy="815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4ECBD6-283F-D8BA-98E5-FB0CF1AB5ED3}"/>
              </a:ext>
            </a:extLst>
          </p:cNvPr>
          <p:cNvCxnSpPr/>
          <p:nvPr/>
        </p:nvCxnSpPr>
        <p:spPr>
          <a:xfrm>
            <a:off x="10575235" y="3578087"/>
            <a:ext cx="0" cy="815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908FD22-36D3-020C-C73B-B640D8317297}"/>
              </a:ext>
            </a:extLst>
          </p:cNvPr>
          <p:cNvSpPr txBox="1"/>
          <p:nvPr/>
        </p:nvSpPr>
        <p:spPr>
          <a:xfrm>
            <a:off x="8884510" y="3668189"/>
            <a:ext cx="14849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B</a:t>
            </a:r>
            <a:br>
              <a:rPr lang="en-US" dirty="0"/>
            </a:br>
            <a:r>
              <a:rPr lang="en-US" dirty="0"/>
              <a:t>(code + data)</a:t>
            </a:r>
            <a:endParaRPr lang="en-IL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777190-FE9D-17F6-D3EB-E750DDDA4597}"/>
              </a:ext>
            </a:extLst>
          </p:cNvPr>
          <p:cNvCxnSpPr/>
          <p:nvPr/>
        </p:nvCxnSpPr>
        <p:spPr>
          <a:xfrm>
            <a:off x="3644347" y="3578086"/>
            <a:ext cx="0" cy="815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11154A5-A1C3-3C52-433A-82ECF5848C6F}"/>
              </a:ext>
            </a:extLst>
          </p:cNvPr>
          <p:cNvCxnSpPr/>
          <p:nvPr/>
        </p:nvCxnSpPr>
        <p:spPr>
          <a:xfrm>
            <a:off x="1510747" y="3593789"/>
            <a:ext cx="0" cy="815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F785BE4-97CE-D6F5-3EFA-DEC891F4A833}"/>
              </a:ext>
            </a:extLst>
          </p:cNvPr>
          <p:cNvSpPr txBox="1"/>
          <p:nvPr/>
        </p:nvSpPr>
        <p:spPr>
          <a:xfrm>
            <a:off x="1835068" y="3662424"/>
            <a:ext cx="15272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Orchestrator</a:t>
            </a:r>
            <a:br>
              <a:rPr lang="en-US" dirty="0"/>
            </a:br>
            <a:r>
              <a:rPr lang="en-US" dirty="0"/>
              <a:t>(code + data)</a:t>
            </a:r>
            <a:endParaRPr lang="en-IL" dirty="0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84EEECF2-6ADD-40A6-E04D-FD4760E9EB88}"/>
              </a:ext>
            </a:extLst>
          </p:cNvPr>
          <p:cNvSpPr/>
          <p:nvPr/>
        </p:nvSpPr>
        <p:spPr>
          <a:xfrm rot="5400000">
            <a:off x="3441627" y="2726011"/>
            <a:ext cx="1281651" cy="3284970"/>
          </a:xfrm>
          <a:prstGeom prst="arc">
            <a:avLst>
              <a:gd name="adj1" fmla="val 16302743"/>
              <a:gd name="adj2" fmla="val 5350334"/>
            </a:avLst>
          </a:prstGeom>
          <a:ln>
            <a:headEnd type="none" w="lg" len="lg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706E15-0D3D-6FF9-C1AC-833FF27E82F3}"/>
              </a:ext>
            </a:extLst>
          </p:cNvPr>
          <p:cNvSpPr txBox="1"/>
          <p:nvPr/>
        </p:nvSpPr>
        <p:spPr>
          <a:xfrm>
            <a:off x="2892288" y="5039144"/>
            <a:ext cx="2584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HW checks permissions</a:t>
            </a:r>
            <a:endParaRPr lang="en-IL" dirty="0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3C1E77D0-95DF-2903-AFE9-A7516F66F148}"/>
              </a:ext>
            </a:extLst>
          </p:cNvPr>
          <p:cNvSpPr/>
          <p:nvPr/>
        </p:nvSpPr>
        <p:spPr>
          <a:xfrm rot="5400000">
            <a:off x="5634615" y="1460182"/>
            <a:ext cx="1092810" cy="5747057"/>
          </a:xfrm>
          <a:prstGeom prst="arc">
            <a:avLst>
              <a:gd name="adj1" fmla="val 16302743"/>
              <a:gd name="adj2" fmla="val 5350334"/>
            </a:avLst>
          </a:prstGeom>
          <a:ln>
            <a:headEnd type="triangle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463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6C9FE50-CE53-8055-0DB7-88363FDCE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400" y="3968687"/>
            <a:ext cx="8591200" cy="2717183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79FC0BD-E4AF-0D2D-2B6D-996C2CDEB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Jord: Rethinking address-space isolation</a:t>
            </a:r>
            <a:endParaRPr lang="en-I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FC8C5D-59A8-3E8E-3A59-242D295F0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r>
              <a:rPr lang="en-US" dirty="0"/>
              <a:t>Each entity (functions, orchestrator) is a protection domain</a:t>
            </a:r>
          </a:p>
          <a:p>
            <a:r>
              <a:rPr lang="en-US" dirty="0"/>
              <a:t>OS maintains address ranges each protection domain can access</a:t>
            </a:r>
          </a:p>
          <a:p>
            <a:r>
              <a:rPr lang="en-US" dirty="0"/>
              <a:t>HW verifies protection on each call</a:t>
            </a:r>
          </a:p>
          <a:p>
            <a:r>
              <a:rPr lang="en-US" dirty="0"/>
              <a:t>Protected user-level library (</a:t>
            </a:r>
            <a:r>
              <a:rPr lang="en-US" dirty="0" err="1"/>
              <a:t>PrivLib</a:t>
            </a:r>
            <a:r>
              <a:rPr lang="en-US" dirty="0"/>
              <a:t>) creates domains in 10s of </a:t>
            </a:r>
            <a:r>
              <a:rPr lang="en-US" dirty="0" err="1"/>
              <a:t>nsecs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D6245-11F3-4D8B-4B5D-A35D18FC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CB8310-4543-C852-DBE9-CC61EE18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025526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09CDB-4D1A-D433-F35D-5DCE7916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Jord Performance improvement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7AD7D-381C-F8A6-C640-879617EBC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FACF8-DDC1-72E2-45BB-A8B211CBE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7343A-228C-0942-1C44-CB24D3C15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62BEBB-B4E5-F9B5-FBE2-BACA90D43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087" y="1825625"/>
            <a:ext cx="8540385" cy="42054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0BDAF7-26EB-9DD0-0CA0-CE837C036931}"/>
              </a:ext>
            </a:extLst>
          </p:cNvPr>
          <p:cNvSpPr txBox="1"/>
          <p:nvPr/>
        </p:nvSpPr>
        <p:spPr>
          <a:xfrm>
            <a:off x="10329333" y="1821933"/>
            <a:ext cx="1729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NI=No Isolation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5220573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82C18-51C0-0259-0BEE-46AC1473B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5DBF5-BCD9-541C-DF58-1C0EA0A98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FaaS</a:t>
            </a:r>
            <a:r>
              <a:rPr lang="en-US" dirty="0"/>
              <a:t> / Serverless have emerged ~5 years ago</a:t>
            </a:r>
          </a:p>
          <a:p>
            <a:r>
              <a:rPr lang="en-US" dirty="0" err="1"/>
              <a:t>FaaS</a:t>
            </a:r>
            <a:r>
              <a:rPr lang="en-US" dirty="0"/>
              <a:t> workloads challenge decades old HW/SW co-design</a:t>
            </a:r>
          </a:p>
          <a:p>
            <a:r>
              <a:rPr lang="en-US" dirty="0"/>
              <a:t>Requires system designers to think at much large scale</a:t>
            </a:r>
          </a:p>
          <a:p>
            <a:pPr lvl="1"/>
            <a:endParaRPr lang="en-US" dirty="0"/>
          </a:p>
          <a:p>
            <a:r>
              <a:rPr lang="en-US" dirty="0"/>
              <a:t>Many research avenues:</a:t>
            </a:r>
          </a:p>
          <a:p>
            <a:pPr lvl="1"/>
            <a:r>
              <a:rPr lang="en-US" dirty="0"/>
              <a:t>New communication primitives</a:t>
            </a:r>
          </a:p>
          <a:p>
            <a:pPr lvl="1"/>
            <a:r>
              <a:rPr lang="en-US" dirty="0"/>
              <a:t>New isolation primitives</a:t>
            </a:r>
          </a:p>
          <a:p>
            <a:pPr lvl="1"/>
            <a:r>
              <a:rPr lang="en-US" dirty="0"/>
              <a:t>Reducing invocation overheads</a:t>
            </a:r>
          </a:p>
          <a:p>
            <a:endParaRPr lang="en-US" dirty="0"/>
          </a:p>
          <a:p>
            <a:r>
              <a:rPr lang="en-US" dirty="0"/>
              <a:t>Exciting times; more and more services are moving to </a:t>
            </a:r>
            <a:r>
              <a:rPr lang="en-US" dirty="0" err="1"/>
              <a:t>FaaS</a:t>
            </a:r>
            <a:r>
              <a:rPr lang="en-US" dirty="0"/>
              <a:t> 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9FB7C-8781-7BAA-319B-CE21B274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C8634-96AD-CE98-3060-7E97F61F4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383071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5DDC994-34C4-1EAD-C796-24734EAA2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724AA08-3B71-B26D-917D-6FECD87239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en-I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0AC2-975C-D66D-8A9E-69938BEFC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L"/>
              <a:t>@Yoav Etsion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43DDC-F163-A72C-EE4A-3E3E164AB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L"/>
              <a:t>00460882 </a:t>
            </a:r>
            <a:r>
              <a:rPr lang="en-US"/>
              <a:t> - HW/SW Co-design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49739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31880</TotalTime>
  <Words>2230</Words>
  <Application>Microsoft Office PowerPoint</Application>
  <PresentationFormat>Widescreen</PresentationFormat>
  <Paragraphs>431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Aptos</vt:lpstr>
      <vt:lpstr>Aptos Display</vt:lpstr>
      <vt:lpstr>Arial</vt:lpstr>
      <vt:lpstr>Courier New</vt:lpstr>
      <vt:lpstr>Wingdings</vt:lpstr>
      <vt:lpstr>Office Theme</vt:lpstr>
      <vt:lpstr>The Shift to Serverless / FaaS</vt:lpstr>
      <vt:lpstr>Disaggregating software services</vt:lpstr>
      <vt:lpstr>Disaggregating software services</vt:lpstr>
      <vt:lpstr>What is FaaS?</vt:lpstr>
      <vt:lpstr>Before the cloud, there was the monolith server (on-prem)</vt:lpstr>
      <vt:lpstr>In early cloud, we used virtual monolith servers (IaaS)</vt:lpstr>
      <vt:lpstr>The rise of SaaS</vt:lpstr>
      <vt:lpstr>The rise of FaaS/microservices</vt:lpstr>
      <vt:lpstr>FaaS invocation</vt:lpstr>
      <vt:lpstr>Programming FaaS</vt:lpstr>
      <vt:lpstr>How do functions trigger one another?</vt:lpstr>
      <vt:lpstr>Key benefits of FaaS/microservices</vt:lpstr>
      <vt:lpstr>Key benefits of FaaS/microservices</vt:lpstr>
      <vt:lpstr>Broad availability</vt:lpstr>
      <vt:lpstr>End-to-End FaaS-based services</vt:lpstr>
      <vt:lpstr>Open benchmark suite: DeathStar </vt:lpstr>
      <vt:lpstr>DeathStar benchmarks</vt:lpstr>
      <vt:lpstr>DeathStar benchmarks: Decomposition</vt:lpstr>
      <vt:lpstr>DeathStar benchmarks: Heterogeneity</vt:lpstr>
      <vt:lpstr>Example: Social network benchmark</vt:lpstr>
      <vt:lpstr>Example: Social network benchmark</vt:lpstr>
      <vt:lpstr>Example: Social network benchmark</vt:lpstr>
      <vt:lpstr>Example: Social network benchmark</vt:lpstr>
      <vt:lpstr>Example: Social network benchmark</vt:lpstr>
      <vt:lpstr>Example: Social network benchmark</vt:lpstr>
      <vt:lpstr>Example: Media Service</vt:lpstr>
      <vt:lpstr>Example: Media Service</vt:lpstr>
      <vt:lpstr>Implications on system design:  Limited IPC</vt:lpstr>
      <vt:lpstr>Implications on system design:  Limited IPC</vt:lpstr>
      <vt:lpstr>Implications on system design:  Limited IPC</vt:lpstr>
      <vt:lpstr>Implications on system design:  Instruction cache</vt:lpstr>
      <vt:lpstr>Implications on system design:  Instruction cache</vt:lpstr>
      <vt:lpstr>Implications on system design:  The cost of RPC/REST API</vt:lpstr>
      <vt:lpstr>Implications on system design:  The cost of RPC/REST API</vt:lpstr>
      <vt:lpstr>Additional overheads: FaaS invocation</vt:lpstr>
      <vt:lpstr>Additional overheads: FaaS invocation</vt:lpstr>
      <vt:lpstr>Additional overheads: FaaS invocation</vt:lpstr>
      <vt:lpstr>Additional overheads: FaaS invocation</vt:lpstr>
      <vt:lpstr>Software can only go so far: Hardware view</vt:lpstr>
      <vt:lpstr>Software can only go so far: FaaS view</vt:lpstr>
      <vt:lpstr>Jord: Rethinking address-space isolation</vt:lpstr>
      <vt:lpstr>Jord: Rethinking address-space isolation</vt:lpstr>
      <vt:lpstr>Jord Performance improvement</vt:lpstr>
      <vt:lpstr>Summary</vt:lpstr>
      <vt:lpstr>Thank you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Yoav Etsion</dc:creator>
  <cp:lastModifiedBy>Yoav Etsion</cp:lastModifiedBy>
  <cp:revision>1</cp:revision>
  <dcterms:created xsi:type="dcterms:W3CDTF">2025-03-20T10:33:10Z</dcterms:created>
  <dcterms:modified xsi:type="dcterms:W3CDTF">2026-07-06T09:11:49Z</dcterms:modified>
</cp:coreProperties>
</file>