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256" r:id="rId2"/>
    <p:sldId id="332" r:id="rId3"/>
    <p:sldId id="262" r:id="rId4"/>
    <p:sldId id="272" r:id="rId5"/>
    <p:sldId id="277" r:id="rId6"/>
    <p:sldId id="263" r:id="rId7"/>
    <p:sldId id="278" r:id="rId8"/>
    <p:sldId id="279" r:id="rId9"/>
    <p:sldId id="280" r:id="rId10"/>
    <p:sldId id="281" r:id="rId11"/>
    <p:sldId id="285" r:id="rId12"/>
    <p:sldId id="282" r:id="rId13"/>
    <p:sldId id="283" r:id="rId14"/>
    <p:sldId id="284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33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3" r:id="rId33"/>
    <p:sldId id="314" r:id="rId34"/>
    <p:sldId id="304" r:id="rId35"/>
    <p:sldId id="302" r:id="rId36"/>
    <p:sldId id="307" r:id="rId37"/>
    <p:sldId id="308" r:id="rId38"/>
    <p:sldId id="309" r:id="rId39"/>
    <p:sldId id="310" r:id="rId40"/>
    <p:sldId id="265" r:id="rId41"/>
    <p:sldId id="311" r:id="rId42"/>
    <p:sldId id="312" r:id="rId43"/>
    <p:sldId id="313" r:id="rId44"/>
    <p:sldId id="266" r:id="rId45"/>
    <p:sldId id="274" r:id="rId46"/>
    <p:sldId id="273" r:id="rId47"/>
    <p:sldId id="268" r:id="rId48"/>
    <p:sldId id="275" r:id="rId49"/>
    <p:sldId id="276" r:id="rId50"/>
    <p:sldId id="267" r:id="rId51"/>
    <p:sldId id="317" r:id="rId52"/>
    <p:sldId id="318" r:id="rId53"/>
    <p:sldId id="319" r:id="rId54"/>
    <p:sldId id="320" r:id="rId55"/>
    <p:sldId id="316" r:id="rId56"/>
    <p:sldId id="315" r:id="rId57"/>
    <p:sldId id="269" r:id="rId58"/>
    <p:sldId id="270" r:id="rId59"/>
    <p:sldId id="321" r:id="rId60"/>
    <p:sldId id="322" r:id="rId61"/>
    <p:sldId id="323" r:id="rId62"/>
    <p:sldId id="271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01761-0CA9-4ED3-9EAC-79DDC6EC06B3}" v="2" dt="2026-07-12T18:47:37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Etsion" userId="6817d923-c30e-4d6b-be87-a47c131a91a7" providerId="ADAL" clId="{687D8E6A-57AF-45AE-B177-36E0AC6490D8}"/>
    <pc:docChg chg="custSel modSld">
      <pc:chgData name="Yoav Etsion" userId="6817d923-c30e-4d6b-be87-a47c131a91a7" providerId="ADAL" clId="{687D8E6A-57AF-45AE-B177-36E0AC6490D8}" dt="2026-07-12T18:49:22.223" v="239" actId="27636"/>
      <pc:docMkLst>
        <pc:docMk/>
      </pc:docMkLst>
      <pc:sldChg chg="modSp mod">
        <pc:chgData name="Yoav Etsion" userId="6817d923-c30e-4d6b-be87-a47c131a91a7" providerId="ADAL" clId="{687D8E6A-57AF-45AE-B177-36E0AC6490D8}" dt="2026-06-15T09:51:55.906" v="36" actId="6549"/>
        <pc:sldMkLst>
          <pc:docMk/>
          <pc:sldMk cId="1824171253" sldId="262"/>
        </pc:sldMkLst>
        <pc:spChg chg="mod">
          <ac:chgData name="Yoav Etsion" userId="6817d923-c30e-4d6b-be87-a47c131a91a7" providerId="ADAL" clId="{687D8E6A-57AF-45AE-B177-36E0AC6490D8}" dt="2026-06-15T09:51:55.906" v="36" actId="6549"/>
          <ac:spMkLst>
            <pc:docMk/>
            <pc:sldMk cId="1824171253" sldId="262"/>
            <ac:spMk id="8" creationId="{A0FCDAF5-3A27-B127-1F6C-872437DABD13}"/>
          </ac:spMkLst>
        </pc:spChg>
      </pc:sldChg>
      <pc:sldChg chg="modSp mod">
        <pc:chgData name="Yoav Etsion" userId="6817d923-c30e-4d6b-be87-a47c131a91a7" providerId="ADAL" clId="{687D8E6A-57AF-45AE-B177-36E0AC6490D8}" dt="2026-06-15T09:52:22.439" v="39" actId="20577"/>
        <pc:sldMkLst>
          <pc:docMk/>
          <pc:sldMk cId="4018445541" sldId="272"/>
        </pc:sldMkLst>
        <pc:spChg chg="mod">
          <ac:chgData name="Yoav Etsion" userId="6817d923-c30e-4d6b-be87-a47c131a91a7" providerId="ADAL" clId="{687D8E6A-57AF-45AE-B177-36E0AC6490D8}" dt="2026-06-15T09:52:22.439" v="39" actId="20577"/>
          <ac:spMkLst>
            <pc:docMk/>
            <pc:sldMk cId="4018445541" sldId="272"/>
            <ac:spMk id="8" creationId="{5B607CF9-3B25-6280-C167-278E2FE63CEB}"/>
          </ac:spMkLst>
        </pc:spChg>
      </pc:sldChg>
      <pc:sldChg chg="modSp mod">
        <pc:chgData name="Yoav Etsion" userId="6817d923-c30e-4d6b-be87-a47c131a91a7" providerId="ADAL" clId="{687D8E6A-57AF-45AE-B177-36E0AC6490D8}" dt="2026-07-12T18:43:40.465" v="179" actId="20577"/>
        <pc:sldMkLst>
          <pc:docMk/>
          <pc:sldMk cId="1159779349" sldId="276"/>
        </pc:sldMkLst>
        <pc:spChg chg="mod">
          <ac:chgData name="Yoav Etsion" userId="6817d923-c30e-4d6b-be87-a47c131a91a7" providerId="ADAL" clId="{687D8E6A-57AF-45AE-B177-36E0AC6490D8}" dt="2026-07-12T18:43:40.465" v="179" actId="20577"/>
          <ac:spMkLst>
            <pc:docMk/>
            <pc:sldMk cId="1159779349" sldId="276"/>
            <ac:spMk id="8" creationId="{FCD31C05-A37D-6781-E3CC-6B6396B45BB9}"/>
          </ac:spMkLst>
        </pc:spChg>
      </pc:sldChg>
      <pc:sldChg chg="modSp mod">
        <pc:chgData name="Yoav Etsion" userId="6817d923-c30e-4d6b-be87-a47c131a91a7" providerId="ADAL" clId="{687D8E6A-57AF-45AE-B177-36E0AC6490D8}" dt="2026-07-12T18:34:43.084" v="119" actId="20577"/>
        <pc:sldMkLst>
          <pc:docMk/>
          <pc:sldMk cId="1680177040" sldId="277"/>
        </pc:sldMkLst>
        <pc:spChg chg="mod">
          <ac:chgData name="Yoav Etsion" userId="6817d923-c30e-4d6b-be87-a47c131a91a7" providerId="ADAL" clId="{687D8E6A-57AF-45AE-B177-36E0AC6490D8}" dt="2026-07-12T18:34:43.084" v="119" actId="20577"/>
          <ac:spMkLst>
            <pc:docMk/>
            <pc:sldMk cId="1680177040" sldId="277"/>
            <ac:spMk id="8" creationId="{61E27B1D-0902-4699-3804-63CEFC74404D}"/>
          </ac:spMkLst>
        </pc:spChg>
      </pc:sldChg>
      <pc:sldChg chg="modSp mod">
        <pc:chgData name="Yoav Etsion" userId="6817d923-c30e-4d6b-be87-a47c131a91a7" providerId="ADAL" clId="{687D8E6A-57AF-45AE-B177-36E0AC6490D8}" dt="2026-07-12T18:36:09.639" v="126" actId="6549"/>
        <pc:sldMkLst>
          <pc:docMk/>
          <pc:sldMk cId="2236286567" sldId="292"/>
        </pc:sldMkLst>
        <pc:spChg chg="mod">
          <ac:chgData name="Yoav Etsion" userId="6817d923-c30e-4d6b-be87-a47c131a91a7" providerId="ADAL" clId="{687D8E6A-57AF-45AE-B177-36E0AC6490D8}" dt="2026-07-12T18:36:09.639" v="126" actId="6549"/>
          <ac:spMkLst>
            <pc:docMk/>
            <pc:sldMk cId="2236286567" sldId="292"/>
            <ac:spMk id="3" creationId="{8401E624-D5FB-DEF4-9158-806DD8615E2E}"/>
          </ac:spMkLst>
        </pc:spChg>
      </pc:sldChg>
      <pc:sldChg chg="modSp mod">
        <pc:chgData name="Yoav Etsion" userId="6817d923-c30e-4d6b-be87-a47c131a91a7" providerId="ADAL" clId="{687D8E6A-57AF-45AE-B177-36E0AC6490D8}" dt="2026-07-12T18:42:21.488" v="177" actId="6549"/>
        <pc:sldMkLst>
          <pc:docMk/>
          <pc:sldMk cId="3242446475" sldId="312"/>
        </pc:sldMkLst>
        <pc:spChg chg="mod">
          <ac:chgData name="Yoav Etsion" userId="6817d923-c30e-4d6b-be87-a47c131a91a7" providerId="ADAL" clId="{687D8E6A-57AF-45AE-B177-36E0AC6490D8}" dt="2026-07-12T18:42:21.488" v="177" actId="6549"/>
          <ac:spMkLst>
            <pc:docMk/>
            <pc:sldMk cId="3242446475" sldId="312"/>
            <ac:spMk id="8" creationId="{DC4385AE-188B-F6C1-CD22-F2F20961F77C}"/>
          </ac:spMkLst>
        </pc:spChg>
      </pc:sldChg>
      <pc:sldChg chg="addSp modSp mod">
        <pc:chgData name="Yoav Etsion" userId="6817d923-c30e-4d6b-be87-a47c131a91a7" providerId="ADAL" clId="{687D8E6A-57AF-45AE-B177-36E0AC6490D8}" dt="2026-07-12T18:48:25.232" v="236" actId="1035"/>
        <pc:sldMkLst>
          <pc:docMk/>
          <pc:sldMk cId="2510236003" sldId="325"/>
        </pc:sldMkLst>
        <pc:spChg chg="add mod">
          <ac:chgData name="Yoav Etsion" userId="6817d923-c30e-4d6b-be87-a47c131a91a7" providerId="ADAL" clId="{687D8E6A-57AF-45AE-B177-36E0AC6490D8}" dt="2026-07-12T18:48:25.232" v="236" actId="1035"/>
          <ac:spMkLst>
            <pc:docMk/>
            <pc:sldMk cId="2510236003" sldId="325"/>
            <ac:spMk id="3" creationId="{F734BB5F-EFED-F5C1-926C-008135001EA2}"/>
          </ac:spMkLst>
        </pc:spChg>
      </pc:sldChg>
      <pc:sldChg chg="modSp mod">
        <pc:chgData name="Yoav Etsion" userId="6817d923-c30e-4d6b-be87-a47c131a91a7" providerId="ADAL" clId="{687D8E6A-57AF-45AE-B177-36E0AC6490D8}" dt="2026-07-12T18:49:22.223" v="239" actId="27636"/>
        <pc:sldMkLst>
          <pc:docMk/>
          <pc:sldMk cId="1177012652" sldId="327"/>
        </pc:sldMkLst>
        <pc:spChg chg="mod">
          <ac:chgData name="Yoav Etsion" userId="6817d923-c30e-4d6b-be87-a47c131a91a7" providerId="ADAL" clId="{687D8E6A-57AF-45AE-B177-36E0AC6490D8}" dt="2026-07-12T18:49:22.223" v="239" actId="27636"/>
          <ac:spMkLst>
            <pc:docMk/>
            <pc:sldMk cId="1177012652" sldId="327"/>
            <ac:spMk id="8" creationId="{1DF09362-0E72-EE99-84AF-41EC69EF573A}"/>
          </ac:spMkLst>
        </pc:spChg>
      </pc:sldChg>
      <pc:sldChg chg="modSp mod">
        <pc:chgData name="Yoav Etsion" userId="6817d923-c30e-4d6b-be87-a47c131a91a7" providerId="ADAL" clId="{687D8E6A-57AF-45AE-B177-36E0AC6490D8}" dt="2026-07-12T18:34:07.412" v="118" actId="20577"/>
        <pc:sldMkLst>
          <pc:docMk/>
          <pc:sldMk cId="1072459161" sldId="332"/>
        </pc:sldMkLst>
        <pc:spChg chg="mod">
          <ac:chgData name="Yoav Etsion" userId="6817d923-c30e-4d6b-be87-a47c131a91a7" providerId="ADAL" clId="{687D8E6A-57AF-45AE-B177-36E0AC6490D8}" dt="2026-07-12T18:34:07.412" v="118" actId="20577"/>
          <ac:spMkLst>
            <pc:docMk/>
            <pc:sldMk cId="1072459161" sldId="332"/>
            <ac:spMk id="3" creationId="{66FD7946-F888-AD8E-5C8A-374D118FCAE4}"/>
          </ac:spMkLst>
        </pc:spChg>
      </pc:sldChg>
      <pc:sldChg chg="modSp">
        <pc:chgData name="Yoav Etsion" userId="6817d923-c30e-4d6b-be87-a47c131a91a7" providerId="ADAL" clId="{687D8E6A-57AF-45AE-B177-36E0AC6490D8}" dt="2026-07-12T18:36:28.781" v="127"/>
        <pc:sldMkLst>
          <pc:docMk/>
          <pc:sldMk cId="1997374331" sldId="333"/>
        </pc:sldMkLst>
        <pc:spChg chg="mod">
          <ac:chgData name="Yoav Etsion" userId="6817d923-c30e-4d6b-be87-a47c131a91a7" providerId="ADAL" clId="{687D8E6A-57AF-45AE-B177-36E0AC6490D8}" dt="2026-07-12T18:36:28.781" v="127"/>
          <ac:spMkLst>
            <pc:docMk/>
            <pc:sldMk cId="1997374331" sldId="333"/>
            <ac:spMk id="8" creationId="{C07B9A82-E55F-9573-280B-37CEDB433F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706D-918D-40D4-AB56-D905264A97A2}" type="datetimeFigureOut">
              <a:rPr lang="en-IL" smtClean="0"/>
              <a:t>12/07/2026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00DA0-B09A-4B1E-A976-B5CA6AE4163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52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0AAE-C72B-A4AE-9E09-A4F4AA6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55BFF-969A-2343-38F5-7F3CDC94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6888C64-DF02-80A3-F18A-3B04466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D92455-BD50-2E5E-3C5C-E463B43A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BC2F51-D5C7-9AF1-3B66-90A715A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083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BFA3-5D52-EDD5-7282-4798E34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1D7B-E466-6DF4-7347-D0435C99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F19EE44-3524-1645-E735-26E60E9E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1EE952B-0D34-8C33-1DA9-74062F9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3A26AE-074D-75D6-D7B1-18FC1F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8290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16B7-A5E9-C1A1-D40A-45CCFF53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5AC6-BAA5-907F-298B-21E2DE69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DA6B36A-CA1E-1A3B-05FB-96918B9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142F3F1-3B8B-CB9F-A746-2619B931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3585D94-8C0D-746C-7FC2-A29E58D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804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D71-857F-8F28-8198-68818BD0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30F2-7392-B2F1-BB58-6C1C56C8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F7C4-E529-C1AB-85CF-44F24940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581B15D-4F72-8297-E394-12F7A538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F0B058-F855-75B2-1843-04B368E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8F12C73-D7DC-FF51-C6D7-7D1667A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631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BE20-BA00-706C-61EA-9174E30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403-4C5E-3354-5C30-7D4E2925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5139-909F-6B30-3FA7-969A0C11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A7D5-B179-C674-6D5F-F4E4DFB17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F0444-D600-6215-2ADA-B26694475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A0602A0-01AD-FF9B-F7B2-D149870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BA96CB-BBA6-6A93-AC9D-AA166AEA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E9F31C-D6E9-AB33-CBE9-370E42F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4009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1B8-3A4A-D5E3-729D-10C24A43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EF24AA7-E476-E26F-9F60-92086DA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F8AD36-04E6-BF32-A8FC-7305D459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238118-9265-B874-CD9F-21F6E742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431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5ECDCC-7D89-091E-65CE-498FB26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568ECC-FD4D-DCB0-296B-826E2B0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DC3CB-A195-399D-930F-664F9106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564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D7F3-5D4A-168E-36A4-1C30756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E0C-AA3E-02E8-1C67-21ADBFC0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6FD66-0C17-432B-383C-D06ECB0B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771A27E-8E69-8A75-C5F1-D9954073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A8C14F3-490D-5ADD-7A7C-7563BC08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E428FA5-C5D1-87A4-4111-808AA3F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9451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75F-FAFD-BF02-59AA-299A924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88E22-BC4D-21D5-DA0E-0AF1FECF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6F6D-EAD6-92D7-6351-B54A9809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48695FE-02D2-98FF-14FB-3DFD931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891E57-D6C1-C04C-3001-D5E9B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78774E6-7092-7366-98A2-6F62A51D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37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FA8A-8790-ADD8-00FD-80AF7ECB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3F95E-D280-39F8-2EDF-A5DC9638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D0463-7251-0765-5362-9F50EBBC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2A3BB21-D240-6C0E-3984-2B0FBF8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22F75-421A-68AC-CB9D-060C18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104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A53B3-FC3E-EAC4-8B6B-8A9A6A1D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8611-A906-6FF4-A129-F79CC05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B80C7A-EC15-9F17-7DE7-8746CE0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A8DADC-84C6-DDFC-FC63-C0B9A68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2A1489-95DA-675B-C7CC-6F5CB5E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49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6638-FD88-6646-70D6-5FD30DCB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F1199-8706-7CE9-4ED2-95917AB8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144B-36F4-A435-4A51-30BC3AA82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A061-AF03-BE50-D5FA-4CB9F3D3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41B3-42FB-8EDD-632C-CB2237D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689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D095-6BC7-9E5A-AE81-0E40B914F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Virtual Memory</a:t>
            </a:r>
            <a:endParaRPr lang="en-IL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F5A9-0273-791C-8450-7DB78DF58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Yoav Etsion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077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56CD-2691-F2D5-F0E2-17792039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recap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D7946-F888-AD8E-5C8A-374D118F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r>
              <a:rPr lang="en-US" dirty="0"/>
              <a:t>Virtual memory is a great abstraction for decoupling program view of memory from the physical view </a:t>
            </a:r>
          </a:p>
          <a:p>
            <a:pPr lvl="1"/>
            <a:r>
              <a:rPr lang="en-US" dirty="0"/>
              <a:t>Simplified isolation between applications</a:t>
            </a:r>
          </a:p>
          <a:p>
            <a:pPr lvl="1"/>
            <a:r>
              <a:rPr lang="en-US" dirty="0"/>
              <a:t>Allows OS to manage physical memory without affecting program correctness</a:t>
            </a:r>
          </a:p>
          <a:p>
            <a:pPr lvl="1"/>
            <a:r>
              <a:rPr lang="en-US" dirty="0"/>
              <a:t>Provides programmers with an abstract view of memory</a:t>
            </a:r>
          </a:p>
          <a:p>
            <a:pPr lvl="1"/>
            <a:endParaRPr lang="en-US" dirty="0"/>
          </a:p>
          <a:p>
            <a:r>
              <a:rPr lang="en-US" dirty="0"/>
              <a:t>Virtual memory translation has become terrible for performance</a:t>
            </a:r>
          </a:p>
          <a:p>
            <a:pPr lvl="1"/>
            <a:r>
              <a:rPr lang="en-US" dirty="0"/>
              <a:t>Translation times, esp. in virtual systems, are a major run time overhead</a:t>
            </a:r>
          </a:p>
          <a:p>
            <a:pPr lvl="1"/>
            <a:r>
              <a:rPr lang="en-US" dirty="0"/>
              <a:t>Hardware countermeasures impose area and power overheads</a:t>
            </a:r>
          </a:p>
          <a:p>
            <a:pPr lvl="1"/>
            <a:r>
              <a:rPr lang="en-US" dirty="0"/>
              <a:t>Size of caches (100 MBs) and physical memory (TBs) is increasing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7AB66-9516-C850-AF21-EEE11851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733FE-5763-DF6D-27A4-8A07CC94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7245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624D-7929-DA06-C21E-420E9D54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recap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23FC-713C-A647-3746-9A276580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88980-7C0D-5A9F-9C8D-8F496C67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FCDAF5-3A27-B127-1F6C-872437DA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Radix tree page tables</a:t>
            </a:r>
            <a:br>
              <a:rPr lang="en-US" dirty="0"/>
            </a:br>
            <a:r>
              <a:rPr lang="en-US" dirty="0"/>
              <a:t>on x86_64 for 4KB pages</a:t>
            </a:r>
            <a:endParaRPr lang="en-IL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7F8D412-5057-D476-97DC-B28E8A10C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7" y="1838590"/>
            <a:ext cx="793750" cy="3476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7788" tIns="39688" rIns="77788" bIns="39688" anchor="ctr"/>
          <a:lstStyle/>
          <a:p>
            <a:pPr algn="ctr" defTabSz="661988" rtl="1">
              <a:defRPr/>
            </a:pPr>
            <a:r>
              <a:rPr lang="en-US" sz="1400" b="0" dirty="0">
                <a:latin typeface="Arial" charset="0"/>
                <a:cs typeface="+mn-cs"/>
              </a:rPr>
              <a:t>sign ext.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9EDD7C4-FC10-D14A-D902-D403E53FC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25" y="1660790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0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3FAE215-3AC3-D51C-D6A9-8D98FF014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2275" y="1660790"/>
            <a:ext cx="1460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29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925E7EF-14AE-313C-CAC3-A54F46F31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175" y="1838590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DIR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BD46B7C3-569D-F396-9955-E0E1F2C80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9512" y="1838590"/>
            <a:ext cx="790575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TABLE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AB49DEF-EE1D-5ADF-DD05-1F1CEDCB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1675" y="1838590"/>
            <a:ext cx="903287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OFFSET</a:t>
            </a: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484293D1-78E0-7A59-18A3-8C0951252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7" y="1348052"/>
            <a:ext cx="2873375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Linear Address Space (4K Page)</a:t>
            </a: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id="{9DB880DE-EE68-200E-AFF7-A0C3AEF6B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7" y="1849702"/>
            <a:ext cx="48736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altLang="en-US" sz="1200"/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5F4C8A28-99EC-7044-A0E8-26CF64984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8025" y="1660790"/>
            <a:ext cx="1460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11</a:t>
            </a:r>
          </a:p>
        </p:txBody>
      </p:sp>
      <p:sp>
        <p:nvSpPr>
          <p:cNvPr id="15" name="Rectangle 31">
            <a:extLst>
              <a:ext uri="{FF2B5EF4-FFF2-40B4-BE49-F238E27FC236}">
                <a16:creationId xmlns:a16="http://schemas.microsoft.com/office/drawing/2014/main" id="{42EAB829-5637-7EBF-AE46-81E0CB503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3962" y="1660790"/>
            <a:ext cx="1492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20</a:t>
            </a: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FF520781-0B2D-B805-2057-CB6EBF787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7500" y="2186252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6486354D-44AF-3081-6B21-F8A4615FDEDA}"/>
              </a:ext>
            </a:extLst>
          </p:cNvPr>
          <p:cNvSpPr>
            <a:spLocks noChangeShapeType="1"/>
          </p:cNvSpPr>
          <p:nvPr/>
        </p:nvSpPr>
        <p:spPr bwMode="auto">
          <a:xfrm>
            <a:off x="9213850" y="4313502"/>
            <a:ext cx="341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9AB11CDA-38B2-BE38-771A-7E2432806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0537" y="3241940"/>
            <a:ext cx="1017588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512 entry</a:t>
            </a:r>
            <a:br>
              <a:rPr lang="en-US" altLang="en-US" sz="1400" b="0"/>
            </a:br>
            <a:r>
              <a:rPr lang="en-US" altLang="en-US" sz="1400" b="0"/>
              <a:t>Page Table</a:t>
            </a: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C53005E7-ED4F-8E51-1D6D-06838BF45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316552"/>
            <a:ext cx="8715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512 entry</a:t>
            </a:r>
          </a:p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Page </a:t>
            </a:r>
            <a:br>
              <a:rPr lang="en-US" altLang="en-US" sz="1400" b="0"/>
            </a:br>
            <a:r>
              <a:rPr lang="en-US" altLang="en-US" sz="1400" b="0"/>
              <a:t>Directory</a:t>
            </a:r>
          </a:p>
        </p:txBody>
      </p:sp>
      <p:grpSp>
        <p:nvGrpSpPr>
          <p:cNvPr id="20" name="Group 42">
            <a:extLst>
              <a:ext uri="{FF2B5EF4-FFF2-40B4-BE49-F238E27FC236}">
                <a16:creationId xmlns:a16="http://schemas.microsoft.com/office/drawing/2014/main" id="{0E6A7821-F689-D317-C6DE-8B352A8C2621}"/>
              </a:ext>
            </a:extLst>
          </p:cNvPr>
          <p:cNvGrpSpPr>
            <a:grpSpLocks/>
          </p:cNvGrpSpPr>
          <p:nvPr/>
        </p:nvGrpSpPr>
        <p:grpSpPr bwMode="auto">
          <a:xfrm>
            <a:off x="8405812" y="3895990"/>
            <a:ext cx="717550" cy="1258887"/>
            <a:chOff x="4841199" y="3724286"/>
            <a:chExt cx="1029258" cy="1258892"/>
          </a:xfrm>
        </p:grpSpPr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2948EAD8-ABC5-7489-D001-9645E5454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199" y="3724286"/>
              <a:ext cx="1029258" cy="12588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rtl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200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18E8E59C-090E-0C3C-FDF8-3E65BDF23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905" y="4625792"/>
              <a:ext cx="1013014" cy="168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8288" rIns="0" bIns="0" anchor="ctr"/>
            <a:lstStyle>
              <a:lvl1pPr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0"/>
                <a:t>PDE</a:t>
              </a:r>
            </a:p>
          </p:txBody>
        </p:sp>
      </p:grpSp>
      <p:sp>
        <p:nvSpPr>
          <p:cNvPr id="23" name="Line 21">
            <a:extLst>
              <a:ext uri="{FF2B5EF4-FFF2-40B4-BE49-F238E27FC236}">
                <a16:creationId xmlns:a16="http://schemas.microsoft.com/office/drawing/2014/main" id="{7F2806EE-0C63-72BD-5DB9-21D0D1859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7" y="4888177"/>
            <a:ext cx="428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BDA54F51-EF14-DCE7-6364-2F384C6EE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0537" y="2464065"/>
            <a:ext cx="70326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 dirty="0"/>
              <a:t>4KByte</a:t>
            </a:r>
            <a:br>
              <a:rPr lang="en-US" altLang="en-US" sz="1400" b="0" dirty="0"/>
            </a:br>
            <a:r>
              <a:rPr lang="en-US" altLang="en-US" sz="1400" b="0" dirty="0"/>
              <a:t>Frame</a:t>
            </a:r>
          </a:p>
        </p:txBody>
      </p:sp>
      <p:grpSp>
        <p:nvGrpSpPr>
          <p:cNvPr id="25" name="Group 52">
            <a:extLst>
              <a:ext uri="{FF2B5EF4-FFF2-40B4-BE49-F238E27FC236}">
                <a16:creationId xmlns:a16="http://schemas.microsoft.com/office/drawing/2014/main" id="{EE464840-EA6C-5691-9CFC-F92BE5EA281A}"/>
              </a:ext>
            </a:extLst>
          </p:cNvPr>
          <p:cNvGrpSpPr>
            <a:grpSpLocks/>
          </p:cNvGrpSpPr>
          <p:nvPr/>
        </p:nvGrpSpPr>
        <p:grpSpPr bwMode="auto">
          <a:xfrm>
            <a:off x="10685462" y="2867290"/>
            <a:ext cx="661988" cy="1452562"/>
            <a:chOff x="7798271" y="2890843"/>
            <a:chExt cx="1034704" cy="1452564"/>
          </a:xfrm>
          <a:solidFill>
            <a:srgbClr val="FFFF00"/>
          </a:solidFill>
        </p:grpSpPr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7EE0C82C-2A85-5619-3805-4ECCF19D1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3716" y="2890843"/>
              <a:ext cx="1029259" cy="145256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rtl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200"/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9F886B87-74FC-AD7F-3F49-271DE85F8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8271" y="3011488"/>
              <a:ext cx="1034704" cy="28733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1912" tIns="31750" rIns="61912" bIns="31750" anchor="ctr"/>
            <a:lstStyle>
              <a:lvl1pPr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0"/>
                <a:t>data</a:t>
              </a:r>
            </a:p>
          </p:txBody>
        </p:sp>
      </p:grpSp>
      <p:sp>
        <p:nvSpPr>
          <p:cNvPr id="28" name="Line 25">
            <a:extLst>
              <a:ext uri="{FF2B5EF4-FFF2-40B4-BE49-F238E27FC236}">
                <a16:creationId xmlns:a16="http://schemas.microsoft.com/office/drawing/2014/main" id="{1067F483-63C2-4C7F-5813-3C4036487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47287" y="2186252"/>
            <a:ext cx="0" cy="938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4379E51C-A463-32D4-5B38-16F59C8E2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44112" y="3126052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15D67F9F-B6C6-1C7F-A327-185A299CB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40962" y="4319852"/>
            <a:ext cx="45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EF8D2B33-F580-351B-9582-67F460FAC9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70987" y="2573602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20">
            <a:extLst>
              <a:ext uri="{FF2B5EF4-FFF2-40B4-BE49-F238E27FC236}">
                <a16:creationId xmlns:a16="http://schemas.microsoft.com/office/drawing/2014/main" id="{7EF93919-1B85-A04B-4039-3C754660B3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07600" y="2579952"/>
            <a:ext cx="79375" cy="84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" name="Group 65">
            <a:extLst>
              <a:ext uri="{FF2B5EF4-FFF2-40B4-BE49-F238E27FC236}">
                <a16:creationId xmlns:a16="http://schemas.microsoft.com/office/drawing/2014/main" id="{C418595E-BF78-13BB-2E41-BBFB14A9CA82}"/>
              </a:ext>
            </a:extLst>
          </p:cNvPr>
          <p:cNvGrpSpPr>
            <a:grpSpLocks/>
          </p:cNvGrpSpPr>
          <p:nvPr/>
        </p:nvGrpSpPr>
        <p:grpSpPr bwMode="auto">
          <a:xfrm>
            <a:off x="8097837" y="2192602"/>
            <a:ext cx="493713" cy="2684463"/>
            <a:chOff x="5676760" y="1987854"/>
            <a:chExt cx="493388" cy="2684680"/>
          </a:xfrm>
        </p:grpSpPr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96B49D41-035E-CBEB-C5E1-3775E1BA1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6760" y="2828775"/>
              <a:ext cx="0" cy="1843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8">
              <a:extLst>
                <a:ext uri="{FF2B5EF4-FFF2-40B4-BE49-F238E27FC236}">
                  <a16:creationId xmlns:a16="http://schemas.microsoft.com/office/drawing/2014/main" id="{441A5FE2-76C6-DFB5-E184-89F28F681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6760" y="4669824"/>
              <a:ext cx="2743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01722E8F-BAA5-B39C-4142-2770ED755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6760" y="2832699"/>
              <a:ext cx="2945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20">
              <a:extLst>
                <a:ext uri="{FF2B5EF4-FFF2-40B4-BE49-F238E27FC236}">
                  <a16:creationId xmlns:a16="http://schemas.microsoft.com/office/drawing/2014/main" id="{59EFD6FD-10CA-C9D1-14FE-8D56BA58D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6784" y="1987854"/>
              <a:ext cx="0" cy="8381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20">
              <a:extLst>
                <a:ext uri="{FF2B5EF4-FFF2-40B4-BE49-F238E27FC236}">
                  <a16:creationId xmlns:a16="http://schemas.microsoft.com/office/drawing/2014/main" id="{8E3C74A1-E51B-749D-6380-8B3D49CEE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6934" y="2362094"/>
              <a:ext cx="79171" cy="829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3DC6853C-3928-FD13-44F8-A20523628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7797" y="2319518"/>
              <a:ext cx="132351" cy="203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/>
            <a:lstStyle>
              <a:lvl1pPr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0"/>
                <a:t>9</a:t>
              </a:r>
            </a:p>
          </p:txBody>
        </p:sp>
      </p:grpSp>
      <p:sp>
        <p:nvSpPr>
          <p:cNvPr id="40" name="Rectangle 5">
            <a:extLst>
              <a:ext uri="{FF2B5EF4-FFF2-40B4-BE49-F238E27FC236}">
                <a16:creationId xmlns:a16="http://schemas.microsoft.com/office/drawing/2014/main" id="{BA7BABEB-F361-7402-3D7C-9CB6DB21B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7350" y="2538677"/>
            <a:ext cx="1333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9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EC509814-CAE5-BD02-2C3A-EC1BA7C55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737" y="2551377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12</a:t>
            </a:r>
          </a:p>
        </p:txBody>
      </p:sp>
      <p:grpSp>
        <p:nvGrpSpPr>
          <p:cNvPr id="42" name="Group 43">
            <a:extLst>
              <a:ext uri="{FF2B5EF4-FFF2-40B4-BE49-F238E27FC236}">
                <a16:creationId xmlns:a16="http://schemas.microsoft.com/office/drawing/2014/main" id="{701547C8-E395-85FB-7CC1-0D4355D9A0E0}"/>
              </a:ext>
            </a:extLst>
          </p:cNvPr>
          <p:cNvGrpSpPr>
            <a:grpSpLocks/>
          </p:cNvGrpSpPr>
          <p:nvPr/>
        </p:nvGrpSpPr>
        <p:grpSpPr bwMode="auto">
          <a:xfrm>
            <a:off x="9548812" y="3637227"/>
            <a:ext cx="692150" cy="1260475"/>
            <a:chOff x="6471312" y="3519478"/>
            <a:chExt cx="1029258" cy="1260471"/>
          </a:xfrm>
        </p:grpSpPr>
        <p:sp>
          <p:nvSpPr>
            <p:cNvPr id="43" name="Rectangle 12">
              <a:extLst>
                <a:ext uri="{FF2B5EF4-FFF2-40B4-BE49-F238E27FC236}">
                  <a16:creationId xmlns:a16="http://schemas.microsoft.com/office/drawing/2014/main" id="{76E623F5-ACB9-3F96-3F46-02BD15437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1312" y="3519478"/>
              <a:ext cx="1029258" cy="126047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rtl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200"/>
            </a:p>
          </p:txBody>
        </p:sp>
        <p:sp>
          <p:nvSpPr>
            <p:cNvPr id="44" name="Rectangle 16">
              <a:extLst>
                <a:ext uri="{FF2B5EF4-FFF2-40B4-BE49-F238E27FC236}">
                  <a16:creationId xmlns:a16="http://schemas.microsoft.com/office/drawing/2014/main" id="{50798EAC-799F-F09D-4714-7AE97D527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4114800"/>
              <a:ext cx="1013014" cy="168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8288" rIns="0" bIns="0" anchor="ctr"/>
            <a:lstStyle>
              <a:lvl1pPr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0"/>
                <a:t>PTE</a:t>
              </a:r>
            </a:p>
          </p:txBody>
        </p:sp>
      </p:grpSp>
      <p:grpSp>
        <p:nvGrpSpPr>
          <p:cNvPr id="45" name="Group 60">
            <a:extLst>
              <a:ext uri="{FF2B5EF4-FFF2-40B4-BE49-F238E27FC236}">
                <a16:creationId xmlns:a16="http://schemas.microsoft.com/office/drawing/2014/main" id="{5FA42F16-E1FF-EAB8-BDF2-FD02E3AC7FC4}"/>
              </a:ext>
            </a:extLst>
          </p:cNvPr>
          <p:cNvGrpSpPr>
            <a:grpSpLocks/>
          </p:cNvGrpSpPr>
          <p:nvPr/>
        </p:nvGrpSpPr>
        <p:grpSpPr bwMode="auto">
          <a:xfrm>
            <a:off x="5792787" y="5612077"/>
            <a:ext cx="1733550" cy="1069975"/>
            <a:chOff x="4038600" y="5787680"/>
            <a:chExt cx="1734014" cy="1070349"/>
          </a:xfrm>
        </p:grpSpPr>
        <p:sp>
          <p:nvSpPr>
            <p:cNvPr id="46" name="Line 33">
              <a:extLst>
                <a:ext uri="{FF2B5EF4-FFF2-40B4-BE49-F238E27FC236}">
                  <a16:creationId xmlns:a16="http://schemas.microsoft.com/office/drawing/2014/main" id="{9C02D121-DBB8-0335-76ED-46232D7B0F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8600" y="5787680"/>
              <a:ext cx="2743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Rectangle 34">
              <a:extLst>
                <a:ext uri="{FF2B5EF4-FFF2-40B4-BE49-F238E27FC236}">
                  <a16:creationId xmlns:a16="http://schemas.microsoft.com/office/drawing/2014/main" id="{C88DEE25-D16A-D777-B899-4FA60E481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136" y="6549610"/>
              <a:ext cx="1322478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rtl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</a:rPr>
                <a:t>CR3 (PDPTR)</a:t>
              </a: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06B822C4-2E03-2A57-E0FB-1DF0A11CD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5787680"/>
              <a:ext cx="548714" cy="7619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20">
              <a:extLst>
                <a:ext uri="{FF2B5EF4-FFF2-40B4-BE49-F238E27FC236}">
                  <a16:creationId xmlns:a16="http://schemas.microsoft.com/office/drawing/2014/main" id="{77E93FF6-5EA4-692D-BD4D-1DCC8ED2A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5347" y="5933342"/>
              <a:ext cx="79171" cy="829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C526E0FE-AA94-EAAE-1CBE-4D382A67A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21" y="5863873"/>
              <a:ext cx="1252764" cy="230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/>
            <a:lstStyle>
              <a:lvl1pPr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0"/>
                <a:t>40  (4KB aligned)</a:t>
              </a:r>
            </a:p>
          </p:txBody>
        </p:sp>
      </p:grpSp>
      <p:sp>
        <p:nvSpPr>
          <p:cNvPr id="51" name="Line 20">
            <a:extLst>
              <a:ext uri="{FF2B5EF4-FFF2-40B4-BE49-F238E27FC236}">
                <a16:creationId xmlns:a16="http://schemas.microsoft.com/office/drawing/2014/main" id="{12C92E2F-A359-D80D-AB6A-78F8D90D0B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88600" y="4272227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EB07B96F-872A-DAAC-DD66-A0D8BEC7D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0662" y="4375415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28</a:t>
            </a:r>
          </a:p>
        </p:txBody>
      </p:sp>
      <p:sp>
        <p:nvSpPr>
          <p:cNvPr id="53" name="Line 20">
            <a:extLst>
              <a:ext uri="{FF2B5EF4-FFF2-40B4-BE49-F238E27FC236}">
                <a16:creationId xmlns:a16="http://schemas.microsoft.com/office/drawing/2014/main" id="{5E32100E-C117-7A35-7EEA-857177F896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24962" y="4838965"/>
            <a:ext cx="79375" cy="84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669CE8F1-2AE0-83B8-C9EC-610236B87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7025" y="4942152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28</a:t>
            </a:r>
          </a:p>
        </p:txBody>
      </p:sp>
      <p:sp>
        <p:nvSpPr>
          <p:cNvPr id="55" name="Rectangle 30">
            <a:extLst>
              <a:ext uri="{FF2B5EF4-FFF2-40B4-BE49-F238E27FC236}">
                <a16:creationId xmlns:a16="http://schemas.microsoft.com/office/drawing/2014/main" id="{CA21C7F0-0B94-02D4-590B-259D6B9A8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2287" y="1659202"/>
            <a:ext cx="1460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12</a:t>
            </a:r>
          </a:p>
        </p:txBody>
      </p:sp>
      <p:sp>
        <p:nvSpPr>
          <p:cNvPr id="56" name="Rectangle 31">
            <a:extLst>
              <a:ext uri="{FF2B5EF4-FFF2-40B4-BE49-F238E27FC236}">
                <a16:creationId xmlns:a16="http://schemas.microsoft.com/office/drawing/2014/main" id="{71E6AA55-C62E-CFDD-9D6D-15DB26852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425" y="1659202"/>
            <a:ext cx="1492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21</a:t>
            </a: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C51B14E6-F62A-3B36-A8BA-6DC021874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1659202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30</a:t>
            </a:r>
          </a:p>
        </p:txBody>
      </p:sp>
      <p:sp>
        <p:nvSpPr>
          <p:cNvPr id="58" name="Rectangle 5">
            <a:extLst>
              <a:ext uri="{FF2B5EF4-FFF2-40B4-BE49-F238E27FC236}">
                <a16:creationId xmlns:a16="http://schemas.microsoft.com/office/drawing/2014/main" id="{96F5D64B-5518-DB3B-2B84-39497A3A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1652852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38</a:t>
            </a:r>
          </a:p>
        </p:txBody>
      </p:sp>
      <p:sp>
        <p:nvSpPr>
          <p:cNvPr id="59" name="Rectangle 14">
            <a:extLst>
              <a:ext uri="{FF2B5EF4-FFF2-40B4-BE49-F238E27FC236}">
                <a16:creationId xmlns:a16="http://schemas.microsoft.com/office/drawing/2014/main" id="{ED269B14-D7B3-03C5-3C2D-2D2BD3812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253052"/>
            <a:ext cx="86995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512 entry</a:t>
            </a:r>
            <a:br>
              <a:rPr lang="en-US" altLang="en-US" sz="1400" b="0"/>
            </a:br>
            <a:r>
              <a:rPr lang="en-US" altLang="en-US" sz="1400" b="0"/>
              <a:t>Page </a:t>
            </a:r>
            <a:br>
              <a:rPr lang="en-US" altLang="en-US" sz="1400" b="0"/>
            </a:br>
            <a:r>
              <a:rPr lang="en-US" altLang="en-US" sz="1400" b="0"/>
              <a:t>Directory</a:t>
            </a:r>
          </a:p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Pointer</a:t>
            </a:r>
            <a:br>
              <a:rPr lang="en-US" altLang="en-US" sz="1400" b="0"/>
            </a:br>
            <a:r>
              <a:rPr lang="en-US" altLang="en-US" sz="1400" b="0"/>
              <a:t>Table</a:t>
            </a:r>
          </a:p>
        </p:txBody>
      </p:sp>
      <p:sp>
        <p:nvSpPr>
          <p:cNvPr id="60" name="Rectangle 15">
            <a:extLst>
              <a:ext uri="{FF2B5EF4-FFF2-40B4-BE49-F238E27FC236}">
                <a16:creationId xmlns:a16="http://schemas.microsoft.com/office/drawing/2014/main" id="{6D689899-A471-CCD5-2ABC-22DA97815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987" y="4167452"/>
            <a:ext cx="717550" cy="1203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altLang="en-US" sz="1200"/>
          </a:p>
        </p:txBody>
      </p:sp>
      <p:sp>
        <p:nvSpPr>
          <p:cNvPr id="61" name="Rectangle 16">
            <a:extLst>
              <a:ext uri="{FF2B5EF4-FFF2-40B4-BE49-F238E27FC236}">
                <a16:creationId xmlns:a16="http://schemas.microsoft.com/office/drawing/2014/main" id="{8062D370-B8C0-2C54-6D8E-2C8507476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0" y="5050102"/>
            <a:ext cx="706437" cy="16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8288" rIns="0" bIns="0" anchor="ctr"/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/>
              <a:t>PDP entry</a:t>
            </a:r>
          </a:p>
        </p:txBody>
      </p:sp>
      <p:sp>
        <p:nvSpPr>
          <p:cNvPr id="62" name="Line 18">
            <a:extLst>
              <a:ext uri="{FF2B5EF4-FFF2-40B4-BE49-F238E27FC236}">
                <a16:creationId xmlns:a16="http://schemas.microsoft.com/office/drawing/2014/main" id="{206549DA-6CB6-2584-D6B9-74C801AB3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712" y="5131065"/>
            <a:ext cx="419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Line 20">
            <a:extLst>
              <a:ext uri="{FF2B5EF4-FFF2-40B4-BE49-F238E27FC236}">
                <a16:creationId xmlns:a16="http://schemas.microsoft.com/office/drawing/2014/main" id="{1DC8F25B-AD7F-2139-B5B8-063E6A82E3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3712" y="5089790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5">
            <a:extLst>
              <a:ext uri="{FF2B5EF4-FFF2-40B4-BE49-F238E27FC236}">
                <a16:creationId xmlns:a16="http://schemas.microsoft.com/office/drawing/2014/main" id="{091533EE-E891-8229-AF14-7B0601ED1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187" y="5192977"/>
            <a:ext cx="1333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28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D4C9D7AF-2FB7-CA3C-5D31-33E6B4518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8175" y="3024452"/>
            <a:ext cx="0" cy="2119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Line 18">
            <a:extLst>
              <a:ext uri="{FF2B5EF4-FFF2-40B4-BE49-F238E27FC236}">
                <a16:creationId xmlns:a16="http://schemas.microsoft.com/office/drawing/2014/main" id="{C9A06118-85AC-D350-C452-76175A6CE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8175" y="5142177"/>
            <a:ext cx="2746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Line 19">
            <a:extLst>
              <a:ext uri="{FF2B5EF4-FFF2-40B4-BE49-F238E27FC236}">
                <a16:creationId xmlns:a16="http://schemas.microsoft.com/office/drawing/2014/main" id="{B3136F38-DD42-1E93-A71C-49CD6633B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2937" y="3030802"/>
            <a:ext cx="631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20">
            <a:extLst>
              <a:ext uri="{FF2B5EF4-FFF2-40B4-BE49-F238E27FC236}">
                <a16:creationId xmlns:a16="http://schemas.microsoft.com/office/drawing/2014/main" id="{BDA37E4F-B7DA-D8ED-56A1-5792B1456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1587" y="2186252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Line 20">
            <a:extLst>
              <a:ext uri="{FF2B5EF4-FFF2-40B4-BE49-F238E27FC236}">
                <a16:creationId xmlns:a16="http://schemas.microsoft.com/office/drawing/2014/main" id="{A3DD700C-8D0E-AC2A-14D1-6BBEA4856B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1900" y="2560902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Rectangle 5">
            <a:extLst>
              <a:ext uri="{FF2B5EF4-FFF2-40B4-BE49-F238E27FC236}">
                <a16:creationId xmlns:a16="http://schemas.microsoft.com/office/drawing/2014/main" id="{C9A7D2C5-19AA-D33B-24C2-D1CD1FB1A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0" y="2518040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9</a:t>
            </a:r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91D9E1C2-D2C3-4833-BA56-EE66A9A61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25" y="1838590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PDP</a:t>
            </a:r>
          </a:p>
        </p:txBody>
      </p:sp>
      <p:sp>
        <p:nvSpPr>
          <p:cNvPr id="72" name="Rectangle 6">
            <a:extLst>
              <a:ext uri="{FF2B5EF4-FFF2-40B4-BE49-F238E27FC236}">
                <a16:creationId xmlns:a16="http://schemas.microsoft.com/office/drawing/2014/main" id="{F73E5098-15AD-5A87-9972-6D071F2B9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7" y="1838590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PML4</a:t>
            </a:r>
          </a:p>
        </p:txBody>
      </p:sp>
      <p:sp>
        <p:nvSpPr>
          <p:cNvPr id="73" name="Rectangle 5">
            <a:extLst>
              <a:ext uri="{FF2B5EF4-FFF2-40B4-BE49-F238E27FC236}">
                <a16:creationId xmlns:a16="http://schemas.microsoft.com/office/drawing/2014/main" id="{9C5BEEA2-FACA-4620-DA2D-CF2EB3495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7" y="1652852"/>
            <a:ext cx="1476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39</a:t>
            </a:r>
          </a:p>
        </p:txBody>
      </p:sp>
      <p:sp>
        <p:nvSpPr>
          <p:cNvPr id="74" name="Rectangle 5">
            <a:extLst>
              <a:ext uri="{FF2B5EF4-FFF2-40B4-BE49-F238E27FC236}">
                <a16:creationId xmlns:a16="http://schemas.microsoft.com/office/drawing/2014/main" id="{0CA3263F-5D3D-FC4B-A220-3DF4C604E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300" y="1652852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47</a:t>
            </a:r>
          </a:p>
        </p:txBody>
      </p:sp>
      <p:sp>
        <p:nvSpPr>
          <p:cNvPr id="75" name="Rectangle 5">
            <a:extLst>
              <a:ext uri="{FF2B5EF4-FFF2-40B4-BE49-F238E27FC236}">
                <a16:creationId xmlns:a16="http://schemas.microsoft.com/office/drawing/2014/main" id="{DA757496-F2FE-2F0C-341D-8A15948A5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7" y="1652852"/>
            <a:ext cx="1476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63</a:t>
            </a:r>
          </a:p>
        </p:txBody>
      </p:sp>
      <p:sp>
        <p:nvSpPr>
          <p:cNvPr id="76" name="Rectangle 14">
            <a:extLst>
              <a:ext uri="{FF2B5EF4-FFF2-40B4-BE49-F238E27FC236}">
                <a16:creationId xmlns:a16="http://schemas.microsoft.com/office/drawing/2014/main" id="{B879096C-8010-C84C-906B-16B8132F8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7" y="3824552"/>
            <a:ext cx="869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512 entry</a:t>
            </a:r>
            <a:br>
              <a:rPr lang="en-US" altLang="en-US" sz="1400" b="0"/>
            </a:br>
            <a:r>
              <a:rPr lang="en-US" altLang="en-US" sz="1400" b="0"/>
              <a:t>PML4</a:t>
            </a:r>
            <a:br>
              <a:rPr lang="en-US" altLang="en-US" sz="1400" b="0"/>
            </a:br>
            <a:r>
              <a:rPr lang="en-US" altLang="en-US" sz="1400" b="0"/>
              <a:t>Table</a:t>
            </a: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314CF07F-BCE0-4834-8B39-3F39E7E7A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62" y="4405577"/>
            <a:ext cx="717550" cy="12049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altLang="en-US" sz="1200"/>
          </a:p>
        </p:txBody>
      </p:sp>
      <p:sp>
        <p:nvSpPr>
          <p:cNvPr id="78" name="Rectangle 16">
            <a:extLst>
              <a:ext uri="{FF2B5EF4-FFF2-40B4-BE49-F238E27FC236}">
                <a16:creationId xmlns:a16="http://schemas.microsoft.com/office/drawing/2014/main" id="{1EAEB550-AA16-A051-F5B5-91797D66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312" y="5289815"/>
            <a:ext cx="706438" cy="16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8288" rIns="0" bIns="0" anchor="ctr"/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/>
              <a:t>PML4 entry</a:t>
            </a:r>
          </a:p>
        </p:txBody>
      </p:sp>
      <p:sp>
        <p:nvSpPr>
          <p:cNvPr id="79" name="Line 17">
            <a:extLst>
              <a:ext uri="{FF2B5EF4-FFF2-40B4-BE49-F238E27FC236}">
                <a16:creationId xmlns:a16="http://schemas.microsoft.com/office/drawing/2014/main" id="{430E925D-0D75-FC73-DBB3-A6F59AC887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7" y="3024452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Line 18">
            <a:extLst>
              <a:ext uri="{FF2B5EF4-FFF2-40B4-BE49-F238E27FC236}">
                <a16:creationId xmlns:a16="http://schemas.microsoft.com/office/drawing/2014/main" id="{72CA0F15-0ECA-1D4D-39EB-1CBCEEECC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7" y="5380302"/>
            <a:ext cx="274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Line 19">
            <a:extLst>
              <a:ext uri="{FF2B5EF4-FFF2-40B4-BE49-F238E27FC236}">
                <a16:creationId xmlns:a16="http://schemas.microsoft.com/office/drawing/2014/main" id="{B3FDC8FD-6DBD-A661-DD27-0E2BD52BF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8500" y="3030802"/>
            <a:ext cx="10334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Line 20">
            <a:extLst>
              <a:ext uri="{FF2B5EF4-FFF2-40B4-BE49-F238E27FC236}">
                <a16:creationId xmlns:a16="http://schemas.microsoft.com/office/drawing/2014/main" id="{3F388B94-7EE9-0C16-22C7-4165ABE10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7" y="2186252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0">
            <a:extLst>
              <a:ext uri="{FF2B5EF4-FFF2-40B4-BE49-F238E27FC236}">
                <a16:creationId xmlns:a16="http://schemas.microsoft.com/office/drawing/2014/main" id="{C612F1EB-E426-4797-3B93-1DE99C273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69100" y="2560902"/>
            <a:ext cx="77787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Rectangle 5">
            <a:extLst>
              <a:ext uri="{FF2B5EF4-FFF2-40B4-BE49-F238E27FC236}">
                <a16:creationId xmlns:a16="http://schemas.microsoft.com/office/drawing/2014/main" id="{8F9E2CF8-923C-CB97-AC4C-3C74506C1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2491052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9</a:t>
            </a:r>
          </a:p>
        </p:txBody>
      </p:sp>
      <p:sp>
        <p:nvSpPr>
          <p:cNvPr id="85" name="Line 18">
            <a:extLst>
              <a:ext uri="{FF2B5EF4-FFF2-40B4-BE49-F238E27FC236}">
                <a16:creationId xmlns:a16="http://schemas.microsoft.com/office/drawing/2014/main" id="{B90A76AE-CB6A-18D7-72E3-ADB9ABAEA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4337" y="5358077"/>
            <a:ext cx="495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Line 20">
            <a:extLst>
              <a:ext uri="{FF2B5EF4-FFF2-40B4-BE49-F238E27FC236}">
                <a16:creationId xmlns:a16="http://schemas.microsoft.com/office/drawing/2014/main" id="{8DF0C936-F3D9-E170-AC87-AA2771E0E2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3250" y="5316802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Rectangle 5">
            <a:extLst>
              <a:ext uri="{FF2B5EF4-FFF2-40B4-BE49-F238E27FC236}">
                <a16:creationId xmlns:a16="http://schemas.microsoft.com/office/drawing/2014/main" id="{CFE5FC15-A421-5238-FB87-6BD6D5EC8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2" y="5419990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24171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B36D-8465-3ACD-9F6D-5E05D4B1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8E9A-DB0C-D7C0-09D1-EC7A0E01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recap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1FEDF-3173-6026-F5AF-B807AADE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1DEFE-DF6D-7B8B-5507-36D532B7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607CF9-3B25-6280-C167-278E2FE63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Radix tree page tables</a:t>
            </a:r>
            <a:br>
              <a:rPr lang="en-US" dirty="0"/>
            </a:br>
            <a:r>
              <a:rPr lang="en-US" dirty="0"/>
              <a:t>on x86_64 </a:t>
            </a:r>
            <a:r>
              <a:rPr lang="en-US"/>
              <a:t>for 2MB </a:t>
            </a:r>
            <a:r>
              <a:rPr lang="en-US" dirty="0"/>
              <a:t>pages</a:t>
            </a:r>
            <a:endParaRPr lang="en-IL" dirty="0"/>
          </a:p>
        </p:txBody>
      </p:sp>
      <p:sp>
        <p:nvSpPr>
          <p:cNvPr id="170" name="Rectangle 6">
            <a:extLst>
              <a:ext uri="{FF2B5EF4-FFF2-40B4-BE49-F238E27FC236}">
                <a16:creationId xmlns:a16="http://schemas.microsoft.com/office/drawing/2014/main" id="{41678A33-1395-E264-2607-92C607639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933" y="1825625"/>
            <a:ext cx="793750" cy="3476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7788" tIns="39688" rIns="77788" bIns="39688" anchor="ctr"/>
          <a:lstStyle/>
          <a:p>
            <a:pPr algn="ctr" defTabSz="661988" rtl="1">
              <a:defRPr/>
            </a:pPr>
            <a:r>
              <a:rPr lang="en-US" sz="1400" b="0" dirty="0">
                <a:latin typeface="Arial" charset="0"/>
                <a:cs typeface="+mn-cs"/>
              </a:rPr>
              <a:t>sign ext.</a:t>
            </a:r>
          </a:p>
        </p:txBody>
      </p:sp>
      <p:sp>
        <p:nvSpPr>
          <p:cNvPr id="171" name="Rectangle 4">
            <a:extLst>
              <a:ext uri="{FF2B5EF4-FFF2-40B4-BE49-F238E27FC236}">
                <a16:creationId xmlns:a16="http://schemas.microsoft.com/office/drawing/2014/main" id="{9372631F-7C16-C73E-EBF6-8F2427F1B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1721" y="1647825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0</a:t>
            </a:r>
          </a:p>
        </p:txBody>
      </p:sp>
      <p:sp>
        <p:nvSpPr>
          <p:cNvPr id="172" name="Rectangle 5">
            <a:extLst>
              <a:ext uri="{FF2B5EF4-FFF2-40B4-BE49-F238E27FC236}">
                <a16:creationId xmlns:a16="http://schemas.microsoft.com/office/drawing/2014/main" id="{CB550211-91A9-A0C8-A493-909605681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5871" y="1647825"/>
            <a:ext cx="1460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29</a:t>
            </a:r>
          </a:p>
        </p:txBody>
      </p:sp>
      <p:sp>
        <p:nvSpPr>
          <p:cNvPr id="173" name="Rectangle 6">
            <a:extLst>
              <a:ext uri="{FF2B5EF4-FFF2-40B4-BE49-F238E27FC236}">
                <a16:creationId xmlns:a16="http://schemas.microsoft.com/office/drawing/2014/main" id="{46EF7C84-C01A-4E49-B876-8EDAC9FA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771" y="1825625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DIR</a:t>
            </a:r>
          </a:p>
        </p:txBody>
      </p:sp>
      <p:sp>
        <p:nvSpPr>
          <p:cNvPr id="174" name="Rectangle 8">
            <a:extLst>
              <a:ext uri="{FF2B5EF4-FFF2-40B4-BE49-F238E27FC236}">
                <a16:creationId xmlns:a16="http://schemas.microsoft.com/office/drawing/2014/main" id="{0DB589B4-531E-6A51-DEB5-D5ED4A23F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346" y="1825625"/>
            <a:ext cx="1700212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OFFSET</a:t>
            </a:r>
          </a:p>
        </p:txBody>
      </p:sp>
      <p:sp>
        <p:nvSpPr>
          <p:cNvPr id="175" name="Rectangle 27">
            <a:extLst>
              <a:ext uri="{FF2B5EF4-FFF2-40B4-BE49-F238E27FC236}">
                <a16:creationId xmlns:a16="http://schemas.microsoft.com/office/drawing/2014/main" id="{6F125871-56FE-8D44-C74B-2399438F1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989" y="1335118"/>
            <a:ext cx="2893163" cy="23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Linear Address Space (2M Page)</a:t>
            </a:r>
          </a:p>
        </p:txBody>
      </p:sp>
      <p:sp>
        <p:nvSpPr>
          <p:cNvPr id="176" name="Rectangle 28">
            <a:extLst>
              <a:ext uri="{FF2B5EF4-FFF2-40B4-BE49-F238E27FC236}">
                <a16:creationId xmlns:a16="http://schemas.microsoft.com/office/drawing/2014/main" id="{795556F0-7A51-E895-6903-11B6E7DE6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933" y="1836737"/>
            <a:ext cx="48736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altLang="en-US" sz="1200"/>
          </a:p>
        </p:txBody>
      </p:sp>
      <p:sp>
        <p:nvSpPr>
          <p:cNvPr id="177" name="Rectangle 31">
            <a:extLst>
              <a:ext uri="{FF2B5EF4-FFF2-40B4-BE49-F238E27FC236}">
                <a16:creationId xmlns:a16="http://schemas.microsoft.com/office/drawing/2014/main" id="{C0817C47-7C3C-BD7E-FD67-FB61BF9CA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7558" y="1647825"/>
            <a:ext cx="1492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20</a:t>
            </a:r>
          </a:p>
        </p:txBody>
      </p:sp>
      <p:sp>
        <p:nvSpPr>
          <p:cNvPr id="178" name="Rectangle 14">
            <a:extLst>
              <a:ext uri="{FF2B5EF4-FFF2-40B4-BE49-F238E27FC236}">
                <a16:creationId xmlns:a16="http://schemas.microsoft.com/office/drawing/2014/main" id="{AAB25C25-9795-E396-75F8-F23D6AABC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5746" y="3303587"/>
            <a:ext cx="8715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512 entry</a:t>
            </a:r>
          </a:p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Page </a:t>
            </a:r>
            <a:br>
              <a:rPr lang="en-US" altLang="en-US" sz="1400" b="0"/>
            </a:br>
            <a:r>
              <a:rPr lang="en-US" altLang="en-US" sz="1400" b="0"/>
              <a:t>Directory</a:t>
            </a:r>
          </a:p>
        </p:txBody>
      </p:sp>
      <p:grpSp>
        <p:nvGrpSpPr>
          <p:cNvPr id="179" name="Group 42">
            <a:extLst>
              <a:ext uri="{FF2B5EF4-FFF2-40B4-BE49-F238E27FC236}">
                <a16:creationId xmlns:a16="http://schemas.microsoft.com/office/drawing/2014/main" id="{85EA8FC0-7D85-5CF8-EDB5-CAC744B5BFB4}"/>
              </a:ext>
            </a:extLst>
          </p:cNvPr>
          <p:cNvGrpSpPr>
            <a:grpSpLocks/>
          </p:cNvGrpSpPr>
          <p:nvPr/>
        </p:nvGrpSpPr>
        <p:grpSpPr bwMode="auto">
          <a:xfrm>
            <a:off x="8389408" y="3883025"/>
            <a:ext cx="717550" cy="1258887"/>
            <a:chOff x="4841199" y="3724286"/>
            <a:chExt cx="1029258" cy="1258892"/>
          </a:xfrm>
        </p:grpSpPr>
        <p:sp>
          <p:nvSpPr>
            <p:cNvPr id="180" name="Rectangle 15">
              <a:extLst>
                <a:ext uri="{FF2B5EF4-FFF2-40B4-BE49-F238E27FC236}">
                  <a16:creationId xmlns:a16="http://schemas.microsoft.com/office/drawing/2014/main" id="{769E4B33-AD34-BB36-6E18-BA5AA989A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199" y="3724286"/>
              <a:ext cx="1029258" cy="12588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rtl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200"/>
            </a:p>
          </p:txBody>
        </p:sp>
        <p:sp>
          <p:nvSpPr>
            <p:cNvPr id="181" name="Rectangle 16">
              <a:extLst>
                <a:ext uri="{FF2B5EF4-FFF2-40B4-BE49-F238E27FC236}">
                  <a16:creationId xmlns:a16="http://schemas.microsoft.com/office/drawing/2014/main" id="{91C58545-A74E-5AF1-E01F-6BB6ABE6F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905" y="4625792"/>
              <a:ext cx="1013014" cy="168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8288" rIns="0" bIns="0" anchor="ctr"/>
            <a:lstStyle>
              <a:lvl1pPr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0"/>
                <a:t>PDE</a:t>
              </a:r>
            </a:p>
          </p:txBody>
        </p:sp>
      </p:grpSp>
      <p:sp>
        <p:nvSpPr>
          <p:cNvPr id="182" name="Line 21">
            <a:extLst>
              <a:ext uri="{FF2B5EF4-FFF2-40B4-BE49-F238E27FC236}">
                <a16:creationId xmlns:a16="http://schemas.microsoft.com/office/drawing/2014/main" id="{8C7868AE-33F6-1AF8-38AB-100382BE5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0133" y="4875212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" name="Rectangle 22">
            <a:extLst>
              <a:ext uri="{FF2B5EF4-FFF2-40B4-BE49-F238E27FC236}">
                <a16:creationId xmlns:a16="http://schemas.microsoft.com/office/drawing/2014/main" id="{DAA61BE4-ADFE-8C44-9EAA-7CF3E1AF3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6799" y="2405229"/>
            <a:ext cx="7334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 dirty="0"/>
              <a:t>2MByte</a:t>
            </a:r>
            <a:br>
              <a:rPr lang="en-US" altLang="en-US" sz="1400" b="0" dirty="0"/>
            </a:br>
            <a:r>
              <a:rPr lang="en-US" altLang="en-US" sz="1400" b="0" dirty="0"/>
              <a:t>Frame</a:t>
            </a:r>
          </a:p>
        </p:txBody>
      </p:sp>
      <p:grpSp>
        <p:nvGrpSpPr>
          <p:cNvPr id="184" name="Group 52">
            <a:extLst>
              <a:ext uri="{FF2B5EF4-FFF2-40B4-BE49-F238E27FC236}">
                <a16:creationId xmlns:a16="http://schemas.microsoft.com/office/drawing/2014/main" id="{0C6B595C-BB3F-1FDC-2C4D-9FCDEE187811}"/>
              </a:ext>
            </a:extLst>
          </p:cNvPr>
          <p:cNvGrpSpPr>
            <a:grpSpLocks/>
          </p:cNvGrpSpPr>
          <p:nvPr/>
        </p:nvGrpSpPr>
        <p:grpSpPr bwMode="auto">
          <a:xfrm>
            <a:off x="10321396" y="2814804"/>
            <a:ext cx="661987" cy="2101683"/>
            <a:chOff x="7798271" y="2890843"/>
            <a:chExt cx="1034704" cy="1452564"/>
          </a:xfrm>
          <a:solidFill>
            <a:srgbClr val="FFFF00"/>
          </a:solidFill>
        </p:grpSpPr>
        <p:sp>
          <p:nvSpPr>
            <p:cNvPr id="185" name="Rectangle 23">
              <a:extLst>
                <a:ext uri="{FF2B5EF4-FFF2-40B4-BE49-F238E27FC236}">
                  <a16:creationId xmlns:a16="http://schemas.microsoft.com/office/drawing/2014/main" id="{A95C2684-C020-8EB0-39FD-A565B5B46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3716" y="2890843"/>
              <a:ext cx="1029259" cy="145256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rtl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en-US" sz="1200"/>
            </a:p>
          </p:txBody>
        </p:sp>
        <p:sp>
          <p:nvSpPr>
            <p:cNvPr id="186" name="Rectangle 24">
              <a:extLst>
                <a:ext uri="{FF2B5EF4-FFF2-40B4-BE49-F238E27FC236}">
                  <a16:creationId xmlns:a16="http://schemas.microsoft.com/office/drawing/2014/main" id="{261A325A-8367-7E09-4B24-F1FE893AA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8271" y="3371423"/>
              <a:ext cx="1034704" cy="28733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1912" tIns="31750" rIns="61912" bIns="31750" anchor="ctr"/>
            <a:lstStyle>
              <a:lvl1pPr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1433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1433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143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0"/>
                <a:t>data</a:t>
              </a:r>
            </a:p>
          </p:txBody>
        </p:sp>
      </p:grpSp>
      <p:sp>
        <p:nvSpPr>
          <p:cNvPr id="187" name="Line 25">
            <a:extLst>
              <a:ext uri="{FF2B5EF4-FFF2-40B4-BE49-F238E27FC236}">
                <a16:creationId xmlns:a16="http://schemas.microsoft.com/office/drawing/2014/main" id="{89A126F5-2B7B-7FA9-E548-C8A5A0CD7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683221" y="2173287"/>
            <a:ext cx="0" cy="1557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8" name="Line 26">
            <a:extLst>
              <a:ext uri="{FF2B5EF4-FFF2-40B4-BE49-F238E27FC236}">
                <a16:creationId xmlns:a16="http://schemas.microsoft.com/office/drawing/2014/main" id="{55EA4B02-80D8-AC5B-F959-FD22099EC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8458" y="3722687"/>
            <a:ext cx="6492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9" name="Line 20">
            <a:extLst>
              <a:ext uri="{FF2B5EF4-FFF2-40B4-BE49-F238E27FC236}">
                <a16:creationId xmlns:a16="http://schemas.microsoft.com/office/drawing/2014/main" id="{E966E868-82B0-90EA-DF54-18DED77673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43533" y="2566987"/>
            <a:ext cx="79375" cy="84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0" name="Group 65">
            <a:extLst>
              <a:ext uri="{FF2B5EF4-FFF2-40B4-BE49-F238E27FC236}">
                <a16:creationId xmlns:a16="http://schemas.microsoft.com/office/drawing/2014/main" id="{5F91682A-E583-0F3F-294F-13FCF4B4F4E7}"/>
              </a:ext>
            </a:extLst>
          </p:cNvPr>
          <p:cNvGrpSpPr>
            <a:grpSpLocks/>
          </p:cNvGrpSpPr>
          <p:nvPr/>
        </p:nvGrpSpPr>
        <p:grpSpPr bwMode="auto">
          <a:xfrm>
            <a:off x="8081433" y="2179637"/>
            <a:ext cx="493713" cy="2684463"/>
            <a:chOff x="5676760" y="1987854"/>
            <a:chExt cx="493388" cy="2684680"/>
          </a:xfrm>
        </p:grpSpPr>
        <p:sp>
          <p:nvSpPr>
            <p:cNvPr id="191" name="Line 17">
              <a:extLst>
                <a:ext uri="{FF2B5EF4-FFF2-40B4-BE49-F238E27FC236}">
                  <a16:creationId xmlns:a16="http://schemas.microsoft.com/office/drawing/2014/main" id="{79D550A4-79D8-824C-35D6-319195404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6760" y="2828775"/>
              <a:ext cx="0" cy="1843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Line 18">
              <a:extLst>
                <a:ext uri="{FF2B5EF4-FFF2-40B4-BE49-F238E27FC236}">
                  <a16:creationId xmlns:a16="http://schemas.microsoft.com/office/drawing/2014/main" id="{DFC2F762-CCA4-C83F-CE1B-FFE0F5A37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6760" y="4669824"/>
              <a:ext cx="2743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" name="Line 19">
              <a:extLst>
                <a:ext uri="{FF2B5EF4-FFF2-40B4-BE49-F238E27FC236}">
                  <a16:creationId xmlns:a16="http://schemas.microsoft.com/office/drawing/2014/main" id="{4F6E2BDC-541D-732A-418E-EE1E9E052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6760" y="2832699"/>
              <a:ext cx="2945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" name="Line 20">
              <a:extLst>
                <a:ext uri="{FF2B5EF4-FFF2-40B4-BE49-F238E27FC236}">
                  <a16:creationId xmlns:a16="http://schemas.microsoft.com/office/drawing/2014/main" id="{B68D9A4B-A671-7E29-F6EB-9F2E75AF6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6784" y="1987854"/>
              <a:ext cx="0" cy="8381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" name="Line 20">
              <a:extLst>
                <a:ext uri="{FF2B5EF4-FFF2-40B4-BE49-F238E27FC236}">
                  <a16:creationId xmlns:a16="http://schemas.microsoft.com/office/drawing/2014/main" id="{07D69DEA-DFE8-B8B0-D4EF-BABBFEFB95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6934" y="2362094"/>
              <a:ext cx="79171" cy="829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" name="Rectangle 5">
              <a:extLst>
                <a:ext uri="{FF2B5EF4-FFF2-40B4-BE49-F238E27FC236}">
                  <a16:creationId xmlns:a16="http://schemas.microsoft.com/office/drawing/2014/main" id="{D066E2BC-88C6-66A4-F729-23FDD7F1F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7797" y="2319518"/>
              <a:ext cx="132351" cy="203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/>
            <a:lstStyle>
              <a:lvl1pPr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0"/>
                <a:t>9</a:t>
              </a:r>
            </a:p>
          </p:txBody>
        </p:sp>
      </p:grpSp>
      <p:sp>
        <p:nvSpPr>
          <p:cNvPr id="197" name="Rectangle 5">
            <a:extLst>
              <a:ext uri="{FF2B5EF4-FFF2-40B4-BE49-F238E27FC236}">
                <a16:creationId xmlns:a16="http://schemas.microsoft.com/office/drawing/2014/main" id="{07797EC4-5E36-9FF7-8841-EF4A530FF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6083" y="2538412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21</a:t>
            </a:r>
          </a:p>
        </p:txBody>
      </p:sp>
      <p:grpSp>
        <p:nvGrpSpPr>
          <p:cNvPr id="198" name="Group 60">
            <a:extLst>
              <a:ext uri="{FF2B5EF4-FFF2-40B4-BE49-F238E27FC236}">
                <a16:creationId xmlns:a16="http://schemas.microsoft.com/office/drawing/2014/main" id="{31F61F9D-6D50-2DD2-15BE-466EE8E152F3}"/>
              </a:ext>
            </a:extLst>
          </p:cNvPr>
          <p:cNvGrpSpPr>
            <a:grpSpLocks/>
          </p:cNvGrpSpPr>
          <p:nvPr/>
        </p:nvGrpSpPr>
        <p:grpSpPr bwMode="auto">
          <a:xfrm>
            <a:off x="5776383" y="5599112"/>
            <a:ext cx="1733550" cy="1069975"/>
            <a:chOff x="4038600" y="5787680"/>
            <a:chExt cx="1734014" cy="1070349"/>
          </a:xfrm>
        </p:grpSpPr>
        <p:sp>
          <p:nvSpPr>
            <p:cNvPr id="199" name="Line 33">
              <a:extLst>
                <a:ext uri="{FF2B5EF4-FFF2-40B4-BE49-F238E27FC236}">
                  <a16:creationId xmlns:a16="http://schemas.microsoft.com/office/drawing/2014/main" id="{568AEA2A-5DC9-C670-8380-CD45F4DE4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8600" y="5787680"/>
              <a:ext cx="2743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0" name="Rectangle 34">
              <a:extLst>
                <a:ext uri="{FF2B5EF4-FFF2-40B4-BE49-F238E27FC236}">
                  <a16:creationId xmlns:a16="http://schemas.microsoft.com/office/drawing/2014/main" id="{9AC4C34B-2A0C-E0AA-A493-B4355B9CF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136" y="6549610"/>
              <a:ext cx="1322478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rtl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</a:rPr>
                <a:t>CR3 (PDPTR)</a:t>
              </a:r>
            </a:p>
          </p:txBody>
        </p:sp>
        <p:sp>
          <p:nvSpPr>
            <p:cNvPr id="201" name="Line 9">
              <a:extLst>
                <a:ext uri="{FF2B5EF4-FFF2-40B4-BE49-F238E27FC236}">
                  <a16:creationId xmlns:a16="http://schemas.microsoft.com/office/drawing/2014/main" id="{8AC5A1A0-C609-D95F-72BA-7FBC6946D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5787680"/>
              <a:ext cx="548714" cy="7619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Line 20">
              <a:extLst>
                <a:ext uri="{FF2B5EF4-FFF2-40B4-BE49-F238E27FC236}">
                  <a16:creationId xmlns:a16="http://schemas.microsoft.com/office/drawing/2014/main" id="{CCBC7772-2AED-38B1-6737-58580EF97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5347" y="5933342"/>
              <a:ext cx="79171" cy="829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3" name="Rectangle 5">
              <a:extLst>
                <a:ext uri="{FF2B5EF4-FFF2-40B4-BE49-F238E27FC236}">
                  <a16:creationId xmlns:a16="http://schemas.microsoft.com/office/drawing/2014/main" id="{EA7B8BC0-191A-3E34-3037-643E15DA5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21" y="5863873"/>
              <a:ext cx="1252764" cy="230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/>
            <a:lstStyle>
              <a:lvl1pPr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661988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661988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66198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rtl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0"/>
                <a:t>40  (4KB aligned)</a:t>
              </a:r>
            </a:p>
          </p:txBody>
        </p:sp>
      </p:grpSp>
      <p:sp>
        <p:nvSpPr>
          <p:cNvPr id="204" name="Line 20">
            <a:extLst>
              <a:ext uri="{FF2B5EF4-FFF2-40B4-BE49-F238E27FC236}">
                <a16:creationId xmlns:a16="http://schemas.microsoft.com/office/drawing/2014/main" id="{23B25EE7-F8C0-9908-3AE4-8BD2DB7B09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72108" y="4826000"/>
            <a:ext cx="79375" cy="84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" name="Rectangle 5">
            <a:extLst>
              <a:ext uri="{FF2B5EF4-FFF2-40B4-BE49-F238E27FC236}">
                <a16:creationId xmlns:a16="http://schemas.microsoft.com/office/drawing/2014/main" id="{2934C94E-4FD9-F4C9-AD84-B23B0C73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4171" y="4929187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19</a:t>
            </a:r>
          </a:p>
        </p:txBody>
      </p:sp>
      <p:sp>
        <p:nvSpPr>
          <p:cNvPr id="206" name="Rectangle 31">
            <a:extLst>
              <a:ext uri="{FF2B5EF4-FFF2-40B4-BE49-F238E27FC236}">
                <a16:creationId xmlns:a16="http://schemas.microsoft.com/office/drawing/2014/main" id="{9CB66319-5A15-FF34-EAC3-993A38B96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1021" y="1646237"/>
            <a:ext cx="1492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21</a:t>
            </a:r>
          </a:p>
        </p:txBody>
      </p:sp>
      <p:sp>
        <p:nvSpPr>
          <p:cNvPr id="207" name="Rectangle 5">
            <a:extLst>
              <a:ext uri="{FF2B5EF4-FFF2-40B4-BE49-F238E27FC236}">
                <a16:creationId xmlns:a16="http://schemas.microsoft.com/office/drawing/2014/main" id="{12082E0E-C1A6-E1BC-80BB-BE7E1E731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3621" y="1646237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30</a:t>
            </a:r>
          </a:p>
        </p:txBody>
      </p:sp>
      <p:sp>
        <p:nvSpPr>
          <p:cNvPr id="208" name="Rectangle 5">
            <a:extLst>
              <a:ext uri="{FF2B5EF4-FFF2-40B4-BE49-F238E27FC236}">
                <a16:creationId xmlns:a16="http://schemas.microsoft.com/office/drawing/2014/main" id="{8FA475EC-51CD-B329-F22F-3F4332246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121" y="1639887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38</a:t>
            </a:r>
          </a:p>
        </p:txBody>
      </p:sp>
      <p:sp>
        <p:nvSpPr>
          <p:cNvPr id="209" name="Rectangle 14">
            <a:extLst>
              <a:ext uri="{FF2B5EF4-FFF2-40B4-BE49-F238E27FC236}">
                <a16:creationId xmlns:a16="http://schemas.microsoft.com/office/drawing/2014/main" id="{741B0263-0D12-C59F-AE5E-955A6A094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921" y="3240087"/>
            <a:ext cx="86995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512 entry</a:t>
            </a:r>
            <a:br>
              <a:rPr lang="en-US" altLang="en-US" sz="1400" b="0"/>
            </a:br>
            <a:r>
              <a:rPr lang="en-US" altLang="en-US" sz="1400" b="0"/>
              <a:t>Page </a:t>
            </a:r>
            <a:br>
              <a:rPr lang="en-US" altLang="en-US" sz="1400" b="0"/>
            </a:br>
            <a:r>
              <a:rPr lang="en-US" altLang="en-US" sz="1400" b="0"/>
              <a:t>Directory</a:t>
            </a:r>
          </a:p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Pointer</a:t>
            </a:r>
            <a:br>
              <a:rPr lang="en-US" altLang="en-US" sz="1400" b="0"/>
            </a:br>
            <a:r>
              <a:rPr lang="en-US" altLang="en-US" sz="1400" b="0"/>
              <a:t>Table</a:t>
            </a:r>
          </a:p>
        </p:txBody>
      </p:sp>
      <p:sp>
        <p:nvSpPr>
          <p:cNvPr id="210" name="Rectangle 15">
            <a:extLst>
              <a:ext uri="{FF2B5EF4-FFF2-40B4-BE49-F238E27FC236}">
                <a16:creationId xmlns:a16="http://schemas.microsoft.com/office/drawing/2014/main" id="{48A29246-498A-E992-9911-FEE75EA23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583" y="4154487"/>
            <a:ext cx="717550" cy="1203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altLang="en-US" sz="1200"/>
          </a:p>
        </p:txBody>
      </p:sp>
      <p:sp>
        <p:nvSpPr>
          <p:cNvPr id="211" name="Rectangle 16">
            <a:extLst>
              <a:ext uri="{FF2B5EF4-FFF2-40B4-BE49-F238E27FC236}">
                <a16:creationId xmlns:a16="http://schemas.microsoft.com/office/drawing/2014/main" id="{C64AD66A-5A4B-F0F4-C2FB-B9204D622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346" y="5037137"/>
            <a:ext cx="706437" cy="16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8288" rIns="0" bIns="0" anchor="ctr"/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/>
              <a:t>PDP entry</a:t>
            </a:r>
          </a:p>
        </p:txBody>
      </p:sp>
      <p:sp>
        <p:nvSpPr>
          <p:cNvPr id="212" name="Line 18">
            <a:extLst>
              <a:ext uri="{FF2B5EF4-FFF2-40B4-BE49-F238E27FC236}">
                <a16:creationId xmlns:a16="http://schemas.microsoft.com/office/drawing/2014/main" id="{4B8CF3C1-E676-C2C7-3306-9C01DCB9C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0308" y="5118100"/>
            <a:ext cx="419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" name="Line 20">
            <a:extLst>
              <a:ext uri="{FF2B5EF4-FFF2-40B4-BE49-F238E27FC236}">
                <a16:creationId xmlns:a16="http://schemas.microsoft.com/office/drawing/2014/main" id="{A993D05F-218A-957E-2657-5DE7AC4F40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97308" y="5076825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" name="Rectangle 5">
            <a:extLst>
              <a:ext uri="{FF2B5EF4-FFF2-40B4-BE49-F238E27FC236}">
                <a16:creationId xmlns:a16="http://schemas.microsoft.com/office/drawing/2014/main" id="{4ED49966-F263-CE68-AA97-91FAD7372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783" y="5180012"/>
            <a:ext cx="1333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28</a:t>
            </a:r>
          </a:p>
        </p:txBody>
      </p:sp>
      <p:sp>
        <p:nvSpPr>
          <p:cNvPr id="215" name="Line 17">
            <a:extLst>
              <a:ext uri="{FF2B5EF4-FFF2-40B4-BE49-F238E27FC236}">
                <a16:creationId xmlns:a16="http://schemas.microsoft.com/office/drawing/2014/main" id="{3C6CD45A-C0FA-14F1-2369-274DFBEDF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1771" y="3011487"/>
            <a:ext cx="0" cy="2119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" name="Line 18">
            <a:extLst>
              <a:ext uri="{FF2B5EF4-FFF2-40B4-BE49-F238E27FC236}">
                <a16:creationId xmlns:a16="http://schemas.microsoft.com/office/drawing/2014/main" id="{93508124-5838-381F-EBBA-4C253A9CB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1771" y="5129212"/>
            <a:ext cx="2746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" name="Line 19">
            <a:extLst>
              <a:ext uri="{FF2B5EF4-FFF2-40B4-BE49-F238E27FC236}">
                <a16:creationId xmlns:a16="http://schemas.microsoft.com/office/drawing/2014/main" id="{301CFA57-4693-2B36-662B-FDB6AA709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6533" y="3017837"/>
            <a:ext cx="631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" name="Line 20">
            <a:extLst>
              <a:ext uri="{FF2B5EF4-FFF2-40B4-BE49-F238E27FC236}">
                <a16:creationId xmlns:a16="http://schemas.microsoft.com/office/drawing/2014/main" id="{CB10BAA1-2D7B-7513-FF74-69ED39844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5183" y="2173287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9" name="Line 20">
            <a:extLst>
              <a:ext uri="{FF2B5EF4-FFF2-40B4-BE49-F238E27FC236}">
                <a16:creationId xmlns:a16="http://schemas.microsoft.com/office/drawing/2014/main" id="{E5C2DD5E-AC40-2483-040E-746D8B63C7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65496" y="2547937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0" name="Rectangle 5">
            <a:extLst>
              <a:ext uri="{FF2B5EF4-FFF2-40B4-BE49-F238E27FC236}">
                <a16:creationId xmlns:a16="http://schemas.microsoft.com/office/drawing/2014/main" id="{8CD996C2-F3EC-2447-12E8-9085914A4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096" y="2505075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9</a:t>
            </a:r>
          </a:p>
        </p:txBody>
      </p:sp>
      <p:sp>
        <p:nvSpPr>
          <p:cNvPr id="221" name="Rectangle 6">
            <a:extLst>
              <a:ext uri="{FF2B5EF4-FFF2-40B4-BE49-F238E27FC236}">
                <a16:creationId xmlns:a16="http://schemas.microsoft.com/office/drawing/2014/main" id="{346354EF-716D-60F7-8CA2-B476810F5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021" y="1825625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PDP</a:t>
            </a:r>
          </a:p>
        </p:txBody>
      </p:sp>
      <p:sp>
        <p:nvSpPr>
          <p:cNvPr id="222" name="Rectangle 6">
            <a:extLst>
              <a:ext uri="{FF2B5EF4-FFF2-40B4-BE49-F238E27FC236}">
                <a16:creationId xmlns:a16="http://schemas.microsoft.com/office/drawing/2014/main" id="{7D8F20DA-BDF5-76A2-F4E2-CC456D4D7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8683" y="1825625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PML4</a:t>
            </a:r>
          </a:p>
        </p:txBody>
      </p:sp>
      <p:sp>
        <p:nvSpPr>
          <p:cNvPr id="223" name="Rectangle 5">
            <a:extLst>
              <a:ext uri="{FF2B5EF4-FFF2-40B4-BE49-F238E27FC236}">
                <a16:creationId xmlns:a16="http://schemas.microsoft.com/office/drawing/2014/main" id="{1582FDF6-1C46-7BD7-0E31-3B7667B30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283" y="1639887"/>
            <a:ext cx="1476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39</a:t>
            </a:r>
          </a:p>
        </p:txBody>
      </p:sp>
      <p:sp>
        <p:nvSpPr>
          <p:cNvPr id="224" name="Rectangle 5">
            <a:extLst>
              <a:ext uri="{FF2B5EF4-FFF2-40B4-BE49-F238E27FC236}">
                <a16:creationId xmlns:a16="http://schemas.microsoft.com/office/drawing/2014/main" id="{87706A5C-C681-9783-A32A-5E27F8018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896" y="1639887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47</a:t>
            </a:r>
          </a:p>
        </p:txBody>
      </p:sp>
      <p:sp>
        <p:nvSpPr>
          <p:cNvPr id="225" name="Rectangle 5">
            <a:extLst>
              <a:ext uri="{FF2B5EF4-FFF2-40B4-BE49-F238E27FC236}">
                <a16:creationId xmlns:a16="http://schemas.microsoft.com/office/drawing/2014/main" id="{C90E1ABC-836C-67B6-4CE0-E05D17AF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933" y="1639887"/>
            <a:ext cx="1476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63</a:t>
            </a:r>
          </a:p>
        </p:txBody>
      </p:sp>
      <p:sp>
        <p:nvSpPr>
          <p:cNvPr id="226" name="Rectangle 14">
            <a:extLst>
              <a:ext uri="{FF2B5EF4-FFF2-40B4-BE49-F238E27FC236}">
                <a16:creationId xmlns:a16="http://schemas.microsoft.com/office/drawing/2014/main" id="{9CF455AF-DF43-288F-AF62-4BE75A9DA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1483" y="3811587"/>
            <a:ext cx="869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/>
              <a:t>512 entry</a:t>
            </a:r>
            <a:br>
              <a:rPr lang="en-US" altLang="en-US" sz="1400" b="0"/>
            </a:br>
            <a:r>
              <a:rPr lang="en-US" altLang="en-US" sz="1400" b="0"/>
              <a:t>PML4</a:t>
            </a:r>
            <a:br>
              <a:rPr lang="en-US" altLang="en-US" sz="1400" b="0"/>
            </a:br>
            <a:r>
              <a:rPr lang="en-US" altLang="en-US" sz="1400" b="0"/>
              <a:t>Table</a:t>
            </a:r>
          </a:p>
        </p:txBody>
      </p:sp>
      <p:sp>
        <p:nvSpPr>
          <p:cNvPr id="227" name="Rectangle 15">
            <a:extLst>
              <a:ext uri="{FF2B5EF4-FFF2-40B4-BE49-F238E27FC236}">
                <a16:creationId xmlns:a16="http://schemas.microsoft.com/office/drawing/2014/main" id="{58D0CF7C-8B1A-90BE-98C0-2583CE7B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3558" y="4392612"/>
            <a:ext cx="717550" cy="12049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altLang="en-US" sz="1200"/>
          </a:p>
        </p:txBody>
      </p:sp>
      <p:sp>
        <p:nvSpPr>
          <p:cNvPr id="228" name="Rectangle 16">
            <a:extLst>
              <a:ext uri="{FF2B5EF4-FFF2-40B4-BE49-F238E27FC236}">
                <a16:creationId xmlns:a16="http://schemas.microsoft.com/office/drawing/2014/main" id="{1C878E29-6B0C-F367-6088-CF6F47C03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08" y="5276850"/>
            <a:ext cx="706438" cy="16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8288" rIns="0" bIns="0" anchor="ctr"/>
          <a:lstStyle>
            <a:lvl1pPr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0"/>
              <a:t>PML4 entry</a:t>
            </a:r>
          </a:p>
        </p:txBody>
      </p:sp>
      <p:sp>
        <p:nvSpPr>
          <p:cNvPr id="229" name="Line 17">
            <a:extLst>
              <a:ext uri="{FF2B5EF4-FFF2-40B4-BE49-F238E27FC236}">
                <a16:creationId xmlns:a16="http://schemas.microsoft.com/office/drawing/2014/main" id="{7B0E35EF-F22E-B297-2403-83C43E378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7333" y="3011487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0" name="Line 18">
            <a:extLst>
              <a:ext uri="{FF2B5EF4-FFF2-40B4-BE49-F238E27FC236}">
                <a16:creationId xmlns:a16="http://schemas.microsoft.com/office/drawing/2014/main" id="{7FA1068D-DC11-9A72-227C-D1CB30F58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7333" y="5367337"/>
            <a:ext cx="274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1" name="Line 19">
            <a:extLst>
              <a:ext uri="{FF2B5EF4-FFF2-40B4-BE49-F238E27FC236}">
                <a16:creationId xmlns:a16="http://schemas.microsoft.com/office/drawing/2014/main" id="{F93AA4AE-94D5-9912-1A68-50C75254E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096" y="3017837"/>
            <a:ext cx="10334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2" name="Line 20">
            <a:extLst>
              <a:ext uri="{FF2B5EF4-FFF2-40B4-BE49-F238E27FC236}">
                <a16:creationId xmlns:a16="http://schemas.microsoft.com/office/drawing/2014/main" id="{50B95260-5E0A-D417-0BF8-68E727A082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383" y="2173287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3" name="Line 20">
            <a:extLst>
              <a:ext uri="{FF2B5EF4-FFF2-40B4-BE49-F238E27FC236}">
                <a16:creationId xmlns:a16="http://schemas.microsoft.com/office/drawing/2014/main" id="{8C4CB5B9-C59F-B596-78FF-21E5FB467B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2696" y="2547937"/>
            <a:ext cx="77787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4" name="Rectangle 5">
            <a:extLst>
              <a:ext uri="{FF2B5EF4-FFF2-40B4-BE49-F238E27FC236}">
                <a16:creationId xmlns:a16="http://schemas.microsoft.com/office/drawing/2014/main" id="{3F6E6C8F-F7C3-AE39-B7A2-1E1B76245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771" y="2478087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9</a:t>
            </a:r>
          </a:p>
        </p:txBody>
      </p:sp>
      <p:sp>
        <p:nvSpPr>
          <p:cNvPr id="235" name="Line 18">
            <a:extLst>
              <a:ext uri="{FF2B5EF4-FFF2-40B4-BE49-F238E27FC236}">
                <a16:creationId xmlns:a16="http://schemas.microsoft.com/office/drawing/2014/main" id="{099540F9-178C-230E-72FD-84ADD1A46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7933" y="5345112"/>
            <a:ext cx="495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" name="Line 20">
            <a:extLst>
              <a:ext uri="{FF2B5EF4-FFF2-40B4-BE49-F238E27FC236}">
                <a16:creationId xmlns:a16="http://schemas.microsoft.com/office/drawing/2014/main" id="{6DEBB1A3-F7DC-5BB4-2E53-80EACC644F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6846" y="5303837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7" name="Rectangle 5">
            <a:extLst>
              <a:ext uri="{FF2B5EF4-FFF2-40B4-BE49-F238E27FC236}">
                <a16:creationId xmlns:a16="http://schemas.microsoft.com/office/drawing/2014/main" id="{513CF46C-A932-45BB-A61B-68C273313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8908" y="5407025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>
            <a:lvl1pPr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100000"/>
              <a:buFont typeface="Symbol" panose="05050102010706020507" pitchFamily="18" charset="2"/>
              <a:buChar char="·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61988">
              <a:lnSpc>
                <a:spcPct val="90000"/>
              </a:lnSpc>
              <a:spcBef>
                <a:spcPct val="3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61988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6198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©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rt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01844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B4BD-4FC4-2EF7-EEA4-02DE70FA1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D5F2-789F-F17E-9F1C-D367371A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 recap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5DFE8-043D-155B-C577-B5C8DCC9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38492-C7B4-9B20-D713-7638BECA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E27B1D-0902-4699-3804-63CEFC744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en-US" dirty="0"/>
              <a:t>Page tables reside in memory 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Each translation requires multiple memory accesses</a:t>
            </a:r>
          </a:p>
          <a:p>
            <a:pPr lvl="2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Typically, more than once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Might be required for each load/store!</a:t>
            </a:r>
          </a:p>
          <a:p>
            <a:pPr lvl="1">
              <a:lnSpc>
                <a:spcPct val="110000"/>
              </a:lnSpc>
            </a:pPr>
            <a:endParaRPr lang="en-US" altLang="en-US" dirty="0"/>
          </a:p>
          <a:p>
            <a:pPr>
              <a:lnSpc>
                <a:spcPct val="110000"/>
              </a:lnSpc>
            </a:pPr>
            <a:r>
              <a:rPr lang="en-US" altLang="en-US" dirty="0"/>
              <a:t>Translation lookaside buffer (TLB)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Hardware cache for recently used PTEs (locality)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Speeds up translation 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Fewer than 100 entries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Modern CPUs have L2 TLB as well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2 to 8 way associative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TLB access time is faster than L1 cache access time</a:t>
            </a:r>
          </a:p>
          <a:p>
            <a:endParaRPr lang="en-IL" dirty="0"/>
          </a:p>
        </p:txBody>
      </p:sp>
      <p:grpSp>
        <p:nvGrpSpPr>
          <p:cNvPr id="7" name="Group 67">
            <a:extLst>
              <a:ext uri="{FF2B5EF4-FFF2-40B4-BE49-F238E27FC236}">
                <a16:creationId xmlns:a16="http://schemas.microsoft.com/office/drawing/2014/main" id="{E8A26554-0F82-2729-3B66-E74A0639C599}"/>
              </a:ext>
            </a:extLst>
          </p:cNvPr>
          <p:cNvGrpSpPr>
            <a:grpSpLocks/>
          </p:cNvGrpSpPr>
          <p:nvPr/>
        </p:nvGrpSpPr>
        <p:grpSpPr bwMode="auto">
          <a:xfrm>
            <a:off x="7777163" y="2006599"/>
            <a:ext cx="3492500" cy="3908425"/>
            <a:chOff x="3251" y="1138"/>
            <a:chExt cx="2200" cy="2462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D690148F-D9D2-FD27-6DA8-D3D6F7C94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9" y="2868"/>
              <a:ext cx="3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5B2C631-86F4-1CB7-F9BA-D9012212E9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5" y="2393"/>
              <a:ext cx="2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No</a:t>
              </a:r>
            </a:p>
          </p:txBody>
        </p: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EAA9C11A-D08B-1094-DF92-7DFF5EA77F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393" y="2307"/>
              <a:ext cx="745" cy="554"/>
              <a:chOff x="1940" y="1887"/>
              <a:chExt cx="735" cy="504"/>
            </a:xfrm>
          </p:grpSpPr>
          <p:grpSp>
            <p:nvGrpSpPr>
              <p:cNvPr id="30" name="Group 12">
                <a:extLst>
                  <a:ext uri="{FF2B5EF4-FFF2-40B4-BE49-F238E27FC236}">
                    <a16:creationId xmlns:a16="http://schemas.microsoft.com/office/drawing/2014/main" id="{5BB87247-5453-66BB-8080-51795770C66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40" y="1887"/>
                <a:ext cx="735" cy="504"/>
                <a:chOff x="1940" y="1887"/>
                <a:chExt cx="735" cy="504"/>
              </a:xfrm>
            </p:grpSpPr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F875F4C3-8B57-89F3-E9CA-683B594AB77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940" y="1887"/>
                  <a:ext cx="735" cy="504"/>
                </a:xfrm>
                <a:custGeom>
                  <a:avLst/>
                  <a:gdLst>
                    <a:gd name="T0" fmla="*/ 365 w 735"/>
                    <a:gd name="T1" fmla="*/ 0 h 504"/>
                    <a:gd name="T2" fmla="*/ 0 w 735"/>
                    <a:gd name="T3" fmla="*/ 250 h 504"/>
                    <a:gd name="T4" fmla="*/ 368 w 735"/>
                    <a:gd name="T5" fmla="*/ 503 h 504"/>
                    <a:gd name="T6" fmla="*/ 734 w 735"/>
                    <a:gd name="T7" fmla="*/ 250 h 504"/>
                    <a:gd name="T8" fmla="*/ 368 w 735"/>
                    <a:gd name="T9" fmla="*/ 0 h 504"/>
                    <a:gd name="T10" fmla="*/ 368 w 735"/>
                    <a:gd name="T11" fmla="*/ 0 h 504"/>
                    <a:gd name="T12" fmla="*/ 365 w 735"/>
                    <a:gd name="T13" fmla="*/ 0 h 5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5"/>
                    <a:gd name="T22" fmla="*/ 0 h 504"/>
                    <a:gd name="T23" fmla="*/ 735 w 735"/>
                    <a:gd name="T24" fmla="*/ 504 h 5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5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4" y="250"/>
                      </a:lnTo>
                      <a:lnTo>
                        <a:pt x="368" y="0"/>
                      </a:lnTo>
                      <a:lnTo>
                        <a:pt x="365" y="0"/>
                      </a:lnTo>
                    </a:path>
                  </a:pathLst>
                </a:custGeom>
                <a:solidFill>
                  <a:srgbClr val="FCE9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 14">
                  <a:extLst>
                    <a:ext uri="{FF2B5EF4-FFF2-40B4-BE49-F238E27FC236}">
                      <a16:creationId xmlns:a16="http://schemas.microsoft.com/office/drawing/2014/main" id="{AF69250C-9537-B108-5CEE-31A6D43BC67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940" y="1887"/>
                  <a:ext cx="735" cy="504"/>
                </a:xfrm>
                <a:custGeom>
                  <a:avLst/>
                  <a:gdLst>
                    <a:gd name="T0" fmla="*/ 365 w 735"/>
                    <a:gd name="T1" fmla="*/ 0 h 504"/>
                    <a:gd name="T2" fmla="*/ 0 w 735"/>
                    <a:gd name="T3" fmla="*/ 250 h 504"/>
                    <a:gd name="T4" fmla="*/ 368 w 735"/>
                    <a:gd name="T5" fmla="*/ 503 h 504"/>
                    <a:gd name="T6" fmla="*/ 734 w 735"/>
                    <a:gd name="T7" fmla="*/ 250 h 504"/>
                    <a:gd name="T8" fmla="*/ 368 w 735"/>
                    <a:gd name="T9" fmla="*/ 0 h 504"/>
                    <a:gd name="T10" fmla="*/ 368 w 735"/>
                    <a:gd name="T11" fmla="*/ 0 h 50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5"/>
                    <a:gd name="T19" fmla="*/ 0 h 504"/>
                    <a:gd name="T20" fmla="*/ 735 w 735"/>
                    <a:gd name="T21" fmla="*/ 504 h 50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5" h="504">
                      <a:moveTo>
                        <a:pt x="365" y="0"/>
                      </a:moveTo>
                      <a:lnTo>
                        <a:pt x="0" y="250"/>
                      </a:lnTo>
                      <a:lnTo>
                        <a:pt x="368" y="503"/>
                      </a:lnTo>
                      <a:lnTo>
                        <a:pt x="734" y="250"/>
                      </a:lnTo>
                      <a:lnTo>
                        <a:pt x="368" y="0"/>
                      </a:lnTo>
                    </a:path>
                  </a:pathLst>
                </a:custGeom>
                <a:noFill/>
                <a:ln w="2540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" name="Rectangle 15">
                <a:extLst>
                  <a:ext uri="{FF2B5EF4-FFF2-40B4-BE49-F238E27FC236}">
                    <a16:creationId xmlns:a16="http://schemas.microsoft.com/office/drawing/2014/main" id="{3B80B80E-90B1-5418-E3A4-B27A5FE524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75" y="2049"/>
                <a:ext cx="675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100000"/>
                  <a:buFont typeface="Symbol" panose="05050102010706020507" pitchFamily="18" charset="2"/>
                  <a:buChar char="·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 dirty="0"/>
                  <a:t>TLB Hit ?</a:t>
                </a: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8B36DC26-FFD7-C1A2-EBB7-387B429341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293" y="2366"/>
              <a:ext cx="751" cy="415"/>
              <a:chOff x="857" y="1941"/>
              <a:chExt cx="739" cy="378"/>
            </a:xfrm>
          </p:grpSpPr>
          <p:sp>
            <p:nvSpPr>
              <p:cNvPr id="28" name="Freeform 20">
                <a:extLst>
                  <a:ext uri="{FF2B5EF4-FFF2-40B4-BE49-F238E27FC236}">
                    <a16:creationId xmlns:a16="http://schemas.microsoft.com/office/drawing/2014/main" id="{9410E8CB-2916-AB08-5E89-160CB15DAA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7" y="1941"/>
                <a:ext cx="739" cy="378"/>
              </a:xfrm>
              <a:custGeom>
                <a:avLst/>
                <a:gdLst>
                  <a:gd name="T0" fmla="*/ 0 w 739"/>
                  <a:gd name="T1" fmla="*/ 374 h 378"/>
                  <a:gd name="T2" fmla="*/ 2 w 739"/>
                  <a:gd name="T3" fmla="*/ 0 h 378"/>
                  <a:gd name="T4" fmla="*/ 738 w 739"/>
                  <a:gd name="T5" fmla="*/ 0 h 378"/>
                  <a:gd name="T6" fmla="*/ 738 w 739"/>
                  <a:gd name="T7" fmla="*/ 377 h 378"/>
                  <a:gd name="T8" fmla="*/ 2 w 739"/>
                  <a:gd name="T9" fmla="*/ 377 h 378"/>
                  <a:gd name="T10" fmla="*/ 2 w 739"/>
                  <a:gd name="T11" fmla="*/ 377 h 378"/>
                  <a:gd name="T12" fmla="*/ 0 w 739"/>
                  <a:gd name="T13" fmla="*/ 374 h 3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9"/>
                  <a:gd name="T22" fmla="*/ 0 h 378"/>
                  <a:gd name="T23" fmla="*/ 739 w 739"/>
                  <a:gd name="T24" fmla="*/ 378 h 3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9" h="378">
                    <a:moveTo>
                      <a:pt x="0" y="374"/>
                    </a:moveTo>
                    <a:lnTo>
                      <a:pt x="2" y="0"/>
                    </a:lnTo>
                    <a:lnTo>
                      <a:pt x="738" y="0"/>
                    </a:lnTo>
                    <a:lnTo>
                      <a:pt x="738" y="377"/>
                    </a:lnTo>
                    <a:lnTo>
                      <a:pt x="2" y="377"/>
                    </a:lnTo>
                    <a:lnTo>
                      <a:pt x="0" y="374"/>
                    </a:lnTo>
                  </a:path>
                </a:pathLst>
              </a:custGeom>
              <a:solidFill>
                <a:srgbClr val="FCE9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1">
                <a:extLst>
                  <a:ext uri="{FF2B5EF4-FFF2-40B4-BE49-F238E27FC236}">
                    <a16:creationId xmlns:a16="http://schemas.microsoft.com/office/drawing/2014/main" id="{8FB7701B-1995-58A0-C781-E7D39446D4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7" y="1941"/>
                <a:ext cx="739" cy="378"/>
              </a:xfrm>
              <a:custGeom>
                <a:avLst/>
                <a:gdLst>
                  <a:gd name="T0" fmla="*/ 0 w 739"/>
                  <a:gd name="T1" fmla="*/ 374 h 378"/>
                  <a:gd name="T2" fmla="*/ 2 w 739"/>
                  <a:gd name="T3" fmla="*/ 0 h 378"/>
                  <a:gd name="T4" fmla="*/ 738 w 739"/>
                  <a:gd name="T5" fmla="*/ 0 h 378"/>
                  <a:gd name="T6" fmla="*/ 738 w 739"/>
                  <a:gd name="T7" fmla="*/ 377 h 378"/>
                  <a:gd name="T8" fmla="*/ 2 w 739"/>
                  <a:gd name="T9" fmla="*/ 377 h 378"/>
                  <a:gd name="T10" fmla="*/ 2 w 739"/>
                  <a:gd name="T11" fmla="*/ 377 h 3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39"/>
                  <a:gd name="T19" fmla="*/ 0 h 378"/>
                  <a:gd name="T20" fmla="*/ 739 w 739"/>
                  <a:gd name="T21" fmla="*/ 378 h 3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39" h="378">
                    <a:moveTo>
                      <a:pt x="0" y="374"/>
                    </a:moveTo>
                    <a:lnTo>
                      <a:pt x="2" y="0"/>
                    </a:lnTo>
                    <a:lnTo>
                      <a:pt x="738" y="0"/>
                    </a:lnTo>
                    <a:lnTo>
                      <a:pt x="738" y="377"/>
                    </a:lnTo>
                    <a:lnTo>
                      <a:pt x="2" y="377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545DB052-E2CD-618B-4A96-103567BA42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1" y="2396"/>
              <a:ext cx="79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Page Table</a:t>
              </a:r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5175684A-F206-A015-2A72-1D30877E08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052" y="2580"/>
              <a:ext cx="3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1201AB26-8CC1-0E4F-C86E-AD6B8086C9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67" y="2870"/>
              <a:ext cx="0" cy="2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30">
              <a:extLst>
                <a:ext uri="{FF2B5EF4-FFF2-40B4-BE49-F238E27FC236}">
                  <a16:creationId xmlns:a16="http://schemas.microsoft.com/office/drawing/2014/main" id="{4ACA1D8B-7525-713A-83C9-2778529523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67" y="2049"/>
              <a:ext cx="0" cy="2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31">
              <a:extLst>
                <a:ext uri="{FF2B5EF4-FFF2-40B4-BE49-F238E27FC236}">
                  <a16:creationId xmlns:a16="http://schemas.microsoft.com/office/drawing/2014/main" id="{3F730D0C-7079-3B45-B5CB-B0C0893A76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641" y="2781"/>
              <a:ext cx="1" cy="1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D4A38953-CA58-B475-D7A8-419F096700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642" y="2976"/>
              <a:ext cx="7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" name="Group 33">
              <a:extLst>
                <a:ext uri="{FF2B5EF4-FFF2-40B4-BE49-F238E27FC236}">
                  <a16:creationId xmlns:a16="http://schemas.microsoft.com/office/drawing/2014/main" id="{2D9DE72B-77D6-FBA2-A4A4-1B97EDB424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74" y="1138"/>
              <a:ext cx="1377" cy="331"/>
              <a:chOff x="1760" y="824"/>
              <a:chExt cx="1181" cy="301"/>
            </a:xfrm>
          </p:grpSpPr>
          <p:sp>
            <p:nvSpPr>
              <p:cNvPr id="26" name="Oval 34">
                <a:extLst>
                  <a:ext uri="{FF2B5EF4-FFF2-40B4-BE49-F238E27FC236}">
                    <a16:creationId xmlns:a16="http://schemas.microsoft.com/office/drawing/2014/main" id="{1FC389D0-297D-5337-0B47-EDDD4178F3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60" y="824"/>
                <a:ext cx="1088" cy="301"/>
              </a:xfrm>
              <a:prstGeom prst="ellipse">
                <a:avLst/>
              </a:prstGeom>
              <a:solidFill>
                <a:srgbClr val="FCE9D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100000"/>
                  <a:buFont typeface="Symbol" panose="05050102010706020507" pitchFamily="18" charset="2"/>
                  <a:buChar char="·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he-IL" altLang="en-US" sz="1200"/>
              </a:p>
            </p:txBody>
          </p:sp>
          <p:sp>
            <p:nvSpPr>
              <p:cNvPr id="27" name="Rectangle 35">
                <a:extLst>
                  <a:ext uri="{FF2B5EF4-FFF2-40B4-BE49-F238E27FC236}">
                    <a16:creationId xmlns:a16="http://schemas.microsoft.com/office/drawing/2014/main" id="{4903AF8F-DE6C-1C71-E010-9044666614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8" y="884"/>
                <a:ext cx="1163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100000"/>
                  <a:buFont typeface="Symbol" panose="05050102010706020507" pitchFamily="18" charset="2"/>
                  <a:buChar char="·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Virtual Address</a:t>
                </a:r>
              </a:p>
            </p:txBody>
          </p:sp>
        </p:grpSp>
        <p:sp>
          <p:nvSpPr>
            <p:cNvPr id="20" name="Line 36">
              <a:extLst>
                <a:ext uri="{FF2B5EF4-FFF2-40B4-BE49-F238E27FC236}">
                  <a16:creationId xmlns:a16="http://schemas.microsoft.com/office/drawing/2014/main" id="{9BF17307-5520-7336-EACB-BB102A667C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65" y="1463"/>
              <a:ext cx="0" cy="2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42">
              <a:extLst>
                <a:ext uri="{FF2B5EF4-FFF2-40B4-BE49-F238E27FC236}">
                  <a16:creationId xmlns:a16="http://schemas.microsoft.com/office/drawing/2014/main" id="{3F01DE84-CAE8-33B7-F96D-958581AA96C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20" y="2976"/>
              <a:ext cx="0" cy="1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" name="Group 56">
              <a:extLst>
                <a:ext uri="{FF2B5EF4-FFF2-40B4-BE49-F238E27FC236}">
                  <a16:creationId xmlns:a16="http://schemas.microsoft.com/office/drawing/2014/main" id="{345F10ED-9A18-9170-E764-B20AF117D2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16" y="3143"/>
              <a:ext cx="1104" cy="457"/>
              <a:chOff x="1568" y="2648"/>
              <a:chExt cx="1088" cy="416"/>
            </a:xfrm>
          </p:grpSpPr>
          <p:sp>
            <p:nvSpPr>
              <p:cNvPr id="24" name="Oval 57">
                <a:extLst>
                  <a:ext uri="{FF2B5EF4-FFF2-40B4-BE49-F238E27FC236}">
                    <a16:creationId xmlns:a16="http://schemas.microsoft.com/office/drawing/2014/main" id="{78FA0349-1170-575F-518C-32CCA9F7A9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68" y="2648"/>
                <a:ext cx="1088" cy="416"/>
              </a:xfrm>
              <a:prstGeom prst="ellipse">
                <a:avLst/>
              </a:prstGeom>
              <a:solidFill>
                <a:srgbClr val="FCE9D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100000"/>
                  <a:buFont typeface="Symbol" panose="05050102010706020507" pitchFamily="18" charset="2"/>
                  <a:buChar char="·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he-IL" altLang="en-US" sz="1200"/>
              </a:p>
            </p:txBody>
          </p:sp>
          <p:sp>
            <p:nvSpPr>
              <p:cNvPr id="25" name="Rectangle 58">
                <a:extLst>
                  <a:ext uri="{FF2B5EF4-FFF2-40B4-BE49-F238E27FC236}">
                    <a16:creationId xmlns:a16="http://schemas.microsoft.com/office/drawing/2014/main" id="{C40A0ECC-C116-6B9E-A07F-70BAE93C81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02" y="2678"/>
                <a:ext cx="84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100000"/>
                  <a:buFont typeface="Symbol" panose="05050102010706020507" pitchFamily="18" charset="2"/>
                  <a:buChar char="·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Clr>
                    <a:srgbClr val="FF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©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Physical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Addresses</a:t>
                </a:r>
              </a:p>
            </p:txBody>
          </p:sp>
        </p:grpSp>
        <p:sp>
          <p:nvSpPr>
            <p:cNvPr id="23" name="Rectangle 65">
              <a:extLst>
                <a:ext uri="{FF2B5EF4-FFF2-40B4-BE49-F238E27FC236}">
                  <a16:creationId xmlns:a16="http://schemas.microsoft.com/office/drawing/2014/main" id="{6E3A76F2-6CD5-C727-2EA4-8C478EE94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728"/>
              <a:ext cx="972" cy="336"/>
            </a:xfrm>
            <a:prstGeom prst="rect">
              <a:avLst/>
            </a:prstGeom>
            <a:solidFill>
              <a:srgbClr val="FCE9D6"/>
            </a:solidFill>
            <a:ln w="28575" cap="rnd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100000"/>
                <a:buFont typeface="Symbol" panose="05050102010706020507" pitchFamily="18" charset="2"/>
                <a:buChar char="·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Clr>
                  <a:srgbClr val="FF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©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TLB Access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017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D73A-9623-B081-0740-B10C02C7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204E-D165-18B3-7E7B-1A6CC11F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Single 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325FD-44E6-0D5F-B28C-4812687A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7E232-C9E5-BB07-A230-1A48BC74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DD0A10-8D7F-582B-11B3-2F7646AA5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/>
          <a:lstStyle/>
          <a:p>
            <a:r>
              <a:rPr lang="en-US" dirty="0"/>
              <a:t>Thread accesses VA</a:t>
            </a:r>
            <a:r>
              <a:rPr lang="en-US" baseline="-25000" dirty="0"/>
              <a:t>1</a:t>
            </a: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F39DB7-2AFD-6AA1-FB32-042B61F9D9C9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DDF66-DE00-CA22-D83E-69F67753E567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A39092-CF56-ECBC-7022-167ADB0344B6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E2377C-F786-3586-403B-6450D6BF5B79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9023BD-A0AB-9FD5-F1EF-520AE85A2479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0807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78AA-F113-B421-957E-CD324F04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E189-AF2B-7229-48E9-E0A647D4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Single 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C68FC-F21F-AE24-A305-2991B066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AFE84-C252-AE09-F5F5-C31842A1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E49E75-545E-B964-EC5D-10EF1BBFD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7400" cy="4351338"/>
          </a:xfrm>
        </p:spPr>
        <p:txBody>
          <a:bodyPr/>
          <a:lstStyle/>
          <a:p>
            <a:r>
              <a:rPr lang="en-US" dirty="0"/>
              <a:t>Thread accesses VA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TLB caches mapping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1F4D1C-605E-8F0D-5D21-8AADF9EB34FA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6B1F6-702B-C1E9-8AD0-F0781111AF11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5B9C7-EF2F-C670-9B53-E30547C75015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E3F44C-A059-8FD2-030B-44E915C5B798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288917-5ADA-F76F-82C9-AD2470BD924D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1C701-581D-B8E7-3CA3-91E8A1B0F0BD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EE76FA-66D6-8546-3255-74B7A555D6B6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A7B5D9-CD32-520E-1D8B-792CD9678EBC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83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43BC-4E67-86CB-32E0-3C194EE1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E09D-8582-8911-1D09-650F72E8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Single 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636BA-25D2-95DF-AD1E-E321F685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D3BF9-D7DA-C370-6A8B-81BAE90F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EE4CB9-7E79-DEEC-7ED2-BB420B6B9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7400" cy="4351338"/>
          </a:xfrm>
        </p:spPr>
        <p:txBody>
          <a:bodyPr/>
          <a:lstStyle/>
          <a:p>
            <a:r>
              <a:rPr lang="en-US" dirty="0"/>
              <a:t>Thread accesses VA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TLB caches mapping</a:t>
            </a:r>
          </a:p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  <a:endParaRPr lang="en-IL" i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0885C7-052A-F496-11C3-2A8C30587A10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3921E-AFE2-7AAA-4CEC-157C66800BC3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635E4-AE03-F08E-5E3F-84E1E70CF2AA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2D6CFA-6C65-471E-2C4F-F7FFBE2269CF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6B4E20-DFC5-DCFF-D127-9FADC0D62A86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E4B2B8-0680-3B02-47C1-B4E47B748350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43193C-8104-D937-631F-FA485D2D8488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5546BF-3FC2-4AA8-50D2-7B00B766A9E5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41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3FF4-75EB-ED5F-A3EA-C756A3F0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EDD6-FC2B-81E8-AB3E-8A75DB7A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Single 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396B5-82A5-CC7B-F59E-431A6D46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F35EA-BFB8-0C82-4D0F-923D02E4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690020-A2FA-83EB-07EE-E27D38E2D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6762" cy="4351338"/>
          </a:xfrm>
        </p:spPr>
        <p:txBody>
          <a:bodyPr/>
          <a:lstStyle/>
          <a:p>
            <a:r>
              <a:rPr lang="en-US" dirty="0"/>
              <a:t>Thread accesses VA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TLB caches mapping</a:t>
            </a:r>
          </a:p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flushes mapping from TLB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2983FD-81F9-04FF-B6B5-9E038755AFB3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86FBD2-92EE-EE6A-DFAF-FDE6DE0B5CE1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72E9D7-F1E3-9FF1-D563-38ED013216DC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9EB07-90F7-CA3A-F9A7-0F24F2D760E2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43F61-6255-F244-142E-4D8524481FA6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54F99-7A7A-A79A-0295-35ECD1D29A51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D70600-7887-26CD-3E0D-7E30855D77C8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44B79F-B577-46BD-864B-9996C6D709FF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66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8A63-24FB-2DE0-9ADF-FDDA3DFC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CC30-29B0-EAFC-98BF-2EA309F3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Single 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B1E4C-E887-DCCD-3919-E32C376D5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C4BB3-08B7-D206-E79D-4F114F2A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4ADA38-60CE-21E0-E192-3FB7AFBFD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6762" cy="4351338"/>
          </a:xfrm>
        </p:spPr>
        <p:txBody>
          <a:bodyPr/>
          <a:lstStyle/>
          <a:p>
            <a:r>
              <a:rPr lang="en-US" dirty="0"/>
              <a:t>Thread accesses VA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TLB caches mapping</a:t>
            </a:r>
          </a:p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flushes mapping from TLB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37533B-C066-4F70-655B-DF13EDE56AAA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F642E-01BD-CE10-A7B5-3C2838B6FB23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4F3A5-2C6F-13B0-EB75-7DE6FDC5E63C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47AE68-FF37-AC23-3B15-540850F7BCE2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A0EA28-7AC0-569B-3AC7-FE9C006CD7C1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86072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A6B3F-0E4F-D24B-5950-B3D3056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5E4B-7D71-42A1-1896-B4031F67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Single 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9FB3E-071E-4A9C-DAD7-B3A986C6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6DB4A-5FB9-0117-C77B-BB870164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500970-0AFE-BCEF-A349-23CE89D1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6762" cy="4351338"/>
          </a:xfrm>
        </p:spPr>
        <p:txBody>
          <a:bodyPr/>
          <a:lstStyle/>
          <a:p>
            <a:r>
              <a:rPr lang="en-US" dirty="0"/>
              <a:t>Thread accesses VA</a:t>
            </a:r>
            <a:r>
              <a:rPr lang="en-US" baseline="-25000" dirty="0"/>
              <a:t>1</a:t>
            </a:r>
            <a:endParaRPr lang="en-US" dirty="0"/>
          </a:p>
          <a:p>
            <a:r>
              <a:rPr lang="en-US" dirty="0"/>
              <a:t>TLB caches mapping</a:t>
            </a:r>
          </a:p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flushes mapping from TLB</a:t>
            </a:r>
          </a:p>
          <a:p>
            <a:r>
              <a:rPr lang="en-US" dirty="0"/>
              <a:t>All is well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44D23A-FBBA-C00E-23AF-F9DD978640AD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40B5B-8CAB-CB41-7B65-7EE7448E39F1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C2A56-0FE1-B927-7199-A8DCB00ABC4B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1D7622-87E6-9426-F594-B46C947766F6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AC1A2-4F7B-3303-9A1C-9B9B69BA7901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20559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8CCD5-DFE1-5ECF-710E-3FAA8EAF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5B1B-B34D-EE3E-FC50-F5BBBCFB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Multicore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6FAD7-7B66-9159-6E66-B10CEF75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2AB3D-ED97-0DE9-8F04-D395F41E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14B657-0B4D-9ED8-0E08-C7F534101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>
            <a:normAutofit/>
          </a:bodyPr>
          <a:lstStyle/>
          <a:p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accesses VA</a:t>
            </a:r>
            <a:r>
              <a:rPr lang="en-US" sz="2600" baseline="-25000" dirty="0"/>
              <a:t>1</a:t>
            </a:r>
            <a:br>
              <a:rPr lang="en-US" sz="2600" dirty="0"/>
            </a:br>
            <a:endParaRPr lang="en-IL" sz="2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836312-418E-4815-BD19-3F10C559462B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3D30-034D-FE3D-EF84-234C5AAEA1D5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8BBF3-02E5-AE84-A76C-43910BED7E31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5D06D9-FBF5-EF72-63E1-07D681896B9E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547226-DF98-4BFC-78C8-D90D9FB05742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E849BD-AB23-36A2-4174-1BD62C3F529D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AD20D-49E2-F096-54D2-D107D024FAE2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558237-8853-4B92-BBF6-42185659DF21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25AA42-27BD-B694-8D86-5707B99AB8F7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6FC73-565D-0BF3-89E5-53A3DEACA57F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4C6F67-E4CF-BBDA-71FD-30A16431D07A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DFF1CE-F129-6813-2521-371735B75B11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5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73B4-97E8-0C81-ABD2-BE13CD35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7784-188E-2A7A-1115-44E631A3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Multicore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49A1A-FC79-8D0C-BFAB-56C003A7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CFCAD-8BB5-7476-F60F-D842917C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C488FF-B031-EF70-C599-6A903762B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/>
          <a:lstStyle/>
          <a:p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accesses VA</a:t>
            </a:r>
            <a:r>
              <a:rPr lang="en-US" sz="2600" baseline="-25000" dirty="0"/>
              <a:t>1</a:t>
            </a:r>
          </a:p>
          <a:p>
            <a:r>
              <a:rPr lang="en-US" sz="2600" dirty="0"/>
              <a:t>Thread</a:t>
            </a:r>
            <a:r>
              <a:rPr lang="en-US" sz="2600" baseline="-25000" dirty="0"/>
              <a:t>2</a:t>
            </a:r>
            <a:r>
              <a:rPr lang="en-US" sz="2600" dirty="0"/>
              <a:t> accesses VA</a:t>
            </a:r>
            <a:r>
              <a:rPr lang="en-US" sz="2600" baseline="-25000" dirty="0"/>
              <a:t>1 </a:t>
            </a:r>
            <a:r>
              <a:rPr lang="en-US" sz="2600" dirty="0"/>
              <a:t>on a different core</a:t>
            </a:r>
          </a:p>
          <a:p>
            <a:pPr lvl="1"/>
            <a:r>
              <a:rPr lang="en-US" dirty="0"/>
              <a:t>Different or migrated thread</a:t>
            </a:r>
            <a:br>
              <a:rPr lang="en-US" dirty="0"/>
            </a:b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D0C3D8-585B-EFF2-ACED-0BC7025E8706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0F5F3E-6DE8-07ED-2761-85B9772AD09B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99B191-A40B-62E9-D917-6F853CBCEFC0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341510-EF25-9563-5F58-155E0A2F2BAC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16B226-10F3-A843-57F8-B5E98C8B0D83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64B8B3-D478-1E17-5E8A-B64245D6AD00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57DF8-7FF4-1C5C-4861-D2EE0065BF9E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4E0546-D75B-2000-07EB-6C405DB50914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1543EA-38CC-0E9C-9599-568D631DE4D5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2B4DC-8DB2-4AD8-B20B-FB0EC6FA46F0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3ED02D-96B1-830B-DA15-80F6D2BDA2C7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974316-A40A-8BE4-9860-068FCBBD8451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4E30E7-DB2A-78F9-7B7D-273820B6A84D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44FCB5-CC0E-E27F-3D8B-B17179FF5CB2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36C3EE-453C-43EC-0A76-5A52C26821B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691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8642-FD25-6F5F-30BA-1BA3C640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F2E3-74F1-E206-7A11-9F9E7A24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Multicore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CF2C-6061-B68E-5377-EA691788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2622A-96E7-B1D2-7EDE-0F92C792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2398AC1-8DB6-7EDC-A450-D9E74AF22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accesses VA</a:t>
            </a:r>
            <a:r>
              <a:rPr lang="en-US" baseline="-25000" dirty="0"/>
              <a:t>1</a:t>
            </a:r>
          </a:p>
          <a:p>
            <a:r>
              <a:rPr lang="en-US" dirty="0"/>
              <a:t>Thread</a:t>
            </a:r>
            <a:r>
              <a:rPr lang="en-US" baseline="-25000" dirty="0"/>
              <a:t>2</a:t>
            </a:r>
            <a:r>
              <a:rPr lang="en-US" dirty="0"/>
              <a:t> accesses VA</a:t>
            </a:r>
            <a:r>
              <a:rPr lang="en-US" baseline="-25000" dirty="0"/>
              <a:t>1 </a:t>
            </a:r>
            <a:r>
              <a:rPr lang="en-US" dirty="0"/>
              <a:t>on a different core</a:t>
            </a:r>
          </a:p>
          <a:p>
            <a:pPr lvl="1"/>
            <a:r>
              <a:rPr lang="en-US" dirty="0"/>
              <a:t>Different or migrated thread</a:t>
            </a:r>
          </a:p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unmaps</a:t>
            </a:r>
            <a:r>
              <a:rPr lang="en-US" dirty="0"/>
              <a:t> memory</a:t>
            </a:r>
          </a:p>
          <a:p>
            <a:pPr lvl="1"/>
            <a:r>
              <a:rPr lang="en-US" dirty="0"/>
              <a:t>Using </a:t>
            </a:r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  <a:br>
              <a:rPr lang="en-US" i="1" dirty="0"/>
            </a:br>
            <a:r>
              <a:rPr lang="en-US" dirty="0"/>
              <a:t>(free returns buffer to malloc poll)</a:t>
            </a: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3A2C56-94B5-FFEB-E318-AF84FE2BE6AF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53A898-4B72-7029-393F-0DF716A0F683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F9FEF-D3E4-1C8E-680F-5AEFC44977C1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1D18C0-5DA5-01DA-125C-A32265186FC0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B07B23-43BA-EF6E-EFBE-4C8AF3F241C7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7D7C65-0140-D440-97DD-AE691C025350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0CB19D-5BD4-C714-0DBC-B0C7EBD456E5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37ECEA-62F8-11E4-2B06-04A67B079086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EF5E84-F056-FE88-125E-42F3F849FFE1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AF562-96BB-1F18-9449-1B4263013119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34B0B6-E68A-813D-645C-BC5FCC1A27DA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7B8B39-612B-A7FF-B789-EA3F18CE84E5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A4962C-AC35-7B8F-8BA5-374DFE532EB9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48F478-7DCA-FCDA-0DF3-4AEC040418C1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C3B3A1-9815-A43F-367D-FFD60EFE478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95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E1E3-9D61-731A-7255-E65B67BA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65D3-8683-E3D9-4A33-DFBC4290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Multicore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2DF78-56FA-BFAB-C8C8-19D4E047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548D-A2CA-B327-D719-59AECECB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469E59-F86D-6369-A175-9FC812EE5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4450" cy="435133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accesses VA</a:t>
            </a:r>
            <a:r>
              <a:rPr lang="en-US" sz="2600" baseline="-25000" dirty="0"/>
              <a:t>1</a:t>
            </a:r>
            <a:endParaRPr lang="en-US" sz="2600" dirty="0"/>
          </a:p>
          <a:p>
            <a:pPr>
              <a:lnSpc>
                <a:spcPct val="80000"/>
              </a:lnSpc>
            </a:pPr>
            <a:r>
              <a:rPr lang="en-US" sz="2600" dirty="0"/>
              <a:t>Thread</a:t>
            </a:r>
            <a:r>
              <a:rPr lang="en-US" sz="2600" baseline="-25000" dirty="0"/>
              <a:t>2</a:t>
            </a:r>
            <a:r>
              <a:rPr lang="en-US" sz="2600" dirty="0"/>
              <a:t> accesses VA</a:t>
            </a:r>
            <a:r>
              <a:rPr lang="en-US" sz="2600" baseline="-25000" dirty="0"/>
              <a:t>1 </a:t>
            </a:r>
            <a:r>
              <a:rPr lang="en-US" sz="2600" dirty="0"/>
              <a:t>on a</a:t>
            </a:r>
            <a:br>
              <a:rPr lang="en-US" sz="2600" dirty="0"/>
            </a:br>
            <a:r>
              <a:rPr lang="en-US" sz="2600" dirty="0"/>
              <a:t>different core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Different or migrated thread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</a:t>
            </a:r>
            <a:r>
              <a:rPr lang="en-US" sz="2600" dirty="0" err="1"/>
              <a:t>unmaps</a:t>
            </a:r>
            <a:r>
              <a:rPr lang="en-US" sz="2600" dirty="0"/>
              <a:t> memory</a:t>
            </a:r>
          </a:p>
          <a:p>
            <a:pPr lvl="1">
              <a:lnSpc>
                <a:spcPct val="80000"/>
              </a:lnSpc>
            </a:pPr>
            <a:r>
              <a:rPr lang="en-US" sz="2200" dirty="0"/>
              <a:t>Using </a:t>
            </a:r>
            <a:r>
              <a:rPr lang="en-US" sz="2200" i="1" dirty="0" err="1"/>
              <a:t>munmap</a:t>
            </a:r>
            <a:r>
              <a:rPr lang="en-US" sz="2200" dirty="0"/>
              <a:t>, not just </a:t>
            </a:r>
            <a:r>
              <a:rPr lang="en-US" sz="2200" i="1" dirty="0"/>
              <a:t>free</a:t>
            </a:r>
            <a:br>
              <a:rPr lang="en-US" sz="2200" dirty="0"/>
            </a:br>
            <a:r>
              <a:rPr lang="en-US" sz="2200" dirty="0"/>
              <a:t>(free returns buffer to malloc poll)</a:t>
            </a:r>
          </a:p>
          <a:p>
            <a:pPr>
              <a:lnSpc>
                <a:spcPct val="80000"/>
              </a:lnSpc>
            </a:pPr>
            <a:r>
              <a:rPr lang="en-US" sz="2600" dirty="0"/>
              <a:t>OS flushes mapping from TLB</a:t>
            </a:r>
          </a:p>
          <a:p>
            <a:pPr marL="0" indent="0">
              <a:lnSpc>
                <a:spcPct val="80000"/>
              </a:lnSpc>
              <a:buFont typeface="Arial" panose="020B0604020202020204" pitchFamily="34" charset="0"/>
              <a:buNone/>
            </a:pPr>
            <a:br>
              <a:rPr lang="en-US" sz="2600" dirty="0"/>
            </a:br>
            <a:endParaRPr lang="en-IL" sz="2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7DCDC1-88DB-9212-BD44-98C09F9A5446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3823C2-1170-8CDE-4083-A7106FAFBED0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B44D34-07DF-3569-A0F6-3C788D97C76D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FA56C0-7539-CAAB-02EB-E304CF324A98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87FC29-94F2-00FE-A16B-06DB4058B7DB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F6BA6E-BC58-2C7D-1C81-04DBC5E2DC1E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05994-E7B8-B2EA-D69A-957CE9EBD56B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41906-C3CF-BF75-89A8-DC22E94D0233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7FEE9-DD05-63C8-9674-DAB5A01186CA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C2CAB-EB21-7D00-3152-E9BD75CB7E48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75362B-CF59-F8EC-6A25-AA8670AD590F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A17ECC-B52E-C9DA-97B2-52B896BF8F14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A56C6F-E2F7-7A1B-2D79-12CF534C9EB1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18F1BD-AD30-28EE-A7BD-09C2F90FFD60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3C9C19-4080-9AC8-7F8C-E391386A6B5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432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1C04-7600-8F1F-C8F2-268A244D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294E-85D2-C1BE-47AD-BEB599EE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Multicore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5A4A5-48B9-07D3-A55C-D977083D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98C6C-2905-0F05-61F9-258EF6DC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08A7A6-D341-ADBB-44ED-1569A7BC8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>
            <a:normAutofit/>
          </a:bodyPr>
          <a:lstStyle/>
          <a:p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accesses VA</a:t>
            </a:r>
            <a:r>
              <a:rPr lang="en-US" sz="2600" baseline="-25000" dirty="0"/>
              <a:t>1</a:t>
            </a:r>
          </a:p>
          <a:p>
            <a:r>
              <a:rPr lang="en-US" sz="2600" dirty="0"/>
              <a:t>Thread</a:t>
            </a:r>
            <a:r>
              <a:rPr lang="en-US" sz="2600" baseline="-25000" dirty="0"/>
              <a:t>2</a:t>
            </a:r>
            <a:r>
              <a:rPr lang="en-US" sz="2600" dirty="0"/>
              <a:t> accesses VA</a:t>
            </a:r>
            <a:r>
              <a:rPr lang="en-US" sz="2600" baseline="-25000" dirty="0"/>
              <a:t>1 </a:t>
            </a:r>
            <a:r>
              <a:rPr lang="en-US" sz="2600" dirty="0"/>
              <a:t>on a</a:t>
            </a:r>
            <a:br>
              <a:rPr lang="en-US" sz="2600" dirty="0"/>
            </a:br>
            <a:r>
              <a:rPr lang="en-US" sz="2600" dirty="0"/>
              <a:t>different core</a:t>
            </a:r>
          </a:p>
          <a:p>
            <a:pPr lvl="1"/>
            <a:r>
              <a:rPr lang="en-US" sz="2200" dirty="0"/>
              <a:t>Different or migrated thread</a:t>
            </a:r>
          </a:p>
          <a:p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</a:t>
            </a:r>
            <a:r>
              <a:rPr lang="en-US" sz="2600" dirty="0" err="1"/>
              <a:t>unmaps</a:t>
            </a:r>
            <a:r>
              <a:rPr lang="en-US" sz="2600" dirty="0"/>
              <a:t> memory</a:t>
            </a:r>
          </a:p>
          <a:p>
            <a:pPr lvl="1"/>
            <a:r>
              <a:rPr lang="en-US" sz="2200" dirty="0"/>
              <a:t>Using </a:t>
            </a:r>
            <a:r>
              <a:rPr lang="en-US" sz="2200" i="1" dirty="0" err="1"/>
              <a:t>munmap</a:t>
            </a:r>
            <a:r>
              <a:rPr lang="en-US" sz="2200" dirty="0"/>
              <a:t>, not just </a:t>
            </a:r>
            <a:r>
              <a:rPr lang="en-US" sz="2200" i="1" dirty="0"/>
              <a:t>free</a:t>
            </a:r>
            <a:br>
              <a:rPr lang="en-US" sz="2200" i="1" dirty="0"/>
            </a:br>
            <a:r>
              <a:rPr lang="en-US" sz="2200" dirty="0"/>
              <a:t>(free returns buffer to malloc poll)</a:t>
            </a:r>
            <a:endParaRPr lang="en-US" sz="2200" i="1" dirty="0"/>
          </a:p>
          <a:p>
            <a:r>
              <a:rPr lang="en-US" sz="2600" dirty="0"/>
              <a:t>OS flushes mapping from TLB</a:t>
            </a:r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45C8F5-697D-F3A9-5576-41E0446F84CD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375E22-ED38-3417-9100-C49C61BD1F2A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843C9-B164-9EC5-66AB-9B9A37E4FD89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0D078-51F8-8F37-7AA9-D5C9F5278FF0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995065-9D65-B819-D732-7E4A9B5EEC54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2C17DA-3EA0-E210-F76E-49C224AFECA3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6129DB-C784-E39A-2709-85B822E588F1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6DD73-570C-0882-FAA7-EA864AE8E964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1D45DE-AA97-5753-BB3F-846AD8A82634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F6584-B500-41D5-AA29-4B6D0D4EDDDB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812098-9A58-6089-BA80-5CFF5AB449A5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979E54-DBAF-023D-907F-5113961275C6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095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6096-C538-8534-3714-83F9B869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5BAC-7D74-BA14-C2C7-5088E145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Multicore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A4289-74DD-1C3B-31BC-0B0D7092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79C69-A56F-33B3-C93E-FE165B49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9273B2F-151D-CBF1-1B80-52490EC7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>
            <a:normAutofit/>
          </a:bodyPr>
          <a:lstStyle/>
          <a:p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accesses VA</a:t>
            </a:r>
            <a:r>
              <a:rPr lang="en-US" sz="2600" baseline="-25000" dirty="0"/>
              <a:t>1</a:t>
            </a:r>
          </a:p>
          <a:p>
            <a:r>
              <a:rPr lang="en-US" sz="2600" dirty="0"/>
              <a:t>Thread</a:t>
            </a:r>
            <a:r>
              <a:rPr lang="en-US" sz="2600" baseline="-25000" dirty="0"/>
              <a:t>2</a:t>
            </a:r>
            <a:r>
              <a:rPr lang="en-US" sz="2600" dirty="0"/>
              <a:t> accesses VA</a:t>
            </a:r>
            <a:r>
              <a:rPr lang="en-US" sz="2600" baseline="-25000" dirty="0"/>
              <a:t>1 </a:t>
            </a:r>
            <a:r>
              <a:rPr lang="en-US" sz="2600" dirty="0"/>
              <a:t>on a different core</a:t>
            </a:r>
          </a:p>
          <a:p>
            <a:pPr lvl="1"/>
            <a:r>
              <a:rPr lang="en-US" sz="2200" dirty="0"/>
              <a:t>Different or migrated thread</a:t>
            </a:r>
          </a:p>
          <a:p>
            <a:r>
              <a:rPr lang="en-US" sz="2600" dirty="0"/>
              <a:t>Thread</a:t>
            </a:r>
            <a:r>
              <a:rPr lang="en-US" sz="2600" baseline="-25000" dirty="0"/>
              <a:t>1</a:t>
            </a:r>
            <a:r>
              <a:rPr lang="en-US" sz="2600" dirty="0"/>
              <a:t> </a:t>
            </a:r>
            <a:r>
              <a:rPr lang="en-US" sz="2600" dirty="0" err="1"/>
              <a:t>unmaps</a:t>
            </a:r>
            <a:r>
              <a:rPr lang="en-US" sz="2600" dirty="0"/>
              <a:t> memory</a:t>
            </a:r>
          </a:p>
          <a:p>
            <a:pPr lvl="1"/>
            <a:r>
              <a:rPr lang="en-US" sz="2200" dirty="0"/>
              <a:t>Using </a:t>
            </a:r>
            <a:r>
              <a:rPr lang="en-US" sz="2200" i="1" dirty="0" err="1"/>
              <a:t>munmap</a:t>
            </a:r>
            <a:r>
              <a:rPr lang="en-US" sz="2200" dirty="0"/>
              <a:t>, not just </a:t>
            </a:r>
            <a:r>
              <a:rPr lang="en-US" sz="2200" i="1" dirty="0"/>
              <a:t>free</a:t>
            </a:r>
            <a:br>
              <a:rPr lang="en-US" sz="2200" i="1" dirty="0"/>
            </a:br>
            <a:r>
              <a:rPr lang="en-US" sz="2200" dirty="0"/>
              <a:t>(free returns buffer to malloc poll)</a:t>
            </a:r>
            <a:endParaRPr lang="en-US" sz="2200" i="1" dirty="0"/>
          </a:p>
          <a:p>
            <a:r>
              <a:rPr lang="en-US" sz="2600" dirty="0"/>
              <a:t>OS flushes mapping from TLB</a:t>
            </a:r>
          </a:p>
          <a:p>
            <a:r>
              <a:rPr lang="en-US" b="1" dirty="0"/>
              <a:t>See the problem?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131E62-724A-B1C5-9059-C227E26C6630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BD7E77-972A-892F-A53D-6E9B640FA125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6CA502-1211-A422-4ACE-5C66F909F41A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7FDE4-9DB6-564C-3866-0E063E5FA7DE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A50B68-ECE4-F501-77AB-4D9C13541A3D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DD62D3-9192-C7C1-EFA0-69D095CFF879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91EA0-BFF4-AE49-4B5C-A1C80A06198A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B572FE-F80E-A217-95A2-61518A39C4FC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D5BFC6-D33C-BDF7-41B4-BB2830119FAC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AD248F-C24C-E286-9E01-EB6DEA79DF8B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2FE8F6-01B4-2B75-ED73-A5C200E3FDE5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419A57-A5E3-2461-33DB-8B0A86CA4CA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44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497D1-64F9-3952-1392-BDB5E0BC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BEF0-EDEC-F5C3-62BA-684571B5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TLBs: Multicore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5A21D-B465-1EE0-9857-C76CA4D5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74753-2519-9BEB-3102-01AE8F57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B1567B-DECC-1728-AE80-70FB5337A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Thread accesses VA</a:t>
            </a:r>
            <a:r>
              <a:rPr lang="en-US" baseline="-25000" dirty="0"/>
              <a:t>1</a:t>
            </a:r>
          </a:p>
          <a:p>
            <a:r>
              <a:rPr lang="en-US" dirty="0"/>
              <a:t>Thread accesses VA</a:t>
            </a:r>
            <a:r>
              <a:rPr lang="en-US" baseline="-25000" dirty="0"/>
              <a:t>1 </a:t>
            </a:r>
            <a:r>
              <a:rPr lang="en-US" dirty="0"/>
              <a:t>a different core</a:t>
            </a:r>
          </a:p>
          <a:p>
            <a:pPr lvl="1"/>
            <a:r>
              <a:rPr lang="en-US" dirty="0"/>
              <a:t>Different or migrated thread</a:t>
            </a:r>
          </a:p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flushes mapping from TLB</a:t>
            </a:r>
          </a:p>
          <a:p>
            <a:r>
              <a:rPr lang="en-US" dirty="0"/>
              <a:t>See the problem?</a:t>
            </a:r>
          </a:p>
          <a:p>
            <a:r>
              <a:rPr lang="en-US" b="1" dirty="0"/>
              <a:t>A TLB holds a stale mapping</a:t>
            </a:r>
          </a:p>
          <a:p>
            <a:pPr lvl="1"/>
            <a:r>
              <a:rPr lang="en-US" b="1" dirty="0"/>
              <a:t>Correctness &amp; security issue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E91923-24D9-7B45-3A03-6D6EC23512DA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51157-6EFC-1FF6-C01B-D8372ED9E312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BCA6E4-CD5B-F7A9-D01B-E752BB9CCEBF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D01B2-75A5-D9D4-17CF-3DC605D97F6E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A377B-5659-3626-E0B3-D0CB33F870F6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9D499A-461B-D6E9-5DE1-1A03E6B78F14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39CA72-D14E-F501-C258-21B6D006A042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6709E0-C2E1-A3FD-A9B8-EF8AECEE3720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0826B-BF9F-3654-C028-8AF0056C4119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481750-164B-D955-34E9-69448EDAD576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12E597-79B9-21D2-10F2-3119935A1A83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AAE194-DB19-F49F-A0A5-700D666F5BC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C9B1D41-29CE-D4BC-DCE0-1BE819146563}"/>
              </a:ext>
            </a:extLst>
          </p:cNvPr>
          <p:cNvSpPr/>
          <p:nvPr/>
        </p:nvSpPr>
        <p:spPr>
          <a:xfrm>
            <a:off x="9017540" y="2675106"/>
            <a:ext cx="1937964" cy="11475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5961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999A-C508-40AF-4BE5-1EA83C68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TLB coherence problem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39F0-28FA-C1C7-3FBB-58B56C4BF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does not enforce coherence across TLBs</a:t>
            </a:r>
          </a:p>
          <a:p>
            <a:pPr lvl="1"/>
            <a:r>
              <a:rPr lang="en-US" dirty="0"/>
              <a:t>Although research showed the benefits</a:t>
            </a:r>
          </a:p>
          <a:p>
            <a:pPr lvl="1"/>
            <a:r>
              <a:rPr lang="en-US" dirty="0"/>
              <a:t>E.g., </a:t>
            </a:r>
          </a:p>
          <a:p>
            <a:pPr lvl="2"/>
            <a:r>
              <a:rPr lang="en-US" dirty="0"/>
              <a:t>Romanescu et al., "</a:t>
            </a:r>
            <a:r>
              <a:rPr lang="en-US" i="1" dirty="0" err="1"/>
              <a:t>UNified</a:t>
            </a:r>
            <a:r>
              <a:rPr lang="en-US" i="1" dirty="0"/>
              <a:t> Instruction/Translation/Data (UNITD) coherence: One protocol to rule them all</a:t>
            </a:r>
            <a:r>
              <a:rPr lang="en-US" dirty="0"/>
              <a:t>“. In HPCA 2010</a:t>
            </a:r>
          </a:p>
          <a:p>
            <a:pPr lvl="2"/>
            <a:r>
              <a:rPr lang="en-US" dirty="0" err="1"/>
              <a:t>Villavieja</a:t>
            </a:r>
            <a:r>
              <a:rPr lang="en-US" dirty="0"/>
              <a:t> </a:t>
            </a:r>
            <a:r>
              <a:rPr lang="en-US" i="1" dirty="0"/>
              <a:t>et al</a:t>
            </a:r>
            <a:r>
              <a:rPr lang="en-US" dirty="0"/>
              <a:t>., "</a:t>
            </a:r>
            <a:r>
              <a:rPr lang="en-US" i="1" dirty="0" err="1"/>
              <a:t>DiDi</a:t>
            </a:r>
            <a:r>
              <a:rPr lang="en-US" i="1" dirty="0"/>
              <a:t>: Mitigating the Performance Impact of TLB Shootdowns Using a Shared TLB Directory</a:t>
            </a:r>
            <a:r>
              <a:rPr lang="en-US" dirty="0"/>
              <a:t>“. In PACT </a:t>
            </a:r>
            <a:r>
              <a:rPr lang="en-US" i="1" dirty="0"/>
              <a:t>2011</a:t>
            </a:r>
          </a:p>
          <a:p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06D5D-1D37-9B25-1339-6582E529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E72ED-4062-6A9F-17AA-7BEA97F9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1550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B9F5C-6FF9-FCDF-919B-50E89B4C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78149-2EB4-7072-5298-2D719849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TLB coherence problem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D8D29-8BCF-160A-DDFC-3DCD4CDD6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does not enforce coherence across TLBs</a:t>
            </a:r>
          </a:p>
          <a:p>
            <a:pPr lvl="1"/>
            <a:r>
              <a:rPr lang="en-US" dirty="0"/>
              <a:t>Although research showed the benefits</a:t>
            </a:r>
          </a:p>
          <a:p>
            <a:pPr lvl="1"/>
            <a:r>
              <a:rPr lang="en-US" dirty="0"/>
              <a:t>E.g., </a:t>
            </a:r>
          </a:p>
          <a:p>
            <a:pPr lvl="2"/>
            <a:r>
              <a:rPr lang="en-US" dirty="0"/>
              <a:t>Romanescu et al., "</a:t>
            </a:r>
            <a:r>
              <a:rPr lang="en-US" i="1" dirty="0" err="1"/>
              <a:t>UNified</a:t>
            </a:r>
            <a:r>
              <a:rPr lang="en-US" i="1" dirty="0"/>
              <a:t> Instruction/Translation/Data (UNITD) coherence: One protocol to rule them all</a:t>
            </a:r>
            <a:r>
              <a:rPr lang="en-US" dirty="0"/>
              <a:t>“. In HPCA 2010</a:t>
            </a:r>
          </a:p>
          <a:p>
            <a:pPr lvl="2"/>
            <a:r>
              <a:rPr lang="en-US" dirty="0" err="1"/>
              <a:t>Villavieja</a:t>
            </a:r>
            <a:r>
              <a:rPr lang="en-US" dirty="0"/>
              <a:t> </a:t>
            </a:r>
            <a:r>
              <a:rPr lang="en-US" i="1" dirty="0"/>
              <a:t>et al</a:t>
            </a:r>
            <a:r>
              <a:rPr lang="en-US" dirty="0"/>
              <a:t>., "</a:t>
            </a:r>
            <a:r>
              <a:rPr lang="en-US" i="1" dirty="0" err="1"/>
              <a:t>DiDi</a:t>
            </a:r>
            <a:r>
              <a:rPr lang="en-US" i="1" dirty="0"/>
              <a:t>: Mitigating the Performance Impact of TLB Shootdowns Using a Shared TLB Directory</a:t>
            </a:r>
            <a:r>
              <a:rPr lang="en-US" dirty="0"/>
              <a:t>“. In PACT </a:t>
            </a:r>
            <a:r>
              <a:rPr lang="en-US" i="1" dirty="0"/>
              <a:t>2011</a:t>
            </a:r>
          </a:p>
          <a:p>
            <a:endParaRPr lang="en-US" i="1" dirty="0"/>
          </a:p>
          <a:p>
            <a:r>
              <a:rPr lang="en-US" dirty="0"/>
              <a:t>But OS frequently needs to </a:t>
            </a:r>
            <a:r>
              <a:rPr lang="en-US" dirty="0" err="1"/>
              <a:t>unmap</a:t>
            </a:r>
            <a:r>
              <a:rPr lang="en-US" dirty="0"/>
              <a:t> pages and change translations</a:t>
            </a:r>
          </a:p>
          <a:p>
            <a:pPr lvl="1"/>
            <a:r>
              <a:rPr lang="en-US" dirty="0"/>
              <a:t>Free memory, move pages, change page permissions, swapping,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1C08-BA66-1199-8E66-67BC59255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DBB9B-D7EC-2AA9-1FB7-2AE6DF9F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64544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7DE3-F939-1861-CB19-521D00BD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AC36-E984-1937-8816-E3DF50FE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TLB coherence problem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1E624-D5FB-DEF4-9158-806DD8615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Hardware does not enforce coherence across TLBs</a:t>
            </a:r>
          </a:p>
          <a:p>
            <a:pPr lvl="1"/>
            <a:r>
              <a:rPr lang="en-US" dirty="0"/>
              <a:t>Although research showed the benefits</a:t>
            </a:r>
          </a:p>
          <a:p>
            <a:pPr lvl="1"/>
            <a:r>
              <a:rPr lang="en-US" dirty="0"/>
              <a:t>E.g., </a:t>
            </a:r>
          </a:p>
          <a:p>
            <a:pPr lvl="2"/>
            <a:r>
              <a:rPr lang="en-US" dirty="0"/>
              <a:t>Romanescu et al., "</a:t>
            </a:r>
            <a:r>
              <a:rPr lang="en-US" i="1" dirty="0" err="1"/>
              <a:t>UNified</a:t>
            </a:r>
            <a:r>
              <a:rPr lang="en-US" i="1" dirty="0"/>
              <a:t> Instruction/Translation/Data (UNITD) coherence: One protocol to rule them all</a:t>
            </a:r>
            <a:r>
              <a:rPr lang="en-US" dirty="0"/>
              <a:t>“. In HPCA 2010</a:t>
            </a:r>
          </a:p>
          <a:p>
            <a:pPr lvl="2"/>
            <a:r>
              <a:rPr lang="en-US" dirty="0" err="1"/>
              <a:t>Villavieja</a:t>
            </a:r>
            <a:r>
              <a:rPr lang="en-US" dirty="0"/>
              <a:t> </a:t>
            </a:r>
            <a:r>
              <a:rPr lang="en-US" i="1" dirty="0"/>
              <a:t>et al</a:t>
            </a:r>
            <a:r>
              <a:rPr lang="en-US" dirty="0"/>
              <a:t>., "</a:t>
            </a:r>
            <a:r>
              <a:rPr lang="en-US" i="1" dirty="0" err="1"/>
              <a:t>DiDi</a:t>
            </a:r>
            <a:r>
              <a:rPr lang="en-US" i="1" dirty="0"/>
              <a:t>: Mitigating the Performance Impact of TLB Shootdowns Using a Shared TLB Directory</a:t>
            </a:r>
            <a:r>
              <a:rPr lang="en-US" dirty="0"/>
              <a:t>“. In PACT </a:t>
            </a:r>
            <a:r>
              <a:rPr lang="en-US" i="1" dirty="0"/>
              <a:t>2011</a:t>
            </a:r>
          </a:p>
          <a:p>
            <a:endParaRPr lang="en-US" i="1" dirty="0"/>
          </a:p>
          <a:p>
            <a:r>
              <a:rPr lang="en-US" dirty="0"/>
              <a:t>But OS frequently needs to </a:t>
            </a:r>
            <a:r>
              <a:rPr lang="en-US" dirty="0" err="1"/>
              <a:t>unmap</a:t>
            </a:r>
            <a:r>
              <a:rPr lang="en-US" dirty="0"/>
              <a:t> pages and change translations</a:t>
            </a:r>
          </a:p>
          <a:p>
            <a:pPr lvl="1"/>
            <a:r>
              <a:rPr lang="en-US" dirty="0"/>
              <a:t>Free memory, move pages, change page permissions, swapping, etc.</a:t>
            </a:r>
          </a:p>
          <a:p>
            <a:pPr lvl="1"/>
            <a:endParaRPr lang="en-US" dirty="0"/>
          </a:p>
          <a:p>
            <a:r>
              <a:rPr lang="en-US" b="1" dirty="0"/>
              <a:t>How do we make TLBs coherent using today’s hardware?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CD16-FDB0-6FEA-DC87-727C8883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AB95F-3AB7-0E11-C855-70D400FC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36286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6CBC-E995-E8E6-AABD-00F9BEC8E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CA08B-1E9C-874A-AF2E-2CC84047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413BB-F290-1278-EA26-9B5FCC52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B9D2F-E04A-2769-2E57-9E3B9E48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65407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D842-C750-FC85-9FA5-972054F2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1DCB-69C6-8478-634F-10001F83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E9DC0-3433-1442-6DEA-F4755253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75F7A-B48D-8004-8857-23EBFD6F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7B9A82-E55F-9573-280B-37CEDB433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/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5A59A1-9491-A5DD-254B-550072CBE6CD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7AB0A5-DB67-A75C-24C2-473558CF2206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96E5C9-E000-3254-7CE3-719193F5F4D0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A88F76-83E9-58C3-A237-33F54B9E570F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15893-4582-DE0A-A7CF-D9B1D2920C50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229714-5ADC-5790-02E8-E9F3071EC338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018D6-40D3-47E5-BA8C-3B87EF228C5F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C9983F-3039-EE87-7D4B-BD3E02634F1C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33705E-91D9-37F8-236F-8DBF32454773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131B5F-0CA2-7CC2-9FEE-877B597701C9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A4B720-2BF0-F930-C5EC-09676E51E2EB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55F256-9484-50C3-3879-02A830726C02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111A4E-93BA-01A0-EDEB-B69B2E341234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4D8A23-1BD1-23AD-3130-40B909CE737E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5D0730-D610-83A4-520A-6E80C597644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D24497-1343-3A5B-343F-9AA3BE924786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374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66A8-45AA-8C61-D90C-F322A573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CD87-D8F5-F632-9759-9FB2B8D1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356-7240-D36B-4297-5ABA0552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B079C-BB96-F569-4646-3B425731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A3170C-2C23-C8D3-0D55-4755831EB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endParaRPr lang="en-US" i="1" dirty="0"/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91A600-6ED2-6C1C-1BCE-63442F1485B9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5E68E6-FCD0-066F-F4A1-85149491AD6B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A52787-6783-A38B-221F-550DCE83765B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DA10A6-487E-AE1C-706F-22BCC817F62B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53F77A-EB05-22FB-48DF-623366A7808D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D3DE3C-35DF-260D-24CB-D152174C67A7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2D7D5-6B7E-8A39-B95C-60CD2C743F3D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E43D9-EEF9-7482-85E3-1AD62A1C64DC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1B329-58E8-1E38-9771-F3DB91C6C47F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48F60-1BBB-8A56-06BB-9E10F0183D48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6F9764-5D39-D2C3-16DD-2A94BD85C207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ED225D-6225-CA4F-7154-1C480457F6D5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573508-61B3-8EC3-B7B5-6A51FA66D079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6C3E63-8783-469F-29BA-2696AB8D57D6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44FAEC-DB4E-8637-DEE2-5960DE188F6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511F17-FC48-743A-C81B-A774A322928A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3425C78-F29F-FA7E-4F96-DD5DD6EBCA26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C5D6D4-7D6A-203D-9B83-DA7AF5BEB013}"/>
              </a:ext>
            </a:extLst>
          </p:cNvPr>
          <p:cNvCxnSpPr>
            <a:cxnSpLocks/>
            <a:stCxn id="21" idx="1"/>
            <a:endCxn id="11" idx="3"/>
          </p:cNvCxnSpPr>
          <p:nvPr/>
        </p:nvCxnSpPr>
        <p:spPr>
          <a:xfrm flipH="1" flipV="1">
            <a:off x="6637867" y="2907507"/>
            <a:ext cx="1533366" cy="1392591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041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B209-6504-BE1D-BAF1-06A10BE8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4471-1E1B-D8B4-DFE3-7A0E59B5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1A7FC-ADEA-4407-92CD-D1F54D45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5478-31FD-5476-C5FD-52E9677D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27C8C7-E520-1387-F903-35C7805C7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6866" cy="4351338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</a:t>
            </a:r>
            <a:br>
              <a:rPr lang="en-US" dirty="0"/>
            </a:br>
            <a:r>
              <a:rPr lang="en-US" dirty="0"/>
              <a:t>interrupt (IPI) to other CPUs</a:t>
            </a:r>
          </a:p>
          <a:p>
            <a:pPr lvl="1"/>
            <a:endParaRPr lang="en-US" i="1" dirty="0"/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6B4348-6D16-C70E-064F-F5ACD2AF46F7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2AE2B9-F3CC-9EF2-EBD7-9FE4886301A9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55DB-FB37-C2D4-E38F-F206ADF1A762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B9A322-2F24-93EE-2427-D2C4ABDAA8CF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D333B7-6918-B9EA-129C-FE19607ECAE4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1DC2D3-133A-E8FC-42EE-96E4E3DB1B44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F4B7E-E585-7203-66D7-790CC1941234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33246-0187-A0DE-0B92-03B1C2BA95E0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CBCDAC-F4FB-D413-BFBA-2E8AEEDB9575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9DB87-3712-5433-88CA-94782C791923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D01516-2C37-A35C-FD0B-C5F103AAE631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DFB811-358F-F1EA-6F29-11CB38A2DCAE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AA029E-A4AE-1B1A-8077-206E5BA8AC84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F4A359-BBC1-7B7C-7C8D-16EF01C41A98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5834B9-14E2-6D2B-AE37-4C93DC58F44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D260FF-28AD-AC6F-48AC-AC68698FBC1D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E2D8EAD-99D4-4D7E-C997-B7B668250556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689FA5-21A9-F578-B9E0-6B6CEDB8879A}"/>
              </a:ext>
            </a:extLst>
          </p:cNvPr>
          <p:cNvCxnSpPr>
            <a:cxnSpLocks/>
            <a:stCxn id="3" idx="1"/>
            <a:endCxn id="11" idx="3"/>
          </p:cNvCxnSpPr>
          <p:nvPr/>
        </p:nvCxnSpPr>
        <p:spPr>
          <a:xfrm flipH="1">
            <a:off x="6637867" y="2907507"/>
            <a:ext cx="392817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477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2B5E-6338-7A0E-7468-7CFFA49F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83C1-6889-766A-76DB-6AFF909D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564FA-428A-A927-EEF9-93318A09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2ED8D-29E1-4666-0C03-6752372C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C1EE01-4AEA-1F60-526C-C8C1E01B4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99813" cy="4351338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</a:t>
            </a:r>
            <a:br>
              <a:rPr lang="en-US" dirty="0"/>
            </a:br>
            <a:r>
              <a:rPr lang="en-US" dirty="0"/>
              <a:t>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2D89A4-D694-6049-2A69-4DA39B0B1255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28A5F6-4A53-9D20-CAA7-9AC8FD62400E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A00A1-52C5-9AB7-9926-3D57B0B94D24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AEF9E3-EA00-37F6-AA2B-BB8719D81831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EB90A3-5639-97A2-290E-42FB2A359A2E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884A45-6AE9-CE18-C6D3-9DFDFE74D6EE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B0239-CCD1-E9A0-D7CC-3AC3199EA80B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5AC48-01E8-CC07-3B61-AA1475A9F810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4C6FE6-B2C0-64EE-71E1-FCCF6DDDA94A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4306-8AA3-BDBB-B4F3-BBB787BB156E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9CD63C-680C-279F-C14F-6F0F11D633C7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D867A7-D6BC-95C9-FB75-16E8F68EA59F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52A64E-C31D-2686-493A-67B8BDD5171D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FF252C-C9AB-BC8D-645D-E045174053C0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55D6EE-04FC-973C-7F79-A7EA1D421EF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DD904B-C322-8B3D-E73F-E37A32C61B19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ABE4809-4F03-FFC3-7F3C-6219374001DA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47A990B2-3C6F-4FAF-175F-43DFD5EE5D8D}"/>
              </a:ext>
            </a:extLst>
          </p:cNvPr>
          <p:cNvSpPr/>
          <p:nvPr/>
        </p:nvSpPr>
        <p:spPr>
          <a:xfrm>
            <a:off x="8923496" y="2757488"/>
            <a:ext cx="1755488" cy="930274"/>
          </a:xfrm>
          <a:prstGeom prst="mathMultiply">
            <a:avLst>
              <a:gd name="adj1" fmla="val 260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9199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8870-BB30-AA56-E4D9-B21EE52D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D7B5-C937-FD2E-22C7-EFF766A14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BB942-A9E7-4B66-EF46-1054FC8E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03774-13EE-6B5C-3AB8-96BF21DE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A2E4D1-BDE9-E7D5-507F-700305A24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21949" cy="4351338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</a:t>
            </a:r>
            <a:br>
              <a:rPr lang="en-US" dirty="0"/>
            </a:br>
            <a:r>
              <a:rPr lang="en-US" dirty="0"/>
              <a:t>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r>
              <a:rPr lang="en-US" dirty="0"/>
              <a:t>(Other CPUs ack CPU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CABEBE-F3FE-588B-C2B2-A1C67C7BF591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39425-0E3F-0CFE-7165-8FB161BDE592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419DA7-F7C6-E942-C79A-00E1EDC45C82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83211D-13AA-C363-A97F-601711D35102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2A4F95-A132-9B69-F5C1-9E6381295CB9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94AF2E-0314-61B3-2A7F-D961347C868E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BAB5F9-8F71-0CF6-1971-CCCA69C46B51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261536-E1B2-2378-BC99-20883DC9B1E5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9427AB-7B6E-802D-681D-8049664F06BE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A11E4D-0AE9-F8F2-DA1A-9169BCD79D31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7872E9-55BE-1B2C-FBF8-A01B02D133C1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162CAD-458A-42C0-843A-14CB3A5B3A09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B1F8A9-DC0C-7B4A-93A6-525B106ACD77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358BA92-DBBA-1ACA-8870-79B274869D2E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4D36B-DBF5-0059-3037-739FFAF9D746}"/>
              </a:ext>
            </a:extLst>
          </p:cNvPr>
          <p:cNvCxnSpPr>
            <a:cxnSpLocks/>
          </p:cNvCxnSpPr>
          <p:nvPr/>
        </p:nvCxnSpPr>
        <p:spPr>
          <a:xfrm flipH="1">
            <a:off x="6637867" y="2907507"/>
            <a:ext cx="392817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617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F6D2-5F5E-E698-4069-4758D9491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FFCE-2147-F907-0E3C-3F89A336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8CE36-DDB0-F724-8E6D-DC05BC7D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D48B8-A685-5958-F727-68775526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030A40-A65D-73D4-A2F7-5049FA6AC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1522" cy="4351338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</a:t>
            </a:r>
            <a:br>
              <a:rPr lang="en-US" dirty="0"/>
            </a:br>
            <a:r>
              <a:rPr lang="en-US" dirty="0"/>
              <a:t>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r>
              <a:rPr lang="en-US" dirty="0"/>
              <a:t>(Other CPUs ack CPU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Flushes mapping in CPU</a:t>
            </a:r>
            <a:r>
              <a:rPr lang="en-US" baseline="-25000" dirty="0"/>
              <a:t>1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EC1F50-A96C-88AC-539C-516204EBBDF0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570F9F-FB26-7FC0-72D4-5A374E19031E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0304FF-09DC-AC33-6574-026BAA396808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C3C2BD-74D5-8F00-BFEE-A53E6A32D064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35C67A-5B1B-74F7-596C-982D849B2C25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911DB81-27A5-39E8-ABD5-DD52F642F3FD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30F63-1D73-6E9C-55AC-6D6868F8C755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79206-52EF-92B0-A68E-4EACF73B00A7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903EC-A967-AFA5-6F97-5DC58724EAAA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E7604-6922-3388-4D77-89D1DDFC9A22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9E926A-9DE1-8EDE-39DA-56B9AB08F146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F06897-198B-3062-B548-72E72AC4FA0E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1E91BB-F572-39AB-601F-EA01072258CF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A3658B6-05A9-C574-4ECC-98F7CF63DD9A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7A6A641B-F907-7219-F033-980C2B6551D8}"/>
              </a:ext>
            </a:extLst>
          </p:cNvPr>
          <p:cNvSpPr/>
          <p:nvPr/>
        </p:nvSpPr>
        <p:spPr>
          <a:xfrm>
            <a:off x="6528963" y="2767529"/>
            <a:ext cx="1755488" cy="930274"/>
          </a:xfrm>
          <a:prstGeom prst="mathMultiply">
            <a:avLst>
              <a:gd name="adj1" fmla="val 260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2163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CED13-BF10-A83A-2897-0B3E45C9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217D5-8487-825E-A5E0-9DE075FD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5583B-36BD-7BE0-CFB1-9A3CBFE5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DF530-0564-2711-CBE5-4FA6D11A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7D5D27-F163-E565-C1DB-669091B76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52611" cy="4351338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</a:t>
            </a:r>
            <a:br>
              <a:rPr lang="en-US" dirty="0"/>
            </a:br>
            <a:r>
              <a:rPr lang="en-US" dirty="0"/>
              <a:t>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r>
              <a:rPr lang="en-US" dirty="0"/>
              <a:t>(Other CPUs ack CPU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Flushes mapping in CPU</a:t>
            </a:r>
            <a:r>
              <a:rPr lang="en-US" baseline="-25000" dirty="0"/>
              <a:t>1</a:t>
            </a:r>
            <a:endParaRPr lang="en-US" dirty="0"/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516E07-B4DD-BAE9-0C6D-92A000B16FFB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A26BD-B7FD-D286-B33B-C4762A231786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43D24D-0C00-E74E-167A-D990850329B6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00B47-6DFE-8F4A-0E76-1F438E9392F6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111F35-F8C7-36FA-5FFB-339EAEE62644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BCA8AA4-3C18-CB64-3611-64FE5E3C5E88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087CB5-92B2-7997-3BC0-6C0BBBBA0DA4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5A77A1-2348-5F2E-6437-60E2D11D2711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1682D6-B61F-CFA9-9384-8614D2483F22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38A4BC7-CDBE-A7F6-FD39-1CEEAA604EC4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0DF0808-130F-787F-11E0-F16A0412D7A3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13572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6062-6534-5E2F-0055-1EBD7A9B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30D6-7DC9-5860-0054-266A1EE9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05BE2-8BD2-DF2E-14A3-0E969D7B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414DD-1A5E-BE16-8BB4-6C3AAB8E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34C951-5CD0-EF4E-6190-688834115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124853" cy="4750273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</a:t>
            </a:r>
            <a:br>
              <a:rPr lang="en-US" dirty="0"/>
            </a:br>
            <a:r>
              <a:rPr lang="en-US" dirty="0"/>
              <a:t>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r>
              <a:rPr lang="en-US" dirty="0"/>
              <a:t>(Other CPUs ack CPU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Flushes mapping in CPU</a:t>
            </a:r>
            <a:r>
              <a:rPr lang="en-US" baseline="-25000" dirty="0"/>
              <a:t>1</a:t>
            </a:r>
          </a:p>
          <a:p>
            <a:pPr lvl="1"/>
            <a:r>
              <a:rPr lang="en-US" dirty="0"/>
              <a:t>Unlocks entry in page table</a:t>
            </a:r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26B804-9CBB-397E-DE86-C468DFA8019E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CFEA65-CF9A-7333-6EBB-86615899B1EA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D4CC6-894E-7A14-B13B-55042810F549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C4717F-3056-01EB-A044-B791D1720AD5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E84A4C-9843-B856-A5C5-2A226EF62DF9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5FF195-B8C9-38E6-371F-EAAC109EB797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B2792-6BEF-86E6-08B3-3AE8390DFDEA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91D74A-D30B-B54C-AD07-78AC1467EA3D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F31513-E496-CEFD-2A07-22056808CB1B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92632A-E628-F076-8441-4560BD5996DD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E0260C7-6531-8094-EBC9-928E4860199A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3D598D-A9AB-0B1C-1107-7574721F73ED}"/>
              </a:ext>
            </a:extLst>
          </p:cNvPr>
          <p:cNvCxnSpPr>
            <a:cxnSpLocks/>
          </p:cNvCxnSpPr>
          <p:nvPr/>
        </p:nvCxnSpPr>
        <p:spPr>
          <a:xfrm flipH="1" flipV="1">
            <a:off x="6637867" y="2907507"/>
            <a:ext cx="1533366" cy="1392591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694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B327-905C-3600-0F17-6185F363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8355-017E-FE40-DDEF-CCBC8FD9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E7D1-5DA3-4FA7-3540-0AEDFC9F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10F7F-AE22-5113-1CE2-E71B1F32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6F82B7-ED20-EB96-A028-120AD7D50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34583" cy="5032374"/>
          </a:xfrm>
        </p:spPr>
        <p:txBody>
          <a:bodyPr>
            <a:normAutofit/>
          </a:bodyPr>
          <a:lstStyle/>
          <a:p>
            <a:r>
              <a:rPr lang="en-US" dirty="0"/>
              <a:t>Thread</a:t>
            </a:r>
            <a:r>
              <a:rPr lang="en-US" baseline="-25000" dirty="0"/>
              <a:t>1</a:t>
            </a:r>
            <a:r>
              <a:rPr lang="en-US" dirty="0"/>
              <a:t>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</a:t>
            </a:r>
            <a:br>
              <a:rPr lang="en-US" dirty="0"/>
            </a:br>
            <a:r>
              <a:rPr lang="en-US" dirty="0"/>
              <a:t>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r>
              <a:rPr lang="en-US" dirty="0"/>
              <a:t>(Other CPUs ack CPU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Flushes mapping in CPU</a:t>
            </a:r>
            <a:r>
              <a:rPr lang="en-US" baseline="-25000" dirty="0"/>
              <a:t>1</a:t>
            </a:r>
          </a:p>
          <a:p>
            <a:pPr lvl="1"/>
            <a:r>
              <a:rPr lang="en-US" dirty="0"/>
              <a:t>Unlocks entry in page table</a:t>
            </a:r>
          </a:p>
          <a:p>
            <a:pPr lvl="1"/>
            <a:r>
              <a:rPr lang="en-US" dirty="0"/>
              <a:t>Resumes execution</a:t>
            </a:r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CC6D03-2D1F-4ADC-0D26-2FF736DB1C07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CBDF9-DF6F-4627-2BCA-5EAABD1A6118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57327-B29A-478F-A867-62B98BAF6333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200239-E403-C732-7187-BF4338BB5A76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CF83C7-68D4-3334-1E96-0C7D136AA44C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C87E91-88CD-C926-08E7-FDFE320ECD30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BCF6B-A220-523F-FADB-FB6C86FE8F72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527E2F-3C80-2901-D51D-CA07671580D5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48C4F-49D8-1703-9F29-5F7197CF0FC6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F25C38-02D5-360A-5824-882A270B1C72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3122A58-63F0-4C67-037B-F2E52613AF5B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86670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DD5D-E9E4-6D8A-169F-6F51D79A4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2615-6EFA-8C4B-A228-9F38A42E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The overhead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14D5E-2D90-C3F8-A47D-02E1EACF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E2F47-0F0B-8B1F-D07A-D1F58DD8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3D7F01-0701-7EAE-AA23-BBCE9EF1E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TLB shootdowns are a real pain </a:t>
            </a:r>
          </a:p>
          <a:p>
            <a:r>
              <a:rPr lang="en-US" dirty="0"/>
              <a:t>Example overheads from </a:t>
            </a:r>
            <a:r>
              <a:rPr lang="en-US" dirty="0" err="1"/>
              <a:t>DiDi</a:t>
            </a:r>
            <a:r>
              <a:rPr lang="en-US" dirty="0"/>
              <a:t> paper: Can reach over 5us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266534-4285-76AB-2A7D-3843E762B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2" y="2928026"/>
            <a:ext cx="5133199" cy="34119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EA81B5-B449-0BB3-247C-7A173A106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268" y="2933524"/>
            <a:ext cx="5133199" cy="34064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259336-7CF5-E338-624E-FDAE1794BCC1}"/>
              </a:ext>
            </a:extLst>
          </p:cNvPr>
          <p:cNvSpPr txBox="1"/>
          <p:nvPr/>
        </p:nvSpPr>
        <p:spPr>
          <a:xfrm>
            <a:off x="2274613" y="6339959"/>
            <a:ext cx="2121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Apache Web Server</a:t>
            </a:r>
            <a:endParaRPr lang="en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A2EDB4-50B4-03B0-C908-BAFE93D07B50}"/>
              </a:ext>
            </a:extLst>
          </p:cNvPr>
          <p:cNvSpPr txBox="1"/>
          <p:nvPr/>
        </p:nvSpPr>
        <p:spPr>
          <a:xfrm>
            <a:off x="8539381" y="6339959"/>
            <a:ext cx="1378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Count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7743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D94C-7C62-4426-EB0D-C5830199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21DBD21-9506-98CB-D0BB-B52DA9747129}"/>
              </a:ext>
            </a:extLst>
          </p:cNvPr>
          <p:cNvGrpSpPr/>
          <p:nvPr/>
        </p:nvGrpSpPr>
        <p:grpSpPr>
          <a:xfrm>
            <a:off x="6096000" y="3730238"/>
            <a:ext cx="6036225" cy="2762636"/>
            <a:chOff x="3574190" y="3234456"/>
            <a:chExt cx="6036225" cy="27626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48C4004-822F-9E64-7A89-03BB007D7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5091" y="3234456"/>
              <a:ext cx="5725324" cy="276263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942443-CD59-B23C-2FB2-1397BBA3D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5661" y="3429000"/>
              <a:ext cx="1629002" cy="79068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C935CF-C398-033C-B7CD-688C61B47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4190" y="3824342"/>
              <a:ext cx="238158" cy="12765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878F9B-19D4-80CC-F1C6-3FCECB44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The overhead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4028-DF0E-A5DA-081F-8843B482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68394-2D43-70B7-7A10-AD5C5791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4B3977-44B9-728B-7C4A-259E242F2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real factor is shootdown frequency</a:t>
            </a:r>
          </a:p>
          <a:p>
            <a:r>
              <a:rPr lang="en-US" dirty="0"/>
              <a:t>Shootdown frequency increases with:</a:t>
            </a:r>
          </a:p>
          <a:p>
            <a:pPr lvl="1"/>
            <a:r>
              <a:rPr lang="en-US" dirty="0"/>
              <a:t>Core count </a:t>
            </a:r>
          </a:p>
          <a:p>
            <a:pPr lvl="1"/>
            <a:r>
              <a:rPr lang="en-US" dirty="0"/>
              <a:t>Multiprogramming environments (e.g., cloud) </a:t>
            </a:r>
          </a:p>
          <a:p>
            <a:pPr lvl="1"/>
            <a:endParaRPr lang="en-US" dirty="0"/>
          </a:p>
          <a:p>
            <a:r>
              <a:rPr lang="en-US" dirty="0"/>
              <a:t>Example from the </a:t>
            </a:r>
            <a:r>
              <a:rPr lang="en-US" dirty="0" err="1"/>
              <a:t>DiDi</a:t>
            </a:r>
            <a:r>
              <a:rPr lang="en-US" dirty="0"/>
              <a:t> paper</a:t>
            </a:r>
          </a:p>
          <a:p>
            <a:pPr lvl="1"/>
            <a:r>
              <a:rPr lang="en-US" dirty="0"/>
              <a:t>Based on a model extrapolated</a:t>
            </a:r>
            <a:br>
              <a:rPr lang="en-US" dirty="0"/>
            </a:br>
            <a:r>
              <a:rPr lang="en-US" dirty="0"/>
              <a:t>from real systems</a:t>
            </a:r>
          </a:p>
          <a:p>
            <a:pPr lvl="1"/>
            <a:r>
              <a:rPr lang="en-US" dirty="0"/>
              <a:t>Back in 2011 we had fewer cores</a:t>
            </a:r>
          </a:p>
          <a:p>
            <a:pPr lvl="1"/>
            <a:r>
              <a:rPr lang="en-US" dirty="0"/>
              <a:t>Later validated by others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63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B91D-55CD-C032-2FAC-106928A8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HW/SW co-designs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C030B-6FFC-B75A-F8CA-05950E85C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processors still don’t offer full TLB coherence</a:t>
            </a:r>
          </a:p>
          <a:p>
            <a:pPr lvl="1"/>
            <a:r>
              <a:rPr lang="en-US" dirty="0"/>
              <a:t>I don’t really know why</a:t>
            </a:r>
          </a:p>
          <a:p>
            <a:endParaRPr lang="en-US" dirty="0"/>
          </a:p>
          <a:p>
            <a:r>
              <a:rPr lang="en-US" dirty="0"/>
              <a:t>But big vendors introduced some HW support in recent years</a:t>
            </a:r>
          </a:p>
          <a:p>
            <a:pPr lvl="1"/>
            <a:r>
              <a:rPr lang="en-US" dirty="0"/>
              <a:t>Intel RAR (Remote Action Request)</a:t>
            </a:r>
          </a:p>
          <a:p>
            <a:pPr lvl="1"/>
            <a:r>
              <a:rPr lang="en-US" dirty="0"/>
              <a:t>AMD INVLPGB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0B68-1E5F-A75E-72D2-5A322CA7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7EF84-7EFF-9666-A152-BCDEDF68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80588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BC2D-D55F-2AC1-1268-2F5AA5E9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9DC3-F7E7-2F6D-FD37-B3AAD061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Intel RAR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C9901-AF9B-F187-D4F9-D177616A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B638E-81B6-F970-6897-CBE21140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C36530-CA73-2C5F-A58D-6BC4ED81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in 2021</a:t>
            </a:r>
          </a:p>
          <a:p>
            <a:r>
              <a:rPr lang="en-US" dirty="0"/>
              <a:t>Avoids interrupting remote cores</a:t>
            </a:r>
          </a:p>
        </p:txBody>
      </p:sp>
    </p:spTree>
    <p:extLst>
      <p:ext uri="{BB962C8B-B14F-4D97-AF65-F5344CB8AC3E}">
        <p14:creationId xmlns:p14="http://schemas.microsoft.com/office/powerpoint/2010/main" val="1501138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9E59-CD75-8B5A-FFA0-FF01DBED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DE2E-8F55-52B0-B5A0-B91E3897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Intel RAR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6AE8C-79FD-3679-23E9-9F544908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F7B70-ACB1-89F2-A569-912347A6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0FFDD2C-09C3-F745-A4AC-1F5715E88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99813" cy="4351338"/>
          </a:xfrm>
        </p:spPr>
        <p:txBody>
          <a:bodyPr>
            <a:normAutofit/>
          </a:bodyPr>
          <a:lstStyle/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C5BC55-395E-0B5C-AAB3-329E6D2F0B59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16EB2-B252-4254-D426-CCE1BD2075F9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664-781C-30D5-0F1F-86EB93900CAB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EC1437-A979-C1AB-ED81-E6F8FB385F96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B2977D-C652-2B60-EB12-E4442C76CFE1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BA1496-85B1-6C94-0D48-CC9421EE4561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1606B-420D-221E-2BD5-0AF30DDB2034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5EC5F-A76D-9CA5-7AA9-DF5AA46331C8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ECDE3C-DBF9-D51F-B916-59474D885AC1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1772AB-681F-2999-0FEC-4965B87C10C5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EFBD54-4641-4FCC-0AF8-BF119A7DA7C3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3356EB-F242-8AB0-2450-02AD58524F7B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1E1099-19F4-B07B-CB96-618FA90E2263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EBC1E3-2511-E385-6C4D-0A1CD5C70A22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6DF4F1-A8C8-6D07-FF6D-F670AD942E36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921397-BC6C-159F-B1F1-3FFB73C695EB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4E6D57A-6D53-2F67-F542-58B145F365B0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EED35A31-50E6-FF7A-0483-E05AC7379939}"/>
              </a:ext>
            </a:extLst>
          </p:cNvPr>
          <p:cNvSpPr/>
          <p:nvPr/>
        </p:nvSpPr>
        <p:spPr>
          <a:xfrm>
            <a:off x="8923496" y="2757488"/>
            <a:ext cx="1755488" cy="930274"/>
          </a:xfrm>
          <a:prstGeom prst="mathMultiply">
            <a:avLst>
              <a:gd name="adj1" fmla="val 260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3B663E-ED50-18D6-2A08-4673FD56081E}"/>
              </a:ext>
            </a:extLst>
          </p:cNvPr>
          <p:cNvCxnSpPr>
            <a:cxnSpLocks/>
          </p:cNvCxnSpPr>
          <p:nvPr/>
        </p:nvCxnSpPr>
        <p:spPr>
          <a:xfrm flipH="1">
            <a:off x="6637867" y="2907507"/>
            <a:ext cx="392817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447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23DF-2B3F-7C0F-6054-25F5B86F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CEDE-B63B-063C-A0E7-6B68D27C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9455C-A3CF-34F1-4BEB-36EB3A5C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0AFA4-1C53-AB06-8B07-3A923BE5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282A27-2C60-39A1-9342-D340BE030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99813" cy="4351338"/>
          </a:xfrm>
        </p:spPr>
        <p:txBody>
          <a:bodyPr>
            <a:normAutofit/>
          </a:bodyPr>
          <a:lstStyle/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dirty="0"/>
              <a:t>Sends inter-processor interrupt (IPI) to other CPUs</a:t>
            </a:r>
          </a:p>
          <a:p>
            <a:pPr lvl="1"/>
            <a:r>
              <a:rPr lang="en-US" dirty="0"/>
              <a:t>(Other CPUs invoke SW handler and flush mapping from TLB)</a:t>
            </a:r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7B0D91-CAA1-F4B6-0D13-E9B03F31F691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B2A548-CC4F-633D-4EFE-DF03C236B191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0FB88B-823E-55E4-13D4-B5475E0C5FE9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17C514-7677-27A0-4A8A-52B66E666954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6FBC4D-8FBE-53B4-38D6-BFBE2102EC56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1F44F2-5491-D6EC-B52C-10C0DE4D4D30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BE7276-2758-7B7D-3460-5D0C383F6127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762229-B6AC-EFFF-6B0B-930847529C02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296022-F4CC-0AA1-E9F0-2075750BCEBF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7F4AC-FF93-58F6-FA85-4CAAF93D1F4B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447E0F-3C8D-7B4D-D8DC-17681CA3CFD6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930D47-C45D-9668-5B78-1819CB380661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C48277-6217-89C8-3CDC-75998233C0E9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1BE272-F2D9-0BE0-81B2-CD2737E081BC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42C34E-E589-A625-B357-B0C88A887C6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C5FAB6-6916-878C-5795-CC30B6BB3D6A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D5CC86-E218-030D-BBB5-8D65892FCE3E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B246C26D-BD82-F680-F5CC-04F12C566F32}"/>
              </a:ext>
            </a:extLst>
          </p:cNvPr>
          <p:cNvSpPr/>
          <p:nvPr/>
        </p:nvSpPr>
        <p:spPr>
          <a:xfrm>
            <a:off x="8923496" y="2757488"/>
            <a:ext cx="1755488" cy="930274"/>
          </a:xfrm>
          <a:prstGeom prst="mathMultiply">
            <a:avLst>
              <a:gd name="adj1" fmla="val 260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9DDE32-7CB1-D0D8-0606-912F5C9C40D5}"/>
              </a:ext>
            </a:extLst>
          </p:cNvPr>
          <p:cNvCxnSpPr>
            <a:cxnSpLocks/>
          </p:cNvCxnSpPr>
          <p:nvPr/>
        </p:nvCxnSpPr>
        <p:spPr>
          <a:xfrm flipH="1">
            <a:off x="6637867" y="2907507"/>
            <a:ext cx="392817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39040DB4-A3F1-5CA5-C6D6-8961BF285E03}"/>
              </a:ext>
            </a:extLst>
          </p:cNvPr>
          <p:cNvSpPr/>
          <p:nvPr/>
        </p:nvSpPr>
        <p:spPr>
          <a:xfrm>
            <a:off x="-19456" y="4067884"/>
            <a:ext cx="7412477" cy="1180221"/>
          </a:xfrm>
          <a:prstGeom prst="mathMultiply">
            <a:avLst>
              <a:gd name="adj1" fmla="val 260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0965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F384-7E0C-9ECC-316B-A23A77E1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B28F-2BBE-7DE6-13E6-0CEF4CAD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Intel RAR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A817B-9C17-1C6A-9F9B-81B689A00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94D37-F6A3-254C-9DAC-3E05B8FB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02B2C4-FC4E-C869-1257-40707AAB6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in 2021</a:t>
            </a:r>
          </a:p>
          <a:p>
            <a:r>
              <a:rPr lang="en-US" dirty="0"/>
              <a:t>Avoids interrupting remote cores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C2F96-247F-889E-FD46-40EAA2896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844" y="3004279"/>
            <a:ext cx="7688884" cy="3037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18A04E-B1DA-9394-931F-70A8E3297462}"/>
              </a:ext>
            </a:extLst>
          </p:cNvPr>
          <p:cNvSpPr txBox="1"/>
          <p:nvPr/>
        </p:nvSpPr>
        <p:spPr>
          <a:xfrm>
            <a:off x="3926728" y="6007384"/>
            <a:ext cx="4764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Intel Remote Action Request: White Paper, July 2021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225500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CF7A3-CF7F-9BA9-08D2-A2C489DB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B53A-CE34-5592-C9C1-695851F2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Intel RAR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E55F2-2413-B869-2865-468A2855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83023-7C73-7EB2-A89C-8C918997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928828-C8B6-4572-7A6B-B417215F7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in 2021</a:t>
            </a:r>
          </a:p>
          <a:p>
            <a:r>
              <a:rPr lang="en-US" dirty="0"/>
              <a:t>Avoids interrupting remote cores</a:t>
            </a:r>
          </a:p>
          <a:p>
            <a:r>
              <a:rPr lang="en-US" dirty="0"/>
              <a:t>Not yet supported in official Linux kernel</a:t>
            </a:r>
          </a:p>
          <a:p>
            <a:pPr lvl="1"/>
            <a:r>
              <a:rPr lang="en-US" dirty="0"/>
              <a:t>Beta code not stable yet</a:t>
            </a:r>
          </a:p>
          <a:p>
            <a:pPr lvl="1"/>
            <a:endParaRPr lang="en-US" dirty="0"/>
          </a:p>
          <a:p>
            <a:r>
              <a:rPr lang="en-US" dirty="0"/>
              <a:t>My take:</a:t>
            </a:r>
          </a:p>
          <a:p>
            <a:pPr lvl="1"/>
            <a:r>
              <a:rPr lang="en-US" dirty="0"/>
              <a:t>Sounds like interrupt handling takes place in microcode</a:t>
            </a:r>
          </a:p>
          <a:p>
            <a:pPr lvl="1"/>
            <a:r>
              <a:rPr lang="en-US" dirty="0"/>
              <a:t>Saves the need to invoke handler and save/restore running thread</a:t>
            </a:r>
          </a:p>
          <a:p>
            <a:pPr lvl="1"/>
            <a:r>
              <a:rPr lang="en-US" dirty="0"/>
              <a:t>Minimal hardware intervention, but also minimal performance gains</a:t>
            </a:r>
          </a:p>
        </p:txBody>
      </p:sp>
    </p:spTree>
    <p:extLst>
      <p:ext uri="{BB962C8B-B14F-4D97-AF65-F5344CB8AC3E}">
        <p14:creationId xmlns:p14="http://schemas.microsoft.com/office/powerpoint/2010/main" val="2588786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E084-8DFC-00EB-710F-F6053D804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8C13-F4B4-0E86-E360-CEB5DEE2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AMD INVLPGB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DDFB6-8377-1E22-E134-7AF02465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933DB-5040-E281-3CB8-4B9172A0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EF39E3-BE27-9312-1611-F287A23E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0634" cy="4351338"/>
          </a:xfrm>
        </p:spPr>
        <p:txBody>
          <a:bodyPr/>
          <a:lstStyle/>
          <a:p>
            <a:r>
              <a:rPr lang="en-US" dirty="0"/>
              <a:t>Introduced in late 2002</a:t>
            </a:r>
          </a:p>
          <a:p>
            <a:r>
              <a:rPr lang="en-US" dirty="0"/>
              <a:t>INVLPGB instruction broadcasts and invalidation request to all cores</a:t>
            </a:r>
          </a:p>
          <a:p>
            <a:pPr lvl="1"/>
            <a:r>
              <a:rPr lang="en-US" dirty="0"/>
              <a:t>Supports multiple in-flight requests </a:t>
            </a:r>
          </a:p>
          <a:p>
            <a:pPr lvl="1"/>
            <a:r>
              <a:rPr lang="en-US" dirty="0"/>
              <a:t>TLBSYNC instruction waits for all pending requests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54246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7AEF-C719-3B26-88B3-B2DF4063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0C29-3D51-A81A-5C32-FECB706F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05BDF-18A4-3516-16EA-C6F5EF63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B3335-3509-9F03-306E-592A0C3D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9E5B33-D9FC-41D5-5AFD-82D64FFD6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99813" cy="4351338"/>
          </a:xfrm>
        </p:spPr>
        <p:txBody>
          <a:bodyPr>
            <a:normAutofit/>
          </a:bodyPr>
          <a:lstStyle/>
          <a:p>
            <a:r>
              <a:rPr lang="en-US" dirty="0"/>
              <a:t>Thread frees memory</a:t>
            </a:r>
          </a:p>
          <a:p>
            <a:pPr lvl="1"/>
            <a:r>
              <a:rPr lang="en-US" i="1" dirty="0" err="1"/>
              <a:t>munmap</a:t>
            </a:r>
            <a:r>
              <a:rPr lang="en-US" dirty="0"/>
              <a:t>, not just </a:t>
            </a:r>
            <a:r>
              <a:rPr lang="en-US" i="1" dirty="0"/>
              <a:t>free</a:t>
            </a:r>
          </a:p>
          <a:p>
            <a:r>
              <a:rPr lang="en-US" dirty="0"/>
              <a:t>OS on CPU</a:t>
            </a:r>
            <a:r>
              <a:rPr lang="en-US" baseline="-25000" dirty="0"/>
              <a:t>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Locks entry in page table</a:t>
            </a:r>
          </a:p>
          <a:p>
            <a:pPr lvl="1"/>
            <a:r>
              <a:rPr lang="en-US" b="1" dirty="0"/>
              <a:t>INVLPGB broadcasts invalidations to all TLBs</a:t>
            </a:r>
          </a:p>
          <a:p>
            <a:pPr lvl="1"/>
            <a:r>
              <a:rPr lang="en-US" b="1" dirty="0"/>
              <a:t>TLBSYNC waits for invalidations to complete</a:t>
            </a:r>
          </a:p>
          <a:p>
            <a:pPr lvl="1"/>
            <a:endParaRPr lang="en-US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702BC6-9F7A-9C9B-0175-1F481FEFC132}"/>
              </a:ext>
            </a:extLst>
          </p:cNvPr>
          <p:cNvSpPr/>
          <p:nvPr/>
        </p:nvSpPr>
        <p:spPr>
          <a:xfrm>
            <a:off x="564726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1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30AABE-0B56-2A2F-50CA-9B510C418E25}"/>
              </a:ext>
            </a:extLst>
          </p:cNvPr>
          <p:cNvSpPr/>
          <p:nvPr/>
        </p:nvSpPr>
        <p:spPr>
          <a:xfrm>
            <a:off x="582506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9867E1-C2A6-1E37-2B75-B642F4A97471}"/>
              </a:ext>
            </a:extLst>
          </p:cNvPr>
          <p:cNvSpPr/>
          <p:nvPr/>
        </p:nvSpPr>
        <p:spPr>
          <a:xfrm>
            <a:off x="582506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F18527-CDDA-FFDA-BF4A-CB5FF1304C6A}"/>
              </a:ext>
            </a:extLst>
          </p:cNvPr>
          <p:cNvSpPr/>
          <p:nvPr/>
        </p:nvSpPr>
        <p:spPr>
          <a:xfrm>
            <a:off x="582506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FE7B37-3B5B-50B2-33C9-BCB42E373E72}"/>
              </a:ext>
            </a:extLst>
          </p:cNvPr>
          <p:cNvSpPr/>
          <p:nvPr/>
        </p:nvSpPr>
        <p:spPr>
          <a:xfrm>
            <a:off x="5825066" y="5314948"/>
            <a:ext cx="5545668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LLC</a:t>
            </a:r>
            <a:endParaRPr lang="en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591963-9FB7-943B-45BC-379F3607F681}"/>
              </a:ext>
            </a:extLst>
          </p:cNvPr>
          <p:cNvSpPr/>
          <p:nvPr/>
        </p:nvSpPr>
        <p:spPr>
          <a:xfrm>
            <a:off x="10566037" y="2386013"/>
            <a:ext cx="990600" cy="10429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r>
              <a:rPr lang="en-US" baseline="-25000" dirty="0"/>
              <a:t>2</a:t>
            </a:r>
          </a:p>
          <a:p>
            <a:pPr algn="ctr"/>
            <a:endParaRPr lang="en-US" dirty="0"/>
          </a:p>
          <a:p>
            <a:pPr algn="ctr"/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DC3B5-64CF-44C2-7ADF-533AA57DFD20}"/>
              </a:ext>
            </a:extLst>
          </p:cNvPr>
          <p:cNvSpPr/>
          <p:nvPr/>
        </p:nvSpPr>
        <p:spPr>
          <a:xfrm>
            <a:off x="10743837" y="3048000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TLB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D785B-1397-87B7-01CB-E2C295FD9E23}"/>
              </a:ext>
            </a:extLst>
          </p:cNvPr>
          <p:cNvSpPr/>
          <p:nvPr/>
        </p:nvSpPr>
        <p:spPr>
          <a:xfrm>
            <a:off x="10743837" y="3709987"/>
            <a:ext cx="601133" cy="381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95122-AC27-7EA4-DD01-8507F57F97D5}"/>
              </a:ext>
            </a:extLst>
          </p:cNvPr>
          <p:cNvSpPr/>
          <p:nvPr/>
        </p:nvSpPr>
        <p:spPr>
          <a:xfrm>
            <a:off x="10743836" y="4371974"/>
            <a:ext cx="601133" cy="784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AF9C99-6736-3A6F-E153-EDB16B7647F1}"/>
              </a:ext>
            </a:extLst>
          </p:cNvPr>
          <p:cNvSpPr txBox="1"/>
          <p:nvPr/>
        </p:nvSpPr>
        <p:spPr>
          <a:xfrm>
            <a:off x="6815667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D560A0-96C1-E659-0B97-FF5F2BCAC584}"/>
              </a:ext>
            </a:extLst>
          </p:cNvPr>
          <p:cNvCxnSpPr>
            <a:cxnSpLocks/>
          </p:cNvCxnSpPr>
          <p:nvPr/>
        </p:nvCxnSpPr>
        <p:spPr>
          <a:xfrm flipH="1">
            <a:off x="6426200" y="3048000"/>
            <a:ext cx="577715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8D9C19-8AA9-DAA8-C77A-9CDC2E7E4227}"/>
              </a:ext>
            </a:extLst>
          </p:cNvPr>
          <p:cNvCxnSpPr>
            <a:cxnSpLocks/>
          </p:cNvCxnSpPr>
          <p:nvPr/>
        </p:nvCxnSpPr>
        <p:spPr>
          <a:xfrm flipH="1" flipV="1">
            <a:off x="6426200" y="3238500"/>
            <a:ext cx="577715" cy="15874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4DBCD5-BF8A-0C5B-9885-4B8033A129D9}"/>
              </a:ext>
            </a:extLst>
          </p:cNvPr>
          <p:cNvSpPr txBox="1"/>
          <p:nvPr/>
        </p:nvSpPr>
        <p:spPr>
          <a:xfrm>
            <a:off x="9285130" y="3048000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</a:t>
            </a:r>
            <a:r>
              <a:rPr lang="en-US" baseline="-25000" dirty="0"/>
              <a:t>1</a:t>
            </a:r>
            <a:r>
              <a:rPr lang="en-US" dirty="0"/>
              <a:t>-&gt;PA</a:t>
            </a:r>
            <a:r>
              <a:rPr lang="en-US" baseline="-25000" dirty="0"/>
              <a:t>1</a:t>
            </a:r>
            <a:endParaRPr lang="en-IL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3B1EA1C-B886-EB5D-FDA9-8C72A0451A2F}"/>
              </a:ext>
            </a:extLst>
          </p:cNvPr>
          <p:cNvCxnSpPr>
            <a:cxnSpLocks/>
          </p:cNvCxnSpPr>
          <p:nvPr/>
        </p:nvCxnSpPr>
        <p:spPr>
          <a:xfrm flipH="1" flipV="1">
            <a:off x="10219170" y="3048000"/>
            <a:ext cx="524666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99BA55-E905-9157-A020-643048CC3E9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219170" y="3238500"/>
            <a:ext cx="524667" cy="1905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0EFA47-C06C-96EE-2200-4EBB4E53B750}"/>
              </a:ext>
            </a:extLst>
          </p:cNvPr>
          <p:cNvCxnSpPr>
            <a:cxnSpLocks/>
          </p:cNvCxnSpPr>
          <p:nvPr/>
        </p:nvCxnSpPr>
        <p:spPr>
          <a:xfrm>
            <a:off x="6102485" y="1640800"/>
            <a:ext cx="0" cy="7003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6391D39-FCBC-8CB3-B4A4-0A6A817C4E10}"/>
              </a:ext>
            </a:extLst>
          </p:cNvPr>
          <p:cNvSpPr/>
          <p:nvPr/>
        </p:nvSpPr>
        <p:spPr>
          <a:xfrm>
            <a:off x="8171233" y="3709987"/>
            <a:ext cx="817115" cy="1180221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Page</a:t>
            </a:r>
            <a:br>
              <a:rPr lang="en-US" dirty="0"/>
            </a:br>
            <a:r>
              <a:rPr lang="en-US" dirty="0"/>
              <a:t>Table</a:t>
            </a:r>
            <a:endParaRPr lang="en-IL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79E068-0962-D68D-706C-8EABC92189CC}"/>
              </a:ext>
            </a:extLst>
          </p:cNvPr>
          <p:cNvCxnSpPr>
            <a:cxnSpLocks/>
          </p:cNvCxnSpPr>
          <p:nvPr/>
        </p:nvCxnSpPr>
        <p:spPr>
          <a:xfrm flipH="1" flipV="1">
            <a:off x="6637867" y="2907507"/>
            <a:ext cx="4105969" cy="330993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F1E7ED3-AEB5-1DD6-EB7A-6BC88C9CFAB1}"/>
              </a:ext>
            </a:extLst>
          </p:cNvPr>
          <p:cNvCxnSpPr>
            <a:cxnSpLocks/>
            <a:stCxn id="12" idx="0"/>
            <a:endCxn id="11" idx="3"/>
          </p:cNvCxnSpPr>
          <p:nvPr/>
        </p:nvCxnSpPr>
        <p:spPr>
          <a:xfrm flipV="1">
            <a:off x="6125634" y="2907507"/>
            <a:ext cx="512233" cy="140493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908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880F-CD32-109F-7B43-77FD9B0B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C34F-A0D0-F887-81BC-F3B3464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AMD INVLPGB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3234D-0CAE-8F43-9AD6-9DEA5827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FBD83-DEE8-9472-AC9F-E5CDE422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4385AE-188B-F6C1-CD22-F2F20961F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90634" cy="46672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Introduced in late 2020</a:t>
            </a:r>
          </a:p>
          <a:p>
            <a:r>
              <a:rPr lang="en-US" dirty="0"/>
              <a:t>INVLPGB instruction broadcasts and invalidation request to all cores</a:t>
            </a:r>
          </a:p>
          <a:p>
            <a:pPr lvl="1"/>
            <a:r>
              <a:rPr lang="en-US" dirty="0"/>
              <a:t>Supports multiple in-flight requests </a:t>
            </a:r>
          </a:p>
          <a:p>
            <a:pPr lvl="1"/>
            <a:r>
              <a:rPr lang="en-US" dirty="0"/>
              <a:t>TLBSYNC instruction waits for all pending requests</a:t>
            </a:r>
          </a:p>
          <a:p>
            <a:endParaRPr lang="en-US" dirty="0"/>
          </a:p>
          <a:p>
            <a:r>
              <a:rPr lang="en-US" dirty="0"/>
              <a:t>Integrated into Linux kernel in March 2025</a:t>
            </a:r>
          </a:p>
          <a:p>
            <a:pPr lvl="1"/>
            <a:r>
              <a:rPr lang="en-US" dirty="0"/>
              <a:t>Kernel mailing lists reports 2x speedup compared to SW-based shootdown</a:t>
            </a:r>
          </a:p>
          <a:p>
            <a:pPr lvl="1"/>
            <a:r>
              <a:rPr lang="en-US" dirty="0"/>
              <a:t>My student Gal Dvir measured ~0.5us overhead </a:t>
            </a:r>
          </a:p>
          <a:p>
            <a:pPr lvl="1"/>
            <a:endParaRPr lang="en-US" dirty="0"/>
          </a:p>
          <a:p>
            <a:r>
              <a:rPr lang="en-US" dirty="0"/>
              <a:t>My take:</a:t>
            </a:r>
          </a:p>
          <a:p>
            <a:pPr lvl="1"/>
            <a:r>
              <a:rPr lang="en-US" dirty="0"/>
              <a:t>Seems like a more extensive solution than Intel RAR</a:t>
            </a:r>
          </a:p>
          <a:p>
            <a:pPr lvl="1"/>
            <a:r>
              <a:rPr lang="en-US" dirty="0"/>
              <a:t>Possibly implemented in microcode(?)</a:t>
            </a:r>
          </a:p>
        </p:txBody>
      </p:sp>
    </p:spTree>
    <p:extLst>
      <p:ext uri="{BB962C8B-B14F-4D97-AF65-F5344CB8AC3E}">
        <p14:creationId xmlns:p14="http://schemas.microsoft.com/office/powerpoint/2010/main" val="32424464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66982-1A92-57D4-8325-E71756A4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E580-2460-04C5-16A7-8E1F6D4C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shootdown: Summary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4F989-C537-9EE1-4A45-3D1C4C1C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01771-4820-A58D-339C-9C39F51C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845570-2FD5-DAFE-FA56-CC7AFDEAF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43553" cy="46672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real problem in modern CPUs</a:t>
            </a:r>
          </a:p>
          <a:p>
            <a:endParaRPr lang="en-US" dirty="0"/>
          </a:p>
          <a:p>
            <a:r>
              <a:rPr lang="en-US" dirty="0"/>
              <a:t>Identified in academia ~15 years ago</a:t>
            </a:r>
          </a:p>
          <a:p>
            <a:r>
              <a:rPr lang="en-US" dirty="0"/>
              <a:t>Took industry ~10 years to provide a partial solution</a:t>
            </a:r>
          </a:p>
          <a:p>
            <a:r>
              <a:rPr lang="en-US" dirty="0"/>
              <a:t>Took another ~5 years to integrate into mainline kernel</a:t>
            </a:r>
          </a:p>
          <a:p>
            <a:endParaRPr lang="en-US" dirty="0"/>
          </a:p>
          <a:p>
            <a:r>
              <a:rPr lang="en-US" dirty="0"/>
              <a:t>Part of a bigger problem: </a:t>
            </a:r>
          </a:p>
          <a:p>
            <a:pPr lvl="1"/>
            <a:r>
              <a:rPr lang="en-US" b="1" dirty="0"/>
              <a:t>Virtual memory (and other HW/SW abstractions) designed in simpler times</a:t>
            </a:r>
          </a:p>
          <a:p>
            <a:pPr lvl="1"/>
            <a:r>
              <a:rPr lang="en-US" b="1" dirty="0"/>
              <a:t>Not a good fit for modern workloads running on manycore CPUs</a:t>
            </a:r>
          </a:p>
          <a:p>
            <a:pPr lvl="1"/>
            <a:r>
              <a:rPr lang="en-US" b="1" dirty="0"/>
              <a:t>We need to rethink these abstractions</a:t>
            </a:r>
          </a:p>
        </p:txBody>
      </p:sp>
    </p:spTree>
    <p:extLst>
      <p:ext uri="{BB962C8B-B14F-4D97-AF65-F5344CB8AC3E}">
        <p14:creationId xmlns:p14="http://schemas.microsoft.com/office/powerpoint/2010/main" val="28757814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AB0D-A4CD-A3F9-1EAA-938EC19E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E019-BC54-D0B0-D3CE-30062F35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virtual memory translation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3796A-924A-639B-3BCF-49957C0D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1B8A6-1F13-87F5-CFD8-71137F8D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52AABC-E423-88C1-D7A5-B2CE5DCAD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machines are common</a:t>
            </a:r>
            <a:br>
              <a:rPr lang="en-US" dirty="0"/>
            </a:br>
            <a:r>
              <a:rPr lang="en-US" dirty="0"/>
              <a:t>in cloud environments</a:t>
            </a:r>
          </a:p>
          <a:p>
            <a:endParaRPr lang="en-US" dirty="0"/>
          </a:p>
          <a:p>
            <a:r>
              <a:rPr lang="en-US" dirty="0"/>
              <a:t>We already discussed some of</a:t>
            </a:r>
            <a:br>
              <a:rPr lang="en-US" dirty="0"/>
            </a:br>
            <a:r>
              <a:rPr lang="en-US" dirty="0"/>
              <a:t>the virtualization overheads</a:t>
            </a:r>
          </a:p>
          <a:p>
            <a:endParaRPr lang="en-US" dirty="0"/>
          </a:p>
          <a:p>
            <a:r>
              <a:rPr lang="en-US" dirty="0"/>
              <a:t>Let’s examine the impact on</a:t>
            </a:r>
            <a:br>
              <a:rPr lang="en-US" dirty="0"/>
            </a:br>
            <a:r>
              <a:rPr lang="en-US" dirty="0"/>
              <a:t>virtual memory</a:t>
            </a:r>
          </a:p>
        </p:txBody>
      </p:sp>
      <p:pic>
        <p:nvPicPr>
          <p:cNvPr id="3" name="Picture 3" descr="A close up of a computer&#10;&#10;Description generated with high confidence">
            <a:extLst>
              <a:ext uri="{FF2B5EF4-FFF2-40B4-BE49-F238E27FC236}">
                <a16:creationId xmlns:a16="http://schemas.microsoft.com/office/drawing/2014/main" id="{7A08324F-396E-EB5D-92C5-14695AC7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937" y="1690688"/>
            <a:ext cx="4208463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989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45E1D-3AF9-4115-614E-02038DBB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4E5B-0BC1-82D5-4293-03527F96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virtual memory translation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81CC4-A291-8EDB-D297-0D8CDD04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C5A06-C292-8670-6A0B-1052C6A1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C1C807-8754-8D1C-577C-4B43628EE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Each virtual machine “thinks” it is managing its own memory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guest OS manages page tables for all processes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Guest “thinks” translation is done by computing a sequence of physical addresses:</a:t>
            </a:r>
          </a:p>
          <a:p>
            <a:endParaRPr lang="en-IL" dirty="0"/>
          </a:p>
        </p:txBody>
      </p:sp>
      <p:pic>
        <p:nvPicPr>
          <p:cNvPr id="3" name="Content Placeholder 4" descr="A picture containing object, clock&#10;&#10;Description generated with very high confidence">
            <a:extLst>
              <a:ext uri="{FF2B5EF4-FFF2-40B4-BE49-F238E27FC236}">
                <a16:creationId xmlns:a16="http://schemas.microsoft.com/office/drawing/2014/main" id="{5E7738B0-419A-B59C-A135-262B0D97D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5106985"/>
            <a:ext cx="82296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5177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7C9C-1650-5214-C756-BEFB8474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1799-E92E-8F98-800A-AEF5D21B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virtual memory translation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F7C1C-71CB-4824-75CD-073B2DDD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A3996-26D9-C660-3111-DE8BCF76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A3639C-9563-1A23-2E4C-E73E7545A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51592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The host must virtualize the memory translation for the guest</a:t>
            </a:r>
          </a:p>
          <a:p>
            <a:endParaRPr lang="en-US" altLang="en-US" dirty="0"/>
          </a:p>
          <a:p>
            <a:r>
              <a:rPr lang="en-US" altLang="en-US" dirty="0"/>
              <a:t>What guest sees as physical, host sees as virtual</a:t>
            </a:r>
          </a:p>
          <a:p>
            <a:pPr lvl="1"/>
            <a:r>
              <a:rPr lang="en-US" altLang="en-US" dirty="0"/>
              <a:t>Each “physical” address in the guest is a virtual address in the host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We now have four types of addresses</a:t>
            </a:r>
          </a:p>
          <a:p>
            <a:pPr lvl="1"/>
            <a:r>
              <a:rPr lang="en-US" altLang="en-US" b="1" dirty="0" err="1"/>
              <a:t>gVA</a:t>
            </a:r>
            <a:r>
              <a:rPr lang="en-US" altLang="en-US" dirty="0"/>
              <a:t> (guest virtual address)</a:t>
            </a:r>
          </a:p>
          <a:p>
            <a:pPr lvl="1"/>
            <a:r>
              <a:rPr lang="en-US" altLang="en-US" b="1" dirty="0" err="1"/>
              <a:t>gPA</a:t>
            </a:r>
            <a:r>
              <a:rPr lang="en-US" altLang="en-US" dirty="0"/>
              <a:t> (guest physical address)</a:t>
            </a:r>
          </a:p>
          <a:p>
            <a:pPr lvl="1"/>
            <a:r>
              <a:rPr lang="en-US" altLang="en-US" b="1" dirty="0" err="1"/>
              <a:t>hVA</a:t>
            </a:r>
            <a:r>
              <a:rPr lang="en-US" altLang="en-US" dirty="0"/>
              <a:t> (host virtual address; typically =</a:t>
            </a:r>
            <a:r>
              <a:rPr lang="en-US" altLang="en-US" dirty="0" err="1"/>
              <a:t>gPA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/>
              <a:t>hPA</a:t>
            </a:r>
            <a:r>
              <a:rPr lang="en-US" altLang="en-US" dirty="0"/>
              <a:t> (host physical address)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Each step of traversing the guest page table requires a </a:t>
            </a:r>
            <a:r>
              <a:rPr lang="en-US" altLang="en-US" dirty="0" err="1"/>
              <a:t>gPA</a:t>
            </a:r>
            <a:r>
              <a:rPr lang="en-US" altLang="en-US" dirty="0"/>
              <a:t> -&gt; </a:t>
            </a:r>
            <a:r>
              <a:rPr lang="en-US" altLang="en-US" dirty="0" err="1"/>
              <a:t>hPA</a:t>
            </a:r>
            <a:r>
              <a:rPr lang="en-US" altLang="en-US" dirty="0"/>
              <a:t> translation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3801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BA0A-7D32-1589-63AB-7B77DFD4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64AD5-29B8-FED9-A689-EB6A7C71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page-walk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02DD6-7254-DC27-EC95-8187A2CA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973D5-0025-39FE-BEF8-A5CB37BD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5F20AD-4193-8F76-FE77-CD8014338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1D page walk to a 2D page-walk</a:t>
            </a:r>
            <a:endParaRPr lang="en-IL" dirty="0"/>
          </a:p>
        </p:txBody>
      </p:sp>
      <p:pic>
        <p:nvPicPr>
          <p:cNvPr id="3" name="Content Placeholder 4" descr="A picture containing object, clock&#10;&#10;Description generated with very high confidence">
            <a:extLst>
              <a:ext uri="{FF2B5EF4-FFF2-40B4-BE49-F238E27FC236}">
                <a16:creationId xmlns:a16="http://schemas.microsoft.com/office/drawing/2014/main" id="{C755828F-27F4-7E31-4318-9C004BE46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61055"/>
            <a:ext cx="82296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46239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E900-400B-0F1C-B0E4-D2CAAFD6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F0FD-0A2B-092D-5108-EBC2CB9E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page-walk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21A34-CF8B-1DED-4B48-2AF179A5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184DB-37AD-D3FA-62CA-858A7E50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DAFB01-2440-3FEF-BD95-425E9C7D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8879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Guest uses </a:t>
            </a:r>
            <a:r>
              <a:rPr lang="en-US" dirty="0" err="1"/>
              <a:t>gPAs</a:t>
            </a:r>
            <a:r>
              <a:rPr lang="en-US" dirty="0"/>
              <a:t> in its page table</a:t>
            </a:r>
          </a:p>
          <a:p>
            <a:r>
              <a:rPr lang="en-US" dirty="0"/>
              <a:t>Host must translate each </a:t>
            </a:r>
            <a:r>
              <a:rPr lang="en-US" dirty="0" err="1"/>
              <a:t>gPA</a:t>
            </a:r>
            <a:r>
              <a:rPr lang="en-US" dirty="0"/>
              <a:t> to a </a:t>
            </a:r>
            <a:r>
              <a:rPr lang="en-US" dirty="0" err="1"/>
              <a:t>hPA</a:t>
            </a:r>
            <a:endParaRPr lang="en-US" dirty="0"/>
          </a:p>
          <a:p>
            <a:endParaRPr lang="en-US" dirty="0"/>
          </a:p>
        </p:txBody>
      </p:sp>
      <p:pic>
        <p:nvPicPr>
          <p:cNvPr id="6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8E18EF3-3B14-E438-C192-829AFE645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99195"/>
            <a:ext cx="5530850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BA1DEA1-78EC-6B76-F822-B7C9CD8D8189}"/>
              </a:ext>
            </a:extLst>
          </p:cNvPr>
          <p:cNvSpPr/>
          <p:nvPr/>
        </p:nvSpPr>
        <p:spPr bwMode="auto">
          <a:xfrm>
            <a:off x="5813425" y="2055811"/>
            <a:ext cx="1066800" cy="6858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sm" len="sm"/>
            <a:tailEnd type="stealth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04E7DA-46E2-1B4A-02F3-2E8AB7AB569B}"/>
              </a:ext>
            </a:extLst>
          </p:cNvPr>
          <p:cNvCxnSpPr>
            <a:endCxn id="7" idx="1"/>
          </p:cNvCxnSpPr>
          <p:nvPr/>
        </p:nvCxnSpPr>
        <p:spPr bwMode="auto">
          <a:xfrm>
            <a:off x="5432425" y="1751011"/>
            <a:ext cx="537229" cy="405233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F98753-6603-E6DE-B0D5-DB527436EE02}"/>
              </a:ext>
            </a:extLst>
          </p:cNvPr>
          <p:cNvSpPr txBox="1"/>
          <p:nvPr/>
        </p:nvSpPr>
        <p:spPr>
          <a:xfrm>
            <a:off x="4441825" y="1507825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table base: </a:t>
            </a:r>
            <a:r>
              <a:rPr lang="en-US" dirty="0" err="1"/>
              <a:t>gPA</a:t>
            </a:r>
            <a:endParaRPr lang="en-I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3B11F7-1D36-09E7-84A5-DACF01DFEAF5}"/>
              </a:ext>
            </a:extLst>
          </p:cNvPr>
          <p:cNvCxnSpPr>
            <a:cxnSpLocks/>
          </p:cNvCxnSpPr>
          <p:nvPr/>
        </p:nvCxnSpPr>
        <p:spPr bwMode="auto">
          <a:xfrm>
            <a:off x="6880225" y="2156244"/>
            <a:ext cx="759346" cy="0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4A9509-6172-68E1-813D-A469E55EFE36}"/>
              </a:ext>
            </a:extLst>
          </p:cNvPr>
          <p:cNvCxnSpPr>
            <a:cxnSpLocks/>
          </p:cNvCxnSpPr>
          <p:nvPr/>
        </p:nvCxnSpPr>
        <p:spPr bwMode="auto">
          <a:xfrm>
            <a:off x="8277765" y="2162708"/>
            <a:ext cx="457674" cy="0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21D0DB-F8C2-BF61-D144-1F168CCE8293}"/>
              </a:ext>
            </a:extLst>
          </p:cNvPr>
          <p:cNvCxnSpPr>
            <a:cxnSpLocks/>
          </p:cNvCxnSpPr>
          <p:nvPr/>
        </p:nvCxnSpPr>
        <p:spPr bwMode="auto">
          <a:xfrm>
            <a:off x="9219963" y="2162632"/>
            <a:ext cx="457674" cy="0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7A10D8-7CDC-0A8A-081A-D92D0E228B7E}"/>
              </a:ext>
            </a:extLst>
          </p:cNvPr>
          <p:cNvCxnSpPr>
            <a:cxnSpLocks/>
          </p:cNvCxnSpPr>
          <p:nvPr/>
        </p:nvCxnSpPr>
        <p:spPr bwMode="auto">
          <a:xfrm>
            <a:off x="10151961" y="2162632"/>
            <a:ext cx="457674" cy="0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100B48-94B6-0CF4-A4AB-E8995E2C0F3D}"/>
              </a:ext>
            </a:extLst>
          </p:cNvPr>
          <p:cNvCxnSpPr>
            <a:cxnSpLocks/>
          </p:cNvCxnSpPr>
          <p:nvPr/>
        </p:nvCxnSpPr>
        <p:spPr bwMode="auto">
          <a:xfrm>
            <a:off x="11063119" y="2156093"/>
            <a:ext cx="457674" cy="0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2D8A9120-D4E1-BB57-13E8-A4E88872E44E}"/>
              </a:ext>
            </a:extLst>
          </p:cNvPr>
          <p:cNvSpPr/>
          <p:nvPr/>
        </p:nvSpPr>
        <p:spPr>
          <a:xfrm rot="10800000">
            <a:off x="7277437" y="-1070040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EF1D8BDA-BDE1-79F1-B72C-CE218944E4C5}"/>
              </a:ext>
            </a:extLst>
          </p:cNvPr>
          <p:cNvSpPr/>
          <p:nvPr/>
        </p:nvSpPr>
        <p:spPr>
          <a:xfrm rot="10800000">
            <a:off x="8258428" y="-104933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99A6833E-EBA6-CD7D-1D01-4BC36B765603}"/>
              </a:ext>
            </a:extLst>
          </p:cNvPr>
          <p:cNvSpPr/>
          <p:nvPr/>
        </p:nvSpPr>
        <p:spPr>
          <a:xfrm rot="10800000">
            <a:off x="9203572" y="-990971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A768067B-5B8A-AFE4-DFDA-FAD2237D6A66}"/>
              </a:ext>
            </a:extLst>
          </p:cNvPr>
          <p:cNvSpPr/>
          <p:nvPr/>
        </p:nvSpPr>
        <p:spPr>
          <a:xfrm rot="10800000">
            <a:off x="10079240" y="-929908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1EB4AF47-3EE6-0132-1132-684E6921A4F7}"/>
              </a:ext>
            </a:extLst>
          </p:cNvPr>
          <p:cNvSpPr/>
          <p:nvPr/>
        </p:nvSpPr>
        <p:spPr>
          <a:xfrm rot="10800000">
            <a:off x="10959480" y="-92612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219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9E83-BAD6-2447-CFB9-E7CE58B45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510E-B8D4-A204-E5B0-AB518AD5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page-walk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35AD3-EB45-EAD3-C49D-81466E52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A1408-61BF-BA83-1FE7-AE3CFC62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D31C05-A37D-6781-E3CC-6B6396B45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3074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Also called 2D address translation</a:t>
            </a:r>
          </a:p>
          <a:p>
            <a:endParaRPr lang="en-US" altLang="en-US" dirty="0"/>
          </a:p>
          <a:p>
            <a:r>
              <a:rPr lang="en-US" altLang="en-US" dirty="0"/>
              <a:t>Hypervisor provides a page table for each virtual machine </a:t>
            </a:r>
          </a:p>
          <a:p>
            <a:endParaRPr lang="en-US" altLang="en-US" dirty="0"/>
          </a:p>
          <a:p>
            <a:r>
              <a:rPr lang="en-US" altLang="en-US" dirty="0"/>
              <a:t>Hardware performs the double translation: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Overhead: A </a:t>
            </a:r>
            <a:r>
              <a:rPr lang="en-US" altLang="en-US" dirty="0" err="1"/>
              <a:t>gVA</a:t>
            </a:r>
            <a:r>
              <a:rPr lang="en-US" altLang="en-US" dirty="0"/>
              <a:t> -&gt; </a:t>
            </a:r>
            <a:r>
              <a:rPr lang="en-US" altLang="en-US" dirty="0" err="1"/>
              <a:t>hPA</a:t>
            </a:r>
            <a:r>
              <a:rPr lang="en-US" altLang="en-US" dirty="0"/>
              <a:t> translation may cost 24 memory accesses!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9779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BD705-1CD8-D81A-4955-0B372C585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92A2-3648-48D8-AF13-7F6F289E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/>
              <a:t>Nested page-walk: Partial Walk Caches (PwC)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00FA3-FAEC-7007-41BB-73CC4AAD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A93D5-9380-16AF-962E-66FDC47D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166EF8-B3C4-719E-22C3-8FFBDE2BD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PwCs</a:t>
            </a:r>
            <a:r>
              <a:rPr lang="en-US" dirty="0"/>
              <a:t> cache partial translations to shorten the walk </a:t>
            </a:r>
          </a:p>
          <a:p>
            <a:r>
              <a:rPr lang="en-US" dirty="0"/>
              <a:t>Use address prefixes to get to guest page table entries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5D75BC5C-F03F-17E4-766D-1542E1A69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52110"/>
            <a:ext cx="5257793" cy="486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D7339F-A6B3-CEF4-D7CD-607C874932A1}"/>
              </a:ext>
            </a:extLst>
          </p:cNvPr>
          <p:cNvCxnSpPr>
            <a:cxnSpLocks/>
          </p:cNvCxnSpPr>
          <p:nvPr/>
        </p:nvCxnSpPr>
        <p:spPr>
          <a:xfrm>
            <a:off x="8930698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6D25FA-A0A7-5FCF-6B3A-855C170A78D8}"/>
              </a:ext>
            </a:extLst>
          </p:cNvPr>
          <p:cNvCxnSpPr>
            <a:cxnSpLocks/>
          </p:cNvCxnSpPr>
          <p:nvPr/>
        </p:nvCxnSpPr>
        <p:spPr>
          <a:xfrm>
            <a:off x="9782752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6B9D86-7C43-D30A-F8CA-38578C7F9A5B}"/>
              </a:ext>
            </a:extLst>
          </p:cNvPr>
          <p:cNvCxnSpPr>
            <a:cxnSpLocks/>
          </p:cNvCxnSpPr>
          <p:nvPr/>
        </p:nvCxnSpPr>
        <p:spPr>
          <a:xfrm>
            <a:off x="8134061" y="1520565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386FCD-3153-0CC2-E463-07A7579D1FE8}"/>
              </a:ext>
            </a:extLst>
          </p:cNvPr>
          <p:cNvCxnSpPr>
            <a:cxnSpLocks/>
          </p:cNvCxnSpPr>
          <p:nvPr/>
        </p:nvCxnSpPr>
        <p:spPr>
          <a:xfrm>
            <a:off x="7372061" y="1532688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634B46-E761-EA73-AAE3-EB02C0BB4C8D}"/>
              </a:ext>
            </a:extLst>
          </p:cNvPr>
          <p:cNvSpPr txBox="1"/>
          <p:nvPr/>
        </p:nvSpPr>
        <p:spPr>
          <a:xfrm>
            <a:off x="9892313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880477-7CDF-6F56-44FE-3179CD6AFD65}"/>
              </a:ext>
            </a:extLst>
          </p:cNvPr>
          <p:cNvSpPr txBox="1"/>
          <p:nvPr/>
        </p:nvSpPr>
        <p:spPr>
          <a:xfrm>
            <a:off x="9104808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777E3B-8852-79B8-E379-0B72CF6C7CE6}"/>
              </a:ext>
            </a:extLst>
          </p:cNvPr>
          <p:cNvSpPr txBox="1"/>
          <p:nvPr/>
        </p:nvSpPr>
        <p:spPr>
          <a:xfrm>
            <a:off x="8334664" y="13515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6C0761-4D1F-3541-C208-F5FA9B2C9F48}"/>
              </a:ext>
            </a:extLst>
          </p:cNvPr>
          <p:cNvSpPr txBox="1"/>
          <p:nvPr/>
        </p:nvSpPr>
        <p:spPr>
          <a:xfrm>
            <a:off x="7515124" y="13332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3FEBFC2C-8E75-1108-C613-2D25228CC589}"/>
              </a:ext>
            </a:extLst>
          </p:cNvPr>
          <p:cNvSpPr/>
          <p:nvPr/>
        </p:nvSpPr>
        <p:spPr>
          <a:xfrm rot="10800000">
            <a:off x="7153612" y="-879540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417F752-82C9-B094-D6A5-C4F784F4BF76}"/>
              </a:ext>
            </a:extLst>
          </p:cNvPr>
          <p:cNvSpPr/>
          <p:nvPr/>
        </p:nvSpPr>
        <p:spPr>
          <a:xfrm rot="10800000">
            <a:off x="8134603" y="-85883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6CFCF904-D108-AFC4-20CC-2B01242C2A8F}"/>
              </a:ext>
            </a:extLst>
          </p:cNvPr>
          <p:cNvSpPr/>
          <p:nvPr/>
        </p:nvSpPr>
        <p:spPr>
          <a:xfrm rot="10800000">
            <a:off x="9079747" y="-800471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BA7D9F1E-C0BA-D60A-8387-18906BFE6653}"/>
              </a:ext>
            </a:extLst>
          </p:cNvPr>
          <p:cNvSpPr/>
          <p:nvPr/>
        </p:nvSpPr>
        <p:spPr>
          <a:xfrm rot="10800000">
            <a:off x="9955415" y="-739408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EAA2AD3-EC4C-9A6B-2F61-DB58E0C52D56}"/>
              </a:ext>
            </a:extLst>
          </p:cNvPr>
          <p:cNvSpPr/>
          <p:nvPr/>
        </p:nvSpPr>
        <p:spPr>
          <a:xfrm rot="10800000">
            <a:off x="10835655" y="-73562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40050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5559-4D6F-35A6-922B-8E0D028B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806D-1510-DCB0-1E8C-FA3A367E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/>
              <a:t>Nested page-walk: Partial Walk Caches (PwC)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F43FD-C308-8755-F769-53C355BC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91C7C-0F81-F451-5DE3-567610CF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388114-ED27-6930-BF36-802246AEA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PwCs</a:t>
            </a:r>
            <a:r>
              <a:rPr lang="en-US" dirty="0"/>
              <a:t> cache partial translations to shorten the walk </a:t>
            </a:r>
          </a:p>
          <a:p>
            <a:r>
              <a:rPr lang="en-US" dirty="0"/>
              <a:t>Use address prefixes to get to guest page table entries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0360395-5DBD-64F7-772C-90107D8A8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52110"/>
            <a:ext cx="5257793" cy="486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5DEBBC-C3AD-59F4-31FC-47102D0118BF}"/>
              </a:ext>
            </a:extLst>
          </p:cNvPr>
          <p:cNvCxnSpPr>
            <a:cxnSpLocks/>
          </p:cNvCxnSpPr>
          <p:nvPr/>
        </p:nvCxnSpPr>
        <p:spPr>
          <a:xfrm>
            <a:off x="8930698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C3DEAA-9F15-FEFB-0D34-F325EDE9EFE9}"/>
              </a:ext>
            </a:extLst>
          </p:cNvPr>
          <p:cNvCxnSpPr>
            <a:cxnSpLocks/>
          </p:cNvCxnSpPr>
          <p:nvPr/>
        </p:nvCxnSpPr>
        <p:spPr>
          <a:xfrm>
            <a:off x="9782752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3078E3-0980-1ABD-D998-BC1AACA29D5B}"/>
              </a:ext>
            </a:extLst>
          </p:cNvPr>
          <p:cNvCxnSpPr>
            <a:cxnSpLocks/>
          </p:cNvCxnSpPr>
          <p:nvPr/>
        </p:nvCxnSpPr>
        <p:spPr>
          <a:xfrm>
            <a:off x="8134061" y="1520565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8062D2-930E-5364-C98A-499EE13B7749}"/>
              </a:ext>
            </a:extLst>
          </p:cNvPr>
          <p:cNvCxnSpPr>
            <a:cxnSpLocks/>
          </p:cNvCxnSpPr>
          <p:nvPr/>
        </p:nvCxnSpPr>
        <p:spPr>
          <a:xfrm>
            <a:off x="7372061" y="1532688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C9E8D33-93DB-1F8C-ED1F-190E7A5ED465}"/>
              </a:ext>
            </a:extLst>
          </p:cNvPr>
          <p:cNvSpPr txBox="1"/>
          <p:nvPr/>
        </p:nvSpPr>
        <p:spPr>
          <a:xfrm>
            <a:off x="9892313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335CD8-CCA9-3F26-18FD-DE1279C6535B}"/>
              </a:ext>
            </a:extLst>
          </p:cNvPr>
          <p:cNvSpPr txBox="1"/>
          <p:nvPr/>
        </p:nvSpPr>
        <p:spPr>
          <a:xfrm>
            <a:off x="9104808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3A46B6-9882-2E51-4E7A-0EA48ADE6526}"/>
              </a:ext>
            </a:extLst>
          </p:cNvPr>
          <p:cNvSpPr txBox="1"/>
          <p:nvPr/>
        </p:nvSpPr>
        <p:spPr>
          <a:xfrm>
            <a:off x="8334664" y="13515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6127CC-CB85-51B7-DA20-C90A1D723CBA}"/>
              </a:ext>
            </a:extLst>
          </p:cNvPr>
          <p:cNvSpPr txBox="1"/>
          <p:nvPr/>
        </p:nvSpPr>
        <p:spPr>
          <a:xfrm>
            <a:off x="7515124" y="13332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7FA9DFA5-8B44-C2BC-529B-DDBFF49C3A48}"/>
              </a:ext>
            </a:extLst>
          </p:cNvPr>
          <p:cNvSpPr/>
          <p:nvPr/>
        </p:nvSpPr>
        <p:spPr>
          <a:xfrm rot="10800000">
            <a:off x="7153612" y="-879540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FAE5C0B-F89C-2E49-7E0C-72D6F1416E84}"/>
              </a:ext>
            </a:extLst>
          </p:cNvPr>
          <p:cNvSpPr/>
          <p:nvPr/>
        </p:nvSpPr>
        <p:spPr>
          <a:xfrm rot="10800000">
            <a:off x="8134603" y="-85883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285EF403-2E6B-4E53-DCB8-2C7E3422E9AA}"/>
              </a:ext>
            </a:extLst>
          </p:cNvPr>
          <p:cNvSpPr/>
          <p:nvPr/>
        </p:nvSpPr>
        <p:spPr>
          <a:xfrm rot="10800000">
            <a:off x="9079747" y="-800471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BDC1092-B593-05BA-911A-1F5847880CFC}"/>
              </a:ext>
            </a:extLst>
          </p:cNvPr>
          <p:cNvSpPr/>
          <p:nvPr/>
        </p:nvSpPr>
        <p:spPr>
          <a:xfrm rot="10800000">
            <a:off x="9955415" y="-739408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B1F2A057-8D0F-39B2-CF6F-C9D54D8FFB34}"/>
              </a:ext>
            </a:extLst>
          </p:cNvPr>
          <p:cNvSpPr/>
          <p:nvPr/>
        </p:nvSpPr>
        <p:spPr>
          <a:xfrm rot="10800000">
            <a:off x="10835655" y="-73562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0B2ED2-50F9-571A-20E3-6C74D95E9659}"/>
              </a:ext>
            </a:extLst>
          </p:cNvPr>
          <p:cNvSpPr/>
          <p:nvPr/>
        </p:nvSpPr>
        <p:spPr>
          <a:xfrm>
            <a:off x="6600825" y="1625340"/>
            <a:ext cx="1505562" cy="41771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A03276-89A8-01D8-CBBE-DC45AD83522E}"/>
              </a:ext>
            </a:extLst>
          </p:cNvPr>
          <p:cNvCxnSpPr/>
          <p:nvPr/>
        </p:nvCxnSpPr>
        <p:spPr>
          <a:xfrm>
            <a:off x="7372061" y="2066925"/>
            <a:ext cx="1219489" cy="257175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71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69D2-722A-5AD2-B86B-9C7F8963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C31DB-151C-1803-A027-025ABEF8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/>
              <a:t>Nested page-walk: Partial Walk Caches (PwC)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F47D9-7B51-EDB7-AE5C-05EE8107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B79E1-55A7-C8ED-C9FE-D52B7970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955FD0-4BAA-A33F-DB18-C41D6073F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PwCs</a:t>
            </a:r>
            <a:r>
              <a:rPr lang="en-US" dirty="0"/>
              <a:t> cache partial translations to shorten the walk </a:t>
            </a:r>
          </a:p>
          <a:p>
            <a:r>
              <a:rPr lang="en-US" dirty="0"/>
              <a:t>Use address prefixes to get to guest page table entries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04147FC-821D-3FAD-7610-2B1FBEAE8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52110"/>
            <a:ext cx="5257793" cy="486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995FDE-312E-2D73-D45E-5F86728F8924}"/>
              </a:ext>
            </a:extLst>
          </p:cNvPr>
          <p:cNvCxnSpPr>
            <a:cxnSpLocks/>
          </p:cNvCxnSpPr>
          <p:nvPr/>
        </p:nvCxnSpPr>
        <p:spPr>
          <a:xfrm>
            <a:off x="8930698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B6B454-613A-5E20-DDB4-2F708A17CF9E}"/>
              </a:ext>
            </a:extLst>
          </p:cNvPr>
          <p:cNvCxnSpPr>
            <a:cxnSpLocks/>
          </p:cNvCxnSpPr>
          <p:nvPr/>
        </p:nvCxnSpPr>
        <p:spPr>
          <a:xfrm>
            <a:off x="9782752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6109AC-FCD0-3D5E-08E5-66EE5818A1B5}"/>
              </a:ext>
            </a:extLst>
          </p:cNvPr>
          <p:cNvCxnSpPr>
            <a:cxnSpLocks/>
          </p:cNvCxnSpPr>
          <p:nvPr/>
        </p:nvCxnSpPr>
        <p:spPr>
          <a:xfrm>
            <a:off x="8134061" y="1520565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B2802E-F1DE-F3B0-2E0E-8D62589F7BE8}"/>
              </a:ext>
            </a:extLst>
          </p:cNvPr>
          <p:cNvCxnSpPr>
            <a:cxnSpLocks/>
          </p:cNvCxnSpPr>
          <p:nvPr/>
        </p:nvCxnSpPr>
        <p:spPr>
          <a:xfrm>
            <a:off x="7372061" y="1532688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32BB5-69D9-9CFA-E117-42BCCCFAF6EE}"/>
              </a:ext>
            </a:extLst>
          </p:cNvPr>
          <p:cNvSpPr txBox="1"/>
          <p:nvPr/>
        </p:nvSpPr>
        <p:spPr>
          <a:xfrm>
            <a:off x="9892313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19985-E725-EAA8-98D8-A4FC3B92928A}"/>
              </a:ext>
            </a:extLst>
          </p:cNvPr>
          <p:cNvSpPr txBox="1"/>
          <p:nvPr/>
        </p:nvSpPr>
        <p:spPr>
          <a:xfrm>
            <a:off x="9104808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0782DB-14B6-667D-871C-4E242B9A61B4}"/>
              </a:ext>
            </a:extLst>
          </p:cNvPr>
          <p:cNvSpPr txBox="1"/>
          <p:nvPr/>
        </p:nvSpPr>
        <p:spPr>
          <a:xfrm>
            <a:off x="8334664" y="13515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4EC8C8-4B30-4A7C-6E0A-43C72069B65D}"/>
              </a:ext>
            </a:extLst>
          </p:cNvPr>
          <p:cNvSpPr txBox="1"/>
          <p:nvPr/>
        </p:nvSpPr>
        <p:spPr>
          <a:xfrm>
            <a:off x="7515124" y="13332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1250D2F6-24E1-FE4F-9711-818688F6D34D}"/>
              </a:ext>
            </a:extLst>
          </p:cNvPr>
          <p:cNvSpPr/>
          <p:nvPr/>
        </p:nvSpPr>
        <p:spPr>
          <a:xfrm rot="10800000">
            <a:off x="9079747" y="-800471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D057113E-FE70-C6D4-3C45-EA5F673C9CE0}"/>
              </a:ext>
            </a:extLst>
          </p:cNvPr>
          <p:cNvSpPr/>
          <p:nvPr/>
        </p:nvSpPr>
        <p:spPr>
          <a:xfrm rot="10800000">
            <a:off x="9955415" y="-739408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8DA2D89F-18C3-AF39-2C59-A684ADE88D1B}"/>
              </a:ext>
            </a:extLst>
          </p:cNvPr>
          <p:cNvSpPr/>
          <p:nvPr/>
        </p:nvSpPr>
        <p:spPr>
          <a:xfrm rot="10800000">
            <a:off x="10835655" y="-73562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CAB3B-35F9-1E47-8EC9-1007A59D37CC}"/>
              </a:ext>
            </a:extLst>
          </p:cNvPr>
          <p:cNvSpPr/>
          <p:nvPr/>
        </p:nvSpPr>
        <p:spPr>
          <a:xfrm>
            <a:off x="6600824" y="1625340"/>
            <a:ext cx="2315903" cy="41771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47A9F0-874F-38F9-539A-7D9B0D140AC3}"/>
              </a:ext>
            </a:extLst>
          </p:cNvPr>
          <p:cNvCxnSpPr>
            <a:cxnSpLocks/>
          </p:cNvCxnSpPr>
          <p:nvPr/>
        </p:nvCxnSpPr>
        <p:spPr>
          <a:xfrm>
            <a:off x="7794042" y="2069584"/>
            <a:ext cx="1698179" cy="261105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60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8D83-40A4-348B-71A4-35A60386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D489-FB72-9B14-3F3A-641432FA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/>
              <a:t>Nested page-walk: Partial Walk Caches (PwC)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B8A91-A270-4FBF-C129-E77DB9F0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3936F-6877-8105-DC41-12BCAA34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61518B-B339-A55D-EDCD-228BEE89D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PwCs</a:t>
            </a:r>
            <a:r>
              <a:rPr lang="en-US" dirty="0"/>
              <a:t> cache partial translations to shorten the walk </a:t>
            </a:r>
          </a:p>
          <a:p>
            <a:r>
              <a:rPr lang="en-US" dirty="0"/>
              <a:t>Use address prefixes to get to guest page table entries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F77AE0F-76A3-8684-2434-C10513A55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52110"/>
            <a:ext cx="5257793" cy="486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51FF6B-4EC8-FB08-E141-75CD135265A5}"/>
              </a:ext>
            </a:extLst>
          </p:cNvPr>
          <p:cNvCxnSpPr>
            <a:cxnSpLocks/>
          </p:cNvCxnSpPr>
          <p:nvPr/>
        </p:nvCxnSpPr>
        <p:spPr>
          <a:xfrm>
            <a:off x="8930698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B2FFFE-B921-F5F4-E16D-45C1EB449416}"/>
              </a:ext>
            </a:extLst>
          </p:cNvPr>
          <p:cNvCxnSpPr>
            <a:cxnSpLocks/>
          </p:cNvCxnSpPr>
          <p:nvPr/>
        </p:nvCxnSpPr>
        <p:spPr>
          <a:xfrm>
            <a:off x="9782752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6AE5D6-0893-E464-C7BB-A42F13309A8D}"/>
              </a:ext>
            </a:extLst>
          </p:cNvPr>
          <p:cNvCxnSpPr>
            <a:cxnSpLocks/>
          </p:cNvCxnSpPr>
          <p:nvPr/>
        </p:nvCxnSpPr>
        <p:spPr>
          <a:xfrm>
            <a:off x="8134061" y="1520565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BCC2EF-5D4C-9584-C9CC-05309AA2ACC0}"/>
              </a:ext>
            </a:extLst>
          </p:cNvPr>
          <p:cNvCxnSpPr>
            <a:cxnSpLocks/>
          </p:cNvCxnSpPr>
          <p:nvPr/>
        </p:nvCxnSpPr>
        <p:spPr>
          <a:xfrm>
            <a:off x="7372061" y="1532688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ADC8B2B-B0CC-A0B2-EA50-117C756F3429}"/>
              </a:ext>
            </a:extLst>
          </p:cNvPr>
          <p:cNvSpPr txBox="1"/>
          <p:nvPr/>
        </p:nvSpPr>
        <p:spPr>
          <a:xfrm>
            <a:off x="9892313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8808BE-753C-5BD8-43B8-947AC74EA4CA}"/>
              </a:ext>
            </a:extLst>
          </p:cNvPr>
          <p:cNvSpPr txBox="1"/>
          <p:nvPr/>
        </p:nvSpPr>
        <p:spPr>
          <a:xfrm>
            <a:off x="9104808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859CE6-9724-B401-A55A-1001A30D45C5}"/>
              </a:ext>
            </a:extLst>
          </p:cNvPr>
          <p:cNvSpPr txBox="1"/>
          <p:nvPr/>
        </p:nvSpPr>
        <p:spPr>
          <a:xfrm>
            <a:off x="8334664" y="13515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81913-D8E1-EAE1-6E34-1DC495EBACD3}"/>
              </a:ext>
            </a:extLst>
          </p:cNvPr>
          <p:cNvSpPr txBox="1"/>
          <p:nvPr/>
        </p:nvSpPr>
        <p:spPr>
          <a:xfrm>
            <a:off x="7515124" y="13332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AA3A0A98-2B2C-2C4B-D2CA-817DCD2B5C60}"/>
              </a:ext>
            </a:extLst>
          </p:cNvPr>
          <p:cNvSpPr/>
          <p:nvPr/>
        </p:nvSpPr>
        <p:spPr>
          <a:xfrm rot="10800000">
            <a:off x="9955415" y="-739408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0A7EA9C-2F99-3E1E-091B-D894A6B55267}"/>
              </a:ext>
            </a:extLst>
          </p:cNvPr>
          <p:cNvSpPr/>
          <p:nvPr/>
        </p:nvSpPr>
        <p:spPr>
          <a:xfrm rot="10800000">
            <a:off x="10835655" y="-73562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0F8F8-AABE-23F3-00E7-3CB696BA0FFC}"/>
              </a:ext>
            </a:extLst>
          </p:cNvPr>
          <p:cNvSpPr/>
          <p:nvPr/>
        </p:nvSpPr>
        <p:spPr>
          <a:xfrm>
            <a:off x="6600824" y="1625340"/>
            <a:ext cx="3166511" cy="41771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FA193A-B733-9608-1C8B-0D9D7FA16273}"/>
              </a:ext>
            </a:extLst>
          </p:cNvPr>
          <p:cNvCxnSpPr>
            <a:cxnSpLocks/>
          </p:cNvCxnSpPr>
          <p:nvPr/>
        </p:nvCxnSpPr>
        <p:spPr>
          <a:xfrm>
            <a:off x="7794042" y="2069584"/>
            <a:ext cx="2616783" cy="264041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39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34BF-392F-74EB-780F-545E9B08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848A-CCE7-8D09-6333-6FD0DFD6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/>
              <a:t>Nested page-walk: Partial Walk Caches (PwC)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93C90-1273-74D8-A024-704BCAEE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0CD43-6A63-ADBC-F35B-0FCF5284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789B73-F80C-431F-7CB3-65949C287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PwCs</a:t>
            </a:r>
            <a:r>
              <a:rPr lang="en-US" dirty="0"/>
              <a:t> cache partial translations to shorten the walk </a:t>
            </a:r>
          </a:p>
          <a:p>
            <a:r>
              <a:rPr lang="en-US" dirty="0"/>
              <a:t>Use address prefixes to get to guest page table entries</a:t>
            </a:r>
          </a:p>
          <a:p>
            <a:endParaRPr lang="en-US" dirty="0"/>
          </a:p>
          <a:p>
            <a:r>
              <a:rPr lang="en-US" dirty="0"/>
              <a:t>All </a:t>
            </a:r>
            <a:r>
              <a:rPr lang="en-US" dirty="0" err="1"/>
              <a:t>PwCs</a:t>
            </a:r>
            <a:r>
              <a:rPr lang="en-US" dirty="0"/>
              <a:t> are searched in parallel</a:t>
            </a:r>
          </a:p>
          <a:p>
            <a:pPr lvl="1"/>
            <a:r>
              <a:rPr lang="en-US" dirty="0"/>
              <a:t>More power, on top of area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B1BDB52-37E6-0EB9-AF66-7C6294C2B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52110"/>
            <a:ext cx="5257793" cy="486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02F9F9-423D-523B-8BAC-7BDBFA757757}"/>
              </a:ext>
            </a:extLst>
          </p:cNvPr>
          <p:cNvCxnSpPr>
            <a:cxnSpLocks/>
          </p:cNvCxnSpPr>
          <p:nvPr/>
        </p:nvCxnSpPr>
        <p:spPr>
          <a:xfrm>
            <a:off x="8930698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6EFD48-D3CB-9944-C837-B7E2272ECF48}"/>
              </a:ext>
            </a:extLst>
          </p:cNvPr>
          <p:cNvCxnSpPr>
            <a:cxnSpLocks/>
          </p:cNvCxnSpPr>
          <p:nvPr/>
        </p:nvCxnSpPr>
        <p:spPr>
          <a:xfrm>
            <a:off x="9782752" y="1530090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938B0A-D865-1673-6589-9E8A8A2A9014}"/>
              </a:ext>
            </a:extLst>
          </p:cNvPr>
          <p:cNvCxnSpPr>
            <a:cxnSpLocks/>
          </p:cNvCxnSpPr>
          <p:nvPr/>
        </p:nvCxnSpPr>
        <p:spPr>
          <a:xfrm>
            <a:off x="8134061" y="1520565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EF9730-7EFF-6921-D0F6-6D5DEDD6832B}"/>
              </a:ext>
            </a:extLst>
          </p:cNvPr>
          <p:cNvCxnSpPr>
            <a:cxnSpLocks/>
          </p:cNvCxnSpPr>
          <p:nvPr/>
        </p:nvCxnSpPr>
        <p:spPr>
          <a:xfrm>
            <a:off x="7372061" y="1532688"/>
            <a:ext cx="0" cy="427238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3B61E69-F6F8-27FE-9893-C2BFA1DFCD81}"/>
              </a:ext>
            </a:extLst>
          </p:cNvPr>
          <p:cNvSpPr txBox="1"/>
          <p:nvPr/>
        </p:nvSpPr>
        <p:spPr>
          <a:xfrm>
            <a:off x="9892313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125DC3-6C16-E8D2-D12B-2248FB1095CC}"/>
              </a:ext>
            </a:extLst>
          </p:cNvPr>
          <p:cNvSpPr txBox="1"/>
          <p:nvPr/>
        </p:nvSpPr>
        <p:spPr>
          <a:xfrm>
            <a:off x="9104808" y="136447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DFFA78-F170-6D90-ECC2-6BBD69EC96ED}"/>
              </a:ext>
            </a:extLst>
          </p:cNvPr>
          <p:cNvSpPr txBox="1"/>
          <p:nvPr/>
        </p:nvSpPr>
        <p:spPr>
          <a:xfrm>
            <a:off x="8334664" y="13515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E36FC3-9ABA-FBD3-09DF-BE2BDACB322E}"/>
              </a:ext>
            </a:extLst>
          </p:cNvPr>
          <p:cNvSpPr txBox="1"/>
          <p:nvPr/>
        </p:nvSpPr>
        <p:spPr>
          <a:xfrm>
            <a:off x="7515124" y="13332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9b</a:t>
            </a:r>
            <a:endParaRPr lang="en-IL" dirty="0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2D9AB171-6836-5B18-C092-D4DDE74911FB}"/>
              </a:ext>
            </a:extLst>
          </p:cNvPr>
          <p:cNvSpPr/>
          <p:nvPr/>
        </p:nvSpPr>
        <p:spPr>
          <a:xfrm rot="10800000">
            <a:off x="10835655" y="-73562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030169-671F-DB61-DB7A-3F0BC11B468D}"/>
              </a:ext>
            </a:extLst>
          </p:cNvPr>
          <p:cNvSpPr/>
          <p:nvPr/>
        </p:nvSpPr>
        <p:spPr>
          <a:xfrm>
            <a:off x="6600824" y="1625340"/>
            <a:ext cx="3166511" cy="41771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Index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A734ED-DC3E-44B5-FBDD-568AE8E9F84E}"/>
              </a:ext>
            </a:extLst>
          </p:cNvPr>
          <p:cNvCxnSpPr>
            <a:cxnSpLocks/>
          </p:cNvCxnSpPr>
          <p:nvPr/>
        </p:nvCxnSpPr>
        <p:spPr>
          <a:xfrm>
            <a:off x="7794042" y="2069584"/>
            <a:ext cx="2616783" cy="264041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751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6067-4C93-57A3-9B27-E8BDD2EF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D161-37E6-381A-91AF-7606E54D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Page Walks: What can we do?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88025-46BE-C641-544D-ADC0B806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F6105-BEE9-0DC7-A87A-E86E8500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FC9C74-6106-F85D-53F1-F352B28DE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Active research topic</a:t>
            </a:r>
          </a:p>
          <a:p>
            <a:pPr lvl="1"/>
            <a:r>
              <a:rPr lang="en-US" dirty="0"/>
              <a:t>But no canonical solutions yet</a:t>
            </a:r>
          </a:p>
          <a:p>
            <a:pPr lvl="1"/>
            <a:endParaRPr lang="en-US" dirty="0"/>
          </a:p>
          <a:p>
            <a:r>
              <a:rPr lang="en-US" dirty="0"/>
              <a:t>Data centers have to do  with what hardware provides…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5086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86E0-5D29-E975-336C-3CD51208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24A1-B396-E052-C435-C0247E6C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page-walk in data centers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CA8AC-95CF-A94C-B584-DE31447E0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5E7B9-A001-11F5-31A0-C74117FD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0A666E-3994-D3E0-0E2C-D86718313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8879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Data centers use 1GB pages in hypervisors</a:t>
            </a:r>
          </a:p>
          <a:p>
            <a:endParaRPr lang="en-US" dirty="0"/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shortens walk to 15 mem. Accesses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Moving/swapping 1GB pages takes more time</a:t>
            </a:r>
          </a:p>
          <a:p>
            <a:endParaRPr lang="en-US" dirty="0"/>
          </a:p>
        </p:txBody>
      </p:sp>
      <p:pic>
        <p:nvPicPr>
          <p:cNvPr id="6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F1E7EA0-733C-D050-A52A-09C15F3FE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99195"/>
            <a:ext cx="5530850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136BDDF-A0F8-0577-6114-4379202C9393}"/>
              </a:ext>
            </a:extLst>
          </p:cNvPr>
          <p:cNvSpPr/>
          <p:nvPr/>
        </p:nvSpPr>
        <p:spPr bwMode="auto">
          <a:xfrm>
            <a:off x="5813425" y="2055811"/>
            <a:ext cx="1066800" cy="6858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sm" len="sm"/>
            <a:tailEnd type="stealth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AEBF64-221E-65DF-6E31-62795C84B0B0}"/>
              </a:ext>
            </a:extLst>
          </p:cNvPr>
          <p:cNvCxnSpPr>
            <a:endCxn id="7" idx="1"/>
          </p:cNvCxnSpPr>
          <p:nvPr/>
        </p:nvCxnSpPr>
        <p:spPr bwMode="auto">
          <a:xfrm>
            <a:off x="5432425" y="1751011"/>
            <a:ext cx="537229" cy="405233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F507B7-F03F-AF7B-21C6-B133EA562FB0}"/>
              </a:ext>
            </a:extLst>
          </p:cNvPr>
          <p:cNvSpPr txBox="1"/>
          <p:nvPr/>
        </p:nvSpPr>
        <p:spPr>
          <a:xfrm>
            <a:off x="4441825" y="1507825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table base: </a:t>
            </a:r>
            <a:r>
              <a:rPr lang="en-US" dirty="0" err="1"/>
              <a:t>gPA</a:t>
            </a:r>
            <a:endParaRPr lang="en-IL" dirty="0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3F4DEDD-99A9-4F9D-9A10-D3F034D6DB20}"/>
              </a:ext>
            </a:extLst>
          </p:cNvPr>
          <p:cNvSpPr/>
          <p:nvPr/>
        </p:nvSpPr>
        <p:spPr>
          <a:xfrm rot="10800000">
            <a:off x="7277437" y="-1070040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C2BDED39-DB52-8BBD-D46B-8AC54FE58803}"/>
              </a:ext>
            </a:extLst>
          </p:cNvPr>
          <p:cNvSpPr/>
          <p:nvPr/>
        </p:nvSpPr>
        <p:spPr>
          <a:xfrm rot="10800000">
            <a:off x="8258428" y="-104933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C6A9B561-069B-DC0D-BAB2-09807A5A5717}"/>
              </a:ext>
            </a:extLst>
          </p:cNvPr>
          <p:cNvSpPr/>
          <p:nvPr/>
        </p:nvSpPr>
        <p:spPr>
          <a:xfrm rot="10800000">
            <a:off x="9203572" y="-990971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80CF6E9-1B01-488B-11ED-53F77830322B}"/>
              </a:ext>
            </a:extLst>
          </p:cNvPr>
          <p:cNvSpPr/>
          <p:nvPr/>
        </p:nvSpPr>
        <p:spPr>
          <a:xfrm rot="10800000">
            <a:off x="10079240" y="-929908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3828BAE9-2F8A-DB01-6C72-8ADBAFE4EBA4}"/>
              </a:ext>
            </a:extLst>
          </p:cNvPr>
          <p:cNvSpPr/>
          <p:nvPr/>
        </p:nvSpPr>
        <p:spPr>
          <a:xfrm rot="10800000">
            <a:off x="10959480" y="-926126"/>
            <a:ext cx="603115" cy="7070657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BA71EC4B-C24A-D798-AC58-D1F544CF7F66}"/>
              </a:ext>
            </a:extLst>
          </p:cNvPr>
          <p:cNvSpPr/>
          <p:nvPr/>
        </p:nvSpPr>
        <p:spPr>
          <a:xfrm rot="10800000">
            <a:off x="7277436" y="715867"/>
            <a:ext cx="603115" cy="3568146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322F7AA-863F-DF79-65F5-1F077F86DE93}"/>
              </a:ext>
            </a:extLst>
          </p:cNvPr>
          <p:cNvSpPr/>
          <p:nvPr/>
        </p:nvSpPr>
        <p:spPr>
          <a:xfrm rot="10800000">
            <a:off x="8258427" y="681215"/>
            <a:ext cx="603115" cy="3568146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2812668E-E11E-2F8A-DC49-DA3D23B0062F}"/>
              </a:ext>
            </a:extLst>
          </p:cNvPr>
          <p:cNvSpPr/>
          <p:nvPr/>
        </p:nvSpPr>
        <p:spPr>
          <a:xfrm rot="10800000">
            <a:off x="9203444" y="715867"/>
            <a:ext cx="603115" cy="3568146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B269A1D-B84B-99A5-88A9-6B68DEE45DF6}"/>
              </a:ext>
            </a:extLst>
          </p:cNvPr>
          <p:cNvSpPr/>
          <p:nvPr/>
        </p:nvSpPr>
        <p:spPr>
          <a:xfrm rot="10800000">
            <a:off x="10069946" y="739345"/>
            <a:ext cx="603115" cy="3568146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E7700315-E557-6877-BE0F-9AE46A485AB8}"/>
              </a:ext>
            </a:extLst>
          </p:cNvPr>
          <p:cNvSpPr/>
          <p:nvPr/>
        </p:nvSpPr>
        <p:spPr>
          <a:xfrm rot="10800000">
            <a:off x="10967336" y="821347"/>
            <a:ext cx="603115" cy="3568146"/>
          </a:xfrm>
          <a:prstGeom prst="arc">
            <a:avLst>
              <a:gd name="adj1" fmla="val 11396262"/>
              <a:gd name="adj2" fmla="val 0"/>
            </a:avLst>
          </a:prstGeom>
          <a:ln w="38100">
            <a:solidFill>
              <a:srgbClr val="FF0000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32D5D4-B9D4-FB29-811E-BDCCD6441466}"/>
              </a:ext>
            </a:extLst>
          </p:cNvPr>
          <p:cNvSpPr txBox="1"/>
          <p:nvPr/>
        </p:nvSpPr>
        <p:spPr>
          <a:xfrm>
            <a:off x="5494943" y="5848432"/>
            <a:ext cx="122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4KB pages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9D77C-505E-6466-D14A-24CCCEDEEB02}"/>
              </a:ext>
            </a:extLst>
          </p:cNvPr>
          <p:cNvSpPr txBox="1"/>
          <p:nvPr/>
        </p:nvSpPr>
        <p:spPr>
          <a:xfrm>
            <a:off x="5510654" y="4935444"/>
            <a:ext cx="127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2MB pages</a:t>
            </a:r>
            <a:endParaRPr lang="en-I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7A5433-4C7A-7E76-5059-799F86E75B27}"/>
              </a:ext>
            </a:extLst>
          </p:cNvPr>
          <p:cNvSpPr txBox="1"/>
          <p:nvPr/>
        </p:nvSpPr>
        <p:spPr>
          <a:xfrm>
            <a:off x="5504370" y="4013255"/>
            <a:ext cx="125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1GB pages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477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3" grpId="0" animBg="1"/>
      <p:bldP spid="12" grpId="0" animBg="1"/>
      <p:bldP spid="14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7D7C1-D55A-845D-8569-48D0A914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EBE7-2911-3CDF-D310-B1683A4E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page-walk: Overheads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51ABC-6C11-1447-AF28-363BF662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43967-1A56-7A1E-518E-F270B7FE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B10187-E55A-4901-9AFA-BF307E377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775" cy="4351338"/>
          </a:xfrm>
        </p:spPr>
        <p:txBody>
          <a:bodyPr/>
          <a:lstStyle/>
          <a:p>
            <a:r>
              <a:rPr lang="en-US" dirty="0"/>
              <a:t>Two seminal papers that introduced the overheads</a:t>
            </a:r>
          </a:p>
          <a:p>
            <a:pPr lvl="1"/>
            <a:r>
              <a:rPr lang="en-US" dirty="0"/>
              <a:t>Basu et al., “</a:t>
            </a:r>
            <a:r>
              <a:rPr lang="en-US" i="1" dirty="0"/>
              <a:t>Efficient virtual memory for big memory servers</a:t>
            </a:r>
            <a:r>
              <a:rPr lang="en-US" dirty="0"/>
              <a:t>”. In ISCA 2013</a:t>
            </a:r>
          </a:p>
          <a:p>
            <a:pPr lvl="1"/>
            <a:r>
              <a:rPr lang="en-US" dirty="0"/>
              <a:t>Alam et al., “</a:t>
            </a:r>
            <a:r>
              <a:rPr lang="en-US" i="1" dirty="0"/>
              <a:t>Do-It-Yourself Virtual Memory Translation</a:t>
            </a:r>
            <a:r>
              <a:rPr lang="en-US" dirty="0"/>
              <a:t>”. In ISCA 2017</a:t>
            </a:r>
          </a:p>
          <a:p>
            <a:pPr lvl="1"/>
            <a:endParaRPr lang="en-US" dirty="0"/>
          </a:p>
          <a:p>
            <a:r>
              <a:rPr lang="en-US" dirty="0"/>
              <a:t>Very different proposals that target the same problem</a:t>
            </a:r>
          </a:p>
          <a:p>
            <a:endParaRPr lang="en-US" dirty="0"/>
          </a:p>
          <a:p>
            <a:r>
              <a:rPr lang="en-US" dirty="0"/>
              <a:t>Not the only proposals…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6159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8750-03DB-9371-256A-C949C565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756B-CD5A-3A18-FD36-485EA82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Nested page-walk: Skip translation (Basu’13)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1371-FC55-9B9E-F338-A43CBCAE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364AA-1F3D-7B91-F22B-44A478A14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F8265F-7C18-9C0E-7F33-76371EA31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2781" cy="4351338"/>
          </a:xfrm>
        </p:spPr>
        <p:txBody>
          <a:bodyPr/>
          <a:lstStyle/>
          <a:p>
            <a:r>
              <a:rPr lang="en-US" dirty="0"/>
              <a:t>Observation: </a:t>
            </a:r>
            <a:br>
              <a:rPr lang="en-US" dirty="0"/>
            </a:br>
            <a:r>
              <a:rPr lang="en-US" dirty="0"/>
              <a:t>The overheads of TLB misses is staggering for 4KB and 2MB pages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CCF70D-84C1-5B91-BB4E-43E47D055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981" y="2114550"/>
            <a:ext cx="5503224" cy="362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315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07B5-B61F-0D8D-4C21-864F6DA3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45A6-EBC9-7876-D244-7E906CA5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Nested page-walk: Skip translation (Basu’13)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5B952-2EA6-75A5-F91A-3FD45AA9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D7AB5-DA05-917C-9D2A-C895E9DD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DAED5E-A217-4310-7196-3A110E7A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2781" cy="4351338"/>
          </a:xfrm>
        </p:spPr>
        <p:txBody>
          <a:bodyPr/>
          <a:lstStyle/>
          <a:p>
            <a:r>
              <a:rPr lang="en-US" dirty="0"/>
              <a:t>Observation: </a:t>
            </a:r>
            <a:br>
              <a:rPr lang="en-US" dirty="0"/>
            </a:br>
            <a:r>
              <a:rPr lang="en-US" dirty="0"/>
              <a:t>The overheads of TLB misses is staggering for 4KB and 2MB pages</a:t>
            </a:r>
          </a:p>
          <a:p>
            <a:endParaRPr lang="en-US" dirty="0"/>
          </a:p>
          <a:p>
            <a:r>
              <a:rPr lang="en-US" dirty="0"/>
              <a:t>Insight:</a:t>
            </a:r>
          </a:p>
          <a:p>
            <a:pPr lvl="1"/>
            <a:r>
              <a:rPr lang="en-US" dirty="0"/>
              <a:t>Use some of the physical memory for contiguous memory segments</a:t>
            </a:r>
          </a:p>
          <a:p>
            <a:pPr lvl="1"/>
            <a:r>
              <a:rPr lang="en-US" dirty="0"/>
              <a:t>Allow direct translation </a:t>
            </a:r>
            <a:r>
              <a:rPr lang="en-US" dirty="0" err="1"/>
              <a:t>gVA</a:t>
            </a:r>
            <a:r>
              <a:rPr lang="en-US" dirty="0"/>
              <a:t>-&gt;</a:t>
            </a:r>
            <a:r>
              <a:rPr lang="en-US" dirty="0" err="1"/>
              <a:t>hPA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397CC-9C5E-73E0-684B-BE9071BAB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409" y="2205581"/>
            <a:ext cx="4877481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263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8600-46B5-DA31-380D-2E59A7BB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2F19-55E6-E019-0DA9-8BF993812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Nested page-walk: Skip translation (Basu’13)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64F87-23E8-0EA3-7176-AA2FCCD7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81727-1CB5-4D43-BD2B-E6BAF3EE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7EAF9C-7977-1823-19A0-D17537BC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278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Observation: </a:t>
            </a:r>
            <a:br>
              <a:rPr lang="en-US" dirty="0"/>
            </a:br>
            <a:r>
              <a:rPr lang="en-US" dirty="0"/>
              <a:t>The overheads of TLB misses is staggering for 4KB and 2MB pages</a:t>
            </a:r>
          </a:p>
          <a:p>
            <a:endParaRPr lang="en-US" dirty="0"/>
          </a:p>
          <a:p>
            <a:r>
              <a:rPr lang="en-US" dirty="0"/>
              <a:t>Insight:</a:t>
            </a:r>
          </a:p>
          <a:p>
            <a:pPr lvl="1"/>
            <a:r>
              <a:rPr lang="en-US" dirty="0"/>
              <a:t>Use some of the physical memory for contiguous memory segments</a:t>
            </a:r>
          </a:p>
          <a:p>
            <a:pPr lvl="1"/>
            <a:r>
              <a:rPr lang="en-US" dirty="0"/>
              <a:t>Allow direct translation </a:t>
            </a:r>
            <a:r>
              <a:rPr lang="en-US" dirty="0" err="1"/>
              <a:t>gVA</a:t>
            </a:r>
            <a:r>
              <a:rPr lang="en-US" dirty="0"/>
              <a:t>-&gt;</a:t>
            </a:r>
            <a:r>
              <a:rPr lang="en-US" dirty="0" err="1"/>
              <a:t>hPA</a:t>
            </a:r>
            <a:endParaRPr lang="en-US" dirty="0"/>
          </a:p>
          <a:p>
            <a:endParaRPr lang="en-US" dirty="0"/>
          </a:p>
          <a:p>
            <a:r>
              <a:rPr lang="en-US" dirty="0"/>
              <a:t>Benefits: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BF54F-0AE3-CF59-11E2-7F350516D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982" y="1990725"/>
            <a:ext cx="5705060" cy="378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972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CC0E-4770-7117-3D73-9CF7B1F5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F899-E7B4-F402-EA4C-26F18A45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Nested page-walk: Skip translation (Basu’13)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EF81-834D-CB04-C51B-7F3FB4FF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07BBC-7D12-51C3-E24A-492350A5A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80B6B0-E5D7-F295-69B2-FCA116958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>
            <a:normAutofit/>
          </a:bodyPr>
          <a:lstStyle/>
          <a:p>
            <a:r>
              <a:rPr lang="en-US" dirty="0"/>
              <a:t>Pros: </a:t>
            </a:r>
          </a:p>
          <a:p>
            <a:pPr lvl="1"/>
            <a:r>
              <a:rPr lang="en-US" dirty="0"/>
              <a:t>Observation that memory translation in VMs is a real pain</a:t>
            </a:r>
          </a:p>
          <a:p>
            <a:pPr lvl="1"/>
            <a:r>
              <a:rPr lang="en-US" dirty="0"/>
              <a:t>Dramatic reduction in translation overheads</a:t>
            </a:r>
          </a:p>
          <a:p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Reserving contiguous physical memory impacts hypervisor’s flexibility</a:t>
            </a:r>
          </a:p>
          <a:p>
            <a:pPr lvl="1"/>
            <a:r>
              <a:rPr lang="en-US" dirty="0"/>
              <a:t>Prone to memory fragmentation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151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5074-A17F-1A0D-8FFE-F9AD4041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AAA3-3287-FED9-4381-9EBA5C25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9500" cy="1325563"/>
          </a:xfrm>
        </p:spPr>
        <p:txBody>
          <a:bodyPr/>
          <a:lstStyle/>
          <a:p>
            <a:r>
              <a:rPr lang="en-US" dirty="0"/>
              <a:t>Nested page-walk: Flexible translation (Alam’17)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D7823-4F81-CE85-709F-6CFBD609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B4EEE-EF98-5150-9210-BC5C7D1A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F17D5C-E18D-09D7-83BC-40F4D96A3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 1:</a:t>
            </a:r>
          </a:p>
          <a:p>
            <a:pPr lvl="1"/>
            <a:r>
              <a:rPr lang="en-US" dirty="0"/>
              <a:t>Translation is a pain even</a:t>
            </a:r>
            <a:br>
              <a:rPr lang="en-US" dirty="0"/>
            </a:br>
            <a:r>
              <a:rPr lang="en-US" dirty="0"/>
              <a:t>without virtualization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A9B8E-37A2-2F2F-7F5B-81BC5A24C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784" y="1825625"/>
            <a:ext cx="6144482" cy="3639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C43EA6-69A9-656B-A761-C2725AB8899D}"/>
              </a:ext>
            </a:extLst>
          </p:cNvPr>
          <p:cNvSpPr txBox="1"/>
          <p:nvPr/>
        </p:nvSpPr>
        <p:spPr>
          <a:xfrm>
            <a:off x="7162889" y="5464683"/>
            <a:ext cx="3975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Native execution, 4KB pages (Haswell)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936136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BB70-29A1-84A2-B309-6472B977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B27719-6EFF-D62B-3531-B76792AA9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429000"/>
            <a:ext cx="5048682" cy="2943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974D6B-AD8A-AA15-CACA-3B42E711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9500" cy="1325563"/>
          </a:xfrm>
        </p:spPr>
        <p:txBody>
          <a:bodyPr/>
          <a:lstStyle/>
          <a:p>
            <a:r>
              <a:rPr lang="en-US" dirty="0"/>
              <a:t>Nested page-walk: Flexible translation (Alam’17)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CC817-D875-AC00-1EEB-0F884038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4EF27-5FB7-4AF2-6C8B-962EDBCE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EEFFDD-24A8-F140-08D4-D9CD2E3B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 1:</a:t>
            </a:r>
          </a:p>
          <a:p>
            <a:pPr lvl="1"/>
            <a:r>
              <a:rPr lang="en-US" dirty="0"/>
              <a:t>Translation is a pain even</a:t>
            </a:r>
            <a:br>
              <a:rPr lang="en-US" dirty="0"/>
            </a:br>
            <a:r>
              <a:rPr lang="en-US" dirty="0"/>
              <a:t>without virtualization</a:t>
            </a:r>
          </a:p>
          <a:p>
            <a:pPr lvl="1"/>
            <a:r>
              <a:rPr lang="en-US" dirty="0"/>
              <a:t>Gets worse with VMs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27ED9-95D1-7CD2-2ECC-89A44F3BDE34}"/>
              </a:ext>
            </a:extLst>
          </p:cNvPr>
          <p:cNvSpPr txBox="1"/>
          <p:nvPr/>
        </p:nvSpPr>
        <p:spPr>
          <a:xfrm>
            <a:off x="2474006" y="6188104"/>
            <a:ext cx="122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4KB pages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4DE1B9-3E8D-438E-D5B2-B1316BD51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5" y="3429000"/>
            <a:ext cx="5259804" cy="30543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CDDEDA-97EA-F4FD-70CE-97997A0F5100}"/>
              </a:ext>
            </a:extLst>
          </p:cNvPr>
          <p:cNvSpPr txBox="1"/>
          <p:nvPr/>
        </p:nvSpPr>
        <p:spPr>
          <a:xfrm>
            <a:off x="8541431" y="6197629"/>
            <a:ext cx="127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2MB pages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631417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184E-E4F1-F0A1-475B-A1BF3F11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9F28-C4C0-EB28-1703-88758EFC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9500" cy="1325563"/>
          </a:xfrm>
        </p:spPr>
        <p:txBody>
          <a:bodyPr/>
          <a:lstStyle/>
          <a:p>
            <a:r>
              <a:rPr lang="en-US" dirty="0"/>
              <a:t>Nested page-walk: Flexible translation (Alam’17)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3ED25-F3B2-E0AE-F5DC-24911E04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41AFB-5122-1367-AD92-66D5A266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BE78EB-6F9A-C330-2702-C5330327D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 1:</a:t>
            </a:r>
          </a:p>
          <a:p>
            <a:pPr lvl="1"/>
            <a:r>
              <a:rPr lang="en-US" dirty="0"/>
              <a:t>Translation is a pain even</a:t>
            </a:r>
            <a:br>
              <a:rPr lang="en-US" dirty="0"/>
            </a:br>
            <a:r>
              <a:rPr lang="en-US" dirty="0"/>
              <a:t>without virtualization</a:t>
            </a:r>
          </a:p>
          <a:p>
            <a:pPr lvl="1"/>
            <a:r>
              <a:rPr lang="en-US" dirty="0"/>
              <a:t>Gets worse with VMs</a:t>
            </a:r>
          </a:p>
          <a:p>
            <a:r>
              <a:rPr lang="en-US" dirty="0"/>
              <a:t>Observation 2:</a:t>
            </a:r>
          </a:p>
          <a:p>
            <a:pPr lvl="1"/>
            <a:r>
              <a:rPr lang="en-US" dirty="0"/>
              <a:t>Larger </a:t>
            </a:r>
            <a:r>
              <a:rPr lang="en-US" dirty="0" err="1"/>
              <a:t>PwCs</a:t>
            </a:r>
            <a:r>
              <a:rPr lang="en-US" dirty="0"/>
              <a:t> and L2TLBs help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03ABD-DFCA-AEAD-6906-5695BF69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655" y="2219325"/>
            <a:ext cx="6434045" cy="3005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34BB5F-EFED-F5C1-926C-008135001EA2}"/>
              </a:ext>
            </a:extLst>
          </p:cNvPr>
          <p:cNvSpPr txBox="1"/>
          <p:nvPr/>
        </p:nvSpPr>
        <p:spPr>
          <a:xfrm rot="16200000">
            <a:off x="4666867" y="3033524"/>
            <a:ext cx="20914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Translation overhead [%]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5102360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74ECC-E7F0-C309-4C93-3859CF7E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33FC-6387-6B3E-007C-685D5A3A1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9500" cy="1325563"/>
          </a:xfrm>
        </p:spPr>
        <p:txBody>
          <a:bodyPr/>
          <a:lstStyle/>
          <a:p>
            <a:r>
              <a:rPr lang="en-US" dirty="0"/>
              <a:t>Nested page-walk: Flexible translation (Alam’17)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A20A2-E963-370E-EAD8-C6BA4747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94201-9926-ED3B-4116-EB764778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C4F49E-9854-C449-3BDB-DFAFC5136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 1:</a:t>
            </a:r>
          </a:p>
          <a:p>
            <a:pPr lvl="1"/>
            <a:r>
              <a:rPr lang="en-US" dirty="0"/>
              <a:t>Translation is a pain even</a:t>
            </a:r>
            <a:br>
              <a:rPr lang="en-US" dirty="0"/>
            </a:br>
            <a:r>
              <a:rPr lang="en-US" dirty="0"/>
              <a:t>without virtualization</a:t>
            </a:r>
          </a:p>
          <a:p>
            <a:pPr lvl="1"/>
            <a:r>
              <a:rPr lang="en-US" dirty="0"/>
              <a:t>Gets worse with VMs</a:t>
            </a:r>
          </a:p>
          <a:p>
            <a:r>
              <a:rPr lang="en-US" dirty="0"/>
              <a:t>Observation 2:</a:t>
            </a:r>
          </a:p>
          <a:p>
            <a:pPr lvl="1"/>
            <a:r>
              <a:rPr lang="en-US" dirty="0"/>
              <a:t>Larger </a:t>
            </a:r>
            <a:r>
              <a:rPr lang="en-US" dirty="0" err="1"/>
              <a:t>PwCs</a:t>
            </a:r>
            <a:r>
              <a:rPr lang="en-US" dirty="0"/>
              <a:t> and L2TLBs help</a:t>
            </a:r>
          </a:p>
          <a:p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The Radix tree data structure is not suitable for all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2262825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3FF8-A572-7A48-A2E9-EF1217C8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AE4C-972E-1BFE-F7F6-C75E4B65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9500" cy="1325563"/>
          </a:xfrm>
        </p:spPr>
        <p:txBody>
          <a:bodyPr/>
          <a:lstStyle/>
          <a:p>
            <a:r>
              <a:rPr lang="en-US" dirty="0"/>
              <a:t>Nested page-walk: Flexible translation (Alam’17)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35898-9D79-C0A1-23AF-02FE461A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727BF-7943-375A-F088-326C5ABC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F09362-0E72-EE99-84AF-41EC69EF5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9185"/>
          </a:xfrm>
        </p:spPr>
        <p:txBody>
          <a:bodyPr>
            <a:normAutofit/>
          </a:bodyPr>
          <a:lstStyle/>
          <a:p>
            <a:r>
              <a:rPr lang="en-US" dirty="0"/>
              <a:t>Observation 1:</a:t>
            </a:r>
          </a:p>
          <a:p>
            <a:pPr lvl="1"/>
            <a:r>
              <a:rPr lang="en-US" dirty="0"/>
              <a:t>Translation is a pain even</a:t>
            </a:r>
            <a:br>
              <a:rPr lang="en-US" dirty="0"/>
            </a:br>
            <a:r>
              <a:rPr lang="en-US" dirty="0"/>
              <a:t>without virtualization</a:t>
            </a:r>
          </a:p>
          <a:p>
            <a:pPr lvl="1"/>
            <a:r>
              <a:rPr lang="en-US" dirty="0"/>
              <a:t>Gets worse with VMs</a:t>
            </a:r>
          </a:p>
          <a:p>
            <a:r>
              <a:rPr lang="en-US" dirty="0"/>
              <a:t>Observation 2:</a:t>
            </a:r>
          </a:p>
          <a:p>
            <a:pPr lvl="1"/>
            <a:r>
              <a:rPr lang="en-US" dirty="0"/>
              <a:t>Larger </a:t>
            </a:r>
            <a:r>
              <a:rPr lang="en-US" dirty="0" err="1"/>
              <a:t>PwCs</a:t>
            </a:r>
            <a:r>
              <a:rPr lang="en-US" dirty="0"/>
              <a:t> and L2TLBs help</a:t>
            </a:r>
          </a:p>
          <a:p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The Radix tree data structure is not suitable for all applications</a:t>
            </a:r>
          </a:p>
          <a:p>
            <a:r>
              <a:rPr lang="en-US" dirty="0"/>
              <a:t>Proposal:</a:t>
            </a:r>
          </a:p>
          <a:p>
            <a:pPr lvl="1"/>
            <a:r>
              <a:rPr lang="en-US" dirty="0"/>
              <a:t>Let applications perform memory translation (with some optimizations)</a:t>
            </a:r>
          </a:p>
          <a:p>
            <a:pPr lvl="1"/>
            <a:r>
              <a:rPr lang="en-US" dirty="0"/>
              <a:t>Permissions are checked when translation is inserted to TLB</a:t>
            </a:r>
          </a:p>
        </p:txBody>
      </p:sp>
    </p:spTree>
    <p:extLst>
      <p:ext uri="{BB962C8B-B14F-4D97-AF65-F5344CB8AC3E}">
        <p14:creationId xmlns:p14="http://schemas.microsoft.com/office/powerpoint/2010/main" val="11770126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5B8E-A365-EB36-5A90-5527880A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AEE9-46EC-BF9C-A992-2EC848AE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9500" cy="1325563"/>
          </a:xfrm>
        </p:spPr>
        <p:txBody>
          <a:bodyPr/>
          <a:lstStyle/>
          <a:p>
            <a:r>
              <a:rPr lang="en-US" dirty="0"/>
              <a:t>Nested page-walk: Flexible translation (Alam’17)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28130-85A4-A965-80C4-8788614B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6BCD8-4881-CF0B-2138-3DAF5D31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A7FEC8-48D1-328C-DE9F-B231466B9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(higher is better):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BAED6-528A-32E0-985A-28DD3EA5C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2566474"/>
            <a:ext cx="10202699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266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7ED49-F140-D558-6570-C2E23450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96F6-6EAC-C574-5599-FAFCDCFB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9500" cy="1325563"/>
          </a:xfrm>
        </p:spPr>
        <p:txBody>
          <a:bodyPr/>
          <a:lstStyle/>
          <a:p>
            <a:r>
              <a:rPr lang="en-US" dirty="0"/>
              <a:t>Nested page-walk: Flexible translation (Alam’17)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ECE26-ECAB-1E58-5D75-A13AB7F1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22AF7-A526-8D79-A622-B666E807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3C7294-3E8B-AA83-7A09-75893D4BC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53775" cy="4351338"/>
          </a:xfrm>
        </p:spPr>
        <p:txBody>
          <a:bodyPr>
            <a:normAutofit/>
          </a:bodyPr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Another demonstration that memory translation (not just in VMs) is painful</a:t>
            </a:r>
          </a:p>
          <a:p>
            <a:pPr lvl="1"/>
            <a:r>
              <a:rPr lang="en-US" dirty="0"/>
              <a:t>Allowing apps to select their own translation data structure is highly beneficial</a:t>
            </a:r>
          </a:p>
          <a:p>
            <a:pPr lvl="1"/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Not trivial to implement</a:t>
            </a:r>
          </a:p>
          <a:p>
            <a:pPr lvl="1"/>
            <a:r>
              <a:rPr lang="en-US" dirty="0"/>
              <a:t>Too many changes to existing systems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9509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B576-2BE8-F0FB-9691-49A800CC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page walk: Summary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78B6B-045E-57BC-0CBF-319E8B2D1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4902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Virtual memory is an important abstraction, but comes at a cost</a:t>
            </a:r>
          </a:p>
          <a:p>
            <a:endParaRPr lang="en-US" dirty="0"/>
          </a:p>
          <a:p>
            <a:r>
              <a:rPr lang="en-US" dirty="0"/>
              <a:t>Translation consume a large fraction of machine cycles</a:t>
            </a:r>
          </a:p>
          <a:p>
            <a:endParaRPr lang="en-US" dirty="0"/>
          </a:p>
          <a:p>
            <a:r>
              <a:rPr lang="en-US" dirty="0"/>
              <a:t>An active research area with a lot of room for improvement</a:t>
            </a:r>
          </a:p>
          <a:p>
            <a:endParaRPr lang="en-US" dirty="0"/>
          </a:p>
          <a:p>
            <a:r>
              <a:rPr lang="en-US" dirty="0"/>
              <a:t>Part of a bigger problem: </a:t>
            </a:r>
          </a:p>
          <a:p>
            <a:pPr lvl="1"/>
            <a:r>
              <a:rPr lang="en-US" b="1" dirty="0"/>
              <a:t>Virtual memory (and other HW/SW abstractions) designed in simpler times</a:t>
            </a:r>
          </a:p>
          <a:p>
            <a:pPr lvl="1"/>
            <a:r>
              <a:rPr lang="en-US" b="1" dirty="0"/>
              <a:t>Not a good fit for modern workloads running on manycore CPUs</a:t>
            </a:r>
          </a:p>
          <a:p>
            <a:pPr lvl="1"/>
            <a:r>
              <a:rPr lang="en-US" b="1" dirty="0"/>
              <a:t>We need to rethink these abstractions</a:t>
            </a:r>
          </a:p>
          <a:p>
            <a:endParaRPr lang="en-US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D05AB-D143-B852-A09F-68E339F30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0F73E-550D-4ED8-7027-1E504D52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884857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DDC994-34C4-1EAD-C796-24734EAA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24AA08-3B71-B26D-917D-6FECD8723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0AC2-975C-D66D-8A9E-69938BEF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43DDC-F163-A72C-EE4A-3E3E164A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49739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29149</TotalTime>
  <Words>3759</Words>
  <Application>Microsoft Office PowerPoint</Application>
  <PresentationFormat>Widescreen</PresentationFormat>
  <Paragraphs>947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Aptos</vt:lpstr>
      <vt:lpstr>Aptos Display</vt:lpstr>
      <vt:lpstr>Arial</vt:lpstr>
      <vt:lpstr>Symbol</vt:lpstr>
      <vt:lpstr>Wingdings</vt:lpstr>
      <vt:lpstr>Office Theme</vt:lpstr>
      <vt:lpstr>Virtual Memory</vt:lpstr>
      <vt:lpstr>Virtual memory recap</vt:lpstr>
      <vt:lpstr>Virtual memory recap</vt:lpstr>
      <vt:lpstr>Virtual memory recap</vt:lpstr>
      <vt:lpstr>Virtual memory recap</vt:lpstr>
      <vt:lpstr>TLBs: Single core</vt:lpstr>
      <vt:lpstr>TLBs: Single core</vt:lpstr>
      <vt:lpstr>TLBs: Single core</vt:lpstr>
      <vt:lpstr>TLBs: Single core</vt:lpstr>
      <vt:lpstr>TLBs: Single core</vt:lpstr>
      <vt:lpstr>TLBs: Single core</vt:lpstr>
      <vt:lpstr>TLBs: Multicore</vt:lpstr>
      <vt:lpstr>TLBs: Multicore</vt:lpstr>
      <vt:lpstr>TLBs: Multicore</vt:lpstr>
      <vt:lpstr>TLBs: Multicore</vt:lpstr>
      <vt:lpstr>TLBs: Multicore</vt:lpstr>
      <vt:lpstr>TLBs: Multicore</vt:lpstr>
      <vt:lpstr>TLBs: Multicore</vt:lpstr>
      <vt:lpstr>The TLB coherence problem</vt:lpstr>
      <vt:lpstr>The TLB coherence problem</vt:lpstr>
      <vt:lpstr>The TLB coherence problem</vt:lpstr>
      <vt:lpstr>TLB shootdown</vt:lpstr>
      <vt:lpstr>TLB shootdown</vt:lpstr>
      <vt:lpstr>TLB shootdown</vt:lpstr>
      <vt:lpstr>TLB shootdown</vt:lpstr>
      <vt:lpstr>TLB shootdown</vt:lpstr>
      <vt:lpstr>TLB shootdown</vt:lpstr>
      <vt:lpstr>TLB shootdown</vt:lpstr>
      <vt:lpstr>TLB shootdown</vt:lpstr>
      <vt:lpstr>TLB shootdown</vt:lpstr>
      <vt:lpstr>TLB shootdown</vt:lpstr>
      <vt:lpstr>TLB shootdown: The overhead</vt:lpstr>
      <vt:lpstr>TLB shootdown: The overhead</vt:lpstr>
      <vt:lpstr>TLB shootdown: HW/SW co-designs</vt:lpstr>
      <vt:lpstr>TLB shootdown: Intel RAR</vt:lpstr>
      <vt:lpstr>TLB shootdown: Intel RAR</vt:lpstr>
      <vt:lpstr>TLB shootdown</vt:lpstr>
      <vt:lpstr>TLB shootdown: Intel RAR</vt:lpstr>
      <vt:lpstr>TLB shootdown: Intel RAR</vt:lpstr>
      <vt:lpstr>TLB shootdown: AMD INVLPGB</vt:lpstr>
      <vt:lpstr>TLB shootdown</vt:lpstr>
      <vt:lpstr>TLB shootdown: AMD INVLPGB</vt:lpstr>
      <vt:lpstr>TLB shootdown: Summary</vt:lpstr>
      <vt:lpstr>Nested virtual memory translation</vt:lpstr>
      <vt:lpstr>Nested virtual memory translation</vt:lpstr>
      <vt:lpstr>Nested virtual memory translation</vt:lpstr>
      <vt:lpstr>Nested page-walk</vt:lpstr>
      <vt:lpstr>Nested page-walk</vt:lpstr>
      <vt:lpstr>Nested page-walk</vt:lpstr>
      <vt:lpstr>Nested page-walk: Partial Walk Caches (PwC)</vt:lpstr>
      <vt:lpstr>Nested page-walk: Partial Walk Caches (PwC)</vt:lpstr>
      <vt:lpstr>Nested page-walk: Partial Walk Caches (PwC)</vt:lpstr>
      <vt:lpstr>Nested page-walk: Partial Walk Caches (PwC)</vt:lpstr>
      <vt:lpstr>Nested page-walk: Partial Walk Caches (PwC)</vt:lpstr>
      <vt:lpstr>Nested Page Walks: What can we do?</vt:lpstr>
      <vt:lpstr>Nested page-walk in data centers</vt:lpstr>
      <vt:lpstr>Nested page-walk: Overheads</vt:lpstr>
      <vt:lpstr>Nested page-walk: Skip translation (Basu’13)</vt:lpstr>
      <vt:lpstr>Nested page-walk: Skip translation (Basu’13)</vt:lpstr>
      <vt:lpstr>Nested page-walk: Skip translation (Basu’13)</vt:lpstr>
      <vt:lpstr>Nested page-walk: Skip translation (Basu’13)</vt:lpstr>
      <vt:lpstr>Nested page-walk: Flexible translation (Alam’17)</vt:lpstr>
      <vt:lpstr>Nested page-walk: Flexible translation (Alam’17)</vt:lpstr>
      <vt:lpstr>Nested page-walk: Flexible translation (Alam’17)</vt:lpstr>
      <vt:lpstr>Nested page-walk: Flexible translation (Alam’17)</vt:lpstr>
      <vt:lpstr>Nested page-walk: Flexible translation (Alam’17)</vt:lpstr>
      <vt:lpstr>Nested page-walk: Flexible translation (Alam’17)</vt:lpstr>
      <vt:lpstr>Nested page-walk: Flexible translation (Alam’17)</vt:lpstr>
      <vt:lpstr>Nested page walk: Summary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1</cp:revision>
  <dcterms:created xsi:type="dcterms:W3CDTF">2025-03-20T10:33:10Z</dcterms:created>
  <dcterms:modified xsi:type="dcterms:W3CDTF">2026-07-12T18:49:23Z</dcterms:modified>
</cp:coreProperties>
</file>