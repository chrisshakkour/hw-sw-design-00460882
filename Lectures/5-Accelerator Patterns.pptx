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272" r:id="rId3"/>
    <p:sldId id="273" r:id="rId4"/>
    <p:sldId id="276" r:id="rId5"/>
    <p:sldId id="277" r:id="rId6"/>
    <p:sldId id="278" r:id="rId7"/>
    <p:sldId id="279" r:id="rId8"/>
    <p:sldId id="280" r:id="rId9"/>
    <p:sldId id="281" r:id="rId10"/>
    <p:sldId id="306" r:id="rId11"/>
    <p:sldId id="307" r:id="rId12"/>
    <p:sldId id="308" r:id="rId13"/>
    <p:sldId id="282" r:id="rId14"/>
    <p:sldId id="283" r:id="rId15"/>
    <p:sldId id="284" r:id="rId16"/>
    <p:sldId id="275" r:id="rId17"/>
    <p:sldId id="274" r:id="rId18"/>
    <p:sldId id="285" r:id="rId19"/>
    <p:sldId id="286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88" r:id="rId29"/>
    <p:sldId id="263" r:id="rId30"/>
    <p:sldId id="287" r:id="rId31"/>
    <p:sldId id="262" r:id="rId32"/>
    <p:sldId id="261" r:id="rId33"/>
    <p:sldId id="260" r:id="rId34"/>
    <p:sldId id="289" r:id="rId35"/>
    <p:sldId id="290" r:id="rId36"/>
    <p:sldId id="310" r:id="rId37"/>
    <p:sldId id="311" r:id="rId38"/>
    <p:sldId id="312" r:id="rId39"/>
    <p:sldId id="291" r:id="rId40"/>
    <p:sldId id="292" r:id="rId41"/>
    <p:sldId id="294" r:id="rId42"/>
    <p:sldId id="301" r:id="rId43"/>
    <p:sldId id="296" r:id="rId44"/>
    <p:sldId id="302" r:id="rId45"/>
    <p:sldId id="303" r:id="rId46"/>
    <p:sldId id="304" r:id="rId47"/>
    <p:sldId id="295" r:id="rId48"/>
    <p:sldId id="297" r:id="rId49"/>
    <p:sldId id="293" r:id="rId50"/>
    <p:sldId id="298" r:id="rId51"/>
    <p:sldId id="300" r:id="rId52"/>
    <p:sldId id="299" r:id="rId53"/>
    <p:sldId id="309" r:id="rId54"/>
    <p:sldId id="305" r:id="rId5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7E423-6676-483F-A4B1-106DD899D0B1}" v="2" dt="2026-05-31T15:40:20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3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undo custSel modSld">
      <pc:chgData name="Yoav Etsion" userId="6817d923-c30e-4d6b-be87-a47c131a91a7" providerId="ADAL" clId="{687D8E6A-57AF-45AE-B177-36E0AC6490D8}" dt="2026-05-31T15:41:19.776" v="80" actId="27636"/>
      <pc:docMkLst>
        <pc:docMk/>
      </pc:docMkLst>
      <pc:sldChg chg="addSp modSp mod modAnim">
        <pc:chgData name="Yoav Etsion" userId="6817d923-c30e-4d6b-be87-a47c131a91a7" providerId="ADAL" clId="{687D8E6A-57AF-45AE-B177-36E0AC6490D8}" dt="2026-05-31T15:40:20.528" v="77"/>
        <pc:sldMkLst>
          <pc:docMk/>
          <pc:sldMk cId="3923284697" sldId="306"/>
        </pc:sldMkLst>
        <pc:spChg chg="mod">
          <ac:chgData name="Yoav Etsion" userId="6817d923-c30e-4d6b-be87-a47c131a91a7" providerId="ADAL" clId="{687D8E6A-57AF-45AE-B177-36E0AC6490D8}" dt="2026-05-31T15:39:12.810" v="9" actId="6549"/>
          <ac:spMkLst>
            <pc:docMk/>
            <pc:sldMk cId="3923284697" sldId="306"/>
            <ac:spMk id="3" creationId="{24801299-07F3-A473-6F70-82599535C54C}"/>
          </ac:spMkLst>
        </pc:spChg>
        <pc:spChg chg="add mod">
          <ac:chgData name="Yoav Etsion" userId="6817d923-c30e-4d6b-be87-a47c131a91a7" providerId="ADAL" clId="{687D8E6A-57AF-45AE-B177-36E0AC6490D8}" dt="2026-05-31T15:40:14.242" v="76" actId="113"/>
          <ac:spMkLst>
            <pc:docMk/>
            <pc:sldMk cId="3923284697" sldId="306"/>
            <ac:spMk id="14" creationId="{B06B70E5-6359-BDA9-9351-88FB402DF9CE}"/>
          </ac:spMkLst>
        </pc:spChg>
      </pc:sldChg>
      <pc:sldChg chg="modSp mod">
        <pc:chgData name="Yoav Etsion" userId="6817d923-c30e-4d6b-be87-a47c131a91a7" providerId="ADAL" clId="{687D8E6A-57AF-45AE-B177-36E0AC6490D8}" dt="2026-05-31T15:38:20.266" v="7" actId="20577"/>
        <pc:sldMkLst>
          <pc:docMk/>
          <pc:sldMk cId="3352857626" sldId="307"/>
        </pc:sldMkLst>
        <pc:spChg chg="mod">
          <ac:chgData name="Yoav Etsion" userId="6817d923-c30e-4d6b-be87-a47c131a91a7" providerId="ADAL" clId="{687D8E6A-57AF-45AE-B177-36E0AC6490D8}" dt="2026-05-31T15:38:20.266" v="7" actId="20577"/>
          <ac:spMkLst>
            <pc:docMk/>
            <pc:sldMk cId="3352857626" sldId="307"/>
            <ac:spMk id="3" creationId="{F6F0970F-41D0-88EF-48BA-53D1A6630474}"/>
          </ac:spMkLst>
        </pc:spChg>
      </pc:sldChg>
      <pc:sldChg chg="modSp mod">
        <pc:chgData name="Yoav Etsion" userId="6817d923-c30e-4d6b-be87-a47c131a91a7" providerId="ADAL" clId="{687D8E6A-57AF-45AE-B177-36E0AC6490D8}" dt="2026-05-31T15:41:19.776" v="80" actId="27636"/>
        <pc:sldMkLst>
          <pc:docMk/>
          <pc:sldMk cId="3268496882" sldId="308"/>
        </pc:sldMkLst>
        <pc:spChg chg="mod">
          <ac:chgData name="Yoav Etsion" userId="6817d923-c30e-4d6b-be87-a47c131a91a7" providerId="ADAL" clId="{687D8E6A-57AF-45AE-B177-36E0AC6490D8}" dt="2026-05-31T15:41:19.776" v="80" actId="27636"/>
          <ac:spMkLst>
            <pc:docMk/>
            <pc:sldMk cId="3268496882" sldId="308"/>
            <ac:spMk id="3" creationId="{732F21EA-EB9C-0351-3D1C-AF04854676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31/05/2026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Minimize number of trips to memory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22A68-8A03-4804-8198-3481C37D6ADE}" type="slidenum">
              <a:rPr lang="en-IL" smtClean="0"/>
              <a:t>50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50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sv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Accelerator Design Patterns</a:t>
            </a:r>
            <a:endParaRPr lang="en-IL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117E-7F03-3584-21A0-9BC4E358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accelerators work?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3549A-B16F-6929-3873-E193BB711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We’ve found a point where software needs dedicated hardware</a:t>
            </a:r>
          </a:p>
          <a:p>
            <a:r>
              <a:rPr lang="en-US" dirty="0"/>
              <a:t>We’ve managed to make a case for dedicated hardware</a:t>
            </a:r>
          </a:p>
          <a:p>
            <a:pPr lvl="1"/>
            <a:r>
              <a:rPr lang="en-US" dirty="0"/>
              <a:t>Very expensive</a:t>
            </a:r>
          </a:p>
          <a:p>
            <a:pPr lvl="1"/>
            <a:endParaRPr lang="en-US" dirty="0"/>
          </a:p>
          <a:p>
            <a:r>
              <a:rPr lang="en-US" dirty="0"/>
              <a:t>How do we design an accelerator?</a:t>
            </a:r>
          </a:p>
          <a:p>
            <a:pPr lvl="1"/>
            <a:r>
              <a:rPr lang="en-US" dirty="0"/>
              <a:t>Software interface and stack</a:t>
            </a:r>
          </a:p>
          <a:p>
            <a:pPr lvl="1"/>
            <a:r>
              <a:rPr lang="en-US" dirty="0"/>
              <a:t>Hardware</a:t>
            </a:r>
          </a:p>
          <a:p>
            <a:pPr lvl="1"/>
            <a:endParaRPr lang="en-US" dirty="0"/>
          </a:p>
          <a:p>
            <a:r>
              <a:rPr lang="en-US" dirty="0"/>
              <a:t>Two case studies:</a:t>
            </a:r>
          </a:p>
          <a:p>
            <a:pPr lvl="1"/>
            <a:r>
              <a:rPr lang="en-US" dirty="0"/>
              <a:t>Google TPU (Tensor Processing Unit)</a:t>
            </a:r>
          </a:p>
          <a:p>
            <a:pPr lvl="1"/>
            <a:r>
              <a:rPr lang="en-US" dirty="0" err="1"/>
              <a:t>Speedata</a:t>
            </a:r>
            <a:r>
              <a:rPr lang="en-US" dirty="0"/>
              <a:t> APU (Analytics Processing Unit)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55BAC-B981-9999-F4EA-A5F2FC25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9FFDB-D8B0-205D-D32D-3514CD39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1787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0FE1-04FA-53CD-499E-DBD742F4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HW/SW interface for accelerators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F1C8-5AA5-1DC5-377A-A7326E83D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136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Rule 1: Do not expect end users to change their code</a:t>
            </a:r>
          </a:p>
          <a:p>
            <a:pPr lvl="1"/>
            <a:r>
              <a:rPr lang="en-US" dirty="0"/>
              <a:t>Customers have a large code base</a:t>
            </a:r>
          </a:p>
          <a:p>
            <a:pPr lvl="1"/>
            <a:r>
              <a:rPr lang="en-US" dirty="0"/>
              <a:t>Huge effort (cost) to change existing code base</a:t>
            </a:r>
          </a:p>
          <a:p>
            <a:pPr lvl="1"/>
            <a:endParaRPr lang="en-US" dirty="0"/>
          </a:p>
          <a:p>
            <a:r>
              <a:rPr lang="en-US" dirty="0"/>
              <a:t>Rule 2: If SW must change, confine changes in runtime/libraries</a:t>
            </a:r>
          </a:p>
          <a:p>
            <a:pPr lvl="1"/>
            <a:r>
              <a:rPr lang="en-US" dirty="0"/>
              <a:t>May only require users only to compile their code</a:t>
            </a:r>
          </a:p>
          <a:p>
            <a:pPr lvl="1"/>
            <a:r>
              <a:rPr lang="en-US" dirty="0"/>
              <a:t>In some cases, not even that</a:t>
            </a:r>
          </a:p>
          <a:p>
            <a:pPr lvl="1"/>
            <a:endParaRPr lang="en-US" dirty="0"/>
          </a:p>
          <a:p>
            <a:r>
              <a:rPr lang="en-US" dirty="0"/>
              <a:t>Rule 3: Don’t break user’s code</a:t>
            </a:r>
          </a:p>
          <a:p>
            <a:pPr lvl="1"/>
            <a:r>
              <a:rPr lang="en-US" dirty="0"/>
              <a:t>If HW does not support an operation, run it on the CPU</a:t>
            </a:r>
            <a:endParaRPr lang="en-IL" dirty="0"/>
          </a:p>
          <a:p>
            <a:pPr lvl="1"/>
            <a:r>
              <a:rPr lang="en-US" dirty="0"/>
              <a:t>Reduced performance/power improvement is better than broken user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08A5C-06A5-542E-2692-0C7A0650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A12DE-B1F5-3031-AA3C-2D831D4D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9857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400D-1472-CB83-5DE6-A0405DBD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design patterns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CD53-A342-2308-B49C-BDA64E41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recent accelerators use one of two HW patterns</a:t>
            </a:r>
          </a:p>
          <a:p>
            <a:endParaRPr lang="en-US" dirty="0"/>
          </a:p>
          <a:p>
            <a:r>
              <a:rPr lang="en-US" dirty="0"/>
              <a:t>Systolic array</a:t>
            </a:r>
          </a:p>
          <a:p>
            <a:pPr lvl="1"/>
            <a:r>
              <a:rPr lang="en-US" dirty="0"/>
              <a:t>E.g., Google, Habana</a:t>
            </a:r>
          </a:p>
          <a:p>
            <a:pPr lvl="2"/>
            <a:endParaRPr lang="en-US" dirty="0"/>
          </a:p>
          <a:p>
            <a:r>
              <a:rPr lang="en-US" dirty="0"/>
              <a:t>Dataflow primitives</a:t>
            </a:r>
          </a:p>
          <a:p>
            <a:pPr lvl="1"/>
            <a:r>
              <a:rPr lang="en-US" dirty="0"/>
              <a:t>Often times as coarse/grain reconfigurable arrays (CGRAs)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Speedata</a:t>
            </a:r>
            <a:r>
              <a:rPr lang="en-US" dirty="0"/>
              <a:t>, </a:t>
            </a:r>
            <a:r>
              <a:rPr lang="en-US" dirty="0" err="1"/>
              <a:t>SambaNova</a:t>
            </a:r>
            <a:r>
              <a:rPr lang="en-US" dirty="0"/>
              <a:t>, </a:t>
            </a:r>
            <a:r>
              <a:rPr lang="en-US" dirty="0" err="1"/>
              <a:t>NextSilicon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C9F1C-E78C-E176-31CF-48EBB48F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019AF-12DE-6EA7-B806-5C087005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3051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D3D3-B65F-A91C-F907-ADCF22B4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Systolic arrays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90B6A-B73D-1E5C-11CF-AF524272C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152942" cy="4351338"/>
          </a:xfrm>
        </p:spPr>
        <p:txBody>
          <a:bodyPr>
            <a:normAutofit/>
          </a:bodyPr>
          <a:lstStyle/>
          <a:p>
            <a:r>
              <a:rPr lang="en-US" dirty="0"/>
              <a:t>Proposed by Kung and </a:t>
            </a:r>
            <a:r>
              <a:rPr lang="en-US" dirty="0" err="1"/>
              <a:t>Leiserson</a:t>
            </a:r>
            <a:r>
              <a:rPr lang="en-US" dirty="0"/>
              <a:t> in 1979</a:t>
            </a:r>
          </a:p>
          <a:p>
            <a:pPr lvl="1"/>
            <a:r>
              <a:rPr lang="en-US" sz="2200" dirty="0">
                <a:solidFill>
                  <a:srgbClr val="202122"/>
                </a:solidFill>
                <a:latin typeface="Arial" panose="020B0604020202020204" pitchFamily="34" charset="0"/>
              </a:rPr>
              <a:t>Extensively studies in the 1980s</a:t>
            </a:r>
            <a:endParaRPr lang="en-US" sz="22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sz="1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H. T. Kung, C. E. </a:t>
            </a:r>
            <a:r>
              <a:rPr lang="en-US" sz="15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Leiserson</a:t>
            </a:r>
            <a:r>
              <a:rPr lang="en-US" sz="1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Algorithms for VLSI processor arrays; in: Introduction to VLSI Systems; Addison-Wesley, 1979</a:t>
            </a:r>
            <a:endParaRPr lang="en-US" sz="19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Circuit inputs are processed on each cycle</a:t>
            </a:r>
          </a:p>
          <a:p>
            <a:endParaRPr lang="en-US" dirty="0"/>
          </a:p>
          <a:p>
            <a:r>
              <a:rPr lang="en-US" dirty="0"/>
              <a:t>No control circuitry</a:t>
            </a:r>
          </a:p>
          <a:p>
            <a:endParaRPr lang="en-US" dirty="0"/>
          </a:p>
          <a:p>
            <a:r>
              <a:rPr lang="en-US" dirty="0"/>
              <a:t>Most efficient silicon utilization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B2AE-7CB6-D177-865D-1C5DF755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4EE6B-2AEC-08AE-FED3-F6552928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630F9F17-BC6D-CF28-A34F-AE2230B00502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82AB3-30AC-58DB-553E-34BE82DE72C5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39B59F-5C41-7A93-C033-0C34743C9EF3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032C88-10C9-3FCA-25E6-166EA1099CE0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266630-BA5D-D297-D66F-7CDBCE40020B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3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8492-99B4-3645-645D-4DB554EB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3385-CBAC-3DED-9116-66E32A35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52217-7C4D-170A-EBE8-59B1FB3350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Circuit inputs are processed on each cycle</a:t>
            </a:r>
          </a:p>
          <a:p>
            <a:endParaRPr lang="en-US" dirty="0"/>
          </a:p>
          <a:p>
            <a:r>
              <a:rPr lang="en-US" dirty="0"/>
              <a:t>No control circuitry</a:t>
            </a:r>
          </a:p>
          <a:p>
            <a:endParaRPr lang="en-US" dirty="0"/>
          </a:p>
          <a:p>
            <a:r>
              <a:rPr lang="en-US" dirty="0"/>
              <a:t>Most efficient silicon utilization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32600-9E6E-1AC1-7071-F9E0650D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9F08E-18CE-0803-85FF-530E8D41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5C3DD95F-C503-2D67-0725-834A551A1B2C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D7AF2A-D809-96DC-F0DF-90372E548B1E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726CA6-0649-CCBE-DF75-73438481977C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075D2-C1AB-180E-7442-75919AA214B2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816E49-6962-EACB-FDB3-92033E0E7678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50A632-CC3C-EE97-A08F-04CB8B640111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E8FF63-D70C-7033-C358-209189AF7EB7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6F8726-2D09-14A2-8BD9-629E4A2DC1B2}"/>
              </a:ext>
            </a:extLst>
          </p:cNvPr>
          <p:cNvSpPr txBox="1"/>
          <p:nvPr/>
        </p:nvSpPr>
        <p:spPr>
          <a:xfrm>
            <a:off x="8527381" y="1328581"/>
            <a:ext cx="1165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Cycle 1</a:t>
            </a:r>
            <a:endParaRPr lang="en-IL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9248505-AE67-FC95-B226-AA5CA66D13C9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BBBA82-B8B6-0267-4290-D4F37261532A}"/>
              </a:ext>
            </a:extLst>
          </p:cNvPr>
          <p:cNvSpPr/>
          <p:nvPr/>
        </p:nvSpPr>
        <p:spPr>
          <a:xfrm>
            <a:off x="8528270" y="218947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7D12AF-7DE8-028A-2600-600835292E64}"/>
              </a:ext>
            </a:extLst>
          </p:cNvPr>
          <p:cNvSpPr/>
          <p:nvPr/>
        </p:nvSpPr>
        <p:spPr>
          <a:xfrm>
            <a:off x="9365023" y="218947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C355C-254F-D901-034D-05293169CFD3}"/>
              </a:ext>
            </a:extLst>
          </p:cNvPr>
          <p:cNvSpPr txBox="1"/>
          <p:nvPr/>
        </p:nvSpPr>
        <p:spPr>
          <a:xfrm>
            <a:off x="9636490" y="1316709"/>
            <a:ext cx="975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(start)</a:t>
            </a:r>
            <a:endParaRPr lang="en-IL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69BE03-8D07-7BD1-722A-535B2335E2E6}"/>
              </a:ext>
            </a:extLst>
          </p:cNvPr>
          <p:cNvSpPr txBox="1"/>
          <p:nvPr/>
        </p:nvSpPr>
        <p:spPr>
          <a:xfrm>
            <a:off x="9636490" y="1312285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(end)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412090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7426-FDF3-33BA-B579-60FDFE48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099F-8FB4-691C-F7B0-FD33EC45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3C4D6-A892-B6B4-6901-0362ED7E92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Circuit inputs are processed on each cycle</a:t>
            </a:r>
          </a:p>
          <a:p>
            <a:endParaRPr lang="en-US" dirty="0"/>
          </a:p>
          <a:p>
            <a:r>
              <a:rPr lang="en-US" dirty="0"/>
              <a:t>No control circuitry</a:t>
            </a:r>
          </a:p>
          <a:p>
            <a:endParaRPr lang="en-US" dirty="0"/>
          </a:p>
          <a:p>
            <a:r>
              <a:rPr lang="en-US" dirty="0"/>
              <a:t>Most efficient silicon utilization</a:t>
            </a:r>
          </a:p>
          <a:p>
            <a:endParaRPr lang="en-US" dirty="0"/>
          </a:p>
          <a:p>
            <a:r>
              <a:rPr lang="en-US" dirty="0"/>
              <a:t>Where’s the problem?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A1340-7019-CDE4-66DD-6324B2D6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0463B-BF98-E2CA-C635-F9A2380E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9D1784EC-FF05-0D63-C91E-98818D6B681C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6B3731-B405-1171-6BD3-AFB7D6146989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1868F2-1A1D-CD3C-5ACD-BA5339AFFDE4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069D3-0A7C-A9B4-0807-84790D2782AD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EB00DB-2EE2-F89B-5C85-18028AFB1FB5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7DE440-BE54-58EF-50C8-F6C9036B1C2B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51D0F7-4D7A-E8C4-28A4-9F813553599E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C8823D-4B89-6C91-10BD-DB4DB78A5FC4}"/>
              </a:ext>
            </a:extLst>
          </p:cNvPr>
          <p:cNvSpPr txBox="1"/>
          <p:nvPr/>
        </p:nvSpPr>
        <p:spPr>
          <a:xfrm>
            <a:off x="8527381" y="1328581"/>
            <a:ext cx="1165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Cycle 2</a:t>
            </a:r>
            <a:endParaRPr lang="en-IL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EDD966-426E-26A6-7EB6-41E9D417E64D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0058FC-B744-0F94-46A0-727E11571A17}"/>
              </a:ext>
            </a:extLst>
          </p:cNvPr>
          <p:cNvSpPr/>
          <p:nvPr/>
        </p:nvSpPr>
        <p:spPr>
          <a:xfrm>
            <a:off x="8528270" y="218947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000EC9-9C2B-7AAE-0F85-BF8EF112B125}"/>
              </a:ext>
            </a:extLst>
          </p:cNvPr>
          <p:cNvSpPr/>
          <p:nvPr/>
        </p:nvSpPr>
        <p:spPr>
          <a:xfrm>
            <a:off x="9365023" y="218947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6DC32-DDC1-CFE3-411C-51284DC4E30F}"/>
              </a:ext>
            </a:extLst>
          </p:cNvPr>
          <p:cNvSpPr txBox="1"/>
          <p:nvPr/>
        </p:nvSpPr>
        <p:spPr>
          <a:xfrm>
            <a:off x="9636490" y="1316709"/>
            <a:ext cx="975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(start)</a:t>
            </a:r>
            <a:endParaRPr lang="en-IL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F7537-5D5E-51E8-8347-9FEC6A24F93F}"/>
              </a:ext>
            </a:extLst>
          </p:cNvPr>
          <p:cNvSpPr txBox="1"/>
          <p:nvPr/>
        </p:nvSpPr>
        <p:spPr>
          <a:xfrm>
            <a:off x="9636490" y="1312285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(end)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77077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380E-D7F7-6736-EFC5-64FFA3DA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2470-917E-575E-EBB0-047E006A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Systolic arrays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B3FC4-CF78-A6A7-043C-753A13291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problem arises if an input is not ready</a:t>
            </a:r>
          </a:p>
          <a:p>
            <a:endParaRPr lang="en-US" dirty="0"/>
          </a:p>
          <a:p>
            <a:r>
              <a:rPr lang="en-US" dirty="0"/>
              <a:t>There’s no control circuit, so an output will be generated</a:t>
            </a:r>
          </a:p>
          <a:p>
            <a:endParaRPr lang="en-US" dirty="0"/>
          </a:p>
          <a:p>
            <a:r>
              <a:rPr lang="en-US" dirty="0"/>
              <a:t>In other word: </a:t>
            </a:r>
            <a:br>
              <a:rPr lang="en-US" dirty="0"/>
            </a:br>
            <a:r>
              <a:rPr lang="en-US" dirty="0"/>
              <a:t>“garbage in, garbage out”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24B70-838D-BB5F-8852-D36ACB8C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24D87-78C5-3F9F-AB78-1983D558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5DA8EA01-DE02-6A3E-CC3D-F37FA9DDE323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11EB72-E6E7-B278-C604-4581FDA18BDF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1E5E32-BC02-7AAC-AA96-FD6969D76E0B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33E25-14F7-D571-1C5F-EF1A6C4EE4A8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9C79E8-F829-41EB-FDF1-35F1B07F3816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7F5FBB-CA98-835F-E8FA-FA17D7521C3A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2FC948-A927-D032-C4C6-06CE2771579F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D7EF9E-ADAA-CFFC-28AC-C998009117AE}"/>
              </a:ext>
            </a:extLst>
          </p:cNvPr>
          <p:cNvSpPr txBox="1"/>
          <p:nvPr/>
        </p:nvSpPr>
        <p:spPr>
          <a:xfrm>
            <a:off x="8527381" y="1328581"/>
            <a:ext cx="1165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Cycle 1</a:t>
            </a:r>
            <a:endParaRPr lang="en-IL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7273DC-C445-E485-815A-7A8520A77CD2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89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19FD2C-C1D2-3341-A815-79E5F3D4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530D41-A86B-70E7-B67B-4D461E5D4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dataflow model was originally proposed by Karp and Miller as a parallel execution model in 1966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R. Karp and R. Miller. “Properties of a Model for Parallel Computations: Determinacy, Termination, Queueing”. SIAM J. Appl. Math. 14, 6 (Nov 1966).</a:t>
            </a:r>
          </a:p>
          <a:p>
            <a:endParaRPr lang="en-US" dirty="0">
              <a:solidFill>
                <a:srgbClr val="333333"/>
              </a:solidFill>
              <a:latin typeface="Courier New" panose="02070309020205020404" pitchFamily="49" charset="0"/>
            </a:endParaRPr>
          </a:p>
          <a:p>
            <a:r>
              <a:rPr lang="en-US" dirty="0"/>
              <a:t>In short : </a:t>
            </a:r>
          </a:p>
          <a:p>
            <a:pPr lvl="1"/>
            <a:r>
              <a:rPr lang="en-US" dirty="0"/>
              <a:t>Data is passed as tokens, and we can check if a token is available</a:t>
            </a:r>
          </a:p>
          <a:p>
            <a:pPr lvl="1"/>
            <a:r>
              <a:rPr lang="en-US" dirty="0"/>
              <a:t>Execute the operation when the input data is ready</a:t>
            </a:r>
          </a:p>
          <a:p>
            <a:endParaRPr lang="en-US" dirty="0"/>
          </a:p>
          <a:p>
            <a:r>
              <a:rPr lang="en-US" dirty="0"/>
              <a:t>How do we do it at the circuit level?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85CD7-4109-847A-9958-0BA5411A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B1E1-87D5-2021-1597-1DF831EB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9288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761B-BE0E-F51E-F8F0-3124EFA5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 dataflow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01299-07F3-A473-6F70-82599535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4709" cy="4351338"/>
          </a:xfrm>
        </p:spPr>
        <p:txBody>
          <a:bodyPr/>
          <a:lstStyle/>
          <a:p>
            <a:r>
              <a:rPr lang="en-US" dirty="0"/>
              <a:t>The dataflow model triggers an event only when all of its inputs are ready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257C0-E58F-6708-1140-ABCDA218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9D8E8-4263-5F9C-57DA-A91394F2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7B9AC2E-9C4E-027F-99C5-2F8CE5655ADA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F8E6BE-06E9-11E7-8108-C297C98DCA9E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6AB871-22DC-C0B1-7D1B-FD9744E35C54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48D38-E42C-86B0-18D4-FDB206FDBD1E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EB6DB4-150D-3633-ABC1-F7D5CFA1D81C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B91111-47EA-84C1-9CFE-7E65F31C644D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551434-5CB4-1C46-2161-C81A9B64F4C4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6BCD331-2003-FCC8-7A1A-C49F8826BA57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B70E5-6359-BDA9-9351-88FB402DF9CE}"/>
              </a:ext>
            </a:extLst>
          </p:cNvPr>
          <p:cNvSpPr txBox="1"/>
          <p:nvPr/>
        </p:nvSpPr>
        <p:spPr>
          <a:xfrm>
            <a:off x="933450" y="4559300"/>
            <a:ext cx="603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What’s the fundamental difference from systolic arrays?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92328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E30C-E3B0-FFB3-22C3-CEA4B570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77B3-DA4A-6B7A-06AF-2FF66734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 dataflow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970F-41D0-88EF-48BA-53D1A6630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4709" cy="4351338"/>
          </a:xfrm>
        </p:spPr>
        <p:txBody>
          <a:bodyPr>
            <a:normAutofit/>
          </a:bodyPr>
          <a:lstStyle/>
          <a:p>
            <a:r>
              <a:rPr lang="en-US" dirty="0"/>
              <a:t>The dataflow model triggers an event only when all of its input tokens are ready</a:t>
            </a:r>
          </a:p>
          <a:p>
            <a:endParaRPr lang="en-US" dirty="0"/>
          </a:p>
          <a:p>
            <a:r>
              <a:rPr lang="en-US" dirty="0"/>
              <a:t>Static dataflow: </a:t>
            </a:r>
            <a:br>
              <a:rPr lang="en-US" dirty="0"/>
            </a:br>
            <a:r>
              <a:rPr lang="en-US" dirty="0"/>
              <a:t>If there are multiple sets of input tokens, they are executed in-order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EFD61-0B31-829B-5B35-65907AF2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21737-731A-1B33-B010-1F9E56FD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1FF30D2B-C461-D090-998B-EDD6117FD659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425A29-ABF4-C7C3-DBD8-5D8F948E399E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85A5BC-BCF2-AF38-4914-CC8F864AE2A9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5B80D-EFD6-DB05-6886-E0ACBEA73BAF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4AFA2-006F-F2C6-7310-FD0B6FCA671E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19338B-C2D7-AF70-85A4-27C820A87DB5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9D8395-3E44-A62A-104C-29A06608F770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246877B-296D-7CF1-2113-35B7F4D6EB35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D308F9-0C59-DDC3-E5DE-E4A11F639D95}"/>
              </a:ext>
            </a:extLst>
          </p:cNvPr>
          <p:cNvSpPr/>
          <p:nvPr/>
        </p:nvSpPr>
        <p:spPr>
          <a:xfrm>
            <a:off x="8516496" y="1719305"/>
            <a:ext cx="355600" cy="3556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7A1896-CDA7-ABFB-EE05-E648A0685A43}"/>
              </a:ext>
            </a:extLst>
          </p:cNvPr>
          <p:cNvSpPr/>
          <p:nvPr/>
        </p:nvSpPr>
        <p:spPr>
          <a:xfrm>
            <a:off x="9353249" y="1719305"/>
            <a:ext cx="355600" cy="3556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285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0465-3F51-C3A1-0AA4-0CCAA1C2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875-EBC2-84DB-3DE4-4DF3D9CA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dynamic dataflow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21EA-EB9C-0351-3D1C-AF048546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94709" cy="45642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dataflow model triggers an event only when all of its input tokens are ready</a:t>
            </a:r>
          </a:p>
          <a:p>
            <a:endParaRPr lang="en-US" dirty="0"/>
          </a:p>
          <a:p>
            <a:r>
              <a:rPr lang="en-US" dirty="0"/>
              <a:t>Static dataflow: </a:t>
            </a:r>
            <a:br>
              <a:rPr lang="en-US" dirty="0"/>
            </a:br>
            <a:r>
              <a:rPr lang="en-US" dirty="0"/>
              <a:t>If there are multiple sets of input tokens, they are executed sequentially</a:t>
            </a:r>
          </a:p>
          <a:p>
            <a:endParaRPr lang="en-US" dirty="0"/>
          </a:p>
          <a:p>
            <a:r>
              <a:rPr lang="en-US" dirty="0"/>
              <a:t>Dynamic dataflow:</a:t>
            </a:r>
            <a:br>
              <a:rPr lang="en-US" dirty="0"/>
            </a:br>
            <a:r>
              <a:rPr lang="en-US" dirty="0"/>
              <a:t>Execute whenever set of matching input tokens that is available</a:t>
            </a:r>
            <a:br>
              <a:rPr lang="en-US"/>
            </a:br>
            <a:br>
              <a:rPr lang="en-US"/>
            </a:br>
            <a:r>
              <a:rPr lang="en-US" i="1"/>
              <a:t>(</a:t>
            </a:r>
            <a:r>
              <a:rPr lang="en-US" i="1" dirty="0"/>
              <a:t>does that remind you of something?)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E7C9-8DC8-D4C8-CE7C-A8D01209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75BBE-E4CE-C927-E808-7080706C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623FCE8-6F0E-3729-8396-D93C0A0BAC63}"/>
              </a:ext>
            </a:extLst>
          </p:cNvPr>
          <p:cNvSpPr/>
          <p:nvPr/>
        </p:nvSpPr>
        <p:spPr>
          <a:xfrm rot="10800000">
            <a:off x="8559800" y="3145366"/>
            <a:ext cx="1159934" cy="567267"/>
          </a:xfrm>
          <a:prstGeom prst="trapezoi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315F90-4068-1BB7-B106-F4EB5E51D88E}"/>
              </a:ext>
            </a:extLst>
          </p:cNvPr>
          <p:cNvSpPr/>
          <p:nvPr/>
        </p:nvSpPr>
        <p:spPr>
          <a:xfrm>
            <a:off x="8527381" y="2187393"/>
            <a:ext cx="355600" cy="355600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1347ED-50A5-5324-4B3D-8CFE3E79A57B}"/>
              </a:ext>
            </a:extLst>
          </p:cNvPr>
          <p:cNvSpPr/>
          <p:nvPr/>
        </p:nvSpPr>
        <p:spPr>
          <a:xfrm>
            <a:off x="9364134" y="2187393"/>
            <a:ext cx="3556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724C7-D8B3-954F-A6FC-E25511294A7E}"/>
              </a:ext>
            </a:extLst>
          </p:cNvPr>
          <p:cNvSpPr txBox="1"/>
          <p:nvPr/>
        </p:nvSpPr>
        <p:spPr>
          <a:xfrm>
            <a:off x="8761385" y="32374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Adder</a:t>
            </a:r>
            <a:endParaRPr lang="en-I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8B66DF-244D-2C69-FC57-F3BBF6EF33F5}"/>
              </a:ext>
            </a:extLst>
          </p:cNvPr>
          <p:cNvCxnSpPr>
            <a:cxnSpLocks/>
          </p:cNvCxnSpPr>
          <p:nvPr/>
        </p:nvCxnSpPr>
        <p:spPr>
          <a:xfrm>
            <a:off x="8706846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2AEAB0-0860-4A63-BEE5-B7AA6B43390C}"/>
              </a:ext>
            </a:extLst>
          </p:cNvPr>
          <p:cNvCxnSpPr>
            <a:cxnSpLocks/>
          </p:cNvCxnSpPr>
          <p:nvPr/>
        </p:nvCxnSpPr>
        <p:spPr>
          <a:xfrm>
            <a:off x="9523969" y="2683933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84F0EE-6F7A-BCC3-B2A6-765C091454A0}"/>
              </a:ext>
            </a:extLst>
          </p:cNvPr>
          <p:cNvCxnSpPr>
            <a:cxnSpLocks/>
          </p:cNvCxnSpPr>
          <p:nvPr/>
        </p:nvCxnSpPr>
        <p:spPr>
          <a:xfrm>
            <a:off x="9151076" y="3712634"/>
            <a:ext cx="0" cy="461433"/>
          </a:xfrm>
          <a:prstGeom prst="line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99D1A5D-F4B9-46D9-21F7-09341F00BB1F}"/>
              </a:ext>
            </a:extLst>
          </p:cNvPr>
          <p:cNvSpPr/>
          <p:nvPr/>
        </p:nvSpPr>
        <p:spPr>
          <a:xfrm>
            <a:off x="8973275" y="4323359"/>
            <a:ext cx="355600" cy="355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770A7C-6BC2-3AFC-E1F2-5EABF87C8F10}"/>
              </a:ext>
            </a:extLst>
          </p:cNvPr>
          <p:cNvSpPr/>
          <p:nvPr/>
        </p:nvSpPr>
        <p:spPr>
          <a:xfrm>
            <a:off x="8516496" y="1719305"/>
            <a:ext cx="355600" cy="355600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E4E8FA-FFF0-EAEB-102D-E7631AA0FC26}"/>
              </a:ext>
            </a:extLst>
          </p:cNvPr>
          <p:cNvSpPr/>
          <p:nvPr/>
        </p:nvSpPr>
        <p:spPr>
          <a:xfrm>
            <a:off x="9353249" y="1719305"/>
            <a:ext cx="355600" cy="3556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DC8B63-B368-C78B-E114-3FDDF4ADB2B6}"/>
              </a:ext>
            </a:extLst>
          </p:cNvPr>
          <p:cNvSpPr/>
          <p:nvPr/>
        </p:nvSpPr>
        <p:spPr>
          <a:xfrm>
            <a:off x="8516496" y="1725958"/>
            <a:ext cx="355600" cy="3556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849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E49A-07C9-7DE0-1300-27C73131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circuits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06CC8-68B9-C7D5-EE48-0E55B6DE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365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At the circuit-level, add data/ready signals to all interfaces</a:t>
            </a:r>
          </a:p>
          <a:p>
            <a:endParaRPr lang="en-US" dirty="0"/>
          </a:p>
          <a:p>
            <a:r>
              <a:rPr lang="en-US" dirty="0"/>
              <a:t>Operator process (consumes) inputs only when valid and consumer is ready</a:t>
            </a:r>
          </a:p>
          <a:p>
            <a:endParaRPr lang="en-US" dirty="0"/>
          </a:p>
          <a:p>
            <a:r>
              <a:rPr lang="en-US" dirty="0"/>
              <a:t>We can define a set of primitives from which we built circuits</a:t>
            </a:r>
          </a:p>
          <a:p>
            <a:pPr lvl="1"/>
            <a:r>
              <a:rPr lang="en-US" dirty="0"/>
              <a:t>Primitives require additional circuitry</a:t>
            </a:r>
            <a:endParaRPr lang="en-IL" dirty="0"/>
          </a:p>
          <a:p>
            <a:endParaRPr lang="en-US" dirty="0"/>
          </a:p>
          <a:p>
            <a:r>
              <a:rPr lang="en-US" dirty="0"/>
              <a:t>Example by Josipovic et al.</a:t>
            </a:r>
          </a:p>
          <a:p>
            <a:pPr lvl="1"/>
            <a:r>
              <a:rPr lang="en-US" sz="1200" b="0" i="0" dirty="0">
                <a:solidFill>
                  <a:srgbClr val="333333"/>
                </a:solidFill>
                <a:effectLst/>
                <a:latin typeface="HelveticaNeue Regular"/>
              </a:rPr>
              <a:t>L. Josipović, A. Guerrieri and P. </a:t>
            </a:r>
            <a:r>
              <a:rPr lang="en-US" sz="1200" b="0" i="0" dirty="0" err="1">
                <a:solidFill>
                  <a:srgbClr val="333333"/>
                </a:solidFill>
                <a:effectLst/>
                <a:latin typeface="HelveticaNeue Regular"/>
              </a:rPr>
              <a:t>Ienne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HelveticaNeue Regular"/>
              </a:rPr>
              <a:t>, "From C/C++ Code to High-Performance Dataflow Circuits“. In </a:t>
            </a:r>
            <a:r>
              <a:rPr lang="en-US" sz="1200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Computer-Aided Design of Integrated Circuits and Systems 41(7)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HelveticaNeue Regular"/>
              </a:rPr>
              <a:t>, July 2022</a:t>
            </a:r>
            <a:endParaRPr lang="en-IL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53359-29EA-5BBE-CEF0-2C88A2D4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9004C-9517-B5D1-4E8A-53CB15E3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5F077-7FBF-866C-91CC-D284876B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855" y="1688453"/>
            <a:ext cx="5442224" cy="448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7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D076-B0B9-E240-9C3D-240F5A05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limitations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2918B-34FE-8CBD-E543-1C06266E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9691" cy="4351338"/>
          </a:xfrm>
        </p:spPr>
        <p:txBody>
          <a:bodyPr>
            <a:normAutofit/>
          </a:bodyPr>
          <a:lstStyle/>
          <a:p>
            <a:r>
              <a:rPr lang="en-US" dirty="0"/>
              <a:t>What happens when we have a loop in the circuit?</a:t>
            </a:r>
          </a:p>
          <a:p>
            <a:pPr lvl="1"/>
            <a:r>
              <a:rPr lang="en-US" dirty="0"/>
              <a:t>E.g., register bypass in the pipeline</a:t>
            </a:r>
          </a:p>
          <a:p>
            <a:pPr lvl="1"/>
            <a:endParaRPr lang="en-US" dirty="0"/>
          </a:p>
          <a:p>
            <a:r>
              <a:rPr lang="en-US" dirty="0"/>
              <a:t>If EX stage needs input from MEM, first token will never be valid</a:t>
            </a:r>
          </a:p>
          <a:p>
            <a:endParaRPr lang="en-US" dirty="0"/>
          </a:p>
          <a:p>
            <a:r>
              <a:rPr lang="en-US" dirty="0"/>
              <a:t>Solution: Inject NULL token</a:t>
            </a:r>
          </a:p>
          <a:p>
            <a:pPr lvl="1"/>
            <a:r>
              <a:rPr lang="fr-FR" sz="1600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Oron Port, "</a:t>
            </a:r>
            <a:r>
              <a:rPr lang="fr-FR" sz="1600" b="0" i="0" dirty="0" err="1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DFiant</a:t>
            </a:r>
            <a:r>
              <a:rPr lang="fr-FR" sz="1600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: A </a:t>
            </a:r>
            <a:r>
              <a:rPr lang="fr-FR" sz="1600" b="0" i="0" dirty="0" err="1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Dataflow</a:t>
            </a:r>
            <a:r>
              <a:rPr lang="fr-FR" sz="1600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 Hardware Description </a:t>
            </a:r>
            <a:r>
              <a:rPr lang="fr-FR" sz="1600" b="0" i="0" dirty="0" err="1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Language</a:t>
            </a:r>
            <a:r>
              <a:rPr lang="fr-FR" sz="1600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 "</a:t>
            </a:r>
            <a:r>
              <a:rPr lang="fr-FR" sz="1600" dirty="0">
                <a:solidFill>
                  <a:srgbClr val="3A3A3A"/>
                </a:solidFill>
                <a:latin typeface="Source Sans Pro" panose="020B0503030403020204" pitchFamily="34" charset="0"/>
              </a:rPr>
              <a:t>. </a:t>
            </a:r>
            <a:r>
              <a:rPr lang="fr-FR" sz="1600" dirty="0" err="1">
                <a:solidFill>
                  <a:srgbClr val="3A3A3A"/>
                </a:solidFill>
                <a:latin typeface="Source Sans Pro" panose="020B0503030403020204" pitchFamily="34" charset="0"/>
              </a:rPr>
              <a:t>Phd</a:t>
            </a:r>
            <a:r>
              <a:rPr lang="fr-FR" sz="1600" dirty="0">
                <a:solidFill>
                  <a:srgbClr val="3A3A3A"/>
                </a:solidFill>
                <a:latin typeface="Source Sans Pro" panose="020B0503030403020204" pitchFamily="34" charset="0"/>
              </a:rPr>
              <a:t> </a:t>
            </a:r>
            <a:r>
              <a:rPr lang="fr-FR" sz="1600" dirty="0" err="1">
                <a:solidFill>
                  <a:srgbClr val="3A3A3A"/>
                </a:solidFill>
                <a:latin typeface="Source Sans Pro" panose="020B0503030403020204" pitchFamily="34" charset="0"/>
              </a:rPr>
              <a:t>Thesis</a:t>
            </a:r>
            <a:r>
              <a:rPr lang="fr-FR" sz="1600" dirty="0">
                <a:solidFill>
                  <a:srgbClr val="3A3A3A"/>
                </a:solidFill>
                <a:latin typeface="Source Sans Pro" panose="020B0503030403020204" pitchFamily="34" charset="0"/>
              </a:rPr>
              <a:t>, </a:t>
            </a:r>
            <a:r>
              <a:rPr lang="fr-FR" sz="1600" dirty="0" err="1">
                <a:solidFill>
                  <a:srgbClr val="3A3A3A"/>
                </a:solidFill>
                <a:latin typeface="Source Sans Pro" panose="020B0503030403020204" pitchFamily="34" charset="0"/>
              </a:rPr>
              <a:t>Technion</a:t>
            </a:r>
            <a:r>
              <a:rPr lang="fr-FR" sz="1600" dirty="0">
                <a:solidFill>
                  <a:srgbClr val="3A3A3A"/>
                </a:solidFill>
                <a:latin typeface="Source Sans Pro" panose="020B0503030403020204" pitchFamily="34" charset="0"/>
              </a:rPr>
              <a:t> 2021.</a:t>
            </a:r>
            <a:endParaRPr lang="en-US" dirty="0"/>
          </a:p>
          <a:p>
            <a:pPr lvl="1"/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240AC-8E27-943A-0C8D-24F81715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7A8F3-15C0-DBCF-1D18-80E64819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7E0C87-E029-8689-F09F-29173642EB33}"/>
              </a:ext>
            </a:extLst>
          </p:cNvPr>
          <p:cNvSpPr/>
          <p:nvPr/>
        </p:nvSpPr>
        <p:spPr>
          <a:xfrm>
            <a:off x="9153236" y="1071424"/>
            <a:ext cx="1736437" cy="637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Fetch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79B7F-214A-AEEE-657D-E3D3E7C00CC2}"/>
              </a:ext>
            </a:extLst>
          </p:cNvPr>
          <p:cNvSpPr/>
          <p:nvPr/>
        </p:nvSpPr>
        <p:spPr>
          <a:xfrm>
            <a:off x="9153235" y="2202590"/>
            <a:ext cx="1736437" cy="637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Decode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BEA9C-1250-7B05-DB72-2AE3ABD29554}"/>
              </a:ext>
            </a:extLst>
          </p:cNvPr>
          <p:cNvSpPr/>
          <p:nvPr/>
        </p:nvSpPr>
        <p:spPr>
          <a:xfrm>
            <a:off x="9153235" y="3333756"/>
            <a:ext cx="1736437" cy="637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Execute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02608-19BE-384C-4132-DC3F911C6E0A}"/>
              </a:ext>
            </a:extLst>
          </p:cNvPr>
          <p:cNvSpPr/>
          <p:nvPr/>
        </p:nvSpPr>
        <p:spPr>
          <a:xfrm>
            <a:off x="9153235" y="4382226"/>
            <a:ext cx="1736437" cy="637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94B9C5-87DB-125D-114C-4A453AF4DBCA}"/>
              </a:ext>
            </a:extLst>
          </p:cNvPr>
          <p:cNvSpPr/>
          <p:nvPr/>
        </p:nvSpPr>
        <p:spPr>
          <a:xfrm>
            <a:off x="9153235" y="5430696"/>
            <a:ext cx="1736437" cy="6373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Writeback</a:t>
            </a:r>
            <a:endParaRPr lang="en-I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2CE76-F2AD-0A12-3409-497EB314D3B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617527" y="4700881"/>
            <a:ext cx="5357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B57918-D884-3E22-EA4E-713D1643272A}"/>
              </a:ext>
            </a:extLst>
          </p:cNvPr>
          <p:cNvCxnSpPr>
            <a:cxnSpLocks/>
          </p:cNvCxnSpPr>
          <p:nvPr/>
        </p:nvCxnSpPr>
        <p:spPr>
          <a:xfrm>
            <a:off x="8617527" y="3103418"/>
            <a:ext cx="0" cy="15974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9A98E8-6B40-0006-AC5A-864501162A09}"/>
              </a:ext>
            </a:extLst>
          </p:cNvPr>
          <p:cNvCxnSpPr>
            <a:cxnSpLocks/>
          </p:cNvCxnSpPr>
          <p:nvPr/>
        </p:nvCxnSpPr>
        <p:spPr>
          <a:xfrm>
            <a:off x="8617527" y="3103418"/>
            <a:ext cx="831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415D55-1E35-862B-9F6E-C8992B85ED79}"/>
              </a:ext>
            </a:extLst>
          </p:cNvPr>
          <p:cNvCxnSpPr>
            <a:cxnSpLocks/>
          </p:cNvCxnSpPr>
          <p:nvPr/>
        </p:nvCxnSpPr>
        <p:spPr>
          <a:xfrm>
            <a:off x="9448800" y="3103418"/>
            <a:ext cx="0" cy="230338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1DE46-91FC-818E-EE59-E15772583C6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10021454" y="1708733"/>
            <a:ext cx="1" cy="493857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9DFEAB-242F-EE63-CB0D-BCD113FEF5AE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0021454" y="2839899"/>
            <a:ext cx="0" cy="493857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38A6E3D-F8DE-D371-2996-0648F7E643C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0021454" y="3971065"/>
            <a:ext cx="0" cy="411161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AB827F-6A5F-8C1A-ABB2-CD80E7FD0609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021454" y="5019535"/>
            <a:ext cx="0" cy="411161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932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13C509-3DFA-5DF3-9C3E-09664A5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TPU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585D8-791C-4B6F-BD73-954678D4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96FC8-224B-5C47-117E-4BF21AED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66077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091C-8F8B-B9AC-AB01-8879B2A2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TPU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C316-7FBC-36C0-128E-5E9F9104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2013 Google projected that if users use 3 minute of DNN-based voice search per day, they will need to double their data centers’ computational capacity</a:t>
            </a:r>
          </a:p>
          <a:p>
            <a:endParaRPr lang="en-US" dirty="0"/>
          </a:p>
          <a:p>
            <a:r>
              <a:rPr lang="en-US" dirty="0"/>
              <a:t>Started working on a hardware accelerator for NN inference</a:t>
            </a:r>
          </a:p>
          <a:p>
            <a:pPr lvl="1"/>
            <a:r>
              <a:rPr lang="en-US" dirty="0"/>
              <a:t>Identified that matrix multiplication is the main bottleneck</a:t>
            </a:r>
          </a:p>
          <a:p>
            <a:pPr lvl="1"/>
            <a:r>
              <a:rPr lang="en-US" dirty="0"/>
              <a:t>Went back to 1980s literature on systolic arrays</a:t>
            </a:r>
          </a:p>
          <a:p>
            <a:endParaRPr lang="en-US" dirty="0"/>
          </a:p>
          <a:p>
            <a:r>
              <a:rPr lang="en-US" dirty="0"/>
              <a:t>Deployed in 2015, published in 2017</a:t>
            </a:r>
          </a:p>
          <a:p>
            <a:pPr lvl="1"/>
            <a:r>
              <a:rPr lang="en-US" sz="1900" dirty="0" err="1"/>
              <a:t>Joupi</a:t>
            </a:r>
            <a:r>
              <a:rPr lang="en-US" sz="1900" dirty="0"/>
              <a:t> et al., “In-Datacenter Performance Analysis of a Tensor Processing Unit”. In  ISCA 2017</a:t>
            </a:r>
          </a:p>
          <a:p>
            <a:r>
              <a:rPr lang="en-US" dirty="0"/>
              <a:t>Recently announced the 7</a:t>
            </a:r>
            <a:r>
              <a:rPr lang="en-US" baseline="30000" dirty="0"/>
              <a:t>th</a:t>
            </a:r>
            <a:r>
              <a:rPr lang="en-US" dirty="0"/>
              <a:t> generation TPU</a:t>
            </a:r>
            <a:endParaRPr lang="en-IL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0333-04E8-3091-D1BC-5B1E3029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D5482-3ED6-84DC-BDB0-561583B4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4783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298E-A506-795B-5E39-1707286F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matrix multiplication?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0B08E-F9E3-0263-9DD4-900E94743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NNs are composed of layers of “synapses”</a:t>
            </a:r>
          </a:p>
          <a:p>
            <a:endParaRPr lang="en-US" dirty="0"/>
          </a:p>
          <a:p>
            <a:r>
              <a:rPr lang="en-US" dirty="0"/>
              <a:t>The inputs to each synapse are the outputs of the previous layer multiplied by a weight vector</a:t>
            </a:r>
          </a:p>
          <a:p>
            <a:endParaRPr lang="en-US" dirty="0"/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dot_product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(weights, inputs)</a:t>
            </a:r>
            <a:endParaRPr lang="en-US" dirty="0"/>
          </a:p>
          <a:p>
            <a:endParaRPr lang="en-US" dirty="0"/>
          </a:p>
          <a:p>
            <a:r>
              <a:rPr lang="en-US" dirty="0"/>
              <a:t>Synapse takes sum and applies normalization function</a:t>
            </a:r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D8FCA-B37F-7F72-22F8-4BA1AA9E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CB0D3-D488-D698-4567-81D431E8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24217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6183-DB12-4210-E054-026B83A9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matrix multiplication?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114A-A5C4-0AAC-F7DF-6D40CC44E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48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other words: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EC12-F5D7-039E-F0F9-1DF5051E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6F8AE-55E5-A882-6BC5-2F2180CD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153F94-EDCD-3F73-A229-3D5B187C8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534" y="3091543"/>
            <a:ext cx="3877216" cy="2219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26693B-FF38-7AD5-F840-E229F14E3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685" y="3120128"/>
            <a:ext cx="3647845" cy="22196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B3856D-9A32-C517-5D8D-D75E84700C9C}"/>
              </a:ext>
            </a:extLst>
          </p:cNvPr>
          <p:cNvSpPr txBox="1"/>
          <p:nvPr/>
        </p:nvSpPr>
        <p:spPr>
          <a:xfrm>
            <a:off x="6239255" y="3770320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  <a:endParaRPr lang="en-IL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3999C2-C22D-604B-5F11-4B02480B68E7}"/>
              </a:ext>
            </a:extLst>
          </p:cNvPr>
          <p:cNvSpPr txBox="1"/>
          <p:nvPr/>
        </p:nvSpPr>
        <p:spPr>
          <a:xfrm>
            <a:off x="3724656" y="2658463"/>
            <a:ext cx="1080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Inputs</a:t>
            </a:r>
            <a:endParaRPr lang="en-IL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4053D8-6540-8EC6-F089-B8FE8CE3B5F8}"/>
              </a:ext>
            </a:extLst>
          </p:cNvPr>
          <p:cNvSpPr txBox="1"/>
          <p:nvPr/>
        </p:nvSpPr>
        <p:spPr>
          <a:xfrm>
            <a:off x="7882999" y="2627530"/>
            <a:ext cx="1319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Weights</a:t>
            </a:r>
            <a:endParaRPr lang="en-IL" sz="2400" b="1" dirty="0"/>
          </a:p>
        </p:txBody>
      </p:sp>
    </p:spTree>
    <p:extLst>
      <p:ext uri="{BB962C8B-B14F-4D97-AF65-F5344CB8AC3E}">
        <p14:creationId xmlns:p14="http://schemas.microsoft.com/office/powerpoint/2010/main" val="424382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F0DD-19B5-7A57-31F3-F3C817E9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TPU’s systolic array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F9A7-96FE-CE66-58D6-959F0D34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076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256x256 array of 8-bit integer MACs</a:t>
            </a:r>
          </a:p>
          <a:p>
            <a:pPr lvl="1"/>
            <a:r>
              <a:rPr lang="en-US" dirty="0"/>
              <a:t>Product is 16b</a:t>
            </a:r>
          </a:p>
          <a:p>
            <a:endParaRPr lang="en-US" dirty="0"/>
          </a:p>
          <a:p>
            <a:r>
              <a:rPr lang="en-US" dirty="0"/>
              <a:t>64k ops/cycle for 8-bit </a:t>
            </a:r>
            <a:r>
              <a:rPr lang="en-US" dirty="0" err="1"/>
              <a:t>ints</a:t>
            </a:r>
            <a:endParaRPr lang="en-US" dirty="0"/>
          </a:p>
          <a:p>
            <a:pPr lvl="1"/>
            <a:r>
              <a:rPr lang="en-US" dirty="0"/>
              <a:t>Can operate at slower rate on larger formats</a:t>
            </a:r>
          </a:p>
          <a:p>
            <a:pPr lvl="1"/>
            <a:endParaRPr lang="en-US" dirty="0"/>
          </a:p>
          <a:p>
            <a:r>
              <a:rPr lang="en-US" dirty="0"/>
              <a:t>Reads/writes 256 values/cycles</a:t>
            </a:r>
          </a:p>
          <a:p>
            <a:endParaRPr lang="en-US" dirty="0"/>
          </a:p>
          <a:p>
            <a:r>
              <a:rPr lang="en-US" dirty="0"/>
              <a:t>Weights preloaded to array, and then inputs are streamed</a:t>
            </a: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D3E8F-1AC1-F06E-0706-4800F576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1AF28-B790-7565-101E-45037D57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F26150-607C-FEC6-56DB-23B5D4230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659" y="1825625"/>
            <a:ext cx="4147713" cy="41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6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E4EF5-3727-8A9C-2817-A3D0DEAB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5B115-8008-090D-C229-D5FC883B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A84461-DBBD-498C-BFFD-CD43D7FCE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D694EA-4DFC-8B25-BAD7-4811D340C6FC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5D244-8CD0-4554-8EBF-7FF92A84ADF7}"/>
              </a:ext>
            </a:extLst>
          </p:cNvPr>
          <p:cNvSpPr txBox="1"/>
          <p:nvPr/>
        </p:nvSpPr>
        <p:spPr>
          <a:xfrm>
            <a:off x="79819" y="5256808"/>
            <a:ext cx="220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 are staggered</a:t>
            </a:r>
            <a:br>
              <a:rPr lang="en-US" dirty="0"/>
            </a:br>
            <a:r>
              <a:rPr lang="en-US" dirty="0"/>
              <a:t>since systolic array</a:t>
            </a:r>
            <a:br>
              <a:rPr lang="en-US" dirty="0"/>
            </a:br>
            <a:r>
              <a:rPr lang="en-US" dirty="0"/>
              <a:t>has no control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F3A959-71A4-8DBA-BDCE-7A1626B4860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286000" y="4103914"/>
            <a:ext cx="903514" cy="1614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9C3574C-3750-F345-ACF9-F349C481E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4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17E5-89BE-252C-1DFB-89B5C31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41681-09B3-DBCC-5FBF-12307D07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473AE5-A5FD-10BB-19C6-23B338F93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0935DF-5062-EEA5-D56F-B87B16C0C235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A7807-543C-6344-4B88-CBB8D9B4B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26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36A9B-3152-7C07-C024-F02DF3EE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5648E-0D20-E926-6354-43F0A013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0149F2-C393-D02B-2DAA-EDEA06163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958548-1100-8690-2F75-7DEBDBEEEB58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9B904-6AE6-2A86-8DC4-F39E11BB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6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F78C-58F4-981A-7759-5AC00984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E65AA-F098-4306-D0AC-6E285ACD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8F5D74B-79B7-EC1D-352E-BFE7FD394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5FA2C-21F9-0A15-03F0-2913872373EE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25EDE-D7F3-FE78-29A2-9D7D6D5CB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10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C940-08EB-A14D-4944-894F7B0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EDA67-86CF-083C-1FB8-291717A8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4F58055-ECC7-E220-DE77-3456F17E7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01029-B557-1D0F-371B-65B5AF495731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87A80-36E2-C6E1-2425-4141CAA4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33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3839-DC38-9E72-A5E8-477814FF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92B2D-D7DB-FAD5-E55A-7BE59C15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1CF47C7-DAA6-0F18-4AE1-2CB9B3E3C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A62FBC-B59B-CA59-4F96-4085CFDBB7F1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D8D245-2914-AFB5-76D0-B9EA5AA14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06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61CEB-8E61-E284-BA43-66B6713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B76C0-825B-309E-A5A2-F30CA04A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A21BB56-A557-985D-5A6C-9F1468522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6CC818-62DA-B146-2EF4-1FC4E44A0BC2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20CB5-BCAB-05A9-C4F4-F2BCF8DF4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53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8AFD-ACB6-734D-C6A4-74FF9F16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AFF7D-A068-1C79-52F7-82FFE258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0359835-A637-6C60-5C2E-86686616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09625"/>
            <a:ext cx="7620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ACBD1A-1CC7-BBB6-9353-C3D3C01FF346}"/>
              </a:ext>
            </a:extLst>
          </p:cNvPr>
          <p:cNvSpPr txBox="1"/>
          <p:nvPr/>
        </p:nvSpPr>
        <p:spPr>
          <a:xfrm>
            <a:off x="3708400" y="6311900"/>
            <a:ext cx="440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https://telesens.co/2018/07/30/systolic-architectures/</a:t>
            </a:r>
            <a:endParaRPr lang="en-IL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2C74A-2297-4FEF-FD16-F319724E6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458" y="852259"/>
            <a:ext cx="2556767" cy="25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30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F92D-197A-C390-EE6B-9E343ACC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TPU’s systolic array limitation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74BE6-CB76-0607-024D-4793C7C1C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systolic array is timed only by the clock, no control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Q: What happens when the input data is not ready</a:t>
            </a:r>
          </a:p>
          <a:p>
            <a:pPr marL="0" indent="0">
              <a:buNone/>
            </a:pPr>
            <a:r>
              <a:rPr lang="en-US" dirty="0"/>
              <a:t>A: Need to preload inputs into an on-chip staging buffer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Q: What about sparse matrices?</a:t>
            </a:r>
          </a:p>
          <a:p>
            <a:pPr marL="0" indent="0">
              <a:buNone/>
            </a:pPr>
            <a:r>
              <a:rPr lang="en-US" dirty="0"/>
              <a:t>A: Still a major challenge; Unknown how addressed in </a:t>
            </a:r>
            <a:r>
              <a:rPr lang="en-US" dirty="0" err="1"/>
              <a:t>TPUvX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F1A88-F8E7-B328-C235-22A08568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F8115-977A-C40E-9C45-2078B97F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9772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5AC8-082D-D8A5-C2D7-DABA639E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 block diagram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0F42-E4FC-F35B-CA20-52E1A412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7B399-7A45-D83F-C588-700A92B7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8EA5F-69E2-0FB1-A1E8-349271BB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41" y="1690688"/>
            <a:ext cx="6036278" cy="4486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F5E12A-2293-36DA-8511-357B59042874}"/>
              </a:ext>
            </a:extLst>
          </p:cNvPr>
          <p:cNvSpPr txBox="1"/>
          <p:nvPr/>
        </p:nvSpPr>
        <p:spPr>
          <a:xfrm>
            <a:off x="2513055" y="6248401"/>
            <a:ext cx="6935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Joupi</a:t>
            </a:r>
            <a:r>
              <a:rPr lang="en-US" sz="1400" dirty="0"/>
              <a:t> et al., In-Datacenter Performance Analysis of a Tensor Processing Unit , ISCA 2017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143643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A715-32E8-7EA6-B8ED-99E8B78E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 gen1 </a:t>
            </a:r>
            <a:endParaRPr lang="en-I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1F2A6B-A1AF-3A50-D9E5-B5F4A219C1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PCIe gen3</a:t>
            </a:r>
          </a:p>
          <a:p>
            <a:r>
              <a:rPr lang="en-US" dirty="0"/>
              <a:t>32GB DRAM</a:t>
            </a:r>
          </a:p>
          <a:p>
            <a:r>
              <a:rPr lang="en-US" dirty="0"/>
              <a:t>384W</a:t>
            </a:r>
          </a:p>
          <a:p>
            <a:r>
              <a:rPr lang="en-US" dirty="0"/>
              <a:t>&lt;331mm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*less than ½ of Haswell</a:t>
            </a:r>
          </a:p>
          <a:p>
            <a:endParaRPr lang="en-US" baseline="30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4623B-1647-7612-2B23-211E60EB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831DA-3CD3-1314-37B7-4619C367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BA9F9-0B86-EB86-6CC0-6D27628B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96" y="1786831"/>
            <a:ext cx="6811190" cy="4120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73B7FB-20D7-9009-A5BE-CB53BE7DFBDD}"/>
              </a:ext>
            </a:extLst>
          </p:cNvPr>
          <p:cNvSpPr txBox="1"/>
          <p:nvPr/>
        </p:nvSpPr>
        <p:spPr>
          <a:xfrm>
            <a:off x="2513055" y="6248401"/>
            <a:ext cx="6935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Joupi</a:t>
            </a:r>
            <a:r>
              <a:rPr lang="en-US" sz="1400" dirty="0"/>
              <a:t> et al., In-Datacenter Performance Analysis of a Tensor Processing Unit , ISCA 2017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169820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0E6E-36B6-B2C4-37EF-17D2ACCB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TPU: Area distribution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80AA8-9FF7-80F4-5682-EA9BB9FE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D724C-265D-9A30-7527-315D882A3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2F579-2D2C-3008-1572-C4FBB632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338" y="1842483"/>
            <a:ext cx="5363323" cy="433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2B95FC-2F0C-C067-E1B4-529B99FA9128}"/>
              </a:ext>
            </a:extLst>
          </p:cNvPr>
          <p:cNvSpPr txBox="1"/>
          <p:nvPr/>
        </p:nvSpPr>
        <p:spPr>
          <a:xfrm>
            <a:off x="2513055" y="6248401"/>
            <a:ext cx="6935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Joupi</a:t>
            </a:r>
            <a:r>
              <a:rPr lang="en-US" sz="1400" dirty="0"/>
              <a:t> et al., In-Datacenter Performance Analysis of a Tensor Processing Unit , ISCA 2017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3520065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5959-FB17-4408-C943-82AB2B1F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TPU: Power benefits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C2A9-3B51-2140-838B-FE59557D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56B9B-D625-4649-A58A-D70FCD3C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7E84F-D83B-9951-D983-A6564A7F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19" y="1851221"/>
            <a:ext cx="6541562" cy="446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86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20B3-7F30-2302-76D7-BC2589FD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TPU: Design space exploration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FB174-DF7B-9FCE-917E-4342D484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8904" cy="4351338"/>
          </a:xfrm>
        </p:spPr>
        <p:txBody>
          <a:bodyPr>
            <a:normAutofit/>
          </a:bodyPr>
          <a:lstStyle/>
          <a:p>
            <a:r>
              <a:rPr lang="en-US" dirty="0"/>
              <a:t>Examine how scaling different parameters affect performance</a:t>
            </a:r>
          </a:p>
          <a:p>
            <a:pPr lvl="1"/>
            <a:endParaRPr lang="en-US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Memory  = memory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Clock+  = freq. &amp;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accums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Clock   = only freq.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Matrix+ = sys. array&amp;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accums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Matrix  = sys. array</a:t>
            </a:r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BC8C1-68E9-4357-DAF2-C9E4843A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1C980-1CAD-FEA3-096B-0F6E2463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E238B-3242-10BC-B4B1-9D65DD3F8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7" y="2547258"/>
            <a:ext cx="5932119" cy="3416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2E48FF-7FEF-86EA-6F39-E38AEF458084}"/>
              </a:ext>
            </a:extLst>
          </p:cNvPr>
          <p:cNvSpPr txBox="1"/>
          <p:nvPr/>
        </p:nvSpPr>
        <p:spPr>
          <a:xfrm rot="16200000">
            <a:off x="5760971" y="3970857"/>
            <a:ext cx="15401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Perf/TPU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49118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6456-B6AB-9D7B-D8A6-8F906A82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TPU: HW/SW interface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26390-1228-C65F-7181-D16DE39E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Philosophy: TPU should behave like an external FPU</a:t>
            </a:r>
          </a:p>
          <a:p>
            <a:endParaRPr lang="en-US" dirty="0"/>
          </a:p>
          <a:p>
            <a:r>
              <a:rPr lang="en-US" dirty="0"/>
              <a:t>Provide ~12 commands the host can trigger</a:t>
            </a:r>
          </a:p>
          <a:p>
            <a:r>
              <a:rPr lang="en-US" dirty="0"/>
              <a:t>Examples listed in the paper:</a:t>
            </a:r>
          </a:p>
          <a:p>
            <a:pPr lvl="1"/>
            <a:r>
              <a:rPr lang="en-US" b="1" dirty="0" err="1"/>
              <a:t>Read_Host_Memory</a:t>
            </a:r>
            <a:r>
              <a:rPr lang="en-US" dirty="0"/>
              <a:t>: Read data from the CPU to the unified SRAM buffer</a:t>
            </a:r>
          </a:p>
          <a:p>
            <a:pPr lvl="1"/>
            <a:r>
              <a:rPr lang="en-US" b="1" dirty="0" err="1"/>
              <a:t>Read_Weights</a:t>
            </a:r>
            <a:r>
              <a:rPr lang="en-US" dirty="0"/>
              <a:t>: Read weights into array input FIFOs</a:t>
            </a:r>
          </a:p>
          <a:p>
            <a:pPr lvl="1"/>
            <a:r>
              <a:rPr lang="en-US" b="1" dirty="0" err="1"/>
              <a:t>MatrixMultiply</a:t>
            </a:r>
            <a:r>
              <a:rPr lang="en-US" dirty="0"/>
              <a:t>: Trigger matrix multiplication on N inputs</a:t>
            </a:r>
          </a:p>
          <a:p>
            <a:pPr lvl="1"/>
            <a:r>
              <a:rPr lang="en-US" b="1" dirty="0"/>
              <a:t>Activate</a:t>
            </a:r>
            <a:r>
              <a:rPr lang="en-US" dirty="0"/>
              <a:t>: apply normalization to data in accumulator memory and write to unified buffer</a:t>
            </a:r>
          </a:p>
          <a:p>
            <a:pPr lvl="1"/>
            <a:r>
              <a:rPr lang="en-US" b="1" dirty="0" err="1"/>
              <a:t>Write_Host_Memory</a:t>
            </a:r>
            <a:r>
              <a:rPr lang="en-US" dirty="0"/>
              <a:t>: Write data from unified buffer to CPU memory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3DEF-7154-093F-4844-45B79119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79926-BFED-CFB2-BEA5-44F88D1A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98453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0C2F-1E35-DFC4-465E-6652DF4B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TPU: HW/SW interface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17E7-F702-AACB-AE6C-B82BEA739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0514" cy="4351338"/>
          </a:xfrm>
        </p:spPr>
        <p:txBody>
          <a:bodyPr/>
          <a:lstStyle/>
          <a:p>
            <a:r>
              <a:rPr lang="en-US" dirty="0"/>
              <a:t>User-space driver controls the TPU</a:t>
            </a:r>
          </a:p>
          <a:p>
            <a:pPr lvl="1"/>
            <a:r>
              <a:rPr lang="en-US" dirty="0"/>
              <a:t>Reformats data</a:t>
            </a:r>
          </a:p>
          <a:p>
            <a:pPr lvl="1"/>
            <a:r>
              <a:rPr lang="en-US" dirty="0"/>
              <a:t>Executes TPU instructions</a:t>
            </a:r>
            <a:endParaRPr lang="en-IL" dirty="0"/>
          </a:p>
          <a:p>
            <a:endParaRPr lang="en-US" dirty="0"/>
          </a:p>
          <a:p>
            <a:r>
              <a:rPr lang="en-US" dirty="0"/>
              <a:t>Use blocked matrix multiplication to split large matrices</a:t>
            </a:r>
          </a:p>
          <a:p>
            <a:pPr lvl="1"/>
            <a:r>
              <a:rPr lang="en-US" dirty="0"/>
              <a:t>Not clear if it is done in driver or higher up the stack (e.g.,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Tensorflow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Users need not change their code!</a:t>
            </a:r>
          </a:p>
          <a:p>
            <a:pPr lvl="1"/>
            <a:r>
              <a:rPr lang="en-US" dirty="0"/>
              <a:t>Code written in high-level frameworks, e.g.,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Tensorflow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EEC5-9F2D-4867-75CD-B0DB71F8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08351-B9F3-CEE4-BED6-68FF9C0F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71295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7925-43C7-5CD7-7CF2-35163BC4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out newer generations: TPUv3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A41B-1C2B-4535-5DB3-0FD41F365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chips per board</a:t>
            </a:r>
            <a:endParaRPr lang="en-IL" dirty="0"/>
          </a:p>
          <a:p>
            <a:r>
              <a:rPr lang="en-US" dirty="0"/>
              <a:t>Liquid cooling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956CF-4940-2C32-8215-4E812E06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D8FFE-E0B7-2894-7360-E0A16AB1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2050" name="Picture 2" descr="None">
            <a:extLst>
              <a:ext uri="{FF2B5EF4-FFF2-40B4-BE49-F238E27FC236}">
                <a16:creationId xmlns:a16="http://schemas.microsoft.com/office/drawing/2014/main" id="{7F4F4B7B-E293-FEF5-4DE4-1C28C7BB4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660" y="2575734"/>
            <a:ext cx="5305425" cy="333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99810-21F3-1B1A-99C4-4732BF2F8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317" y="3279127"/>
            <a:ext cx="379147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59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7A85-E2FA-D7CE-29F6-BB7D1F0D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0B4F-E3A2-C2B1-BC6D-2DB3624F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out newer generations: TPUv3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CB02-0831-4D2C-D8B4-237A06CF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TPU pod</a:t>
            </a:r>
          </a:p>
          <a:p>
            <a:r>
              <a:rPr lang="en-US" dirty="0"/>
              <a:t>3D torus network</a:t>
            </a:r>
          </a:p>
          <a:p>
            <a:r>
              <a:rPr lang="en-US" dirty="0"/>
              <a:t>Not clear how many sockets in a pod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C06C9-B11D-2A80-D6D1-CDEAB5D3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1B7E5-C5FB-2260-CDD6-D2D4E818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014DA78-4FD7-2D11-A68E-1922621D3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99" y="3352461"/>
            <a:ext cx="11069615" cy="304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B05B779-DC10-14F7-9182-49632FF8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675" y="742838"/>
            <a:ext cx="24574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51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B3BA-1E6D-C2DE-49C6-E8A25953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F2AA-E556-7AFE-47CA-3C88AE53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out newer generations: TPUv5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E73E2-9943-71DC-437A-515196A5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256 chips per pod </a:t>
            </a:r>
          </a:p>
          <a:p>
            <a:pPr lvl="1"/>
            <a:r>
              <a:rPr lang="en-US" dirty="0"/>
              <a:t>(I suspect ¼ - ½ of what we see in the image)</a:t>
            </a:r>
          </a:p>
          <a:p>
            <a:r>
              <a:rPr lang="en-US" dirty="0"/>
              <a:t>3D torus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BC7F7-D6B1-00DC-6E43-2F41A98D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B5A35-93A1-69AA-16F5-EB219CBD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0AE5D41-EF8D-A65C-708A-C1EF9CD4E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29" y="3235869"/>
            <a:ext cx="7086600" cy="375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56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B414-B4CA-0238-4DB3-3633C4B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886FE-0D12-298F-B862-C8AE7460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APU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9AB9D-FBCD-1344-A3BB-5F92C5FA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B6934-C688-1A4C-5D40-F2D32B2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9027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329832-D92F-DD3C-3A52-79A9E526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APU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6B3C26-5BEA-2BF5-FEA1-DA206394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81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Started as academic research on CGRAs in 2012</a:t>
            </a:r>
          </a:p>
          <a:p>
            <a:endParaRPr lang="en-US" dirty="0"/>
          </a:p>
          <a:p>
            <a:r>
              <a:rPr lang="en-US" dirty="0"/>
              <a:t>Motivation was to build a reconfigurable architecture for CUDA</a:t>
            </a:r>
          </a:p>
          <a:p>
            <a:pPr lvl="1"/>
            <a:r>
              <a:rPr lang="en-US" dirty="0"/>
              <a:t>Use spatial computing instead of GPU’s von Neumann core</a:t>
            </a:r>
          </a:p>
          <a:p>
            <a:pPr lvl="1"/>
            <a:r>
              <a:rPr lang="en-US" dirty="0"/>
              <a:t>Move data directly between functional units instead of register file</a:t>
            </a:r>
          </a:p>
          <a:p>
            <a:pPr lvl="1"/>
            <a:endParaRPr lang="en-US" dirty="0"/>
          </a:p>
          <a:p>
            <a:r>
              <a:rPr lang="en-US" dirty="0"/>
              <a:t>First paper published in 2014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Voitsechov and Etsion. “Single-graph multiple flows: energy efficient design alternative for GPGPUs”. In ISCA 2014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Speedata</a:t>
            </a:r>
            <a:r>
              <a:rPr lang="en-US" dirty="0"/>
              <a:t> founded in late 2019</a:t>
            </a: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41043-A8AA-8110-63DE-B3F2BBFD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ADBE9-3A82-DC0F-7C65-233FA7EE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70255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C88A-5424-CF45-0330-6A0D6CC3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dataflow CGRA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BFCC5-19D5-0C8C-E653-3BF60A61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92884" cy="4351338"/>
          </a:xfrm>
        </p:spPr>
        <p:txBody>
          <a:bodyPr>
            <a:normAutofit/>
          </a:bodyPr>
          <a:lstStyle/>
          <a:p>
            <a:r>
              <a:rPr lang="en-US" dirty="0"/>
              <a:t>2D grid of functional units</a:t>
            </a:r>
          </a:p>
          <a:p>
            <a:pPr lvl="1"/>
            <a:r>
              <a:rPr lang="en-US" dirty="0"/>
              <a:t>E.g., LSU, ALU, FPU, special function units</a:t>
            </a:r>
          </a:p>
          <a:p>
            <a:pPr lvl="1"/>
            <a:endParaRPr lang="en-US" dirty="0"/>
          </a:p>
          <a:p>
            <a:r>
              <a:rPr lang="en-US" dirty="0"/>
              <a:t>Units are connected by a configurable network</a:t>
            </a:r>
          </a:p>
          <a:p>
            <a:endParaRPr lang="en-US" dirty="0"/>
          </a:p>
          <a:p>
            <a:r>
              <a:rPr lang="en-US" dirty="0"/>
              <a:t>Reconfigurable design allows mapping the computation onto the grid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3C0E5-9E0A-6B8C-15D3-C811E4B0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36295-838E-9ED1-BA9A-EF3B64E1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4330A5-6122-2E5D-0C96-5A97289B3306}"/>
              </a:ext>
            </a:extLst>
          </p:cNvPr>
          <p:cNvGrpSpPr>
            <a:grpSpLocks noChangeAspect="1"/>
          </p:cNvGrpSpPr>
          <p:nvPr/>
        </p:nvGrpSpPr>
        <p:grpSpPr>
          <a:xfrm>
            <a:off x="8577218" y="1835377"/>
            <a:ext cx="3184296" cy="4341133"/>
            <a:chOff x="9169701" y="2312257"/>
            <a:chExt cx="2477875" cy="337807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D1B600-4943-01DD-0C29-79B06698D0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27303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28590C-10D6-7528-4E8D-F40D58665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27303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8ED97B-BB7A-6001-8657-1E3E3FD338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3556" y="23122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754D21-7D74-F440-0761-0F18F0E35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7298" y="231225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7B4FE2-DE85-6C32-4320-407D6869F0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1484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BA566E-683F-5394-0448-97A573B0F5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14849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F0B7F-9E1B-507B-979F-C794227A8F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5363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0DBAA1-48A6-B858-B59D-3F49810F39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5363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088ECB-C1E4-DA9E-6BEA-5449B66177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87ED48-051E-D60B-8ADE-704C83E28B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1910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4E92AD3-F757-7B8E-68D7-B2DC2414BC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3091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3CD99C-1C46-6078-5215-8042E85B9A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46970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055F09-3F72-98E5-CBFE-0CB00E9677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6970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426DBD-7578-2CA5-0B30-77AF439191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50517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544EFE8-36B0-5BBB-DDB1-9E569A4E40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505177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716B2E4-203D-752F-9710-0DF598988B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2087" y="542496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</a:rPr>
                <a:t>SFU</a:t>
              </a:r>
              <a:endParaRPr lang="en-US" sz="900" dirty="0">
                <a:solidFill>
                  <a:prstClr val="white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D3C3FB-C794-3772-C06C-212DD45DE2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5830" y="542496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A73C09-6BD1-19EF-B52E-E46E6B192E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273317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E0529E3-54D3-2712-F461-C706C9BCF3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27331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791E29-4BC6-2D7B-77E7-525DEEF7A3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05339" y="231505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DB377A-B43C-3E8D-4C40-10C9143D41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29082" y="2315061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3540EF-71B8-D2A1-CBD9-45A0B1238D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CFB560A-E8AE-4CD8-F0B4-D7CD084277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C30592D-AACB-2343-77F1-7E8C9008C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53914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3AF1DE6-0A62-1264-63DC-6ECA6CEDD4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5391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52761F-E077-0B5F-45AD-4D4371E40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38938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85DD73-A81B-65DB-C4B8-4E7C9C2B3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389386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D53936-4192-D30D-9595-26C8435AF5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3119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6C1FCC4-0102-2C7B-42E3-1880EB8199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31198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E25A109-3F48-C723-7ABB-F8C15A23E0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69984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53F3DA-CCCE-AFAD-B4CA-F979CFDE73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6998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74C4B6A-3634-6722-3EF0-91DC09EA9E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505457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38AA1D7-4B96-B44C-A74C-CDF7C7BCEC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50545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84E108B-A799-274A-BA7F-7ABFE311C4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3871" y="54277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F6BB88-7389-0E68-1C6D-EA2F8BAC48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7613" y="542776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993F88B-7618-0596-9110-03343D027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3106" y="428375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9954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29C7-517E-D7B1-93AF-4D10F132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3628-A777-13D3-A53A-D3D1C09B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dataflow CGRA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4D176-FF75-DE9A-01F1-9891CED1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9288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CGRAs have been proposed in the past, </a:t>
            </a:r>
            <a:r>
              <a:rPr lang="en-US" dirty="0" err="1"/>
              <a:t>e.g</a:t>
            </a:r>
            <a:r>
              <a:rPr lang="en-US" dirty="0"/>
              <a:t>,: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HelveticaNeue Regular"/>
              </a:rPr>
              <a:t>TRIPS in 2003</a:t>
            </a:r>
          </a:p>
          <a:p>
            <a:pPr lvl="2"/>
            <a:r>
              <a:rPr lang="en-US" sz="1400" b="0" i="0" dirty="0">
                <a:solidFill>
                  <a:srgbClr val="333333"/>
                </a:solidFill>
                <a:effectLst/>
                <a:latin typeface="HelveticaNeue Regular"/>
              </a:rPr>
              <a:t>Sankaralingam 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Neue Regular"/>
              </a:rPr>
              <a:t>., "Exploiting ILP, TLP, and DLP with the polymorphous TRIPS architecture“. In ISCA 2003.</a:t>
            </a:r>
            <a:endParaRPr lang="en-US" sz="1400" dirty="0"/>
          </a:p>
          <a:p>
            <a:pPr lvl="1"/>
            <a:r>
              <a:rPr lang="en-US" dirty="0"/>
              <a:t>Tartan in 2006</a:t>
            </a:r>
          </a:p>
          <a:p>
            <a:pPr lvl="2"/>
            <a:r>
              <a:rPr lang="en-US" sz="1400" dirty="0">
                <a:solidFill>
                  <a:srgbClr val="333333"/>
                </a:solidFill>
                <a:latin typeface="HelveticaNeue Regular"/>
              </a:rPr>
              <a:t>Mishra et al., “Tartan: evaluating spatial computation for whole program execution”. In ASPLOS 2006</a:t>
            </a:r>
          </a:p>
          <a:p>
            <a:pPr lvl="1"/>
            <a:r>
              <a:rPr lang="en-US" dirty="0"/>
              <a:t>DySER in 2011</a:t>
            </a:r>
          </a:p>
          <a:p>
            <a:pPr lvl="2"/>
            <a:r>
              <a:rPr lang="en-US" sz="1400" dirty="0">
                <a:solidFill>
                  <a:srgbClr val="333333"/>
                </a:solidFill>
                <a:latin typeface="HelveticaNeue Regular"/>
              </a:rPr>
              <a:t>Govindaraju et al., “Dynamically Specialized </a:t>
            </a:r>
            <a:r>
              <a:rPr lang="en-US" sz="1400" dirty="0" err="1">
                <a:solidFill>
                  <a:srgbClr val="333333"/>
                </a:solidFill>
                <a:latin typeface="HelveticaNeue Regular"/>
              </a:rPr>
              <a:t>Datapaths</a:t>
            </a:r>
            <a:r>
              <a:rPr lang="en-US" sz="1400" dirty="0">
                <a:solidFill>
                  <a:srgbClr val="333333"/>
                </a:solidFill>
                <a:latin typeface="HelveticaNeue Regular"/>
              </a:rPr>
              <a:t> for energy efficient computing”. In HPCA 2011.</a:t>
            </a:r>
          </a:p>
          <a:p>
            <a:endParaRPr lang="en-US" dirty="0"/>
          </a:p>
          <a:p>
            <a:r>
              <a:rPr lang="en-US" dirty="0"/>
              <a:t>All targeted single-threaded workloads</a:t>
            </a:r>
          </a:p>
          <a:p>
            <a:endParaRPr lang="en-US" dirty="0"/>
          </a:p>
          <a:p>
            <a:r>
              <a:rPr lang="en-US" dirty="0"/>
              <a:t>Our take: Massively data parallel code - CUDA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7C973-E0E7-1C03-3551-00E58C22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2078D-7DFB-C3F5-C354-E3507997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B13C66-7C55-0EC1-2EE2-E0B9548A0307}"/>
              </a:ext>
            </a:extLst>
          </p:cNvPr>
          <p:cNvGrpSpPr>
            <a:grpSpLocks noChangeAspect="1"/>
          </p:cNvGrpSpPr>
          <p:nvPr/>
        </p:nvGrpSpPr>
        <p:grpSpPr>
          <a:xfrm>
            <a:off x="8577218" y="1835377"/>
            <a:ext cx="3184296" cy="4341133"/>
            <a:chOff x="9169701" y="2312257"/>
            <a:chExt cx="2477875" cy="337807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D6E7D9-D59D-BC80-0870-BA8ED9819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27303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6BB9AB-7D97-EA7D-0A22-688B528DC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27303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D7832A-2B8B-68A4-F858-92FB71970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3556" y="23122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3E47EC-007F-5721-0A99-E99E862A6E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7298" y="231225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E0ED88-4461-65D4-3D89-D442A8C376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1484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C49918-BDFF-D5D7-6A68-2772C0D403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14849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770011-A66D-168B-F020-5D9273D4D0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5363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EA6018-EA44-78FD-77DD-9F323F8A9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5363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9F9556-49BF-3D5C-DEA3-01A0321C72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C51337-7148-F0F2-B9A2-2D7CB9326F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1910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B4C58A-8E76-0BB9-ED18-49404EF0E3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3091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19D421-20D5-EA59-13E0-FB3A632203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46970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E83FD8-0305-F84D-06BD-EE5671972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6970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3EF45B-C919-0F7D-D829-9DD4C47EA6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50517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D1A9E3-7558-331A-893C-FB08093CE7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505177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193D893-31B5-8B5A-B8B1-99DBEB5754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2087" y="542496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</a:rPr>
                <a:t>SFU</a:t>
              </a:r>
              <a:endParaRPr lang="en-US" sz="900" dirty="0">
                <a:solidFill>
                  <a:prstClr val="white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3DFCF2-B9E7-0630-6D30-440B33760E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5830" y="542496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DDBAA8-6250-C3F7-964C-863B5732B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273317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C20818D-7B0C-F197-67A6-E5960F341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27331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3C4F4B-4D06-4E43-8472-71E29634AD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05339" y="231505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DBE5FB2-0D74-CBD1-FFB0-F009416A7C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29082" y="2315061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7A2E97A-CB4B-0A5B-DE9A-FFB28C787C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DC5AA0-50F0-E6EC-4C42-6D26682C17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C5994C-9C78-F5F4-EFA3-7C1C7E0348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53914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300AF83-DAD6-48AA-EC54-3B6C345D57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5391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F7E9EC2-52D6-3D6D-57C4-3AB8FBE1E0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38938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1E56B13-9AD8-8F64-3E0D-C1E28836FC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389386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8AD395-9924-ED45-B907-3AAFDE8BF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3119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31E5280-0DF6-97C8-77C1-0C2A23D598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31198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83DC52-C7D2-2E7B-91AA-DF3E018033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69984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D729FA-A90C-78D2-32BF-CBAB03150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6998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682CD3C-82B0-D006-9BB4-2E9511495D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505457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6E46707-CAA5-151F-214C-48D73E4997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50545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72F1863-52D3-8BDC-FA5D-5360F9348D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3871" y="54277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D64FCED-C723-9C0F-DF6D-C41AC1AF33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7613" y="542776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EDD6146-2528-AB69-125E-2CD66B2B26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3106" y="428375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9389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A326-3C02-DA01-AFB3-5B0EEEE3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9960" cy="1325563"/>
          </a:xfrm>
        </p:spPr>
        <p:txBody>
          <a:bodyPr/>
          <a:lstStyle/>
          <a:p>
            <a:r>
              <a:rPr lang="en-US" dirty="0"/>
              <a:t>Programming the CGRA: CUDA-like parallelism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2E3AC-AF88-BF86-6891-B18AB7DE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50" y="2116350"/>
            <a:ext cx="6232167" cy="1649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2D6D24-4AC7-2200-0C49-9E32DA73B28D}"/>
              </a:ext>
            </a:extLst>
          </p:cNvPr>
          <p:cNvSpPr txBox="1"/>
          <p:nvPr/>
        </p:nvSpPr>
        <p:spPr>
          <a:xfrm>
            <a:off x="503259" y="1469071"/>
            <a:ext cx="1456558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❶ </a:t>
            </a:r>
            <a:br>
              <a:rPr lang="en-US" sz="1600" kern="0" dirty="0">
                <a:latin typeface="Calibri" panose="020F0502020204030204"/>
              </a:rPr>
            </a:br>
            <a:r>
              <a:rPr lang="en-US" sz="1600" kern="0" dirty="0">
                <a:latin typeface="Calibri" panose="020F0502020204030204"/>
              </a:rPr>
              <a:t>Kernel/Task</a:t>
            </a:r>
          </a:p>
        </p:txBody>
      </p:sp>
      <p:pic>
        <p:nvPicPr>
          <p:cNvPr id="6" name="Picture 46">
            <a:extLst>
              <a:ext uri="{FF2B5EF4-FFF2-40B4-BE49-F238E27FC236}">
                <a16:creationId xmlns:a16="http://schemas.microsoft.com/office/drawing/2014/main" id="{13E29852-8F5F-7579-96D4-116FE4C94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8588" y="4068398"/>
            <a:ext cx="3454727" cy="274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7BB395-DE65-C3F9-9D1F-4C8F41AE1656}"/>
              </a:ext>
            </a:extLst>
          </p:cNvPr>
          <p:cNvSpPr txBox="1"/>
          <p:nvPr/>
        </p:nvSpPr>
        <p:spPr>
          <a:xfrm>
            <a:off x="529251" y="4045481"/>
            <a:ext cx="1456558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❷ </a:t>
            </a:r>
          </a:p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Compiler transforms kernel code to dataflow graph(s)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51444-D19C-F6A9-445D-D893010531C2}"/>
              </a:ext>
            </a:extLst>
          </p:cNvPr>
          <p:cNvSpPr txBox="1"/>
          <p:nvPr/>
        </p:nvSpPr>
        <p:spPr>
          <a:xfrm>
            <a:off x="10542575" y="1492744"/>
            <a:ext cx="140558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72000" rIns="0" rtlCol="0">
            <a:spAutoFit/>
          </a:bodyPr>
          <a:lstStyle/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❸ </a:t>
            </a:r>
            <a:br>
              <a:rPr lang="en-US" sz="1600" kern="0" dirty="0">
                <a:latin typeface="Calibri" panose="020F0502020204030204"/>
              </a:rPr>
            </a:br>
            <a:r>
              <a:rPr lang="en-US" sz="1600" kern="0" dirty="0">
                <a:latin typeface="Calibri" panose="020F0502020204030204"/>
              </a:rPr>
              <a:t>Map:</a:t>
            </a:r>
          </a:p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Compiler maps dataflow graph </a:t>
            </a:r>
            <a:br>
              <a:rPr lang="en-US" sz="1600" kern="0" dirty="0">
                <a:latin typeface="Calibri" panose="020F0502020204030204"/>
              </a:rPr>
            </a:br>
            <a:r>
              <a:rPr lang="en-US" sz="1600" kern="0" dirty="0">
                <a:latin typeface="Calibri" panose="020F0502020204030204"/>
              </a:rPr>
              <a:t>to CGRA and </a:t>
            </a:r>
            <a:br>
              <a:rPr lang="en-US" sz="1600" kern="0" dirty="0">
                <a:latin typeface="Calibri" panose="020F0502020204030204"/>
              </a:rPr>
            </a:br>
            <a:r>
              <a:rPr lang="en-US" sz="1600" kern="0" dirty="0">
                <a:latin typeface="Calibri" panose="020F0502020204030204"/>
              </a:rPr>
              <a:t>conf. network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81723-6A5A-545D-9036-0652B4B099ED}"/>
              </a:ext>
            </a:extLst>
          </p:cNvPr>
          <p:cNvSpPr txBox="1"/>
          <p:nvPr/>
        </p:nvSpPr>
        <p:spPr>
          <a:xfrm>
            <a:off x="7950900" y="6157965"/>
            <a:ext cx="215951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 defTabSz="432054">
              <a:defRPr/>
            </a:pPr>
            <a:r>
              <a:rPr lang="en-US" sz="1600" b="1" kern="0" dirty="0">
                <a:latin typeface="Calibri" panose="020F0502020204030204"/>
              </a:rPr>
              <a:t>Reconfigurable fabric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FF4DD5-579B-C5D2-5D76-AE552728FF93}"/>
              </a:ext>
            </a:extLst>
          </p:cNvPr>
          <p:cNvGrpSpPr>
            <a:grpSpLocks noChangeAspect="1"/>
          </p:cNvGrpSpPr>
          <p:nvPr/>
        </p:nvGrpSpPr>
        <p:grpSpPr>
          <a:xfrm>
            <a:off x="7508240" y="1473746"/>
            <a:ext cx="2912024" cy="4609738"/>
            <a:chOff x="8553451" y="1825625"/>
            <a:chExt cx="3550346" cy="446759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9043F19-3B66-15AB-4F69-3CB5F3460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8331" y="2362270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6B5E69-98A7-6A99-77D1-0E0080EF66CE}"/>
                </a:ext>
              </a:extLst>
            </p:cNvPr>
            <p:cNvCxnSpPr>
              <a:cxnSpLocks/>
            </p:cNvCxnSpPr>
            <p:nvPr/>
          </p:nvCxnSpPr>
          <p:spPr>
            <a:xfrm>
              <a:off x="8931224" y="236317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BED7154-EE11-5C01-1E29-7346CCEAE897}"/>
                </a:ext>
              </a:extLst>
            </p:cNvPr>
            <p:cNvCxnSpPr>
              <a:cxnSpLocks/>
            </p:cNvCxnSpPr>
            <p:nvPr/>
          </p:nvCxnSpPr>
          <p:spPr>
            <a:xfrm>
              <a:off x="9841753" y="236317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229607-477B-D7BF-80B2-EA7304012077}"/>
                </a:ext>
              </a:extLst>
            </p:cNvPr>
            <p:cNvCxnSpPr>
              <a:cxnSpLocks/>
            </p:cNvCxnSpPr>
            <p:nvPr/>
          </p:nvCxnSpPr>
          <p:spPr>
            <a:xfrm>
              <a:off x="10787577" y="236317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2F5298F-7D12-3975-A81A-CE7A63B8FC5F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24" y="236317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671E1D9-4B88-4DB7-6A8C-63F05D2DA054}"/>
                </a:ext>
              </a:extLst>
            </p:cNvPr>
            <p:cNvCxnSpPr>
              <a:cxnSpLocks/>
            </p:cNvCxnSpPr>
            <p:nvPr/>
          </p:nvCxnSpPr>
          <p:spPr>
            <a:xfrm>
              <a:off x="8931224" y="311654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4F55B2-D825-DDC5-F028-659AC1E198F5}"/>
                </a:ext>
              </a:extLst>
            </p:cNvPr>
            <p:cNvCxnSpPr>
              <a:cxnSpLocks/>
            </p:cNvCxnSpPr>
            <p:nvPr/>
          </p:nvCxnSpPr>
          <p:spPr>
            <a:xfrm>
              <a:off x="9841753" y="311654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4E70ED9-7699-740F-262E-EAD420C6C2EE}"/>
                </a:ext>
              </a:extLst>
            </p:cNvPr>
            <p:cNvCxnSpPr>
              <a:cxnSpLocks/>
            </p:cNvCxnSpPr>
            <p:nvPr/>
          </p:nvCxnSpPr>
          <p:spPr>
            <a:xfrm>
              <a:off x="10787577" y="311654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41D8D71-B01D-052E-DB9F-1B4FAB1F00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24" y="311654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5112FD0-5438-8073-72B6-8CF9C0FA00D4}"/>
                </a:ext>
              </a:extLst>
            </p:cNvPr>
            <p:cNvCxnSpPr>
              <a:cxnSpLocks/>
            </p:cNvCxnSpPr>
            <p:nvPr/>
          </p:nvCxnSpPr>
          <p:spPr>
            <a:xfrm>
              <a:off x="8931224" y="3869923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0E47DF8-6AFF-AB12-350F-1B87656C8E62}"/>
                </a:ext>
              </a:extLst>
            </p:cNvPr>
            <p:cNvCxnSpPr>
              <a:cxnSpLocks/>
            </p:cNvCxnSpPr>
            <p:nvPr/>
          </p:nvCxnSpPr>
          <p:spPr>
            <a:xfrm>
              <a:off x="9841753" y="3869923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1C45183-9C31-4F84-C51C-E3772174182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7577" y="3869923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E0D9712-A3EC-281B-7D81-584E626B7E67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24" y="3869923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2F068F-7EBE-E38C-C7FC-A326DCC5AD00}"/>
                </a:ext>
              </a:extLst>
            </p:cNvPr>
            <p:cNvGrpSpPr/>
            <p:nvPr/>
          </p:nvGrpSpPr>
          <p:grpSpPr>
            <a:xfrm>
              <a:off x="10518438" y="1933186"/>
              <a:ext cx="538278" cy="418886"/>
              <a:chOff x="5486400" y="1320118"/>
              <a:chExt cx="774700" cy="703840"/>
            </a:xfrm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25B4134-5A1E-144D-4E9F-E46A6B521462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002A8B4C-EC1C-CE42-AF0E-DD41305FF5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6E72094-43C3-4496-AD73-F007F2997D80}"/>
                </a:ext>
              </a:extLst>
            </p:cNvPr>
            <p:cNvGrpSpPr/>
            <p:nvPr/>
          </p:nvGrpSpPr>
          <p:grpSpPr>
            <a:xfrm>
              <a:off x="8662083" y="1933186"/>
              <a:ext cx="538278" cy="418886"/>
              <a:chOff x="7086600" y="1320118"/>
              <a:chExt cx="774700" cy="703840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E5F1CD5-62EC-1E21-7162-3FD027469387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3FE4A72C-5009-9554-0C3C-BD56D42E8D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1AFB981-49F9-FB8A-2E2D-7BDC2CAA1967}"/>
                </a:ext>
              </a:extLst>
            </p:cNvPr>
            <p:cNvGrpSpPr/>
            <p:nvPr/>
          </p:nvGrpSpPr>
          <p:grpSpPr>
            <a:xfrm>
              <a:off x="9598424" y="1944283"/>
              <a:ext cx="538278" cy="418886"/>
              <a:chOff x="8191500" y="1320118"/>
              <a:chExt cx="774700" cy="703840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3359E852-D262-2582-D70A-82659AE6F770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47" name="Picture 146">
                <a:extLst>
                  <a:ext uri="{FF2B5EF4-FFF2-40B4-BE49-F238E27FC236}">
                    <a16:creationId xmlns:a16="http://schemas.microsoft.com/office/drawing/2014/main" id="{EAB5188D-9EA0-B754-2B92-FEBF10FA76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35AA4D1-3EEC-CFD7-D42D-525905605600}"/>
                </a:ext>
              </a:extLst>
            </p:cNvPr>
            <p:cNvGrpSpPr/>
            <p:nvPr/>
          </p:nvGrpSpPr>
          <p:grpSpPr>
            <a:xfrm>
              <a:off x="11456885" y="1944283"/>
              <a:ext cx="538278" cy="418886"/>
              <a:chOff x="5486400" y="1320118"/>
              <a:chExt cx="774700" cy="703840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9C6D1A98-79C0-4DE2-EECE-DCA358F738C6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68062AAD-DE84-F614-5BC2-7C43B786E5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EC8DC0D-05E8-A808-2310-BB5B7FF31EB1}"/>
                </a:ext>
              </a:extLst>
            </p:cNvPr>
            <p:cNvGrpSpPr/>
            <p:nvPr/>
          </p:nvGrpSpPr>
          <p:grpSpPr>
            <a:xfrm>
              <a:off x="10518438" y="2686529"/>
              <a:ext cx="538278" cy="418886"/>
              <a:chOff x="5486400" y="1320118"/>
              <a:chExt cx="774700" cy="703840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1AF2D5A-C3E6-8C3E-A71B-8B2B827150FF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1BD3E8C6-A8E9-AA18-3303-FD7A698978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44E49C2-5DA8-65BF-14FB-DBBA38B83DD3}"/>
                </a:ext>
              </a:extLst>
            </p:cNvPr>
            <p:cNvGrpSpPr/>
            <p:nvPr/>
          </p:nvGrpSpPr>
          <p:grpSpPr>
            <a:xfrm>
              <a:off x="8662083" y="2686529"/>
              <a:ext cx="538278" cy="418886"/>
              <a:chOff x="7086600" y="1320118"/>
              <a:chExt cx="774700" cy="703840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8C5504D-BFB8-6B1A-739F-C9A8DD9101D6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B34391E4-24C4-C77E-1DA2-ECCAA421FA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7A307DF-A854-DE15-EDEA-99B6D280C2B7}"/>
                </a:ext>
              </a:extLst>
            </p:cNvPr>
            <p:cNvGrpSpPr/>
            <p:nvPr/>
          </p:nvGrpSpPr>
          <p:grpSpPr>
            <a:xfrm>
              <a:off x="9598424" y="2697626"/>
              <a:ext cx="538278" cy="418886"/>
              <a:chOff x="8191500" y="1320118"/>
              <a:chExt cx="774700" cy="703840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30FFA712-BA5E-36A4-87C8-BCA8291A3F3B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42896222-13A7-CA5E-A857-0B2D67A9EB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45121BD-4404-10E6-6646-FE7C24A78B29}"/>
                </a:ext>
              </a:extLst>
            </p:cNvPr>
            <p:cNvGrpSpPr/>
            <p:nvPr/>
          </p:nvGrpSpPr>
          <p:grpSpPr>
            <a:xfrm>
              <a:off x="11456885" y="2697626"/>
              <a:ext cx="538278" cy="418886"/>
              <a:chOff x="5486400" y="1320118"/>
              <a:chExt cx="774700" cy="703840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4B17DD8-71B1-13E7-DCC6-5E6AA2E94FF0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37" name="Picture 136">
                <a:extLst>
                  <a:ext uri="{FF2B5EF4-FFF2-40B4-BE49-F238E27FC236}">
                    <a16:creationId xmlns:a16="http://schemas.microsoft.com/office/drawing/2014/main" id="{5C73C0BC-CD5E-1E81-EE73-D3822DE7B4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E8D865A-A64D-D925-DDE2-0F8788716088}"/>
                </a:ext>
              </a:extLst>
            </p:cNvPr>
            <p:cNvGrpSpPr/>
            <p:nvPr/>
          </p:nvGrpSpPr>
          <p:grpSpPr>
            <a:xfrm>
              <a:off x="10518438" y="3434374"/>
              <a:ext cx="538278" cy="418886"/>
              <a:chOff x="5486400" y="1320118"/>
              <a:chExt cx="774700" cy="70384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1DD2D0A-10B1-022B-AD81-59B08218150E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E2DE9F89-10AC-BB50-81E3-37982680D0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4AA606C-87C7-515E-1814-DD8B0D51287E}"/>
                </a:ext>
              </a:extLst>
            </p:cNvPr>
            <p:cNvGrpSpPr/>
            <p:nvPr/>
          </p:nvGrpSpPr>
          <p:grpSpPr>
            <a:xfrm>
              <a:off x="8662083" y="3434374"/>
              <a:ext cx="538278" cy="418886"/>
              <a:chOff x="7086600" y="1320118"/>
              <a:chExt cx="774700" cy="703840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85E435C-73FC-9417-8F77-D899DA6649C9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367DBEB4-B2D4-A11C-1A93-72E5EC512D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34EF408-75AE-3A61-20EE-A5F2CAE2D021}"/>
                </a:ext>
              </a:extLst>
            </p:cNvPr>
            <p:cNvGrpSpPr/>
            <p:nvPr/>
          </p:nvGrpSpPr>
          <p:grpSpPr>
            <a:xfrm>
              <a:off x="9598424" y="3445471"/>
              <a:ext cx="538278" cy="418886"/>
              <a:chOff x="8191500" y="1320118"/>
              <a:chExt cx="774700" cy="703840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C49D2E7B-EC3C-B847-E7B5-F6E923647CFC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71871D98-EAFD-6869-0F1E-BE69455C3A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F4C85C-04B4-5D7A-01CB-2B0D8DA11EEF}"/>
                </a:ext>
              </a:extLst>
            </p:cNvPr>
            <p:cNvGrpSpPr/>
            <p:nvPr/>
          </p:nvGrpSpPr>
          <p:grpSpPr>
            <a:xfrm>
              <a:off x="11456885" y="3445471"/>
              <a:ext cx="538278" cy="418886"/>
              <a:chOff x="5486400" y="1320118"/>
              <a:chExt cx="774700" cy="70384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FD1A4AA-9E68-A316-7FD2-294F23286ED9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1269CBBF-084A-825A-6DC6-A6ACB6489B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69054A6-1173-132B-679E-D58346BEB5BA}"/>
                </a:ext>
              </a:extLst>
            </p:cNvPr>
            <p:cNvGrpSpPr/>
            <p:nvPr/>
          </p:nvGrpSpPr>
          <p:grpSpPr>
            <a:xfrm>
              <a:off x="10518438" y="4198880"/>
              <a:ext cx="538278" cy="418886"/>
              <a:chOff x="5486400" y="1320118"/>
              <a:chExt cx="774700" cy="703840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C40A20F-0600-7427-29CA-CE78A2B336DE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C085341F-0A3E-CD40-56B8-856F006E8D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7A23EC7-8435-E163-FDB7-CD545122278B}"/>
                </a:ext>
              </a:extLst>
            </p:cNvPr>
            <p:cNvGrpSpPr/>
            <p:nvPr/>
          </p:nvGrpSpPr>
          <p:grpSpPr>
            <a:xfrm>
              <a:off x="8662083" y="4198880"/>
              <a:ext cx="538278" cy="418886"/>
              <a:chOff x="7086600" y="1320118"/>
              <a:chExt cx="774700" cy="703840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93B9A769-16B4-8450-FB3B-882701F392D9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7FC3D641-62C5-C9B5-0104-4FCE03BC15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3996F4B-DF41-FC81-7531-D01D62985D16}"/>
                </a:ext>
              </a:extLst>
            </p:cNvPr>
            <p:cNvGrpSpPr/>
            <p:nvPr/>
          </p:nvGrpSpPr>
          <p:grpSpPr>
            <a:xfrm>
              <a:off x="9598424" y="4209978"/>
              <a:ext cx="538278" cy="418886"/>
              <a:chOff x="8191500" y="1320118"/>
              <a:chExt cx="774700" cy="70384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7D34EA2-288D-C6A4-8F47-66F9742062C6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923039BC-3867-C830-26DE-280BA3594B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B620E06-7543-5FB4-419D-57610D3D0F04}"/>
                </a:ext>
              </a:extLst>
            </p:cNvPr>
            <p:cNvGrpSpPr/>
            <p:nvPr/>
          </p:nvGrpSpPr>
          <p:grpSpPr>
            <a:xfrm>
              <a:off x="11456885" y="4209978"/>
              <a:ext cx="538278" cy="418886"/>
              <a:chOff x="5486400" y="1320118"/>
              <a:chExt cx="774700" cy="703840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C8D99EDC-0A8C-4F3F-A00A-A598486F69D0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BC2675AE-F583-B03A-B668-BBE82F775D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F7450AB-FED7-5D9E-322B-235E01559C5C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214262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E037856-2212-EC2A-1C5B-52D289636D39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290706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A4771BE-9505-4D10-B51A-998A04909050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3643817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B413F78-1128-AAF8-46A6-2DBC73C6D727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4420864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6B5D115-0ED4-4EED-F92B-543EFE7B43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214262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0C40F34-B3F3-653A-E525-0192C05B43ED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290706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1D4DFBC-2918-1BDB-B70A-13A568F3FD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3643817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A4B115D-B8D4-8FF6-64DD-7421DA2B2F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4420864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C5B0621-FE59-3007-A289-2F8FA56E9FF7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214262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0CC67B8-949E-1A92-520E-99DB914C04E6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2907069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8127214-B69B-826B-AB0C-A9434C3432FA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3643817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0A5C51E-7298-B8AD-69FF-0B52CB715742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4420864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4EBEFBF-E035-B15B-54E1-DD2ACD7EB771}"/>
                </a:ext>
              </a:extLst>
            </p:cNvPr>
            <p:cNvCxnSpPr>
              <a:cxnSpLocks/>
            </p:cNvCxnSpPr>
            <p:nvPr/>
          </p:nvCxnSpPr>
          <p:spPr>
            <a:xfrm>
              <a:off x="9214542" y="2363604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54CA055-EE45-8FF8-AFD5-8AB358CA8B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439" y="2362211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8BE0CF9-07C0-DD82-757D-4B74011217B6}"/>
                </a:ext>
              </a:extLst>
            </p:cNvPr>
            <p:cNvCxnSpPr>
              <a:cxnSpLocks/>
            </p:cNvCxnSpPr>
            <p:nvPr/>
          </p:nvCxnSpPr>
          <p:spPr>
            <a:xfrm>
              <a:off x="10135650" y="2363545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D2D5EC0-95AB-4ED5-EF61-8933E1602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7572" y="2345615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E993751-71D9-168D-AB3A-6CFFBE96DAED}"/>
                </a:ext>
              </a:extLst>
            </p:cNvPr>
            <p:cNvCxnSpPr>
              <a:cxnSpLocks/>
            </p:cNvCxnSpPr>
            <p:nvPr/>
          </p:nvCxnSpPr>
          <p:spPr>
            <a:xfrm>
              <a:off x="11063783" y="2346948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59DD2BA-6AE3-A637-AF63-C4E17C8F3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8053" y="3111763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1053920-5A4E-8294-3A1F-5708D73A489B}"/>
                </a:ext>
              </a:extLst>
            </p:cNvPr>
            <p:cNvCxnSpPr>
              <a:cxnSpLocks/>
            </p:cNvCxnSpPr>
            <p:nvPr/>
          </p:nvCxnSpPr>
          <p:spPr>
            <a:xfrm>
              <a:off x="9224264" y="3113096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6411A99-02F9-C733-E348-A2FB6893D4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161" y="3111704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F2C578E-919F-57A4-70CA-EA04B30927B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5372" y="3113037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E02B6D9-3683-A714-604B-EB921CF49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7294" y="3095107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5D711BF-CA55-02D1-89F5-DA2B35AF1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3505" y="3096440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B9048CD-9AEE-F42C-A9D8-B524A40A0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0949" y="3880119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801F3BA-C69C-8AF2-DF5B-AEAB7AB6B46E}"/>
                </a:ext>
              </a:extLst>
            </p:cNvPr>
            <p:cNvCxnSpPr>
              <a:cxnSpLocks/>
            </p:cNvCxnSpPr>
            <p:nvPr/>
          </p:nvCxnSpPr>
          <p:spPr>
            <a:xfrm>
              <a:off x="9207160" y="3881452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F5CB6FA-27EE-797C-6AF1-FC18F48D1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2057" y="3880060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201D9AD-3452-0D8A-E163-3C851502AD68}"/>
                </a:ext>
              </a:extLst>
            </p:cNvPr>
            <p:cNvCxnSpPr>
              <a:cxnSpLocks/>
            </p:cNvCxnSpPr>
            <p:nvPr/>
          </p:nvCxnSpPr>
          <p:spPr>
            <a:xfrm>
              <a:off x="10128268" y="3881393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2990EEA-4B38-09A6-1F81-E4A3551DB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0190" y="3863463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BC0FE64-9398-1D1F-6FF7-FCD10AA75B63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401" y="3864797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6A7F4D4-50E2-A43E-A4E4-5EA9DBE12E66}"/>
                </a:ext>
              </a:extLst>
            </p:cNvPr>
            <p:cNvSpPr/>
            <p:nvPr/>
          </p:nvSpPr>
          <p:spPr>
            <a:xfrm>
              <a:off x="8553451" y="1825625"/>
              <a:ext cx="3550346" cy="4467599"/>
            </a:xfrm>
            <a:prstGeom prst="rect">
              <a:avLst/>
            </a:prstGeom>
            <a:noFill/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32054">
                <a:defRPr/>
              </a:pPr>
              <a:endParaRPr lang="en-US" sz="851" kern="0">
                <a:latin typeface="Calibri" panose="020F0502020204030204"/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B6A17B8-BE24-E5E3-7F2A-F3CCFDF46603}"/>
                </a:ext>
              </a:extLst>
            </p:cNvPr>
            <p:cNvCxnSpPr>
              <a:cxnSpLocks/>
            </p:cNvCxnSpPr>
            <p:nvPr/>
          </p:nvCxnSpPr>
          <p:spPr>
            <a:xfrm>
              <a:off x="8931224" y="464002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B02F6F9-4EF5-71B2-F914-8EC3739AC996}"/>
                </a:ext>
              </a:extLst>
            </p:cNvPr>
            <p:cNvCxnSpPr>
              <a:cxnSpLocks/>
            </p:cNvCxnSpPr>
            <p:nvPr/>
          </p:nvCxnSpPr>
          <p:spPr>
            <a:xfrm>
              <a:off x="9841753" y="464002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8E9DF66-D89A-8A19-A5C2-A96BEF089C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87577" y="464002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CD08191E-1305-54C3-A8F2-F8D2F695879D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24" y="4640021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303AE23-1A79-E4E5-7E2C-07DC6BEEB5A9}"/>
                </a:ext>
              </a:extLst>
            </p:cNvPr>
            <p:cNvCxnSpPr>
              <a:cxnSpLocks/>
            </p:cNvCxnSpPr>
            <p:nvPr/>
          </p:nvCxnSpPr>
          <p:spPr>
            <a:xfrm>
              <a:off x="8931224" y="539339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413CB82-CE5F-59F4-0103-727BBEEC489C}"/>
                </a:ext>
              </a:extLst>
            </p:cNvPr>
            <p:cNvCxnSpPr>
              <a:cxnSpLocks/>
            </p:cNvCxnSpPr>
            <p:nvPr/>
          </p:nvCxnSpPr>
          <p:spPr>
            <a:xfrm>
              <a:off x="9841753" y="539339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FF0A2BB-7DB3-6D67-4163-6FB91CC6D44A}"/>
                </a:ext>
              </a:extLst>
            </p:cNvPr>
            <p:cNvCxnSpPr>
              <a:cxnSpLocks/>
            </p:cNvCxnSpPr>
            <p:nvPr/>
          </p:nvCxnSpPr>
          <p:spPr>
            <a:xfrm>
              <a:off x="10787577" y="539339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96D355A-F4F6-4B4D-589A-3AC13C01879B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24" y="5393397"/>
              <a:ext cx="0" cy="323391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3C95EDC-45F1-F575-2DB5-E68DD0AAAF8B}"/>
                </a:ext>
              </a:extLst>
            </p:cNvPr>
            <p:cNvGrpSpPr/>
            <p:nvPr/>
          </p:nvGrpSpPr>
          <p:grpSpPr>
            <a:xfrm>
              <a:off x="10518438" y="4957848"/>
              <a:ext cx="538278" cy="418886"/>
              <a:chOff x="5486400" y="1320118"/>
              <a:chExt cx="774700" cy="703840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BD87A3B-B842-32DD-1E28-EC21B6A9BD9E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8BF3D1D9-0CFD-D50C-7F8C-18317C38CA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6158419-3D29-735B-739A-B2135DC6ED36}"/>
                </a:ext>
              </a:extLst>
            </p:cNvPr>
            <p:cNvGrpSpPr/>
            <p:nvPr/>
          </p:nvGrpSpPr>
          <p:grpSpPr>
            <a:xfrm>
              <a:off x="8662083" y="4957848"/>
              <a:ext cx="538278" cy="418886"/>
              <a:chOff x="7086600" y="1320118"/>
              <a:chExt cx="774700" cy="70384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3D5A726-3AFD-0042-FA19-05547820E17E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63F2C289-94C8-6E70-DF9A-2FEDC20BF2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ED9AAEA-F0BF-62B3-5A94-46C9E8CF319B}"/>
                </a:ext>
              </a:extLst>
            </p:cNvPr>
            <p:cNvGrpSpPr/>
            <p:nvPr/>
          </p:nvGrpSpPr>
          <p:grpSpPr>
            <a:xfrm>
              <a:off x="9598424" y="4968945"/>
              <a:ext cx="538278" cy="418886"/>
              <a:chOff x="8191500" y="1320118"/>
              <a:chExt cx="774700" cy="70384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B2036AA-4DDC-58C7-2057-0A2629564E89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C72623A3-85F3-9216-4BCE-B2960E898B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AA0CABD-865D-0337-DC91-3EDD2AED7829}"/>
                </a:ext>
              </a:extLst>
            </p:cNvPr>
            <p:cNvGrpSpPr/>
            <p:nvPr/>
          </p:nvGrpSpPr>
          <p:grpSpPr>
            <a:xfrm>
              <a:off x="11456885" y="4968945"/>
              <a:ext cx="538278" cy="418886"/>
              <a:chOff x="5486400" y="1320118"/>
              <a:chExt cx="774700" cy="70384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9AC5751-832F-AEB5-45F5-05ED0642251F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AF27024A-D07A-E3E9-E60D-DE3573D4C4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F02D93F-DB02-144A-DDE1-2C4F0150983E}"/>
                </a:ext>
              </a:extLst>
            </p:cNvPr>
            <p:cNvGrpSpPr/>
            <p:nvPr/>
          </p:nvGrpSpPr>
          <p:grpSpPr>
            <a:xfrm>
              <a:off x="10518438" y="5722354"/>
              <a:ext cx="538278" cy="418886"/>
              <a:chOff x="5486400" y="1320118"/>
              <a:chExt cx="774700" cy="703840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CCE168E-286E-6777-77B1-82079B0CC8E5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4472C4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0B244770-A19D-8C5E-B569-2C01744634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DC9D862-EA8A-F69C-ABCA-C4F6B62FA6E8}"/>
                </a:ext>
              </a:extLst>
            </p:cNvPr>
            <p:cNvGrpSpPr/>
            <p:nvPr/>
          </p:nvGrpSpPr>
          <p:grpSpPr>
            <a:xfrm>
              <a:off x="8662083" y="5722354"/>
              <a:ext cx="538278" cy="418886"/>
              <a:chOff x="7086600" y="1320118"/>
              <a:chExt cx="774700" cy="703840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210F19E-3201-175D-1F53-BD82F1B2AF3E}"/>
                  </a:ext>
                </a:extLst>
              </p:cNvPr>
              <p:cNvSpPr/>
              <p:nvPr/>
            </p:nvSpPr>
            <p:spPr>
              <a:xfrm>
                <a:off x="7086600" y="1320118"/>
                <a:ext cx="774700" cy="703840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8D912212-3597-F2AA-59BF-1936814EEA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1120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2EDD388-BDF5-C3B7-F711-A01EB6A71E23}"/>
                </a:ext>
              </a:extLst>
            </p:cNvPr>
            <p:cNvGrpSpPr/>
            <p:nvPr/>
          </p:nvGrpSpPr>
          <p:grpSpPr>
            <a:xfrm>
              <a:off x="9598424" y="5733452"/>
              <a:ext cx="538278" cy="418886"/>
              <a:chOff x="8191500" y="1320118"/>
              <a:chExt cx="774700" cy="703840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AA7FEA9-5971-0558-ACF9-B2086CAE74BB}"/>
                  </a:ext>
                </a:extLst>
              </p:cNvPr>
              <p:cNvSpPr/>
              <p:nvPr/>
            </p:nvSpPr>
            <p:spPr>
              <a:xfrm>
                <a:off x="8191500" y="1320118"/>
                <a:ext cx="774700" cy="703840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A0D58FAB-585C-11EB-801D-DB1E2A31B0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2169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DC5044B-9FB6-E830-0A91-A4405FE89B5E}"/>
                </a:ext>
              </a:extLst>
            </p:cNvPr>
            <p:cNvGrpSpPr/>
            <p:nvPr/>
          </p:nvGrpSpPr>
          <p:grpSpPr>
            <a:xfrm>
              <a:off x="11456885" y="5733452"/>
              <a:ext cx="538278" cy="418886"/>
              <a:chOff x="5486400" y="1320118"/>
              <a:chExt cx="774700" cy="703840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1BE5B284-2980-4BF6-866A-BF3E3F901DFA}"/>
                  </a:ext>
                </a:extLst>
              </p:cNvPr>
              <p:cNvSpPr/>
              <p:nvPr/>
            </p:nvSpPr>
            <p:spPr>
              <a:xfrm>
                <a:off x="5486400" y="1320118"/>
                <a:ext cx="774700" cy="703840"/>
              </a:xfrm>
              <a:prstGeom prst="rect">
                <a:avLst/>
              </a:prstGeom>
              <a:solidFill>
                <a:srgbClr val="7030A0">
                  <a:alpha val="40000"/>
                </a:srgb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32054">
                  <a:defRPr/>
                </a:pPr>
                <a:endParaRPr lang="en-US" sz="851" kern="0">
                  <a:latin typeface="Calibri" panose="020F0502020204030204"/>
                </a:endParaRPr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DA5788B0-BEE2-B4B3-8BC9-E9E7C9DDE2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511800" y="1320118"/>
                <a:ext cx="723900" cy="703840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</p:pic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6CECB35-811C-B3A2-422B-F054E6BAE91A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5167291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6792D5E-ED45-6DD9-6652-7479B5959ABF}"/>
                </a:ext>
              </a:extLst>
            </p:cNvPr>
            <p:cNvCxnSpPr>
              <a:cxnSpLocks/>
            </p:cNvCxnSpPr>
            <p:nvPr/>
          </p:nvCxnSpPr>
          <p:spPr>
            <a:xfrm>
              <a:off x="9196427" y="5944338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FFBC00F-6E34-68C3-3D51-2D1D621D3E96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5167291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FDCB006-2148-749F-B403-4E7D1AC0769F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892" y="5944338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A70C5BF-F908-FDB8-8046-9DC6883BA95E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5167291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C1F4CF9-33ED-A974-D338-3D6A07AC368A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716" y="5944338"/>
              <a:ext cx="392316" cy="0"/>
            </a:xfrm>
            <a:prstGeom prst="straightConnector1">
              <a:avLst/>
            </a:prstGeom>
            <a:noFill/>
            <a:ln w="254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ED1CFB9-0AB0-BBA1-74BF-D5FBC36B1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8053" y="4635237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9206C94-72AD-5E01-3F6E-03233FA5D650}"/>
                </a:ext>
              </a:extLst>
            </p:cNvPr>
            <p:cNvCxnSpPr>
              <a:cxnSpLocks/>
            </p:cNvCxnSpPr>
            <p:nvPr/>
          </p:nvCxnSpPr>
          <p:spPr>
            <a:xfrm>
              <a:off x="9224264" y="4636570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0CC944B-9C2B-C7EE-6176-B183A3E5D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161" y="4635178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1F4D734-4B39-17CD-7DD9-C402364D202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5372" y="4636511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29AFD4C-DACF-AF1B-9F1E-7AC090F916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7294" y="4618581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1D6DE2B-4129-5C87-81B3-4E96A0BA258C}"/>
                </a:ext>
              </a:extLst>
            </p:cNvPr>
            <p:cNvCxnSpPr>
              <a:cxnSpLocks/>
            </p:cNvCxnSpPr>
            <p:nvPr/>
          </p:nvCxnSpPr>
          <p:spPr>
            <a:xfrm>
              <a:off x="11073505" y="4619914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7315AD0-4BAC-937B-6F96-947350ADD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0949" y="5403593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963734B4-C233-A121-2BE6-B95D3F1EE7F7}"/>
                </a:ext>
              </a:extLst>
            </p:cNvPr>
            <p:cNvCxnSpPr>
              <a:cxnSpLocks/>
            </p:cNvCxnSpPr>
            <p:nvPr/>
          </p:nvCxnSpPr>
          <p:spPr>
            <a:xfrm>
              <a:off x="9207160" y="5404926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52B5A75-4173-4A83-1D40-425B119A1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2057" y="5403534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D56910F-AA03-C09F-5E50-182036ED589A}"/>
                </a:ext>
              </a:extLst>
            </p:cNvPr>
            <p:cNvCxnSpPr>
              <a:cxnSpLocks/>
            </p:cNvCxnSpPr>
            <p:nvPr/>
          </p:nvCxnSpPr>
          <p:spPr>
            <a:xfrm>
              <a:off x="10128268" y="5404867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DE89D6B5-17A7-2C65-EEA0-255C673F7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0190" y="5386937"/>
              <a:ext cx="381933" cy="318761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0FF7F69-970B-C126-5A40-A87D73ED983E}"/>
                </a:ext>
              </a:extLst>
            </p:cNvPr>
            <p:cNvCxnSpPr>
              <a:cxnSpLocks/>
            </p:cNvCxnSpPr>
            <p:nvPr/>
          </p:nvCxnSpPr>
          <p:spPr>
            <a:xfrm>
              <a:off x="11056401" y="5388271"/>
              <a:ext cx="374204" cy="334025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9AF77A69-D007-0593-AACD-46519B326046}"/>
              </a:ext>
            </a:extLst>
          </p:cNvPr>
          <p:cNvSpPr txBox="1"/>
          <p:nvPr/>
        </p:nvSpPr>
        <p:spPr>
          <a:xfrm>
            <a:off x="10526095" y="4826989"/>
            <a:ext cx="1420567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72000" rIns="0" rtlCol="0">
            <a:spAutoFit/>
          </a:bodyPr>
          <a:lstStyle/>
          <a:p>
            <a:pPr defTabSz="432054">
              <a:defRPr/>
            </a:pPr>
            <a:r>
              <a:rPr lang="en-US" sz="1600" kern="0" dirty="0">
                <a:latin typeface="Calibri" panose="020F0502020204030204"/>
              </a:rPr>
              <a:t>❹ </a:t>
            </a:r>
            <a:br>
              <a:rPr lang="en-US" sz="1600" kern="0" dirty="0">
                <a:latin typeface="Calibri" panose="020F0502020204030204"/>
              </a:rPr>
            </a:br>
            <a:r>
              <a:rPr lang="en-US" sz="1600" kern="0" dirty="0">
                <a:latin typeface="Calibri" panose="020F0502020204030204"/>
              </a:rPr>
              <a:t>Stream entire dataset through the configured fabric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12E14D5-D2DA-D8C5-3675-6A000C242509}"/>
              </a:ext>
            </a:extLst>
          </p:cNvPr>
          <p:cNvGrpSpPr/>
          <p:nvPr/>
        </p:nvGrpSpPr>
        <p:grpSpPr>
          <a:xfrm>
            <a:off x="7701671" y="1403515"/>
            <a:ext cx="2521787" cy="312863"/>
            <a:chOff x="7701671" y="1403515"/>
            <a:chExt cx="2521787" cy="312863"/>
          </a:xfrm>
        </p:grpSpPr>
        <p:sp>
          <p:nvSpPr>
            <p:cNvPr id="153" name="Arrow: Down 152">
              <a:extLst>
                <a:ext uri="{FF2B5EF4-FFF2-40B4-BE49-F238E27FC236}">
                  <a16:creationId xmlns:a16="http://schemas.microsoft.com/office/drawing/2014/main" id="{B26512B4-39DD-CEC9-105E-51982D71D7F3}"/>
                </a:ext>
              </a:extLst>
            </p:cNvPr>
            <p:cNvSpPr/>
            <p:nvPr/>
          </p:nvSpPr>
          <p:spPr>
            <a:xfrm>
              <a:off x="7701671" y="1404600"/>
              <a:ext cx="249229" cy="31177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4" name="Arrow: Down 153">
              <a:extLst>
                <a:ext uri="{FF2B5EF4-FFF2-40B4-BE49-F238E27FC236}">
                  <a16:creationId xmlns:a16="http://schemas.microsoft.com/office/drawing/2014/main" id="{0EE55EE7-B713-54FF-FC38-24E8D9084BF7}"/>
                </a:ext>
              </a:extLst>
            </p:cNvPr>
            <p:cNvSpPr/>
            <p:nvPr/>
          </p:nvSpPr>
          <p:spPr>
            <a:xfrm>
              <a:off x="8461165" y="1404600"/>
              <a:ext cx="249229" cy="31177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5" name="Arrow: Down 154">
              <a:extLst>
                <a:ext uri="{FF2B5EF4-FFF2-40B4-BE49-F238E27FC236}">
                  <a16:creationId xmlns:a16="http://schemas.microsoft.com/office/drawing/2014/main" id="{7FD206CE-902E-2F38-8065-973CE8EE047D}"/>
                </a:ext>
              </a:extLst>
            </p:cNvPr>
            <p:cNvSpPr/>
            <p:nvPr/>
          </p:nvSpPr>
          <p:spPr>
            <a:xfrm>
              <a:off x="9220659" y="1403515"/>
              <a:ext cx="249229" cy="31177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6" name="Arrow: Down 155">
              <a:extLst>
                <a:ext uri="{FF2B5EF4-FFF2-40B4-BE49-F238E27FC236}">
                  <a16:creationId xmlns:a16="http://schemas.microsoft.com/office/drawing/2014/main" id="{5F23F508-DA84-08B9-B996-3BC7E9FDBB27}"/>
                </a:ext>
              </a:extLst>
            </p:cNvPr>
            <p:cNvSpPr/>
            <p:nvPr/>
          </p:nvSpPr>
          <p:spPr>
            <a:xfrm>
              <a:off x="9974229" y="1403515"/>
              <a:ext cx="249229" cy="31177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76893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5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018C-3D03-4C32-5449-49565F1A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E8BA-3F0F-085D-DFD0-5C164A5E9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8254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Sequential code is broken into </a:t>
            </a:r>
            <a:r>
              <a:rPr lang="en-US" b="1" i="1" dirty="0"/>
              <a:t>basic blocks</a:t>
            </a:r>
          </a:p>
          <a:p>
            <a:endParaRPr lang="en-US" dirty="0"/>
          </a:p>
          <a:p>
            <a:r>
              <a:rPr lang="en-US" dirty="0"/>
              <a:t>Basic block: </a:t>
            </a:r>
            <a:br>
              <a:rPr lang="en-US" dirty="0"/>
            </a:br>
            <a:r>
              <a:rPr lang="en-US" dirty="0"/>
              <a:t>A sequence of instructions executed between branches</a:t>
            </a:r>
          </a:p>
          <a:p>
            <a:endParaRPr lang="en-US" dirty="0"/>
          </a:p>
          <a:p>
            <a:r>
              <a:rPr lang="en-US" dirty="0"/>
              <a:t>Different thread may have different branch outcomes</a:t>
            </a:r>
          </a:p>
          <a:p>
            <a:endParaRPr lang="en-US" dirty="0"/>
          </a:p>
          <a:p>
            <a:r>
              <a:rPr lang="en-US" dirty="0"/>
              <a:t>Result: Branch-divergent code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709A1-12FC-33BE-5FA9-A3CF041B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5BC76-C3BF-B9CA-CD3B-CA1AB5A3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F34AF6-542E-42C3-53BC-0BB2E24F9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1" y="1533207"/>
            <a:ext cx="3229426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705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02CE-8A1F-A256-77EC-2919DA1E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BEB0-527C-E194-6B91-DFA217BD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Branches: GPU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A4F9A-E2E1-C464-3CDD-C9FDA175A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97180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GPUs bind threads into groups (warps)</a:t>
            </a:r>
          </a:p>
          <a:p>
            <a:endParaRPr lang="en-US" dirty="0"/>
          </a:p>
          <a:p>
            <a:r>
              <a:rPr lang="en-US" dirty="0"/>
              <a:t>All threads in a group (warps) need to execute both ‘then’ and ‘else’ clauses</a:t>
            </a:r>
          </a:p>
          <a:p>
            <a:pPr lvl="1"/>
            <a:r>
              <a:rPr lang="en-US" dirty="0"/>
              <a:t>Unneeded clause is executed as </a:t>
            </a:r>
            <a:r>
              <a:rPr lang="en-US" b="1" i="1" dirty="0" err="1"/>
              <a:t>nop</a:t>
            </a:r>
            <a:r>
              <a:rPr lang="en-US" dirty="0" err="1"/>
              <a:t>s</a:t>
            </a:r>
            <a:endParaRPr lang="en-US" dirty="0"/>
          </a:p>
          <a:p>
            <a:endParaRPr lang="en-US" dirty="0"/>
          </a:p>
          <a:p>
            <a:r>
              <a:rPr lang="en-US" dirty="0"/>
              <a:t>Breaking groups dynamically is inefficient</a:t>
            </a:r>
          </a:p>
          <a:p>
            <a:endParaRPr lang="en-US" dirty="0"/>
          </a:p>
          <a:p>
            <a:r>
              <a:rPr lang="en-US" dirty="0"/>
              <a:t>Result: GPUs are highly inefficient for branch-divergent code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C3C79-B53E-A0A2-7963-2D84820F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5D913-D5B4-7847-0899-B3690C29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64749-F1AF-6A7F-3391-C9E4AC4D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005" y="1361754"/>
            <a:ext cx="3543795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317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73D8-7790-9499-25FA-76F8CCC7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7AB3-73D7-6B14-B644-F25C748A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Branches: APU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787D-C2C8-FF4B-7DDF-E123AAEB6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71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basic block is a dataflow graph</a:t>
            </a:r>
          </a:p>
          <a:p>
            <a:endParaRPr lang="en-US" dirty="0"/>
          </a:p>
          <a:p>
            <a:r>
              <a:rPr lang="en-US" dirty="0"/>
              <a:t>APU runs one dataflow graph at a time</a:t>
            </a:r>
          </a:p>
          <a:p>
            <a:endParaRPr lang="en-US" dirty="0"/>
          </a:p>
          <a:p>
            <a:r>
              <a:rPr lang="en-US" dirty="0"/>
              <a:t>Threads and graphs are scheduled so cycles are not wasted on </a:t>
            </a:r>
            <a:r>
              <a:rPr lang="en-US" b="1" dirty="0" err="1"/>
              <a:t>nop</a:t>
            </a:r>
            <a:r>
              <a:rPr lang="en-US" dirty="0" err="1"/>
              <a:t>s</a:t>
            </a:r>
            <a:endParaRPr lang="en-US" dirty="0"/>
          </a:p>
          <a:p>
            <a:pPr lvl="1"/>
            <a:r>
              <a:rPr lang="en-US" dirty="0"/>
              <a:t>Reconfiguration is very fast (10s of cycles)</a:t>
            </a:r>
          </a:p>
          <a:p>
            <a:pPr lvl="1"/>
            <a:endParaRPr lang="en-US" dirty="0"/>
          </a:p>
          <a:p>
            <a:r>
              <a:rPr lang="en-US" dirty="0"/>
              <a:t>Result: APU is very efficient even in branch-divergent code</a:t>
            </a:r>
          </a:p>
          <a:p>
            <a:pPr lvl="1"/>
            <a:r>
              <a:rPr lang="en-US" sz="15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Voitsechov and Etsion. “Control flow coalescing on a hybrid dataflow/von Neumann GPGPU”. In MICRO 2015.</a:t>
            </a:r>
            <a:endParaRPr lang="en-IL" sz="1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83072-D1CA-FFF2-6430-7ACD2754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2D91-6C15-95E6-EF77-B5DD25B1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6F177B-5ABB-831C-6368-059ADE2D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86" y="1300988"/>
            <a:ext cx="3444871" cy="487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23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D3FC-E3F4-E3E2-E547-E2D13C2B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dataflow memory challenge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F256D-EB31-70A4-5E97-A89CB5657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compiler takes your code and converts it into a directed graph</a:t>
            </a:r>
          </a:p>
          <a:p>
            <a:endParaRPr lang="en-US" dirty="0"/>
          </a:p>
          <a:p>
            <a:r>
              <a:rPr lang="en-US" dirty="0"/>
              <a:t>Nodes are functional units</a:t>
            </a:r>
          </a:p>
          <a:p>
            <a:endParaRPr lang="en-US" dirty="0"/>
          </a:p>
          <a:p>
            <a:r>
              <a:rPr lang="en-US" dirty="0"/>
              <a:t>Edges are registers</a:t>
            </a:r>
          </a:p>
          <a:p>
            <a:endParaRPr lang="en-US" dirty="0"/>
          </a:p>
          <a:p>
            <a:r>
              <a:rPr lang="en-US" dirty="0"/>
              <a:t>What about dependencies in memory?</a:t>
            </a:r>
          </a:p>
          <a:p>
            <a:pPr lvl="1"/>
            <a:r>
              <a:rPr lang="en-US" dirty="0"/>
              <a:t>That’s the biggest challenge in dataflow computing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CB4AA-4720-AC4E-1FE9-74BC56C8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5900-681C-84BD-575E-7272CF52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1F88B-A3C8-386E-9B1B-A19B56EB7E6B}"/>
              </a:ext>
            </a:extLst>
          </p:cNvPr>
          <p:cNvSpPr/>
          <p:nvPr/>
        </p:nvSpPr>
        <p:spPr>
          <a:xfrm>
            <a:off x="5519056" y="4666861"/>
            <a:ext cx="1328057" cy="337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0790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02A5-6273-4691-F28F-C391A10A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11031EC-07F4-763C-2D08-CD085A7AB625}"/>
              </a:ext>
            </a:extLst>
          </p:cNvPr>
          <p:cNvGrpSpPr>
            <a:grpSpLocks noChangeAspect="1"/>
          </p:cNvGrpSpPr>
          <p:nvPr/>
        </p:nvGrpSpPr>
        <p:grpSpPr>
          <a:xfrm>
            <a:off x="8220577" y="1105358"/>
            <a:ext cx="3764594" cy="5343749"/>
            <a:chOff x="4824235" y="1690688"/>
            <a:chExt cx="2543530" cy="361047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6928BA6-4455-F5A0-7377-97A26AB597DD}"/>
                </a:ext>
              </a:extLst>
            </p:cNvPr>
            <p:cNvGrpSpPr/>
            <p:nvPr/>
          </p:nvGrpSpPr>
          <p:grpSpPr>
            <a:xfrm>
              <a:off x="4824235" y="1690688"/>
              <a:ext cx="2543530" cy="3610479"/>
              <a:chOff x="4824235" y="1623760"/>
              <a:chExt cx="2543530" cy="361047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64A7B07-EF43-B598-D36D-5C226ED25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24235" y="1623760"/>
                <a:ext cx="2543530" cy="3610479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7C3748F-07D2-85CC-1577-9D5D20D2E645}"/>
                  </a:ext>
                </a:extLst>
              </p:cNvPr>
              <p:cNvSpPr/>
              <p:nvPr/>
            </p:nvSpPr>
            <p:spPr>
              <a:xfrm>
                <a:off x="5780314" y="3907971"/>
                <a:ext cx="1328057" cy="3374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9D916D-C547-2CDA-5D13-65787245F1D3}"/>
                </a:ext>
              </a:extLst>
            </p:cNvPr>
            <p:cNvSpPr/>
            <p:nvPr/>
          </p:nvSpPr>
          <p:spPr>
            <a:xfrm>
              <a:off x="4998404" y="4961346"/>
              <a:ext cx="1328057" cy="337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0A7118-888B-B260-7D30-2EDF23D5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dataflow memory challenge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8681-DAF2-3AB3-526A-26CCAE09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98457" cy="46199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Memory system allows keeping multiple accesses in-flight</a:t>
            </a:r>
          </a:p>
          <a:p>
            <a:pPr lvl="1"/>
            <a:r>
              <a:rPr lang="en-US" dirty="0"/>
              <a:t>Known as memory-level parallelism (MLP)</a:t>
            </a:r>
          </a:p>
          <a:p>
            <a:pPr lvl="1"/>
            <a:endParaRPr lang="en-US" dirty="0"/>
          </a:p>
          <a:p>
            <a:r>
              <a:rPr lang="en-US" dirty="0"/>
              <a:t>Data returned from memory in some order</a:t>
            </a:r>
          </a:p>
          <a:p>
            <a:pPr lvl="1"/>
            <a:r>
              <a:rPr lang="en-US" dirty="0"/>
              <a:t>Cache/memory units need to reorder returned data and stream it into the grid</a:t>
            </a:r>
          </a:p>
          <a:p>
            <a:pPr lvl="1"/>
            <a:r>
              <a:rPr lang="en-US" dirty="0"/>
              <a:t>Dynamic dataflow</a:t>
            </a:r>
          </a:p>
          <a:p>
            <a:endParaRPr lang="en-US" dirty="0"/>
          </a:p>
          <a:p>
            <a:r>
              <a:rPr lang="en-US" dirty="0"/>
              <a:t>Inside the grid, all dependencies and latencies are known </a:t>
            </a:r>
          </a:p>
          <a:p>
            <a:pPr lvl="1"/>
            <a:r>
              <a:rPr lang="en-US" dirty="0"/>
              <a:t>Static dataflow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AF15C-DB81-237E-FD91-2A297A37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0E255-5BA2-FBDA-2D8E-C8B03A92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C90A0-E3E1-DF0A-3F0F-1108C831FBEE}"/>
              </a:ext>
            </a:extLst>
          </p:cNvPr>
          <p:cNvSpPr/>
          <p:nvPr/>
        </p:nvSpPr>
        <p:spPr>
          <a:xfrm>
            <a:off x="9209315" y="5621791"/>
            <a:ext cx="1691858" cy="280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2314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3BB9-882F-217F-C20F-78C3712D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8565" cy="1325563"/>
          </a:xfrm>
        </p:spPr>
        <p:txBody>
          <a:bodyPr/>
          <a:lstStyle/>
          <a:p>
            <a:r>
              <a:rPr lang="en-US" dirty="0" err="1"/>
              <a:t>Speedata</a:t>
            </a:r>
            <a:r>
              <a:rPr lang="en-US"/>
              <a:t>:</a:t>
            </a:r>
            <a:br>
              <a:rPr lang="en-US"/>
            </a:br>
            <a:r>
              <a:rPr lang="en-US"/>
              <a:t>What </a:t>
            </a:r>
            <a:r>
              <a:rPr lang="en-US" dirty="0"/>
              <a:t>is data analytics and why go there?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25523-D556-C01D-A29A-918B8768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is collected from many sources and </a:t>
            </a:r>
            <a:br>
              <a:rPr lang="en-US" dirty="0"/>
            </a:br>
            <a:r>
              <a:rPr lang="en-US" dirty="0"/>
              <a:t>ingested into storage</a:t>
            </a:r>
          </a:p>
          <a:p>
            <a:pPr lvl="1"/>
            <a:r>
              <a:rPr lang="en-US" dirty="0"/>
              <a:t>Sources include sensors, browsers, code agents</a:t>
            </a:r>
          </a:p>
          <a:p>
            <a:endParaRPr lang="en-US" dirty="0"/>
          </a:p>
          <a:p>
            <a:r>
              <a:rPr lang="en-US" dirty="0"/>
              <a:t>Data itself can be </a:t>
            </a:r>
          </a:p>
          <a:p>
            <a:pPr lvl="1"/>
            <a:r>
              <a:rPr lang="en-US" dirty="0"/>
              <a:t>structured (e.g., relational tables)</a:t>
            </a:r>
          </a:p>
          <a:p>
            <a:pPr lvl="1"/>
            <a:r>
              <a:rPr lang="en-US" dirty="0"/>
              <a:t>semi-structured (</a:t>
            </a:r>
            <a:r>
              <a:rPr lang="en-US" dirty="0" err="1"/>
              <a:t>e,.g</a:t>
            </a:r>
            <a:r>
              <a:rPr lang="en-US" dirty="0"/>
              <a:t>., nested relational tables)</a:t>
            </a:r>
          </a:p>
          <a:p>
            <a:pPr lvl="1"/>
            <a:r>
              <a:rPr lang="en-US" dirty="0"/>
              <a:t>unstructured (e.g., text, images)</a:t>
            </a:r>
          </a:p>
          <a:p>
            <a:endParaRPr lang="en-US" dirty="0"/>
          </a:p>
          <a:p>
            <a:r>
              <a:rPr lang="en-US" dirty="0"/>
              <a:t>Analyzed using relational operations </a:t>
            </a:r>
            <a:br>
              <a:rPr lang="en-US" dirty="0"/>
            </a:br>
            <a:r>
              <a:rPr lang="en-US" dirty="0"/>
              <a:t>(e.g., SQL, </a:t>
            </a:r>
            <a:r>
              <a:rPr lang="en-US" dirty="0" err="1"/>
              <a:t>dataframes</a:t>
            </a:r>
            <a:r>
              <a:rPr lang="en-US" dirty="0"/>
              <a:t>)</a:t>
            </a: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AC673-8E2E-DD6A-5768-0020E52D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9686F-5AE9-2613-CF5C-1E68275C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C58C6-A31A-D32C-787B-2A06CBBBE018}"/>
              </a:ext>
            </a:extLst>
          </p:cNvPr>
          <p:cNvSpPr txBox="1"/>
          <p:nvPr/>
        </p:nvSpPr>
        <p:spPr>
          <a:xfrm>
            <a:off x="6027630" y="6088615"/>
            <a:ext cx="620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[credit for copyrighted images goes to respective companies]</a:t>
            </a:r>
            <a:endParaRPr lang="en-IL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6082C3E0-BE85-00E1-2C27-D21D4AA277D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2985" y="2357681"/>
            <a:ext cx="656294" cy="6562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6E3138-41A5-805B-4AE6-8A0AF19280C7}"/>
              </a:ext>
            </a:extLst>
          </p:cNvPr>
          <p:cNvSpPr txBox="1"/>
          <p:nvPr/>
        </p:nvSpPr>
        <p:spPr>
          <a:xfrm>
            <a:off x="10427411" y="2568604"/>
            <a:ext cx="16193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Social networks</a:t>
            </a:r>
            <a:endParaRPr lang="en-IL" sz="16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346EBD-A7A3-5487-34D1-EA2DD1D7E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0281" y="3287278"/>
            <a:ext cx="554247" cy="554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17B74A-C632-8C90-8E5F-32F40D27B350}"/>
              </a:ext>
            </a:extLst>
          </p:cNvPr>
          <p:cNvSpPr txBox="1"/>
          <p:nvPr/>
        </p:nvSpPr>
        <p:spPr>
          <a:xfrm>
            <a:off x="10427411" y="345186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Adtech</a:t>
            </a:r>
            <a:endParaRPr lang="en-IL" sz="1600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A5C9AAF-59CA-B7A0-3305-7BAB1B00DFF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4943" y="2252668"/>
            <a:ext cx="860396" cy="860396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E8CD84D8-E041-2856-C9A7-42B1AA26BFF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246789">
            <a:off x="9676086" y="3337665"/>
            <a:ext cx="881147" cy="587431"/>
          </a:xfrm>
          <a:prstGeom prst="rect">
            <a:avLst/>
          </a:prstGeom>
        </p:spPr>
      </p:pic>
      <p:pic>
        <p:nvPicPr>
          <p:cNvPr id="13" name="Picture 12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9A8FB9B0-2E56-18BF-2E4F-B6B79EB4686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7975" y="2346207"/>
            <a:ext cx="768591" cy="679242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C68AE4F4-0A1B-F57D-9614-79995D81830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214" y="3237132"/>
            <a:ext cx="648065" cy="6480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B734FA-B416-1C21-15F6-ED6E00F92C5E}"/>
              </a:ext>
            </a:extLst>
          </p:cNvPr>
          <p:cNvSpPr txBox="1"/>
          <p:nvPr/>
        </p:nvSpPr>
        <p:spPr>
          <a:xfrm>
            <a:off x="10427411" y="4192828"/>
            <a:ext cx="1484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Manufacturing</a:t>
            </a:r>
            <a:endParaRPr lang="en-IL" sz="1600" dirty="0"/>
          </a:p>
        </p:txBody>
      </p:sp>
      <p:pic>
        <p:nvPicPr>
          <p:cNvPr id="16" name="Picture 15" descr="A car in a garage&#10;&#10;Description automatically generated with low confidence">
            <a:extLst>
              <a:ext uri="{FF2B5EF4-FFF2-40B4-BE49-F238E27FC236}">
                <a16:creationId xmlns:a16="http://schemas.microsoft.com/office/drawing/2014/main" id="{0778CFE1-1A83-35B7-E921-E7D028282382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9988" y="4078478"/>
            <a:ext cx="990620" cy="692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74619E-3FD4-6C7E-FF2D-6672AB263D4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0665" y="4916610"/>
            <a:ext cx="1147194" cy="8603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1868DC-31F6-5B0D-CEF5-3D4E1C7BBF08}"/>
              </a:ext>
            </a:extLst>
          </p:cNvPr>
          <p:cNvSpPr txBox="1"/>
          <p:nvPr/>
        </p:nvSpPr>
        <p:spPr>
          <a:xfrm>
            <a:off x="10427411" y="5079562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Pharma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08364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5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52C2-F883-4CD2-8FB2-E5B3D613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Mapping SQL to multiple CGRAs in the APU</a:t>
            </a:r>
            <a:br>
              <a:rPr lang="en-US" dirty="0"/>
            </a:br>
            <a:r>
              <a:rPr lang="en-US" sz="3200" dirty="0"/>
              <a:t>Filter + JOIN + GROUPBY by example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11CD89-7956-8667-888F-84178DC693B5}"/>
              </a:ext>
            </a:extLst>
          </p:cNvPr>
          <p:cNvSpPr/>
          <p:nvPr/>
        </p:nvSpPr>
        <p:spPr>
          <a:xfrm>
            <a:off x="2100007" y="2804924"/>
            <a:ext cx="9030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1.6Tbps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159FE-DFD3-DF13-A9C0-7EA5B9FC3741}"/>
              </a:ext>
            </a:extLst>
          </p:cNvPr>
          <p:cNvSpPr/>
          <p:nvPr/>
        </p:nvSpPr>
        <p:spPr>
          <a:xfrm>
            <a:off x="544663" y="2838566"/>
            <a:ext cx="1126198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Decompress</a:t>
            </a:r>
          </a:p>
        </p:txBody>
      </p: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4BF61B2B-71D8-9426-E85B-5951E4937A9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71946" y="298492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63C2E1-2058-F698-5823-A54D79A138F2}"/>
              </a:ext>
            </a:extLst>
          </p:cNvPr>
          <p:cNvSpPr/>
          <p:nvPr/>
        </p:nvSpPr>
        <p:spPr>
          <a:xfrm>
            <a:off x="1846373" y="2836026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C4F9EA-7F52-40B9-59FD-6788DB9F9EBA}"/>
              </a:ext>
            </a:extLst>
          </p:cNvPr>
          <p:cNvSpPr/>
          <p:nvPr/>
        </p:nvSpPr>
        <p:spPr>
          <a:xfrm>
            <a:off x="2874287" y="2836978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Process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8FA1343B-04FD-1B07-AB64-55AD8872233E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1670861" y="2987521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8">
            <a:extLst>
              <a:ext uri="{FF2B5EF4-FFF2-40B4-BE49-F238E27FC236}">
                <a16:creationId xmlns:a16="http://schemas.microsoft.com/office/drawing/2014/main" id="{76390B8F-CF5D-33A7-419F-03D01FB2185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672509" y="298752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57E1E-7D2D-C8F1-0918-A067556D2418}"/>
              </a:ext>
            </a:extLst>
          </p:cNvPr>
          <p:cNvSpPr/>
          <p:nvPr/>
        </p:nvSpPr>
        <p:spPr>
          <a:xfrm>
            <a:off x="538313" y="5276966"/>
            <a:ext cx="1126198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Decompress</a:t>
            </a:r>
          </a:p>
        </p:txBody>
      </p:sp>
      <p:cxnSp>
        <p:nvCxnSpPr>
          <p:cNvPr id="14" name="Straight Arrow Connector 8">
            <a:extLst>
              <a:ext uri="{FF2B5EF4-FFF2-40B4-BE49-F238E27FC236}">
                <a16:creationId xmlns:a16="http://schemas.microsoft.com/office/drawing/2014/main" id="{7BCA3455-8586-A67D-6A0D-ED2141010B3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65596" y="542332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E283D3-71A6-ED29-FA24-941DCA7DB6F5}"/>
              </a:ext>
            </a:extLst>
          </p:cNvPr>
          <p:cNvSpPr/>
          <p:nvPr/>
        </p:nvSpPr>
        <p:spPr>
          <a:xfrm>
            <a:off x="1840023" y="5274426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C45CF8-5088-17C1-3680-D3BC785E1048}"/>
              </a:ext>
            </a:extLst>
          </p:cNvPr>
          <p:cNvSpPr/>
          <p:nvPr/>
        </p:nvSpPr>
        <p:spPr>
          <a:xfrm>
            <a:off x="2867937" y="5275378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Process</a:t>
            </a:r>
          </a:p>
        </p:txBody>
      </p:sp>
      <p:cxnSp>
        <p:nvCxnSpPr>
          <p:cNvPr id="17" name="Straight Arrow Connector 8">
            <a:extLst>
              <a:ext uri="{FF2B5EF4-FFF2-40B4-BE49-F238E27FC236}">
                <a16:creationId xmlns:a16="http://schemas.microsoft.com/office/drawing/2014/main" id="{B507FA9E-E689-7BCD-2E19-D83EE42222B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1664511" y="5425921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">
            <a:extLst>
              <a:ext uri="{FF2B5EF4-FFF2-40B4-BE49-F238E27FC236}">
                <a16:creationId xmlns:a16="http://schemas.microsoft.com/office/drawing/2014/main" id="{460A5293-BDBD-DB3E-CDBC-A18D8A4245B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66159" y="542592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202F3-048D-5D23-6237-816C23356F57}"/>
              </a:ext>
            </a:extLst>
          </p:cNvPr>
          <p:cNvSpPr/>
          <p:nvPr/>
        </p:nvSpPr>
        <p:spPr>
          <a:xfrm>
            <a:off x="544663" y="3359266"/>
            <a:ext cx="1126198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Decompress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90984C29-D921-B764-A00F-8820A0A9B7C3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71946" y="350562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4DA211C-005A-3D92-2F09-2C038AA2DDF1}"/>
              </a:ext>
            </a:extLst>
          </p:cNvPr>
          <p:cNvSpPr/>
          <p:nvPr/>
        </p:nvSpPr>
        <p:spPr>
          <a:xfrm>
            <a:off x="1846373" y="3356726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Decode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DDC406-2535-F488-2FD2-A17205C8D4F8}"/>
              </a:ext>
            </a:extLst>
          </p:cNvPr>
          <p:cNvSpPr/>
          <p:nvPr/>
        </p:nvSpPr>
        <p:spPr>
          <a:xfrm>
            <a:off x="2874287" y="3357678"/>
            <a:ext cx="826136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Process</a:t>
            </a:r>
          </a:p>
        </p:txBody>
      </p: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384D8CA1-464D-8B87-8265-840E2D13BEC6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1670861" y="3508221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8">
            <a:extLst>
              <a:ext uri="{FF2B5EF4-FFF2-40B4-BE49-F238E27FC236}">
                <a16:creationId xmlns:a16="http://schemas.microsoft.com/office/drawing/2014/main" id="{ED755F51-52AB-EFE4-2C5D-48198ECFB265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2672509" y="350822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A10B4D-55A6-3C8A-F8F6-ED9739FF1C2A}"/>
              </a:ext>
            </a:extLst>
          </p:cNvPr>
          <p:cNvGrpSpPr/>
          <p:nvPr/>
        </p:nvGrpSpPr>
        <p:grpSpPr>
          <a:xfrm>
            <a:off x="1057056" y="4189806"/>
            <a:ext cx="101412" cy="559609"/>
            <a:chOff x="3492074" y="2453201"/>
            <a:chExt cx="101412" cy="55960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A5C20DA-6630-0692-3E1A-B7BEDAEA05F6}"/>
                </a:ext>
              </a:extLst>
            </p:cNvPr>
            <p:cNvSpPr/>
            <p:nvPr/>
          </p:nvSpPr>
          <p:spPr>
            <a:xfrm>
              <a:off x="3492075" y="2895602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DC488CC-5342-1AE4-470F-B1B8779B0CFE}"/>
                </a:ext>
              </a:extLst>
            </p:cNvPr>
            <p:cNvSpPr/>
            <p:nvPr/>
          </p:nvSpPr>
          <p:spPr>
            <a:xfrm>
              <a:off x="3493551" y="2675141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AF1EE56-AC26-2C6A-254E-28157A8DED38}"/>
                </a:ext>
              </a:extLst>
            </p:cNvPr>
            <p:cNvSpPr/>
            <p:nvPr/>
          </p:nvSpPr>
          <p:spPr>
            <a:xfrm>
              <a:off x="3492074" y="2453201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2BB16D5-4332-4A9D-5AA3-6D2000948617}"/>
              </a:ext>
            </a:extLst>
          </p:cNvPr>
          <p:cNvSpPr/>
          <p:nvPr/>
        </p:nvSpPr>
        <p:spPr>
          <a:xfrm>
            <a:off x="3900423" y="2835968"/>
            <a:ext cx="775677" cy="2741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Record</a:t>
            </a:r>
          </a:p>
        </p:txBody>
      </p:sp>
      <p:cxnSp>
        <p:nvCxnSpPr>
          <p:cNvPr id="33" name="Straight Arrow Connector 8">
            <a:extLst>
              <a:ext uri="{FF2B5EF4-FFF2-40B4-BE49-F238E27FC236}">
                <a16:creationId xmlns:a16="http://schemas.microsoft.com/office/drawing/2014/main" id="{1C2825BA-0BBF-7B86-6568-4B77DF778513}"/>
              </a:ext>
            </a:extLst>
          </p:cNvPr>
          <p:cNvCxnSpPr>
            <a:cxnSpLocks/>
          </p:cNvCxnSpPr>
          <p:nvPr/>
        </p:nvCxnSpPr>
        <p:spPr>
          <a:xfrm>
            <a:off x="3675809" y="299387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8">
            <a:extLst>
              <a:ext uri="{FF2B5EF4-FFF2-40B4-BE49-F238E27FC236}">
                <a16:creationId xmlns:a16="http://schemas.microsoft.com/office/drawing/2014/main" id="{9A4D693E-78E1-DFD1-F0CA-E36C22573667}"/>
              </a:ext>
            </a:extLst>
          </p:cNvPr>
          <p:cNvCxnSpPr>
            <a:cxnSpLocks/>
          </p:cNvCxnSpPr>
          <p:nvPr/>
        </p:nvCxnSpPr>
        <p:spPr>
          <a:xfrm>
            <a:off x="3694859" y="350187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8">
            <a:extLst>
              <a:ext uri="{FF2B5EF4-FFF2-40B4-BE49-F238E27FC236}">
                <a16:creationId xmlns:a16="http://schemas.microsoft.com/office/drawing/2014/main" id="{5F48EBD8-4B8A-269B-9D93-B6FADFAA5DB0}"/>
              </a:ext>
            </a:extLst>
          </p:cNvPr>
          <p:cNvCxnSpPr>
            <a:cxnSpLocks/>
          </p:cNvCxnSpPr>
          <p:nvPr/>
        </p:nvCxnSpPr>
        <p:spPr>
          <a:xfrm>
            <a:off x="3694859" y="5419571"/>
            <a:ext cx="201778" cy="9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21D67C9A-F3A7-4EFA-5BD6-2BFD518105E0}"/>
              </a:ext>
            </a:extLst>
          </p:cNvPr>
          <p:cNvSpPr/>
          <p:nvPr/>
        </p:nvSpPr>
        <p:spPr>
          <a:xfrm>
            <a:off x="1554274" y="1732116"/>
            <a:ext cx="3141934" cy="965575"/>
          </a:xfrm>
          <a:prstGeom prst="wedgeRectCallout">
            <a:avLst>
              <a:gd name="adj1" fmla="val 6734"/>
              <a:gd name="adj2" fmla="val 71229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Field manipulation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Example: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SUM(IF(name= ‘Tom’ OR name=‘Scott’))</a:t>
            </a:r>
            <a:endParaRPr kumimoji="0" lang="en-IL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ajdhani SemiBold"/>
              <a:ea typeface="+mn-ea"/>
              <a:cs typeface="Arial"/>
            </a:endParaRP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DE31AB0E-C4AF-10B1-6514-7312FE01B056}"/>
              </a:ext>
            </a:extLst>
          </p:cNvPr>
          <p:cNvSpPr/>
          <p:nvPr/>
        </p:nvSpPr>
        <p:spPr>
          <a:xfrm>
            <a:off x="2925477" y="5476912"/>
            <a:ext cx="1362784" cy="422529"/>
          </a:xfrm>
          <a:prstGeom prst="wedgeRectCallout">
            <a:avLst>
              <a:gd name="adj1" fmla="val -63777"/>
              <a:gd name="adj2" fmla="val 133915"/>
            </a:avLst>
          </a:prstGeom>
          <a:solidFill>
            <a:schemeClr val="bg2"/>
          </a:solidFill>
          <a:ln>
            <a:solidFill>
              <a:schemeClr val="bg2"/>
            </a:solidFill>
          </a:ln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Filter </a:t>
            </a:r>
            <a:r>
              <a:rPr lang="en-GB" sz="1600" b="1" dirty="0">
                <a:solidFill>
                  <a:schemeClr val="tx1"/>
                </a:solidFill>
                <a:latin typeface="Rajdhani SemiBold"/>
                <a:cs typeface="Arial"/>
              </a:rPr>
              <a:t>r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ecords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ajdhani SemiBold"/>
              <a:ea typeface="+mn-ea"/>
              <a:cs typeface="Arial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C4BF3B8-2462-8A57-6511-E9538FFC1186}"/>
              </a:ext>
            </a:extLst>
          </p:cNvPr>
          <p:cNvGrpSpPr>
            <a:grpSpLocks noChangeAspect="1"/>
          </p:cNvGrpSpPr>
          <p:nvPr/>
        </p:nvGrpSpPr>
        <p:grpSpPr>
          <a:xfrm>
            <a:off x="4888201" y="2830607"/>
            <a:ext cx="2010854" cy="2741386"/>
            <a:chOff x="9169701" y="2312257"/>
            <a:chExt cx="2477875" cy="337807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4104FCC-260F-4BC0-E435-EF3E5C3DDC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27303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10ECF5-589B-473F-AA22-0FB06C0FCC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27303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DBD097-06A8-6886-A5A2-EF3B31E603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3556" y="23122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05FC391-4E4C-286F-FC58-99A50F7BD4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7298" y="231225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A1CF684-2A19-BA50-03C1-1D8677F2C9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1484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64FBEC-0C58-8961-C026-CA5744E985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14848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BE20E88-349B-29B5-714E-C05ED8E467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5363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66C1C93-8AE0-4CB5-EB1C-AAEF8C8F33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5363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1306735-354B-F468-0948-73F300C57E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61983BF-7ECA-91B8-F481-90DA944B3C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1910" y="3891071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30C1791-CC43-797F-C5EA-46B2F6305B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3091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C98EAB9-19C2-C3D3-8323-4D032284E5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46970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23022AD-33BC-563C-728B-FC6C1AAF49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6970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0154200-21D9-5B28-5E80-54F486AA3D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50517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9FDBB3C-821F-6C3C-0B0C-D3D482CFAD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5051769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95CF15-1FE3-4CF7-39D2-EFFFD6DEEC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2087" y="542496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</a:rPr>
                <a:t>SFU</a:t>
              </a:r>
              <a:endParaRPr lang="en-US" sz="900" dirty="0">
                <a:solidFill>
                  <a:prstClr val="white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350E4E3-D947-F097-115F-366F316DD5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5830" y="54249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DD0DC4C-22DD-4415-4CF5-B8793E288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273317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F7ACB9B-2416-69E3-912F-41653ECD25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2733171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65D3DA3-872E-500A-E2E0-0995AF7431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05339" y="231505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AD550D5-C89B-D4D8-66E7-223658424E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29082" y="231505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566D9A1-C161-65FC-127C-52A5CF0B0B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E1AAE9E-1BC9-B32E-1E19-3D6AFC11A7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D7FF827-77E7-05E2-83ED-53186C0C29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53914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B47170F-0E85-693D-6B5F-85F8DF57ED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5391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2CB4E2D-3E74-50B2-93DE-54C23E64BF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38938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917CB55-0B6B-535F-47FA-6C79F1A34C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389386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06C7640-19DB-E11D-D4D2-DCB9411129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311985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2DFBCA8-E8CA-B738-FDF9-3CF2AE2310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31198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7883BC5-307E-D32D-E370-E5807040D1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69984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0925FE5-84F6-3505-110B-5375F1F01D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699846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B5E86CC-7561-B589-03B3-9368DC209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505457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7712F31-91DF-3BE7-7E4E-1CC27A2EF1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505456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67A1C77-5425-EC5F-E963-3FDC5FEB31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3871" y="54277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6E6BC5-E33E-0AB1-6D78-77A994B2AA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7613" y="54277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0A14947-8016-9C1B-6E2E-168AE0909D09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919830" y="2944317"/>
              <a:ext cx="268511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92DFFD9-CEAF-654F-B2BF-99C53BA3B3AE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247693" y="3363814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3E9A31B-428B-5CFA-92DC-2F95722D2834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9607897" y="3713315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EB25DC3-3B13-A483-D863-57491093A7B5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9624827" y="4502217"/>
              <a:ext cx="285293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AC351CE-092A-AC8B-2735-03B711149DC6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936611" y="4505034"/>
              <a:ext cx="285293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CA2283A-78E8-5907-CAB2-FABBAD3EEAA2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264474" y="4907740"/>
              <a:ext cx="268511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BF2F307-3285-84BF-CACE-79A1AACBF50E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4146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09CD9CB-0944-0B3F-A47C-45C3E45F2122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292472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1FCD27B-6305-20F1-5056-FE8072B7DD7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292472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48409F8D-2A28-40C8-06C4-1AFD0645FC2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3713472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BC7C47D-85E0-21FF-45DB-916E7DC14A82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062054" y="448543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794D4C2-35B7-E487-A4AA-2D4239C1D841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487141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D797650-CABA-9DA7-D258-1D320ACB5B87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487141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DEAC07C-2F53-8A4C-3A5B-27649A08B0A9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524061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0F01F13-EDFD-D937-9951-804BE23BFC47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6" y="3318446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30A8974-4ACF-4560-14CE-E4420296CA3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332687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1B644A0-01DD-C5C6-319E-7F05226CC60A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3730249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18B023E-A185-FFBD-675A-0426CF215786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4052713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EC26A59-236B-8B81-12F8-1B1A2715AC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3106" y="4283749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D76E2FB-4EE1-C028-7DCC-DA8A44B62B3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4D25681-2726-D8CA-5AD2-649FFDB59450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9641190" y="2443542"/>
              <a:ext cx="252566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BECCA413-0002-70C5-0F6A-C72844E44EDC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052689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A53D4CF-E03D-3A48-AADA-F658EE286E2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285611" y="2935620"/>
              <a:ext cx="268511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D532210-54E5-ED8F-1DD6-B7DF0FBC6FFB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883321" y="3338291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1345ED6-3367-BAE9-B707-6C27F4B8C8C3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35845" y="3713472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84D3C08-F7AA-8A36-65D2-DE87EC5C3F26}"/>
                </a:ext>
              </a:extLst>
            </p:cNvPr>
            <p:cNvCxnSpPr>
              <a:cxnSpLocks noChangeAspect="1"/>
              <a:endCxn id="69" idx="1"/>
            </p:cNvCxnSpPr>
            <p:nvPr/>
          </p:nvCxnSpPr>
          <p:spPr>
            <a:xfrm>
              <a:off x="10720750" y="4099117"/>
              <a:ext cx="384477" cy="344153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B5E0CC9-395E-9515-2BD6-12046A066D79}"/>
              </a:ext>
            </a:extLst>
          </p:cNvPr>
          <p:cNvGrpSpPr>
            <a:grpSpLocks noChangeAspect="1"/>
          </p:cNvGrpSpPr>
          <p:nvPr/>
        </p:nvGrpSpPr>
        <p:grpSpPr>
          <a:xfrm>
            <a:off x="7093673" y="2804924"/>
            <a:ext cx="2010854" cy="2741386"/>
            <a:chOff x="9169701" y="2312257"/>
            <a:chExt cx="2477875" cy="3378074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073DBE7-7C6D-3351-BAE5-CA72342034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273037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8DE6DDF-8791-9338-BC37-C1D1CB7474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27303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875F66C-30DA-6E1A-309E-1359E2441A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3556" y="231225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B001379-270D-DE4E-E0EF-1FA67CAA85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7298" y="231225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85C4EE-55BC-9C13-E416-00FF05A711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14848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AB4546B-7EC7-332D-4ACE-FEF7FB27C5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14848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EF1E375-7F62-8560-13E4-0FAB395C1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2717" y="353634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66C32BE-D4B6-2904-FDBD-6050D57F38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6460" y="35363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16AE5A6-6DFE-E540-6DA9-0C402265E3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3891073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B5D8BDD-404C-C548-D960-7A97F25DC8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01910" y="3891071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293F7E2-29AB-04C6-CCC2-FC3528D95B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3091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397BFC2-3ED1-76F7-155E-312074092F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469704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DC60F2D-B8C7-81F1-5CB4-6D5440C68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46970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B045F2F-FADA-D59F-96E7-D0AC5BC03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9701" y="50517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8611CA5-1E4A-3087-9530-BD04ACA7CF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3443" y="5051769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25BB0E2-BE05-643C-2E0A-FCF77B7EC0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2087" y="542496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</a:rPr>
                <a:t>SFU</a:t>
              </a:r>
              <a:endParaRPr lang="en-US" sz="900" dirty="0">
                <a:solidFill>
                  <a:prstClr val="white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C8BE34D-E543-5A84-2C3C-165FA2AE65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5830" y="54249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E4D918B-3073-484A-A9E3-228B8B91D1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2733174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962788E-5249-D723-3FB1-24249CEDC9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2733171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238C24E-178A-2B20-E807-3C5822EC4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05339" y="231505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LD/S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F96AB62-0D20-3CED-A44B-DF97F4EF9F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29082" y="231505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4D0B6D6-2F56-F3E4-27E8-8FE42516E8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F2817B2-DA48-7D52-D1D5-FE0A0EDE96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151287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24F7276-59CB-41F5-1793-C743C66080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4499" y="3539148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6856A8-B337-90B9-E80B-E790F6678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18243" y="353914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 dirty="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SFU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EC136A5-3419-4D0E-AADD-2DEB541D2B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3893872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E592019-24E0-C694-5640-BC3DA3CB4B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3893869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FE7DE5-3207-DF3A-B6A1-CF4EC6CE59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311985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4C2F3EF-2741-8D2D-42DD-F0DDBA044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311985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428CC9E-E2F8-27A8-8496-C65D1F345B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4699846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415BD3A-C54E-0C03-2804-DF5BFA625E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4699846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AF9DFA1-254D-B417-F9EB-A9083F3B5D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1485" y="5054570"/>
              <a:ext cx="518494" cy="262571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lIns="0" tIns="0" rIns="0" bIns="0" rtlCol="0" anchor="ctr" anchorCtr="0"/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CB585AB-54F2-016A-707B-AF22434B62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5227" y="5054568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0D45019-44F3-2847-2292-909B6B4C1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83871" y="54277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5D9FA8B-DF55-8003-125A-E92E68DFD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07613" y="5427760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FPU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2BDA0C09-CCCC-4CF9-9474-91BD865B888A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919830" y="2944317"/>
              <a:ext cx="268511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936BC569-CBAE-AF5A-5BEA-FB2E94B4B913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247693" y="3363814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1FB51BCC-DE7E-0C99-239D-A8662DB411D1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9607897" y="3713315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3C9F7C6C-A2E3-7CFA-0B14-CCB8E63E207A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9624827" y="4502217"/>
              <a:ext cx="285293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2915FC62-F6E1-3876-CC2D-B27A7AAF2B14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936611" y="4505034"/>
              <a:ext cx="285293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963D0CE-2C97-8BBE-8571-0F2FB07B45F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264474" y="4907740"/>
              <a:ext cx="268511" cy="300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98D0771D-9A9F-A4CC-4FF6-1A1C3CEE3775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4146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14795BA6-43AD-7A24-0625-F2F604C9A1CD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292472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7BD0E6E-0DC6-5844-194E-D03539250874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292472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D6353DC2-96DA-C5F7-4BC2-D740812036AC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3713472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4FE5DCF-E0ED-D9E8-3F70-B5584D570D2F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062054" y="4485430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C139B85-9C90-D492-D769-DECD43E31CA5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487141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0C506EA-59A1-B636-BCCB-32ACA93725F1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487141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B05821DC-F6E8-717D-653B-C9C00BE68AB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4" y="524061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488717B3-2807-69BC-285D-C135F079DA44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9446946" y="3318446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4F218C4-F1D3-2CB0-B965-4CB10CDA1197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3326874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0D66EC72-3DC6-0857-C39E-C6EE4E4E25A9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3730249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433BF93A-AB1C-0F88-7C33-0031ED52B91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1376646" y="4052713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34EA023-F0E1-8730-CE39-418A9E0EE8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3106" y="4283749"/>
              <a:ext cx="518494" cy="262571"/>
            </a:xfrm>
            <a:prstGeom prst="rect">
              <a:avLst/>
            </a:prstGeom>
            <a:solidFill>
              <a:srgbClr val="1E415A">
                <a:lumMod val="60000"/>
                <a:lumOff val="40000"/>
                <a:alpha val="2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23997">
                <a:buClrTx/>
                <a:defRPr/>
              </a:pPr>
              <a:r>
                <a:rPr lang="en-US" sz="900">
                  <a:solidFill>
                    <a:prstClr val="white"/>
                  </a:solidFill>
                  <a:latin typeface="Calibri" panose="020F0502020204030204"/>
                  <a:ea typeface="+mn-ea"/>
                </a:rPr>
                <a:t>ALU</a:t>
              </a: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F0C63FE2-336B-C9F9-A72E-6B28439DE67F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58728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593BB960-AFE6-D938-B84A-3FB0F71846AC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9641190" y="2443542"/>
              <a:ext cx="252566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0786A32-B3DE-4DAE-E20F-DB4BCD42A29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052689" y="2502377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0C35BE42-660B-B477-C393-4E79A16AD698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285611" y="2935620"/>
              <a:ext cx="268511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FB118995-5A55-2F51-CA4B-D95C3AF61958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10883321" y="3338291"/>
              <a:ext cx="285293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7EB8886B-DD84-C169-9C84-7CBFADD1F6F5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0735845" y="3713472"/>
              <a:ext cx="0" cy="30044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522ECA84-0762-F334-3018-3800368A6BF1}"/>
                </a:ext>
              </a:extLst>
            </p:cNvPr>
            <p:cNvCxnSpPr>
              <a:cxnSpLocks noChangeAspect="1"/>
              <a:endCxn id="131" idx="1"/>
            </p:cNvCxnSpPr>
            <p:nvPr/>
          </p:nvCxnSpPr>
          <p:spPr>
            <a:xfrm>
              <a:off x="10720750" y="4099117"/>
              <a:ext cx="384477" cy="344153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014A7FC-2681-FD49-754F-A9BB674D24D8}"/>
              </a:ext>
            </a:extLst>
          </p:cNvPr>
          <p:cNvSpPr/>
          <p:nvPr/>
        </p:nvSpPr>
        <p:spPr>
          <a:xfrm>
            <a:off x="9225338" y="2804924"/>
            <a:ext cx="775677" cy="2741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Record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73E4419-3A3E-CDDC-AA02-E8A6948CF65A}"/>
              </a:ext>
            </a:extLst>
          </p:cNvPr>
          <p:cNvSpPr/>
          <p:nvPr/>
        </p:nvSpPr>
        <p:spPr>
          <a:xfrm>
            <a:off x="10179810" y="2807040"/>
            <a:ext cx="718581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Rajdhani SemiBold"/>
                <a:cs typeface="Arial"/>
              </a:rPr>
              <a:t>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code</a:t>
            </a:r>
          </a:p>
        </p:txBody>
      </p:sp>
      <p:cxnSp>
        <p:nvCxnSpPr>
          <p:cNvPr id="166" name="Straight Arrow Connector 8">
            <a:extLst>
              <a:ext uri="{FF2B5EF4-FFF2-40B4-BE49-F238E27FC236}">
                <a16:creationId xmlns:a16="http://schemas.microsoft.com/office/drawing/2014/main" id="{A685BBED-1600-CAA0-2956-B63661E64A66}"/>
              </a:ext>
            </a:extLst>
          </p:cNvPr>
          <p:cNvCxnSpPr>
            <a:cxnSpLocks/>
            <a:endCxn id="165" idx="1"/>
          </p:cNvCxnSpPr>
          <p:nvPr/>
        </p:nvCxnSpPr>
        <p:spPr>
          <a:xfrm flipV="1">
            <a:off x="10004298" y="2958535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1ED10A4-A051-3CD3-E575-18E4C46B5525}"/>
              </a:ext>
            </a:extLst>
          </p:cNvPr>
          <p:cNvSpPr/>
          <p:nvPr/>
        </p:nvSpPr>
        <p:spPr>
          <a:xfrm>
            <a:off x="10173460" y="5245440"/>
            <a:ext cx="718581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Rajdhani SemiBold"/>
                <a:cs typeface="Arial"/>
              </a:rPr>
              <a:t>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code</a:t>
            </a:r>
          </a:p>
        </p:txBody>
      </p:sp>
      <p:cxnSp>
        <p:nvCxnSpPr>
          <p:cNvPr id="168" name="Straight Arrow Connector 8">
            <a:extLst>
              <a:ext uri="{FF2B5EF4-FFF2-40B4-BE49-F238E27FC236}">
                <a16:creationId xmlns:a16="http://schemas.microsoft.com/office/drawing/2014/main" id="{792CB3AB-2B0B-8E2E-CB69-8F6D7EECB2DE}"/>
              </a:ext>
            </a:extLst>
          </p:cNvPr>
          <p:cNvCxnSpPr>
            <a:cxnSpLocks/>
            <a:endCxn id="167" idx="1"/>
          </p:cNvCxnSpPr>
          <p:nvPr/>
        </p:nvCxnSpPr>
        <p:spPr>
          <a:xfrm flipV="1">
            <a:off x="9997948" y="5396935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5E64F91-769C-F584-FE9A-E6D5C94D36A8}"/>
              </a:ext>
            </a:extLst>
          </p:cNvPr>
          <p:cNvSpPr/>
          <p:nvPr/>
        </p:nvSpPr>
        <p:spPr>
          <a:xfrm>
            <a:off x="10179810" y="3327740"/>
            <a:ext cx="718581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Rajdhani SemiBold"/>
                <a:cs typeface="Arial"/>
              </a:rPr>
              <a:t>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code</a:t>
            </a:r>
          </a:p>
        </p:txBody>
      </p:sp>
      <p:cxnSp>
        <p:nvCxnSpPr>
          <p:cNvPr id="170" name="Straight Arrow Connector 8">
            <a:extLst>
              <a:ext uri="{FF2B5EF4-FFF2-40B4-BE49-F238E27FC236}">
                <a16:creationId xmlns:a16="http://schemas.microsoft.com/office/drawing/2014/main" id="{6BD56406-A861-CE08-CFDB-755EEA6A5276}"/>
              </a:ext>
            </a:extLst>
          </p:cNvPr>
          <p:cNvCxnSpPr>
            <a:cxnSpLocks/>
            <a:endCxn id="169" idx="1"/>
          </p:cNvCxnSpPr>
          <p:nvPr/>
        </p:nvCxnSpPr>
        <p:spPr>
          <a:xfrm flipV="1">
            <a:off x="10004298" y="3479235"/>
            <a:ext cx="175512" cy="254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804CE84-6D69-1DF5-B536-220833673960}"/>
              </a:ext>
            </a:extLst>
          </p:cNvPr>
          <p:cNvSpPr/>
          <p:nvPr/>
        </p:nvSpPr>
        <p:spPr>
          <a:xfrm>
            <a:off x="11058520" y="2797896"/>
            <a:ext cx="903040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Compress</a:t>
            </a:r>
          </a:p>
        </p:txBody>
      </p:sp>
      <p:cxnSp>
        <p:nvCxnSpPr>
          <p:cNvPr id="172" name="Straight Arrow Connector 8">
            <a:extLst>
              <a:ext uri="{FF2B5EF4-FFF2-40B4-BE49-F238E27FC236}">
                <a16:creationId xmlns:a16="http://schemas.microsoft.com/office/drawing/2014/main" id="{73B4C209-727C-2B3F-1EA8-61F640C9A71B}"/>
              </a:ext>
            </a:extLst>
          </p:cNvPr>
          <p:cNvCxnSpPr>
            <a:cxnSpLocks/>
            <a:endCxn id="171" idx="1"/>
          </p:cNvCxnSpPr>
          <p:nvPr/>
        </p:nvCxnSpPr>
        <p:spPr>
          <a:xfrm>
            <a:off x="10885803" y="294425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6075B64-D438-3199-FACC-F65B53B6EF5B}"/>
              </a:ext>
            </a:extLst>
          </p:cNvPr>
          <p:cNvSpPr/>
          <p:nvPr/>
        </p:nvSpPr>
        <p:spPr>
          <a:xfrm>
            <a:off x="11052170" y="5236296"/>
            <a:ext cx="903040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Compress</a:t>
            </a:r>
          </a:p>
        </p:txBody>
      </p:sp>
      <p:cxnSp>
        <p:nvCxnSpPr>
          <p:cNvPr id="174" name="Straight Arrow Connector 8">
            <a:extLst>
              <a:ext uri="{FF2B5EF4-FFF2-40B4-BE49-F238E27FC236}">
                <a16:creationId xmlns:a16="http://schemas.microsoft.com/office/drawing/2014/main" id="{CF202D8B-4105-2B15-BA26-827B1378A490}"/>
              </a:ext>
            </a:extLst>
          </p:cNvPr>
          <p:cNvCxnSpPr>
            <a:cxnSpLocks/>
            <a:endCxn id="173" idx="1"/>
          </p:cNvCxnSpPr>
          <p:nvPr/>
        </p:nvCxnSpPr>
        <p:spPr>
          <a:xfrm>
            <a:off x="10879453" y="538265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C80247C-F141-6525-F377-16EFC3142D3C}"/>
              </a:ext>
            </a:extLst>
          </p:cNvPr>
          <p:cNvSpPr/>
          <p:nvPr/>
        </p:nvSpPr>
        <p:spPr>
          <a:xfrm>
            <a:off x="11058520" y="3318596"/>
            <a:ext cx="903040" cy="302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Compress</a:t>
            </a:r>
          </a:p>
        </p:txBody>
      </p:sp>
      <p:cxnSp>
        <p:nvCxnSpPr>
          <p:cNvPr id="176" name="Straight Arrow Connector 8">
            <a:extLst>
              <a:ext uri="{FF2B5EF4-FFF2-40B4-BE49-F238E27FC236}">
                <a16:creationId xmlns:a16="http://schemas.microsoft.com/office/drawing/2014/main" id="{DAA8EFCE-59F3-0B25-A6DA-EE3BF73A6BE2}"/>
              </a:ext>
            </a:extLst>
          </p:cNvPr>
          <p:cNvCxnSpPr>
            <a:cxnSpLocks/>
            <a:endCxn id="175" idx="1"/>
          </p:cNvCxnSpPr>
          <p:nvPr/>
        </p:nvCxnSpPr>
        <p:spPr>
          <a:xfrm>
            <a:off x="10885803" y="3464954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3C3DCE3-3646-2712-10CE-1A9F71BD8F2E}"/>
              </a:ext>
            </a:extLst>
          </p:cNvPr>
          <p:cNvGrpSpPr/>
          <p:nvPr/>
        </p:nvGrpSpPr>
        <p:grpSpPr>
          <a:xfrm>
            <a:off x="11570913" y="4149136"/>
            <a:ext cx="101412" cy="559609"/>
            <a:chOff x="3492074" y="2453201"/>
            <a:chExt cx="101412" cy="559609"/>
          </a:xfrm>
        </p:grpSpPr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282E19A4-246F-A190-0D48-85C85A113CDE}"/>
                </a:ext>
              </a:extLst>
            </p:cNvPr>
            <p:cNvSpPr/>
            <p:nvPr/>
          </p:nvSpPr>
          <p:spPr>
            <a:xfrm>
              <a:off x="3492075" y="2895602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FDA3F491-61A7-60F5-27C2-E8CF7318001A}"/>
                </a:ext>
              </a:extLst>
            </p:cNvPr>
            <p:cNvSpPr/>
            <p:nvPr/>
          </p:nvSpPr>
          <p:spPr>
            <a:xfrm>
              <a:off x="3493551" y="2675141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9A2E8213-3FBF-A42B-58A0-C4D301AF6056}"/>
                </a:ext>
              </a:extLst>
            </p:cNvPr>
            <p:cNvSpPr/>
            <p:nvPr/>
          </p:nvSpPr>
          <p:spPr>
            <a:xfrm>
              <a:off x="3492074" y="2453201"/>
              <a:ext cx="99935" cy="117208"/>
            </a:xfrm>
            <a:prstGeom prst="roundRect">
              <a:avLst/>
            </a:prstGeom>
            <a:solidFill>
              <a:srgbClr val="CD152B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</p:grpSp>
      <p:cxnSp>
        <p:nvCxnSpPr>
          <p:cNvPr id="188" name="Straight Arrow Connector 8">
            <a:extLst>
              <a:ext uri="{FF2B5EF4-FFF2-40B4-BE49-F238E27FC236}">
                <a16:creationId xmlns:a16="http://schemas.microsoft.com/office/drawing/2014/main" id="{2FBA0344-2E50-9C34-6F12-0513725E2AC8}"/>
              </a:ext>
            </a:extLst>
          </p:cNvPr>
          <p:cNvCxnSpPr>
            <a:cxnSpLocks/>
          </p:cNvCxnSpPr>
          <p:nvPr/>
        </p:nvCxnSpPr>
        <p:spPr>
          <a:xfrm>
            <a:off x="11957996" y="2988642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8">
            <a:extLst>
              <a:ext uri="{FF2B5EF4-FFF2-40B4-BE49-F238E27FC236}">
                <a16:creationId xmlns:a16="http://schemas.microsoft.com/office/drawing/2014/main" id="{92F0D647-AEA6-6E99-A29B-A26134E2A611}"/>
              </a:ext>
            </a:extLst>
          </p:cNvPr>
          <p:cNvCxnSpPr>
            <a:cxnSpLocks/>
          </p:cNvCxnSpPr>
          <p:nvPr/>
        </p:nvCxnSpPr>
        <p:spPr>
          <a:xfrm>
            <a:off x="11951646" y="5427042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8">
            <a:extLst>
              <a:ext uri="{FF2B5EF4-FFF2-40B4-BE49-F238E27FC236}">
                <a16:creationId xmlns:a16="http://schemas.microsoft.com/office/drawing/2014/main" id="{01892956-BA02-02CF-9EA2-906D5604B6C6}"/>
              </a:ext>
            </a:extLst>
          </p:cNvPr>
          <p:cNvCxnSpPr>
            <a:cxnSpLocks/>
          </p:cNvCxnSpPr>
          <p:nvPr/>
        </p:nvCxnSpPr>
        <p:spPr>
          <a:xfrm>
            <a:off x="11957996" y="3509342"/>
            <a:ext cx="172717" cy="51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Arrow: Right 190">
            <a:extLst>
              <a:ext uri="{FF2B5EF4-FFF2-40B4-BE49-F238E27FC236}">
                <a16:creationId xmlns:a16="http://schemas.microsoft.com/office/drawing/2014/main" id="{A5CA7BD4-9655-795A-26F5-54D1F9823F55}"/>
              </a:ext>
            </a:extLst>
          </p:cNvPr>
          <p:cNvSpPr/>
          <p:nvPr/>
        </p:nvSpPr>
        <p:spPr>
          <a:xfrm>
            <a:off x="4067098" y="6221528"/>
            <a:ext cx="5679249" cy="54269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flow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CAB3C5E-3378-273D-EE91-C1998D3FB246}"/>
              </a:ext>
            </a:extLst>
          </p:cNvPr>
          <p:cNvSpPr/>
          <p:nvPr/>
        </p:nvSpPr>
        <p:spPr>
          <a:xfrm>
            <a:off x="4940300" y="1690689"/>
            <a:ext cx="4152900" cy="579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On-chip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NoC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 + memory banks</a:t>
            </a:r>
          </a:p>
        </p:txBody>
      </p:sp>
      <p:sp>
        <p:nvSpPr>
          <p:cNvPr id="193" name="Speech Bubble: Rectangle 192">
            <a:extLst>
              <a:ext uri="{FF2B5EF4-FFF2-40B4-BE49-F238E27FC236}">
                <a16:creationId xmlns:a16="http://schemas.microsoft.com/office/drawing/2014/main" id="{E506E6E6-7744-C871-8268-12F459CF84C1}"/>
              </a:ext>
            </a:extLst>
          </p:cNvPr>
          <p:cNvSpPr/>
          <p:nvPr/>
        </p:nvSpPr>
        <p:spPr>
          <a:xfrm>
            <a:off x="5185636" y="5476912"/>
            <a:ext cx="621599" cy="458256"/>
          </a:xfrm>
          <a:prstGeom prst="wedgeRectCallout">
            <a:avLst>
              <a:gd name="adj1" fmla="val -42358"/>
              <a:gd name="adj2" fmla="val 98417"/>
            </a:avLst>
          </a:prstGeom>
          <a:solidFill>
            <a:schemeClr val="bg2"/>
          </a:solidFill>
          <a:ln>
            <a:solidFill>
              <a:schemeClr val="bg2"/>
            </a:solidFill>
          </a:ln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jdhani SemiBold"/>
                <a:ea typeface="+mn-ea"/>
                <a:cs typeface="Arial"/>
              </a:rPr>
              <a:t>JOIN</a:t>
            </a:r>
          </a:p>
        </p:txBody>
      </p:sp>
      <p:sp>
        <p:nvSpPr>
          <p:cNvPr id="194" name="Speech Bubble: Rectangle 193">
            <a:extLst>
              <a:ext uri="{FF2B5EF4-FFF2-40B4-BE49-F238E27FC236}">
                <a16:creationId xmlns:a16="http://schemas.microsoft.com/office/drawing/2014/main" id="{A5A045FE-0A27-6CD5-2E4A-AFF814FC3F9C}"/>
              </a:ext>
            </a:extLst>
          </p:cNvPr>
          <p:cNvSpPr/>
          <p:nvPr/>
        </p:nvSpPr>
        <p:spPr>
          <a:xfrm>
            <a:off x="7368748" y="5444216"/>
            <a:ext cx="998012" cy="458256"/>
          </a:xfrm>
          <a:prstGeom prst="wedgeRectCallout">
            <a:avLst>
              <a:gd name="adj1" fmla="val -42358"/>
              <a:gd name="adj2" fmla="val 98417"/>
            </a:avLst>
          </a:prstGeom>
          <a:solidFill>
            <a:schemeClr val="bg2"/>
          </a:solidFill>
          <a:ln>
            <a:solidFill>
              <a:schemeClr val="bg2"/>
            </a:solidFill>
          </a:ln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tx1"/>
                </a:solidFill>
                <a:latin typeface="Rajdhani SemiBold"/>
                <a:cs typeface="Arial"/>
              </a:rPr>
              <a:t>GROUPBY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ajdhani SemiBold"/>
              <a:ea typeface="+mn-ea"/>
              <a:cs typeface="Arial"/>
            </a:endParaRPr>
          </a:p>
        </p:txBody>
      </p:sp>
      <p:sp>
        <p:nvSpPr>
          <p:cNvPr id="195" name="Arrow: Left-Right 194">
            <a:extLst>
              <a:ext uri="{FF2B5EF4-FFF2-40B4-BE49-F238E27FC236}">
                <a16:creationId xmlns:a16="http://schemas.microsoft.com/office/drawing/2014/main" id="{41C0981B-5963-66F9-4AD3-0BAB4463E603}"/>
              </a:ext>
            </a:extLst>
          </p:cNvPr>
          <p:cNvSpPr/>
          <p:nvPr/>
        </p:nvSpPr>
        <p:spPr>
          <a:xfrm rot="16200000">
            <a:off x="5689366" y="1545036"/>
            <a:ext cx="458256" cy="1991748"/>
          </a:xfrm>
          <a:prstGeom prst="leftRightArrow">
            <a:avLst>
              <a:gd name="adj1" fmla="val 48522"/>
              <a:gd name="adj2" fmla="val 34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6" name="Arrow: Left-Right 195">
            <a:extLst>
              <a:ext uri="{FF2B5EF4-FFF2-40B4-BE49-F238E27FC236}">
                <a16:creationId xmlns:a16="http://schemas.microsoft.com/office/drawing/2014/main" id="{A74395A6-3F19-52FC-B68F-A9AA31E755B8}"/>
              </a:ext>
            </a:extLst>
          </p:cNvPr>
          <p:cNvSpPr/>
          <p:nvPr/>
        </p:nvSpPr>
        <p:spPr>
          <a:xfrm rot="16200000">
            <a:off x="7907526" y="1550082"/>
            <a:ext cx="458256" cy="1991748"/>
          </a:xfrm>
          <a:prstGeom prst="leftRightArrow">
            <a:avLst>
              <a:gd name="adj1" fmla="val 48522"/>
              <a:gd name="adj2" fmla="val 34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651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193" grpId="0" animBg="1"/>
      <p:bldP spid="19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1202-A6F2-A154-2DE5-3D73E182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APU: HW/SW interface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E0BDF-1BAD-1CAF-AC6C-52B30220E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 not expose the interface, but it is hidden from the users</a:t>
            </a:r>
          </a:p>
          <a:p>
            <a:endParaRPr lang="en-US" dirty="0"/>
          </a:p>
          <a:p>
            <a:r>
              <a:rPr lang="en-US" dirty="0"/>
              <a:t>End users write SQL or </a:t>
            </a:r>
            <a:r>
              <a:rPr lang="en-US" dirty="0" err="1"/>
              <a:t>dataframe</a:t>
            </a:r>
            <a:r>
              <a:rPr lang="en-US" dirty="0"/>
              <a:t> queries</a:t>
            </a:r>
          </a:p>
          <a:p>
            <a:endParaRPr lang="en-US" dirty="0"/>
          </a:p>
          <a:p>
            <a:r>
              <a:rPr lang="en-US" dirty="0"/>
              <a:t>We plug into existing analytics framework to offload computation into the APU</a:t>
            </a:r>
          </a:p>
          <a:p>
            <a:endParaRPr lang="en-US" dirty="0"/>
          </a:p>
          <a:p>
            <a:r>
              <a:rPr lang="en-US" dirty="0"/>
              <a:t>Users need not change their code!</a:t>
            </a:r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775A2-29D5-C3C5-53B5-A3071F9B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7E64B-D355-C6A7-0B09-814A8A1B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139136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49B3-7CEE-E637-CECB-573D1256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with software ecosystem</a:t>
            </a:r>
            <a:br>
              <a:rPr lang="en-US" dirty="0"/>
            </a:br>
            <a:endParaRPr lang="en-IL" dirty="0"/>
          </a:p>
        </p:txBody>
      </p:sp>
      <p:sp>
        <p:nvSpPr>
          <p:cNvPr id="4" name="Rounded Rectangle 139">
            <a:extLst>
              <a:ext uri="{FF2B5EF4-FFF2-40B4-BE49-F238E27FC236}">
                <a16:creationId xmlns:a16="http://schemas.microsoft.com/office/drawing/2014/main" id="{32674901-160B-D77C-79A9-D5EA11FF7D3F}"/>
              </a:ext>
            </a:extLst>
          </p:cNvPr>
          <p:cNvSpPr/>
          <p:nvPr/>
        </p:nvSpPr>
        <p:spPr>
          <a:xfrm>
            <a:off x="1420655" y="2848748"/>
            <a:ext cx="830201" cy="529636"/>
          </a:xfrm>
          <a:prstGeom prst="roundRect">
            <a:avLst>
              <a:gd name="adj" fmla="val 10726"/>
            </a:avLst>
          </a:prstGeom>
          <a:noFill/>
          <a:ln>
            <a:solidFill>
              <a:srgbClr val="7699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Parser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9827B7-3FCA-382C-F43A-FEA9CEDD383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2349" y="3113566"/>
            <a:ext cx="778306" cy="0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Apache Spark Continues to Gain Popularity - DATAVERSITY">
            <a:extLst>
              <a:ext uri="{FF2B5EF4-FFF2-40B4-BE49-F238E27FC236}">
                <a16:creationId xmlns:a16="http://schemas.microsoft.com/office/drawing/2014/main" id="{B6DCF2C6-C988-2D17-6BA5-059D0BE9D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31" t="11726" r="9163" b="34466"/>
          <a:stretch/>
        </p:blipFill>
        <p:spPr bwMode="auto">
          <a:xfrm>
            <a:off x="3187814" y="1785380"/>
            <a:ext cx="1067458" cy="4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resto Logo Download Vector">
            <a:extLst>
              <a:ext uri="{FF2B5EF4-FFF2-40B4-BE49-F238E27FC236}">
                <a16:creationId xmlns:a16="http://schemas.microsoft.com/office/drawing/2014/main" id="{748DFD63-448E-A207-9D3E-5E1E0E545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050" b="33421"/>
          <a:stretch/>
        </p:blipFill>
        <p:spPr bwMode="auto">
          <a:xfrm>
            <a:off x="4475549" y="1795487"/>
            <a:ext cx="1717957" cy="4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27C844-7225-F0AA-5092-D4A869E711AF}"/>
              </a:ext>
            </a:extLst>
          </p:cNvPr>
          <p:cNvSpPr txBox="1"/>
          <p:nvPr/>
        </p:nvSpPr>
        <p:spPr>
          <a:xfrm>
            <a:off x="115120" y="3285186"/>
            <a:ext cx="11095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SQL Query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Dataframes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Pandas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2F6924-2652-2D9A-4B86-D49AECF40787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2250856" y="3113351"/>
            <a:ext cx="341858" cy="215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53">
            <a:extLst>
              <a:ext uri="{FF2B5EF4-FFF2-40B4-BE49-F238E27FC236}">
                <a16:creationId xmlns:a16="http://schemas.microsoft.com/office/drawing/2014/main" id="{43F1450A-9527-C106-C4ED-485A868B6A6F}"/>
              </a:ext>
            </a:extLst>
          </p:cNvPr>
          <p:cNvSpPr/>
          <p:nvPr/>
        </p:nvSpPr>
        <p:spPr>
          <a:xfrm>
            <a:off x="2592714" y="2848533"/>
            <a:ext cx="1037334" cy="529636"/>
          </a:xfrm>
          <a:prstGeom prst="roundRect">
            <a:avLst>
              <a:gd name="adj" fmla="val 10726"/>
            </a:avLst>
          </a:prstGeom>
          <a:noFill/>
          <a:ln>
            <a:solidFill>
              <a:srgbClr val="7699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Logical Plan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80EABD-84F0-2BFE-7819-16DEA6C7AF3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3630048" y="3113030"/>
            <a:ext cx="313929" cy="321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8">
            <a:extLst>
              <a:ext uri="{FF2B5EF4-FFF2-40B4-BE49-F238E27FC236}">
                <a16:creationId xmlns:a16="http://schemas.microsoft.com/office/drawing/2014/main" id="{BA1FF2B8-2293-CD61-4C2E-110339D1A379}"/>
              </a:ext>
            </a:extLst>
          </p:cNvPr>
          <p:cNvSpPr/>
          <p:nvPr/>
        </p:nvSpPr>
        <p:spPr>
          <a:xfrm>
            <a:off x="3943977" y="2848212"/>
            <a:ext cx="1115162" cy="529636"/>
          </a:xfrm>
          <a:prstGeom prst="roundRect">
            <a:avLst>
              <a:gd name="adj" fmla="val 10726"/>
            </a:avLst>
          </a:prstGeom>
          <a:noFill/>
          <a:ln>
            <a:solidFill>
              <a:srgbClr val="7699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Physical Plan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EB030C-93D2-D8E1-062C-F651A17BD3D4}"/>
              </a:ext>
            </a:extLst>
          </p:cNvPr>
          <p:cNvCxnSpPr>
            <a:cxnSpLocks/>
            <a:stCxn id="12" idx="3"/>
            <a:endCxn id="45" idx="2"/>
          </p:cNvCxnSpPr>
          <p:nvPr/>
        </p:nvCxnSpPr>
        <p:spPr>
          <a:xfrm>
            <a:off x="5059139" y="3113030"/>
            <a:ext cx="327619" cy="4074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22DC6-CC1F-3992-4E3C-B004F72DE005}"/>
              </a:ext>
            </a:extLst>
          </p:cNvPr>
          <p:cNvCxnSpPr>
            <a:cxnSpLocks/>
            <a:stCxn id="45" idx="0"/>
            <a:endCxn id="15" idx="1"/>
          </p:cNvCxnSpPr>
          <p:nvPr/>
        </p:nvCxnSpPr>
        <p:spPr>
          <a:xfrm flipV="1">
            <a:off x="5638589" y="3109899"/>
            <a:ext cx="383604" cy="7205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62">
            <a:extLst>
              <a:ext uri="{FF2B5EF4-FFF2-40B4-BE49-F238E27FC236}">
                <a16:creationId xmlns:a16="http://schemas.microsoft.com/office/drawing/2014/main" id="{710AB8F2-1E94-F472-1908-9D9F98A5533C}"/>
              </a:ext>
            </a:extLst>
          </p:cNvPr>
          <p:cNvSpPr/>
          <p:nvPr/>
        </p:nvSpPr>
        <p:spPr>
          <a:xfrm>
            <a:off x="6022193" y="2889532"/>
            <a:ext cx="1475032" cy="440734"/>
          </a:xfrm>
          <a:prstGeom prst="roundRect">
            <a:avLst>
              <a:gd name="adj" fmla="val 10726"/>
            </a:avLst>
          </a:prstGeom>
          <a:noFill/>
          <a:ln>
            <a:solidFill>
              <a:srgbClr val="7699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X86/JVM Code Generator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AFE151-7595-A3A4-4AE7-1EA311B9CD00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497225" y="3109899"/>
            <a:ext cx="469657" cy="381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4">
            <a:extLst>
              <a:ext uri="{FF2B5EF4-FFF2-40B4-BE49-F238E27FC236}">
                <a16:creationId xmlns:a16="http://schemas.microsoft.com/office/drawing/2014/main" id="{F894B782-1012-F22A-1DD8-905E80AD8EC6}"/>
              </a:ext>
            </a:extLst>
          </p:cNvPr>
          <p:cNvSpPr/>
          <p:nvPr/>
        </p:nvSpPr>
        <p:spPr>
          <a:xfrm>
            <a:off x="5868786" y="3513011"/>
            <a:ext cx="1273658" cy="422055"/>
          </a:xfrm>
          <a:prstGeom prst="roundRect">
            <a:avLst>
              <a:gd name="adj" fmla="val 10726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APU Code Generation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AFE138-76C9-CCC5-617C-7EA4274D4D83}"/>
              </a:ext>
            </a:extLst>
          </p:cNvPr>
          <p:cNvCxnSpPr>
            <a:cxnSpLocks/>
            <a:stCxn id="45" idx="3"/>
            <a:endCxn id="17" idx="1"/>
          </p:cNvCxnSpPr>
          <p:nvPr/>
        </p:nvCxnSpPr>
        <p:spPr>
          <a:xfrm>
            <a:off x="5512673" y="3398506"/>
            <a:ext cx="356113" cy="3255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053C98-7122-DC06-D8B2-5C118F24DD34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7142444" y="3375098"/>
            <a:ext cx="1250235" cy="34894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1">
            <a:extLst>
              <a:ext uri="{FF2B5EF4-FFF2-40B4-BE49-F238E27FC236}">
                <a16:creationId xmlns:a16="http://schemas.microsoft.com/office/drawing/2014/main" id="{35DF5737-7946-47FB-5155-13C179BEF1E0}"/>
              </a:ext>
            </a:extLst>
          </p:cNvPr>
          <p:cNvSpPr/>
          <p:nvPr/>
        </p:nvSpPr>
        <p:spPr>
          <a:xfrm>
            <a:off x="7966882" y="2845462"/>
            <a:ext cx="851594" cy="529636"/>
          </a:xfrm>
          <a:prstGeom prst="roundRect">
            <a:avLst>
              <a:gd name="adj" fmla="val 10726"/>
            </a:avLst>
          </a:prstGeom>
          <a:noFill/>
          <a:ln>
            <a:solidFill>
              <a:srgbClr val="7699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Scheduler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E40F40-6609-9846-7CE4-A748F2B8BF63}"/>
              </a:ext>
            </a:extLst>
          </p:cNvPr>
          <p:cNvSpPr txBox="1"/>
          <p:nvPr/>
        </p:nvSpPr>
        <p:spPr>
          <a:xfrm>
            <a:off x="7571794" y="2929555"/>
            <a:ext cx="351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bin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4CFF8A-DEB7-58E7-77E6-7C0CBA4C4BE3}"/>
              </a:ext>
            </a:extLst>
          </p:cNvPr>
          <p:cNvSpPr txBox="1"/>
          <p:nvPr/>
        </p:nvSpPr>
        <p:spPr>
          <a:xfrm>
            <a:off x="7966881" y="3513011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bin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968EF-52F7-0BCD-A27C-77C78B3A4D1D}"/>
              </a:ext>
            </a:extLst>
          </p:cNvPr>
          <p:cNvSpPr txBox="1"/>
          <p:nvPr/>
        </p:nvSpPr>
        <p:spPr>
          <a:xfrm>
            <a:off x="10166727" y="2282779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Worker-1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07EAEE-EC20-DE36-BFA7-319E7B1AAF4F}"/>
              </a:ext>
            </a:extLst>
          </p:cNvPr>
          <p:cNvSpPr txBox="1"/>
          <p:nvPr/>
        </p:nvSpPr>
        <p:spPr>
          <a:xfrm>
            <a:off x="10166727" y="2998247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Worker-2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08D91F-B669-5EC2-A2C6-928EF7E15B8A}"/>
              </a:ext>
            </a:extLst>
          </p:cNvPr>
          <p:cNvSpPr txBox="1"/>
          <p:nvPr/>
        </p:nvSpPr>
        <p:spPr>
          <a:xfrm>
            <a:off x="10170215" y="3767856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Worker-3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EE7192-EA21-4CAF-9A19-1478C782D111}"/>
              </a:ext>
            </a:extLst>
          </p:cNvPr>
          <p:cNvSpPr txBox="1"/>
          <p:nvPr/>
        </p:nvSpPr>
        <p:spPr>
          <a:xfrm>
            <a:off x="10163239" y="4534410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Worker-4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F7B326-8687-5A17-B827-BDBFB570669B}"/>
              </a:ext>
            </a:extLst>
          </p:cNvPr>
          <p:cNvCxnSpPr>
            <a:cxnSpLocks/>
          </p:cNvCxnSpPr>
          <p:nvPr/>
        </p:nvCxnSpPr>
        <p:spPr>
          <a:xfrm flipV="1">
            <a:off x="8818475" y="2234851"/>
            <a:ext cx="1271071" cy="884601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D69B64-A561-AE3E-9CCA-3EA194794E1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8818476" y="2924083"/>
            <a:ext cx="1271070" cy="186197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465A55-B783-0BA5-9519-94CDA36B7CA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818476" y="3110280"/>
            <a:ext cx="1274558" cy="583412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583B5C-587D-21AA-DC7A-EE6C2C565034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818476" y="3110280"/>
            <a:ext cx="1267582" cy="1349966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14A6B8-5CF0-7814-5201-0029FA542DE8}"/>
              </a:ext>
            </a:extLst>
          </p:cNvPr>
          <p:cNvGrpSpPr/>
          <p:nvPr/>
        </p:nvGrpSpPr>
        <p:grpSpPr>
          <a:xfrm>
            <a:off x="10163239" y="5653319"/>
            <a:ext cx="807622" cy="495946"/>
            <a:chOff x="7731944" y="449185"/>
            <a:chExt cx="1273430" cy="674442"/>
          </a:xfrm>
          <a:noFill/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2BA14CD-83C5-C401-255C-CE5192474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1944" y="887074"/>
              <a:ext cx="1121051" cy="236553"/>
            </a:xfrm>
            <a:prstGeom prst="rect">
              <a:avLst/>
            </a:prstGeom>
            <a:grpFill/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EACC6B7-B6DD-9A23-9407-D268A1FDF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292469" y="449185"/>
              <a:ext cx="712905" cy="437889"/>
            </a:xfrm>
            <a:prstGeom prst="rect">
              <a:avLst/>
            </a:prstGeom>
            <a:grpFill/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B050B64-344E-B8B5-C64B-2C5D1E737F34}"/>
              </a:ext>
            </a:extLst>
          </p:cNvPr>
          <p:cNvSpPr txBox="1"/>
          <p:nvPr/>
        </p:nvSpPr>
        <p:spPr>
          <a:xfrm>
            <a:off x="10251935" y="6096798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Worker-N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2257C71-D35D-102B-4FB8-F16C0B21AB31}"/>
              </a:ext>
            </a:extLst>
          </p:cNvPr>
          <p:cNvCxnSpPr>
            <a:cxnSpLocks/>
            <a:stCxn id="20" idx="3"/>
            <a:endCxn id="40" idx="1"/>
          </p:cNvCxnSpPr>
          <p:nvPr/>
        </p:nvCxnSpPr>
        <p:spPr>
          <a:xfrm>
            <a:off x="8818476" y="3110280"/>
            <a:ext cx="1344763" cy="2952011"/>
          </a:xfrm>
          <a:prstGeom prst="straightConnector1">
            <a:avLst/>
          </a:prstGeom>
          <a:ln>
            <a:solidFill>
              <a:srgbClr val="769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159">
            <a:extLst>
              <a:ext uri="{FF2B5EF4-FFF2-40B4-BE49-F238E27FC236}">
                <a16:creationId xmlns:a16="http://schemas.microsoft.com/office/drawing/2014/main" id="{4F05EBEE-5809-7C7E-B36D-B454ABBBC788}"/>
              </a:ext>
            </a:extLst>
          </p:cNvPr>
          <p:cNvSpPr/>
          <p:nvPr/>
        </p:nvSpPr>
        <p:spPr>
          <a:xfrm rot="5400000">
            <a:off x="5231271" y="2991188"/>
            <a:ext cx="562805" cy="251831"/>
          </a:xfrm>
          <a:prstGeom prst="roundRect">
            <a:avLst>
              <a:gd name="adj" fmla="val 10726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Plugin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6" name="Freeform 30">
            <a:extLst>
              <a:ext uri="{FF2B5EF4-FFF2-40B4-BE49-F238E27FC236}">
                <a16:creationId xmlns:a16="http://schemas.microsoft.com/office/drawing/2014/main" id="{A05BC35D-43AC-9035-D696-833873FCCCD4}"/>
              </a:ext>
            </a:extLst>
          </p:cNvPr>
          <p:cNvSpPr/>
          <p:nvPr/>
        </p:nvSpPr>
        <p:spPr>
          <a:xfrm>
            <a:off x="5285110" y="2757851"/>
            <a:ext cx="2150667" cy="1342298"/>
          </a:xfrm>
          <a:custGeom>
            <a:avLst/>
            <a:gdLst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50668 w 2150668"/>
              <a:gd name="connsiteY4" fmla="*/ 760781 h 2882189"/>
              <a:gd name="connsiteX5" fmla="*/ 475488 w 2150668"/>
              <a:gd name="connsiteY5" fmla="*/ 760781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50668 w 2150668"/>
              <a:gd name="connsiteY4" fmla="*/ 760781 h 2882189"/>
              <a:gd name="connsiteX5" fmla="*/ 480597 w 2150668"/>
              <a:gd name="connsiteY5" fmla="*/ 1704093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45560 w 2150668"/>
              <a:gd name="connsiteY4" fmla="*/ 1715061 h 2882189"/>
              <a:gd name="connsiteX5" fmla="*/ 480597 w 2150668"/>
              <a:gd name="connsiteY5" fmla="*/ 1704093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45560 w 2150668"/>
              <a:gd name="connsiteY4" fmla="*/ 1715061 h 2882189"/>
              <a:gd name="connsiteX5" fmla="*/ 480597 w 2150668"/>
              <a:gd name="connsiteY5" fmla="*/ 1704093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42385 w 2150668"/>
              <a:gd name="connsiteY4" fmla="*/ 1694609 h 2882189"/>
              <a:gd name="connsiteX5" fmla="*/ 480597 w 2150668"/>
              <a:gd name="connsiteY5" fmla="*/ 1704093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42385 w 2150668"/>
              <a:gd name="connsiteY4" fmla="*/ 1694609 h 2882189"/>
              <a:gd name="connsiteX5" fmla="*/ 480597 w 2150668"/>
              <a:gd name="connsiteY5" fmla="*/ 1376859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  <a:gd name="connsiteX0" fmla="*/ 0 w 2150668"/>
              <a:gd name="connsiteY0" fmla="*/ 0 h 2882189"/>
              <a:gd name="connsiteX1" fmla="*/ 0 w 2150668"/>
              <a:gd name="connsiteY1" fmla="*/ 2882189 h 2882189"/>
              <a:gd name="connsiteX2" fmla="*/ 146304 w 2150668"/>
              <a:gd name="connsiteY2" fmla="*/ 2882189 h 2882189"/>
              <a:gd name="connsiteX3" fmla="*/ 2150668 w 2150668"/>
              <a:gd name="connsiteY3" fmla="*/ 2882189 h 2882189"/>
              <a:gd name="connsiteX4" fmla="*/ 2145560 w 2150668"/>
              <a:gd name="connsiteY4" fmla="*/ 1381009 h 2882189"/>
              <a:gd name="connsiteX5" fmla="*/ 480597 w 2150668"/>
              <a:gd name="connsiteY5" fmla="*/ 1376859 h 2882189"/>
              <a:gd name="connsiteX6" fmla="*/ 475488 w 2150668"/>
              <a:gd name="connsiteY6" fmla="*/ 7315 h 2882189"/>
              <a:gd name="connsiteX7" fmla="*/ 0 w 2150668"/>
              <a:gd name="connsiteY7" fmla="*/ 0 h 288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0668" h="2882189">
                <a:moveTo>
                  <a:pt x="0" y="0"/>
                </a:moveTo>
                <a:lnTo>
                  <a:pt x="0" y="2882189"/>
                </a:lnTo>
                <a:lnTo>
                  <a:pt x="146304" y="2882189"/>
                </a:lnTo>
                <a:lnTo>
                  <a:pt x="2150668" y="2882189"/>
                </a:lnTo>
                <a:cubicBezTo>
                  <a:pt x="2148965" y="2493146"/>
                  <a:pt x="2147263" y="1770052"/>
                  <a:pt x="2145560" y="1381009"/>
                </a:cubicBezTo>
                <a:lnTo>
                  <a:pt x="480597" y="1376859"/>
                </a:lnTo>
                <a:lnTo>
                  <a:pt x="475488" y="7315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C127C2-EF01-82AD-FB61-0BC903E48683}"/>
              </a:ext>
            </a:extLst>
          </p:cNvPr>
          <p:cNvSpPr txBox="1"/>
          <p:nvPr/>
        </p:nvSpPr>
        <p:spPr>
          <a:xfrm>
            <a:off x="5018569" y="4107410"/>
            <a:ext cx="2687351" cy="318924"/>
          </a:xfrm>
          <a:prstGeom prst="rect">
            <a:avLst/>
          </a:prstGeom>
          <a:solidFill>
            <a:srgbClr val="C00000"/>
          </a:solidFill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Speedata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 query compiler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8F8D9C-674F-AAFC-2004-AE31EAC513DA}"/>
              </a:ext>
            </a:extLst>
          </p:cNvPr>
          <p:cNvSpPr txBox="1"/>
          <p:nvPr/>
        </p:nvSpPr>
        <p:spPr>
          <a:xfrm>
            <a:off x="4339125" y="4643225"/>
            <a:ext cx="283178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Coordinator Node Software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8DFE04-16C9-26B7-1B6C-BA21FC61648A}"/>
              </a:ext>
            </a:extLst>
          </p:cNvPr>
          <p:cNvSpPr txBox="1"/>
          <p:nvPr/>
        </p:nvSpPr>
        <p:spPr>
          <a:xfrm>
            <a:off x="10328946" y="2454182"/>
            <a:ext cx="5950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SPEEDATA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2FDA70-089A-1FC1-9C34-9243B85C1435}"/>
              </a:ext>
            </a:extLst>
          </p:cNvPr>
          <p:cNvSpPr txBox="1"/>
          <p:nvPr/>
        </p:nvSpPr>
        <p:spPr>
          <a:xfrm>
            <a:off x="10400742" y="5561448"/>
            <a:ext cx="59503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SPEEDATA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13935A-9AA3-70A1-D91F-C3055C3084E8}"/>
              </a:ext>
            </a:extLst>
          </p:cNvPr>
          <p:cNvGrpSpPr/>
          <p:nvPr/>
        </p:nvGrpSpPr>
        <p:grpSpPr>
          <a:xfrm>
            <a:off x="10159267" y="4057234"/>
            <a:ext cx="807622" cy="495946"/>
            <a:chOff x="7731944" y="449185"/>
            <a:chExt cx="1273430" cy="674442"/>
          </a:xfrm>
          <a:noFill/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3317A63-7BF1-FB46-F3C8-C543BAF1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1944" y="887074"/>
              <a:ext cx="1121051" cy="236553"/>
            </a:xfrm>
            <a:prstGeom prst="rect">
              <a:avLst/>
            </a:prstGeom>
            <a:grpFill/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63F0D03-2564-7893-F826-366F44960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292469" y="449185"/>
              <a:ext cx="712905" cy="437889"/>
            </a:xfrm>
            <a:prstGeom prst="rect">
              <a:avLst/>
            </a:prstGeom>
            <a:grpFill/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47CDBC4-3E91-9E62-5527-07D574A2C2C9}"/>
              </a:ext>
            </a:extLst>
          </p:cNvPr>
          <p:cNvGrpSpPr/>
          <p:nvPr/>
        </p:nvGrpSpPr>
        <p:grpSpPr>
          <a:xfrm>
            <a:off x="10153631" y="3230516"/>
            <a:ext cx="807622" cy="495946"/>
            <a:chOff x="7731944" y="449185"/>
            <a:chExt cx="1273430" cy="674442"/>
          </a:xfrm>
          <a:noFill/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BE5C0BEF-1CC4-3893-6D96-5D27FF64D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1944" y="887074"/>
              <a:ext cx="1121051" cy="236553"/>
            </a:xfrm>
            <a:prstGeom prst="rect">
              <a:avLst/>
            </a:prstGeom>
            <a:grpFill/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157C609-B678-6C2B-7BDA-B002FD8D8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292469" y="449185"/>
              <a:ext cx="712905" cy="437889"/>
            </a:xfrm>
            <a:prstGeom prst="rect">
              <a:avLst/>
            </a:prstGeom>
            <a:grpFill/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1B642FD-5378-7CC3-E339-141B78DAED2D}"/>
              </a:ext>
            </a:extLst>
          </p:cNvPr>
          <p:cNvGrpSpPr/>
          <p:nvPr/>
        </p:nvGrpSpPr>
        <p:grpSpPr>
          <a:xfrm>
            <a:off x="10153631" y="2569184"/>
            <a:ext cx="807622" cy="495946"/>
            <a:chOff x="7731944" y="449185"/>
            <a:chExt cx="1273430" cy="674442"/>
          </a:xfrm>
          <a:noFill/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7D705DE-4AB2-CA52-03ED-6D516C7F4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1944" y="887074"/>
              <a:ext cx="1121051" cy="236553"/>
            </a:xfrm>
            <a:prstGeom prst="rect">
              <a:avLst/>
            </a:prstGeom>
            <a:grpFill/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9439BA6-CBED-3500-25DC-E906B9CBD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292469" y="449185"/>
              <a:ext cx="712905" cy="437889"/>
            </a:xfrm>
            <a:prstGeom prst="rect">
              <a:avLst/>
            </a:prstGeom>
            <a:grpFill/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979A6A-6C53-1078-7EDC-B9CE5ADB3AD6}"/>
              </a:ext>
            </a:extLst>
          </p:cNvPr>
          <p:cNvGrpSpPr/>
          <p:nvPr/>
        </p:nvGrpSpPr>
        <p:grpSpPr>
          <a:xfrm>
            <a:off x="10159267" y="1843941"/>
            <a:ext cx="807622" cy="495946"/>
            <a:chOff x="7731944" y="449185"/>
            <a:chExt cx="1273430" cy="674442"/>
          </a:xfrm>
          <a:noFill/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1825FAD-DA01-4E3A-D0A5-991C5A28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1944" y="887074"/>
              <a:ext cx="1121051" cy="236553"/>
            </a:xfrm>
            <a:prstGeom prst="rect">
              <a:avLst/>
            </a:prstGeom>
            <a:grpFill/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88AC6A3-E8C6-8D3A-478C-F31C23997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292469" y="449185"/>
              <a:ext cx="712905" cy="437889"/>
            </a:xfrm>
            <a:prstGeom prst="rect">
              <a:avLst/>
            </a:prstGeom>
            <a:grpFill/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884305D5-3EC3-4EA9-3DF8-45D32674A13F}"/>
              </a:ext>
            </a:extLst>
          </p:cNvPr>
          <p:cNvSpPr txBox="1"/>
          <p:nvPr/>
        </p:nvSpPr>
        <p:spPr>
          <a:xfrm>
            <a:off x="930991" y="5814318"/>
            <a:ext cx="80504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Operators that are not supported yet are redirected to x86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Rule #3…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L" sz="240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29CD5EB-5189-BCFF-DA52-493E0CF6A781}"/>
              </a:ext>
            </a:extLst>
          </p:cNvPr>
          <p:cNvSpPr/>
          <p:nvPr/>
        </p:nvSpPr>
        <p:spPr>
          <a:xfrm>
            <a:off x="1268019" y="2461081"/>
            <a:ext cx="7650928" cy="21620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8" name="Graphic 97">
            <a:extLst>
              <a:ext uri="{FF2B5EF4-FFF2-40B4-BE49-F238E27FC236}">
                <a16:creationId xmlns:a16="http://schemas.microsoft.com/office/drawing/2014/main" id="{AFC6CDFB-FE5E-614C-AC2F-1EEEA0A66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3383" y="1619438"/>
            <a:ext cx="12763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966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42D3-B030-11D6-B575-5C336F9E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B40B0-2694-2002-4C11-A0CDF70D1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challenge in HW/SW co-design: Don’t break user code!</a:t>
            </a:r>
          </a:p>
          <a:p>
            <a:endParaRPr lang="en-US" dirty="0"/>
          </a:p>
          <a:p>
            <a:r>
              <a:rPr lang="en-US" dirty="0"/>
              <a:t>Dominant accelerator design paradigms:</a:t>
            </a:r>
          </a:p>
          <a:p>
            <a:pPr lvl="1"/>
            <a:r>
              <a:rPr lang="en-US" dirty="0"/>
              <a:t>Systolic arrays (for matrix multiplication)</a:t>
            </a:r>
          </a:p>
          <a:p>
            <a:pPr lvl="1"/>
            <a:r>
              <a:rPr lang="en-US" dirty="0"/>
              <a:t>Coarse-grain reconfigurable arrays (CGRA)</a:t>
            </a:r>
          </a:p>
          <a:p>
            <a:pPr lvl="2"/>
            <a:r>
              <a:rPr lang="en-US" dirty="0"/>
              <a:t>And the general dataflow model</a:t>
            </a:r>
          </a:p>
          <a:p>
            <a:pPr lvl="2"/>
            <a:endParaRPr lang="en-US" dirty="0"/>
          </a:p>
          <a:p>
            <a:r>
              <a:rPr lang="en-US" dirty="0"/>
              <a:t>Two case studies:</a:t>
            </a:r>
          </a:p>
          <a:p>
            <a:pPr lvl="1"/>
            <a:r>
              <a:rPr lang="en-US" dirty="0"/>
              <a:t>Google TPU: Catapulted Google’s AI efforts</a:t>
            </a:r>
          </a:p>
          <a:p>
            <a:pPr lvl="1"/>
            <a:r>
              <a:rPr lang="en-US" dirty="0" err="1"/>
              <a:t>Speedata</a:t>
            </a:r>
            <a:r>
              <a:rPr lang="en-US" dirty="0"/>
              <a:t> APU: Commercial CGRA for data analytics</a:t>
            </a:r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A3B2-CC45-01F1-5AEA-BAF7050E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96C83-8974-F23B-C589-0677961D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029107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33DEFB-7114-4065-6E31-F45051E1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</a:t>
            </a:r>
            <a:br>
              <a:rPr lang="en-US"/>
            </a:br>
            <a:br>
              <a:rPr lang="en-US"/>
            </a:br>
            <a:r>
              <a:rPr lang="en-US"/>
              <a:t>Questions?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02241-2CF0-23B3-5404-BB7C493F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25C87-034F-F3CC-D3D3-600C4682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788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23114</TotalTime>
  <Words>2813</Words>
  <Application>Microsoft Office PowerPoint</Application>
  <PresentationFormat>Widescreen</PresentationFormat>
  <Paragraphs>643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Courier New</vt:lpstr>
      <vt:lpstr>HelveticaNeue Regular</vt:lpstr>
      <vt:lpstr>Rajdhani SemiBold</vt:lpstr>
      <vt:lpstr>Source Sans Pro</vt:lpstr>
      <vt:lpstr>Office Theme</vt:lpstr>
      <vt:lpstr>Accelerator Design Patterns</vt:lpstr>
      <vt:lpstr>How do accelerators work?</vt:lpstr>
      <vt:lpstr>HW/SW interface for accelerators</vt:lpstr>
      <vt:lpstr>HW design patterns</vt:lpstr>
      <vt:lpstr>Systolic arrays</vt:lpstr>
      <vt:lpstr>Systolic arrays</vt:lpstr>
      <vt:lpstr>Systolic arrays</vt:lpstr>
      <vt:lpstr>Systolic arrays</vt:lpstr>
      <vt:lpstr>Dataflow </vt:lpstr>
      <vt:lpstr>Static vs. dynamic dataflow</vt:lpstr>
      <vt:lpstr>Static vs. dynamic dataflow</vt:lpstr>
      <vt:lpstr>Static vs. dynamic dataflow</vt:lpstr>
      <vt:lpstr>Dataflow circuits</vt:lpstr>
      <vt:lpstr>Dataflow limitations</vt:lpstr>
      <vt:lpstr>Case Study: TPU</vt:lpstr>
      <vt:lpstr>Google TPU</vt:lpstr>
      <vt:lpstr>Why matrix multiplication?</vt:lpstr>
      <vt:lpstr>Why matrix multiplication?</vt:lpstr>
      <vt:lpstr>TPU’s systolic array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TPU’s systolic array limitation</vt:lpstr>
      <vt:lpstr>TPU block diagram</vt:lpstr>
      <vt:lpstr>TPU gen1 </vt:lpstr>
      <vt:lpstr>TPU: Area distribution</vt:lpstr>
      <vt:lpstr>TPU: Power benefits</vt:lpstr>
      <vt:lpstr>TPU: Design space exploration</vt:lpstr>
      <vt:lpstr>TPU: HW/SW interface</vt:lpstr>
      <vt:lpstr>TPU: HW/SW interface</vt:lpstr>
      <vt:lpstr>Scaling out newer generations: TPUv3</vt:lpstr>
      <vt:lpstr>Scaling out newer generations: TPUv3</vt:lpstr>
      <vt:lpstr>Scaling out newer generations: TPUv5</vt:lpstr>
      <vt:lpstr>Case Study: APU</vt:lpstr>
      <vt:lpstr>APU</vt:lpstr>
      <vt:lpstr>A dataflow CGRA</vt:lpstr>
      <vt:lpstr>A dataflow CGRA</vt:lpstr>
      <vt:lpstr>Programming the CGRA: CUDA-like parallelism</vt:lpstr>
      <vt:lpstr>Branches</vt:lpstr>
      <vt:lpstr>Branches: GPU</vt:lpstr>
      <vt:lpstr>Branches: APU</vt:lpstr>
      <vt:lpstr>The dataflow memory challenge</vt:lpstr>
      <vt:lpstr>The dataflow memory challenge</vt:lpstr>
      <vt:lpstr>Speedata: What is data analytics and why go there? </vt:lpstr>
      <vt:lpstr>Mapping SQL to multiple CGRAs in the APU Filter + JOIN + GROUPBY by example</vt:lpstr>
      <vt:lpstr>APU: HW/SW interface</vt:lpstr>
      <vt:lpstr>Integration with software ecosystem </vt:lpstr>
      <vt:lpstr>Summary</vt:lpstr>
      <vt:lpstr>Thank you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2025-03-20T10:33:10Z</dcterms:created>
  <dcterms:modified xsi:type="dcterms:W3CDTF">2026-05-31T15:41:20Z</dcterms:modified>
</cp:coreProperties>
</file>