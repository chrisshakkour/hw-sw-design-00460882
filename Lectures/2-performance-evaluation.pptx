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259" r:id="rId3"/>
    <p:sldId id="257" r:id="rId4"/>
    <p:sldId id="260" r:id="rId5"/>
    <p:sldId id="261" r:id="rId6"/>
    <p:sldId id="262" r:id="rId7"/>
    <p:sldId id="268" r:id="rId8"/>
    <p:sldId id="264" r:id="rId9"/>
    <p:sldId id="263" r:id="rId10"/>
    <p:sldId id="297" r:id="rId11"/>
    <p:sldId id="269" r:id="rId12"/>
    <p:sldId id="270" r:id="rId13"/>
    <p:sldId id="272" r:id="rId14"/>
    <p:sldId id="265" r:id="rId15"/>
    <p:sldId id="266" r:id="rId16"/>
    <p:sldId id="267" r:id="rId17"/>
    <p:sldId id="276" r:id="rId18"/>
    <p:sldId id="279" r:id="rId19"/>
    <p:sldId id="278" r:id="rId20"/>
    <p:sldId id="280" r:id="rId21"/>
    <p:sldId id="273" r:id="rId22"/>
    <p:sldId id="281" r:id="rId23"/>
    <p:sldId id="274" r:id="rId24"/>
    <p:sldId id="275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0" r:id="rId33"/>
    <p:sldId id="289" r:id="rId34"/>
    <p:sldId id="291" r:id="rId35"/>
    <p:sldId id="292" r:id="rId36"/>
    <p:sldId id="293" r:id="rId37"/>
    <p:sldId id="294" r:id="rId38"/>
    <p:sldId id="296" r:id="rId39"/>
    <p:sldId id="295" r:id="rId4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9BC766-66A1-453F-9A68-A5E8560C6826}" v="120" dt="2026-04-19T16:33:31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4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av Etsion" userId="6817d923-c30e-4d6b-be87-a47c131a91a7" providerId="ADAL" clId="{687D8E6A-57AF-45AE-B177-36E0AC6490D8}"/>
    <pc:docChg chg="undo custSel modSld">
      <pc:chgData name="Yoav Etsion" userId="6817d923-c30e-4d6b-be87-a47c131a91a7" providerId="ADAL" clId="{687D8E6A-57AF-45AE-B177-36E0AC6490D8}" dt="2026-04-19T16:33:31.033" v="1490" actId="20577"/>
      <pc:docMkLst>
        <pc:docMk/>
      </pc:docMkLst>
      <pc:sldChg chg="modSp mod">
        <pc:chgData name="Yoav Etsion" userId="6817d923-c30e-4d6b-be87-a47c131a91a7" providerId="ADAL" clId="{687D8E6A-57AF-45AE-B177-36E0AC6490D8}" dt="2026-04-19T15:44:35.311" v="0" actId="20577"/>
        <pc:sldMkLst>
          <pc:docMk/>
          <pc:sldMk cId="3917138721" sldId="263"/>
        </pc:sldMkLst>
        <pc:spChg chg="mod">
          <ac:chgData name="Yoav Etsion" userId="6817d923-c30e-4d6b-be87-a47c131a91a7" providerId="ADAL" clId="{687D8E6A-57AF-45AE-B177-36E0AC6490D8}" dt="2026-04-19T15:44:35.311" v="0" actId="20577"/>
          <ac:spMkLst>
            <pc:docMk/>
            <pc:sldMk cId="3917138721" sldId="263"/>
            <ac:spMk id="3" creationId="{17A72F17-3F3C-133C-2D7B-008A5C103B8A}"/>
          </ac:spMkLst>
        </pc:spChg>
      </pc:sldChg>
      <pc:sldChg chg="addSp delSp modSp mod">
        <pc:chgData name="Yoav Etsion" userId="6817d923-c30e-4d6b-be87-a47c131a91a7" providerId="ADAL" clId="{687D8E6A-57AF-45AE-B177-36E0AC6490D8}" dt="2026-04-19T16:08:30.053" v="906" actId="5793"/>
        <pc:sldMkLst>
          <pc:docMk/>
          <pc:sldMk cId="3816164269" sldId="270"/>
        </pc:sldMkLst>
        <pc:spChg chg="mod">
          <ac:chgData name="Yoav Etsion" userId="6817d923-c30e-4d6b-be87-a47c131a91a7" providerId="ADAL" clId="{687D8E6A-57AF-45AE-B177-36E0AC6490D8}" dt="2026-04-19T16:08:30.053" v="906" actId="5793"/>
          <ac:spMkLst>
            <pc:docMk/>
            <pc:sldMk cId="3816164269" sldId="270"/>
            <ac:spMk id="3" creationId="{0620D24C-1B91-4ACC-111F-DC251E43BA49}"/>
          </ac:spMkLst>
        </pc:spChg>
        <pc:spChg chg="add mod">
          <ac:chgData name="Yoav Etsion" userId="6817d923-c30e-4d6b-be87-a47c131a91a7" providerId="ADAL" clId="{687D8E6A-57AF-45AE-B177-36E0AC6490D8}" dt="2026-04-19T16:08:10.530" v="898"/>
          <ac:spMkLst>
            <pc:docMk/>
            <pc:sldMk cId="3816164269" sldId="270"/>
            <ac:spMk id="8" creationId="{60132699-83CD-3012-2EC6-C060FCC70113}"/>
          </ac:spMkLst>
        </pc:spChg>
        <pc:spChg chg="del">
          <ac:chgData name="Yoav Etsion" userId="6817d923-c30e-4d6b-be87-a47c131a91a7" providerId="ADAL" clId="{687D8E6A-57AF-45AE-B177-36E0AC6490D8}" dt="2026-04-19T16:08:05.919" v="895" actId="478"/>
          <ac:spMkLst>
            <pc:docMk/>
            <pc:sldMk cId="3816164269" sldId="270"/>
            <ac:spMk id="13" creationId="{EA2A24DE-F010-B8FC-707F-08AF8A519BE3}"/>
          </ac:spMkLst>
        </pc:spChg>
        <pc:spChg chg="del mod">
          <ac:chgData name="Yoav Etsion" userId="6817d923-c30e-4d6b-be87-a47c131a91a7" providerId="ADAL" clId="{687D8E6A-57AF-45AE-B177-36E0AC6490D8}" dt="2026-04-19T16:08:09.897" v="897" actId="478"/>
          <ac:spMkLst>
            <pc:docMk/>
            <pc:sldMk cId="3816164269" sldId="270"/>
            <ac:spMk id="15" creationId="{95650845-697A-7BA3-A885-E4B66F7A9A01}"/>
          </ac:spMkLst>
        </pc:spChg>
        <pc:spChg chg="add mod">
          <ac:chgData name="Yoav Etsion" userId="6817d923-c30e-4d6b-be87-a47c131a91a7" providerId="ADAL" clId="{687D8E6A-57AF-45AE-B177-36E0AC6490D8}" dt="2026-04-19T16:08:10.530" v="898"/>
          <ac:spMkLst>
            <pc:docMk/>
            <pc:sldMk cId="3816164269" sldId="270"/>
            <ac:spMk id="17" creationId="{B057BAF5-74AE-5056-B4E8-4C232EC75B55}"/>
          </ac:spMkLst>
        </pc:spChg>
      </pc:sldChg>
      <pc:sldChg chg="addSp modSp mod">
        <pc:chgData name="Yoav Etsion" userId="6817d923-c30e-4d6b-be87-a47c131a91a7" providerId="ADAL" clId="{687D8E6A-57AF-45AE-B177-36E0AC6490D8}" dt="2026-04-19T16:15:34.264" v="1104" actId="1076"/>
        <pc:sldMkLst>
          <pc:docMk/>
          <pc:sldMk cId="316327516" sldId="274"/>
        </pc:sldMkLst>
        <pc:spChg chg="add mod">
          <ac:chgData name="Yoav Etsion" userId="6817d923-c30e-4d6b-be87-a47c131a91a7" providerId="ADAL" clId="{687D8E6A-57AF-45AE-B177-36E0AC6490D8}" dt="2026-04-19T16:14:20.535" v="968" actId="1035"/>
          <ac:spMkLst>
            <pc:docMk/>
            <pc:sldMk cId="316327516" sldId="274"/>
            <ac:spMk id="3" creationId="{A21D5304-D924-B0B5-1FBE-A332E0B1F313}"/>
          </ac:spMkLst>
        </pc:spChg>
        <pc:spChg chg="add mod">
          <ac:chgData name="Yoav Etsion" userId="6817d923-c30e-4d6b-be87-a47c131a91a7" providerId="ADAL" clId="{687D8E6A-57AF-45AE-B177-36E0AC6490D8}" dt="2026-04-19T16:15:34.264" v="1104" actId="1076"/>
          <ac:spMkLst>
            <pc:docMk/>
            <pc:sldMk cId="316327516" sldId="274"/>
            <ac:spMk id="6" creationId="{26EEFD46-76B8-F837-E2A0-8037A54913B9}"/>
          </ac:spMkLst>
        </pc:spChg>
      </pc:sldChg>
      <pc:sldChg chg="addSp modSp mod">
        <pc:chgData name="Yoav Etsion" userId="6817d923-c30e-4d6b-be87-a47c131a91a7" providerId="ADAL" clId="{687D8E6A-57AF-45AE-B177-36E0AC6490D8}" dt="2026-04-19T16:17:07.164" v="1193" actId="1076"/>
        <pc:sldMkLst>
          <pc:docMk/>
          <pc:sldMk cId="838817025" sldId="275"/>
        </pc:sldMkLst>
        <pc:spChg chg="mod">
          <ac:chgData name="Yoav Etsion" userId="6817d923-c30e-4d6b-be87-a47c131a91a7" providerId="ADAL" clId="{687D8E6A-57AF-45AE-B177-36E0AC6490D8}" dt="2026-04-19T16:16:58.769" v="1191" actId="1076"/>
          <ac:spMkLst>
            <pc:docMk/>
            <pc:sldMk cId="838817025" sldId="275"/>
            <ac:spMk id="9" creationId="{CFF0957B-53D1-D67F-1AA3-5C706EF86B94}"/>
          </ac:spMkLst>
        </pc:spChg>
        <pc:spChg chg="add mod">
          <ac:chgData name="Yoav Etsion" userId="6817d923-c30e-4d6b-be87-a47c131a91a7" providerId="ADAL" clId="{687D8E6A-57AF-45AE-B177-36E0AC6490D8}" dt="2026-04-19T16:17:07.164" v="1193" actId="1076"/>
          <ac:spMkLst>
            <pc:docMk/>
            <pc:sldMk cId="838817025" sldId="275"/>
            <ac:spMk id="10" creationId="{6C52AF6A-E16F-F83E-ECC0-51A461D81BFD}"/>
          </ac:spMkLst>
        </pc:spChg>
      </pc:sldChg>
      <pc:sldChg chg="modSp">
        <pc:chgData name="Yoav Etsion" userId="6817d923-c30e-4d6b-be87-a47c131a91a7" providerId="ADAL" clId="{687D8E6A-57AF-45AE-B177-36E0AC6490D8}" dt="2026-04-19T16:11:19.645" v="936" actId="20577"/>
        <pc:sldMkLst>
          <pc:docMk/>
          <pc:sldMk cId="2100754972" sldId="278"/>
        </pc:sldMkLst>
        <pc:spChg chg="mod">
          <ac:chgData name="Yoav Etsion" userId="6817d923-c30e-4d6b-be87-a47c131a91a7" providerId="ADAL" clId="{687D8E6A-57AF-45AE-B177-36E0AC6490D8}" dt="2026-04-19T16:11:19.645" v="936" actId="20577"/>
          <ac:spMkLst>
            <pc:docMk/>
            <pc:sldMk cId="2100754972" sldId="278"/>
            <ac:spMk id="3" creationId="{1E408028-285C-153D-E55A-04321E9B9E02}"/>
          </ac:spMkLst>
        </pc:spChg>
      </pc:sldChg>
      <pc:sldChg chg="modSp mod">
        <pc:chgData name="Yoav Etsion" userId="6817d923-c30e-4d6b-be87-a47c131a91a7" providerId="ADAL" clId="{687D8E6A-57AF-45AE-B177-36E0AC6490D8}" dt="2026-04-19T16:10:26.445" v="912" actId="6549"/>
        <pc:sldMkLst>
          <pc:docMk/>
          <pc:sldMk cId="325873041" sldId="279"/>
        </pc:sldMkLst>
        <pc:spChg chg="mod">
          <ac:chgData name="Yoav Etsion" userId="6817d923-c30e-4d6b-be87-a47c131a91a7" providerId="ADAL" clId="{687D8E6A-57AF-45AE-B177-36E0AC6490D8}" dt="2026-04-19T16:10:26.445" v="912" actId="6549"/>
          <ac:spMkLst>
            <pc:docMk/>
            <pc:sldMk cId="325873041" sldId="279"/>
            <ac:spMk id="3" creationId="{81F11F05-CB29-7C6D-E6C8-091550CAD38D}"/>
          </ac:spMkLst>
        </pc:spChg>
      </pc:sldChg>
      <pc:sldChg chg="modSp mod">
        <pc:chgData name="Yoav Etsion" userId="6817d923-c30e-4d6b-be87-a47c131a91a7" providerId="ADAL" clId="{687D8E6A-57AF-45AE-B177-36E0AC6490D8}" dt="2026-04-19T16:22:01.526" v="1200" actId="20577"/>
        <pc:sldMkLst>
          <pc:docMk/>
          <pc:sldMk cId="2311380030" sldId="291"/>
        </pc:sldMkLst>
        <pc:spChg chg="mod">
          <ac:chgData name="Yoav Etsion" userId="6817d923-c30e-4d6b-be87-a47c131a91a7" providerId="ADAL" clId="{687D8E6A-57AF-45AE-B177-36E0AC6490D8}" dt="2026-04-19T16:22:01.526" v="1200" actId="20577"/>
          <ac:spMkLst>
            <pc:docMk/>
            <pc:sldMk cId="2311380030" sldId="291"/>
            <ac:spMk id="3" creationId="{7C3D6CFA-02E8-4A47-ECCA-35480FBCA82F}"/>
          </ac:spMkLst>
        </pc:spChg>
      </pc:sldChg>
      <pc:sldChg chg="addSp delSp modSp mod">
        <pc:chgData name="Yoav Etsion" userId="6817d923-c30e-4d6b-be87-a47c131a91a7" providerId="ADAL" clId="{687D8E6A-57AF-45AE-B177-36E0AC6490D8}" dt="2026-04-19T16:31:18.893" v="1445" actId="403"/>
        <pc:sldMkLst>
          <pc:docMk/>
          <pc:sldMk cId="3086590094" sldId="292"/>
        </pc:sldMkLst>
        <pc:spChg chg="add del">
          <ac:chgData name="Yoav Etsion" userId="6817d923-c30e-4d6b-be87-a47c131a91a7" providerId="ADAL" clId="{687D8E6A-57AF-45AE-B177-36E0AC6490D8}" dt="2026-04-19T16:31:01.194" v="1439" actId="478"/>
          <ac:spMkLst>
            <pc:docMk/>
            <pc:sldMk cId="3086590094" sldId="292"/>
            <ac:spMk id="6" creationId="{E7D1C9FC-5A99-F61D-B35A-CF268CC53D21}"/>
          </ac:spMkLst>
        </pc:spChg>
        <pc:spChg chg="add mod">
          <ac:chgData name="Yoav Etsion" userId="6817d923-c30e-4d6b-be87-a47c131a91a7" providerId="ADAL" clId="{687D8E6A-57AF-45AE-B177-36E0AC6490D8}" dt="2026-04-19T16:31:18.893" v="1445" actId="403"/>
          <ac:spMkLst>
            <pc:docMk/>
            <pc:sldMk cId="3086590094" sldId="292"/>
            <ac:spMk id="7" creationId="{439F31DC-6B72-E62D-71F0-B32973738ACA}"/>
          </ac:spMkLst>
        </pc:spChg>
        <pc:spChg chg="mod">
          <ac:chgData name="Yoav Etsion" userId="6817d923-c30e-4d6b-be87-a47c131a91a7" providerId="ADAL" clId="{687D8E6A-57AF-45AE-B177-36E0AC6490D8}" dt="2026-04-19T16:23:44.664" v="1301" actId="1037"/>
          <ac:spMkLst>
            <pc:docMk/>
            <pc:sldMk cId="3086590094" sldId="292"/>
            <ac:spMk id="12" creationId="{031A4ECB-7BD5-F933-D9E8-66E7098B05F0}"/>
          </ac:spMkLst>
        </pc:spChg>
        <pc:spChg chg="mod">
          <ac:chgData name="Yoav Etsion" userId="6817d923-c30e-4d6b-be87-a47c131a91a7" providerId="ADAL" clId="{687D8E6A-57AF-45AE-B177-36E0AC6490D8}" dt="2026-04-19T16:30:24.905" v="1419" actId="1036"/>
          <ac:spMkLst>
            <pc:docMk/>
            <pc:sldMk cId="3086590094" sldId="292"/>
            <ac:spMk id="13" creationId="{F89F4B60-A84C-E53C-8048-F1A12DB6304C}"/>
          </ac:spMkLst>
        </pc:spChg>
        <pc:picChg chg="mod">
          <ac:chgData name="Yoav Etsion" userId="6817d923-c30e-4d6b-be87-a47c131a91a7" providerId="ADAL" clId="{687D8E6A-57AF-45AE-B177-36E0AC6490D8}" dt="2026-04-19T16:23:18.101" v="1233" actId="1035"/>
          <ac:picMkLst>
            <pc:docMk/>
            <pc:sldMk cId="3086590094" sldId="292"/>
            <ac:picMk id="9" creationId="{52905E92-C794-D9B5-C274-4BBECDA43EED}"/>
          </ac:picMkLst>
        </pc:picChg>
      </pc:sldChg>
      <pc:sldChg chg="addSp delSp modSp mod modAnim">
        <pc:chgData name="Yoav Etsion" userId="6817d923-c30e-4d6b-be87-a47c131a91a7" providerId="ADAL" clId="{687D8E6A-57AF-45AE-B177-36E0AC6490D8}" dt="2026-04-19T16:33:31.033" v="1490" actId="20577"/>
        <pc:sldMkLst>
          <pc:docMk/>
          <pc:sldMk cId="3386094648" sldId="293"/>
        </pc:sldMkLst>
        <pc:spChg chg="add mod ord">
          <ac:chgData name="Yoav Etsion" userId="6817d923-c30e-4d6b-be87-a47c131a91a7" providerId="ADAL" clId="{687D8E6A-57AF-45AE-B177-36E0AC6490D8}" dt="2026-04-19T16:25:03.405" v="1325" actId="167"/>
          <ac:spMkLst>
            <pc:docMk/>
            <pc:sldMk cId="3386094648" sldId="293"/>
            <ac:spMk id="7" creationId="{5B2E5FF0-2925-1DDB-B3CE-876BDD4EB769}"/>
          </ac:spMkLst>
        </pc:spChg>
        <pc:spChg chg="add mod">
          <ac:chgData name="Yoav Etsion" userId="6817d923-c30e-4d6b-be87-a47c131a91a7" providerId="ADAL" clId="{687D8E6A-57AF-45AE-B177-36E0AC6490D8}" dt="2026-04-19T16:30:32.927" v="1435" actId="1036"/>
          <ac:spMkLst>
            <pc:docMk/>
            <pc:sldMk cId="3386094648" sldId="293"/>
            <ac:spMk id="10" creationId="{997D8422-E279-1B3C-4EBA-F8A398727060}"/>
          </ac:spMkLst>
        </pc:spChg>
        <pc:spChg chg="add mod">
          <ac:chgData name="Yoav Etsion" userId="6817d923-c30e-4d6b-be87-a47c131a91a7" providerId="ADAL" clId="{687D8E6A-57AF-45AE-B177-36E0AC6490D8}" dt="2026-04-19T16:31:27.802" v="1446"/>
          <ac:spMkLst>
            <pc:docMk/>
            <pc:sldMk cId="3386094648" sldId="293"/>
            <ac:spMk id="11" creationId="{057EF86E-6C7B-29E6-75D5-B48140C16B70}"/>
          </ac:spMkLst>
        </pc:spChg>
        <pc:spChg chg="mod">
          <ac:chgData name="Yoav Etsion" userId="6817d923-c30e-4d6b-be87-a47c131a91a7" providerId="ADAL" clId="{687D8E6A-57AF-45AE-B177-36E0AC6490D8}" dt="2026-04-19T16:33:23.012" v="1485" actId="1038"/>
          <ac:spMkLst>
            <pc:docMk/>
            <pc:sldMk cId="3386094648" sldId="293"/>
            <ac:spMk id="18" creationId="{082DF301-744D-B9E3-9082-F7E2EB1227A6}"/>
          </ac:spMkLst>
        </pc:spChg>
        <pc:spChg chg="mod">
          <ac:chgData name="Yoav Etsion" userId="6817d923-c30e-4d6b-be87-a47c131a91a7" providerId="ADAL" clId="{687D8E6A-57AF-45AE-B177-36E0AC6490D8}" dt="2026-04-19T16:33:31.033" v="1490" actId="20577"/>
          <ac:spMkLst>
            <pc:docMk/>
            <pc:sldMk cId="3386094648" sldId="293"/>
            <ac:spMk id="19" creationId="{97238851-D895-E247-9024-CB1109AE8EA4}"/>
          </ac:spMkLst>
        </pc:spChg>
        <pc:spChg chg="del">
          <ac:chgData name="Yoav Etsion" userId="6817d923-c30e-4d6b-be87-a47c131a91a7" providerId="ADAL" clId="{687D8E6A-57AF-45AE-B177-36E0AC6490D8}" dt="2026-04-19T16:24:56.618" v="1323" actId="478"/>
          <ac:spMkLst>
            <pc:docMk/>
            <pc:sldMk cId="3386094648" sldId="293"/>
            <ac:spMk id="20" creationId="{1CB15ED4-9AFC-8EB5-D57C-9F871530C91D}"/>
          </ac:spMkLst>
        </pc:spChg>
        <pc:spChg chg="del mod">
          <ac:chgData name="Yoav Etsion" userId="6817d923-c30e-4d6b-be87-a47c131a91a7" providerId="ADAL" clId="{687D8E6A-57AF-45AE-B177-36E0AC6490D8}" dt="2026-04-19T16:24:54.242" v="1322" actId="478"/>
          <ac:spMkLst>
            <pc:docMk/>
            <pc:sldMk cId="3386094648" sldId="293"/>
            <ac:spMk id="21" creationId="{EE9A3D13-89F6-8F9D-2338-36AD6F7A63E4}"/>
          </ac:spMkLst>
        </pc:spChg>
        <pc:picChg chg="add mod ord">
          <ac:chgData name="Yoav Etsion" userId="6817d923-c30e-4d6b-be87-a47c131a91a7" providerId="ADAL" clId="{687D8E6A-57AF-45AE-B177-36E0AC6490D8}" dt="2026-04-19T16:25:03.405" v="1325" actId="167"/>
          <ac:picMkLst>
            <pc:docMk/>
            <pc:sldMk cId="3386094648" sldId="293"/>
            <ac:picMk id="3" creationId="{B818BCD0-9F09-5ADE-A075-737426C39F26}"/>
          </ac:picMkLst>
        </pc:picChg>
        <pc:picChg chg="del">
          <ac:chgData name="Yoav Etsion" userId="6817d923-c30e-4d6b-be87-a47c131a91a7" providerId="ADAL" clId="{687D8E6A-57AF-45AE-B177-36E0AC6490D8}" dt="2026-04-19T16:24:50.055" v="1320" actId="478"/>
          <ac:picMkLst>
            <pc:docMk/>
            <pc:sldMk cId="3386094648" sldId="293"/>
            <ac:picMk id="16" creationId="{E7507E4E-2B11-9009-F425-0A4D4E29DB82}"/>
          </ac:picMkLst>
        </pc:picChg>
        <pc:cxnChg chg="mod">
          <ac:chgData name="Yoav Etsion" userId="6817d923-c30e-4d6b-be87-a47c131a91a7" providerId="ADAL" clId="{687D8E6A-57AF-45AE-B177-36E0AC6490D8}" dt="2026-04-19T16:25:34.857" v="1385" actId="692"/>
          <ac:cxnSpMkLst>
            <pc:docMk/>
            <pc:sldMk cId="3386094648" sldId="293"/>
            <ac:cxnSpMk id="6" creationId="{F81A3FFB-D5B0-0E04-B094-5A1881ACC675}"/>
          </ac:cxnSpMkLst>
        </pc:cxnChg>
        <pc:cxnChg chg="mod">
          <ac:chgData name="Yoav Etsion" userId="6817d923-c30e-4d6b-be87-a47c131a91a7" providerId="ADAL" clId="{687D8E6A-57AF-45AE-B177-36E0AC6490D8}" dt="2026-04-19T16:25:34.857" v="1385" actId="692"/>
          <ac:cxnSpMkLst>
            <pc:docMk/>
            <pc:sldMk cId="3386094648" sldId="293"/>
            <ac:cxnSpMk id="8" creationId="{9D6CA4F6-78F9-3C1E-C45F-DF438AE65B74}"/>
          </ac:cxnSpMkLst>
        </pc:cxnChg>
      </pc:sldChg>
      <pc:sldChg chg="addSp delSp modSp mod">
        <pc:chgData name="Yoav Etsion" userId="6817d923-c30e-4d6b-be87-a47c131a91a7" providerId="ADAL" clId="{687D8E6A-57AF-45AE-B177-36E0AC6490D8}" dt="2026-04-19T16:07:13.333" v="894" actId="20577"/>
        <pc:sldMkLst>
          <pc:docMk/>
          <pc:sldMk cId="715890401" sldId="297"/>
        </pc:sldMkLst>
        <pc:spChg chg="mod">
          <ac:chgData name="Yoav Etsion" userId="6817d923-c30e-4d6b-be87-a47c131a91a7" providerId="ADAL" clId="{687D8E6A-57AF-45AE-B177-36E0AC6490D8}" dt="2026-04-19T16:07:13.333" v="894" actId="20577"/>
          <ac:spMkLst>
            <pc:docMk/>
            <pc:sldMk cId="715890401" sldId="297"/>
            <ac:spMk id="3" creationId="{8A015DF5-014D-88D2-21F9-1AD72F6CE102}"/>
          </ac:spMkLst>
        </pc:spChg>
        <pc:spChg chg="add mod topLvl">
          <ac:chgData name="Yoav Etsion" userId="6817d923-c30e-4d6b-be87-a47c131a91a7" providerId="ADAL" clId="{687D8E6A-57AF-45AE-B177-36E0AC6490D8}" dt="2026-04-19T16:06:51.063" v="888" actId="338"/>
          <ac:spMkLst>
            <pc:docMk/>
            <pc:sldMk cId="715890401" sldId="297"/>
            <ac:spMk id="8" creationId="{A5B46806-EEBB-4066-CD38-2F666FE8E02C}"/>
          </ac:spMkLst>
        </pc:spChg>
        <pc:spChg chg="add mod">
          <ac:chgData name="Yoav Etsion" userId="6817d923-c30e-4d6b-be87-a47c131a91a7" providerId="ADAL" clId="{687D8E6A-57AF-45AE-B177-36E0AC6490D8}" dt="2026-04-19T16:06:28.856" v="886" actId="14100"/>
          <ac:spMkLst>
            <pc:docMk/>
            <pc:sldMk cId="715890401" sldId="297"/>
            <ac:spMk id="10" creationId="{F16B82CE-3B61-FB35-9200-70B357F58C74}"/>
          </ac:spMkLst>
        </pc:spChg>
        <pc:grpChg chg="add del mod">
          <ac:chgData name="Yoav Etsion" userId="6817d923-c30e-4d6b-be87-a47c131a91a7" providerId="ADAL" clId="{687D8E6A-57AF-45AE-B177-36E0AC6490D8}" dt="2026-04-19T16:06:38.896" v="887" actId="165"/>
          <ac:grpSpMkLst>
            <pc:docMk/>
            <pc:sldMk cId="715890401" sldId="297"/>
            <ac:grpSpMk id="9" creationId="{A9EA58CA-4217-41A5-0CD1-C90DB143216E}"/>
          </ac:grpSpMkLst>
        </pc:grpChg>
        <pc:grpChg chg="add mod">
          <ac:chgData name="Yoav Etsion" userId="6817d923-c30e-4d6b-be87-a47c131a91a7" providerId="ADAL" clId="{687D8E6A-57AF-45AE-B177-36E0AC6490D8}" dt="2026-04-19T16:06:51.063" v="888" actId="338"/>
          <ac:grpSpMkLst>
            <pc:docMk/>
            <pc:sldMk cId="715890401" sldId="297"/>
            <ac:grpSpMk id="11" creationId="{775C74CE-3C15-F1D8-5A41-2539632B0420}"/>
          </ac:grpSpMkLst>
        </pc:grpChg>
        <pc:picChg chg="add mod topLvl">
          <ac:chgData name="Yoav Etsion" userId="6817d923-c30e-4d6b-be87-a47c131a91a7" providerId="ADAL" clId="{687D8E6A-57AF-45AE-B177-36E0AC6490D8}" dt="2026-04-19T16:06:51.063" v="888" actId="338"/>
          <ac:picMkLst>
            <pc:docMk/>
            <pc:sldMk cId="715890401" sldId="297"/>
            <ac:picMk id="7" creationId="{ACB77F56-D5D6-AD64-B1C4-215322A5E1B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0706D-918D-40D4-AB56-D905264A97A2}" type="datetimeFigureOut">
              <a:rPr lang="en-IL" smtClean="0"/>
              <a:t>19/04/2026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00DA0-B09A-4B1E-A976-B5CA6AE4163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521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0AAE-C72B-A4AE-9E09-A4F4AA61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55BFF-969A-2343-38F5-7F3CDC946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6888C64-DF02-80A3-F18A-3B044661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D92455-BD50-2E5E-3C5C-E463B43A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3BC2F51-D5C7-9AF1-3B66-90A715A6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5083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BFA3-5D52-EDD5-7282-4798E34B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91D7B-E466-6DF4-7347-D0435C99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F19EE44-3524-1645-E735-26E60E9E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1EE952B-0D34-8C33-1DA9-74062F9A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73A26AE-074D-75D6-D7B1-18FC1F29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8290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16B7-A5E9-C1A1-D40A-45CCFF53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95AC6-BAA5-907F-298B-21E2DE690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DA6B36A-CA1E-1A3B-05FB-96918B9D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142F3F1-3B8B-CB9F-A746-2619B931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3585D94-8C0D-746C-7FC2-A29E58D8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8040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FD71-857F-8F28-8198-68818BD0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30F2-7392-B2F1-BB58-6C1C56C82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CF7C4-E529-C1AB-85CF-44F24940B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581B15D-4F72-8297-E394-12F7A538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7F0B058-F855-75B2-1843-04B368EA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8F12C73-D7DC-FF51-C6D7-7D1667A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6315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BE20-BA00-706C-61EA-9174E307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9403-4C5E-3354-5C30-7D4E2925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D5139-909F-6B30-3FA7-969A0C119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4A7D5-B179-C674-6D5F-F4E4DFB17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F0444-D600-6215-2ADA-B26694475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A0602A0-01AD-FF9B-F7B2-D1498707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4BA96CB-BBA6-6A93-AC9D-AA166AEA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4E9F31C-D6E9-AB33-CBE9-370E42F4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4009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F1B8-3A4A-D5E3-729D-10C24A43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EF24AA7-E476-E26F-9F60-92086DAA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DF8AD36-04E6-BF32-A8FC-7305D459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F238118-9265-B874-CD9F-21F6E742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431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5ECDCC-7D89-091E-65CE-498FB266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C568ECC-FD4D-DCB0-296B-826E2B0C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E3DC3CB-A195-399D-930F-664F9106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5644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D7F3-5D4A-168E-36A4-1C307561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9E0C-AA3E-02E8-1C67-21ADBFC0F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6FD66-0C17-432B-383C-D06ECB0BD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771A27E-8E69-8A75-C5F1-D9954073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A8C14F3-490D-5ADD-7A7C-7563BC08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E428FA5-C5D1-87A4-4111-808AA3F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9451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A75F-FAFD-BF02-59AA-299A924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88E22-BC4D-21D5-DA0E-0AF1FECF4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06F6D-EAD6-92D7-6351-B54A98091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48695FE-02D2-98FF-14FB-3DFD9316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7891E57-D6C1-C04C-3001-D5E9B5D4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78774E6-7092-7366-98A2-6F62A51D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375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FA8A-8790-ADD8-00FD-80AF7ECB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3F95E-D280-39F8-2EDF-A5DC96382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F4D0463-7251-0765-5362-9F50EBBC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2A3BB21-D240-6C0E-3984-2B0FBF83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8A22F75-421A-68AC-CB9D-060C18F5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5104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A53B3-FC3E-EAC4-8B6B-8A9A6A1D4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A8611-A906-6FF4-A129-F79CC05E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0B80C7A-EC15-9F17-7DE7-8746CE0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5A8DADC-84C6-DDFC-FC63-C0B9A682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62A1489-95DA-675B-C7CC-6F5CB5E5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2496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96638-FD88-6646-70D6-5FD30DCB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F1199-8706-7CE9-4ED2-95917AB88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144B-36F4-A435-4A51-30BC3AA82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3A061-AF03-BE50-D5FA-4CB9F3D3E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C41B3-42FB-8EDD-632C-CB2237D75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 dirty="0"/>
              <a:t>00460882 </a:t>
            </a:r>
            <a:r>
              <a:rPr lang="en-US" dirty="0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6893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D095-6BC7-9E5A-AE81-0E40B914F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Intro to Performance Evaluation</a:t>
            </a:r>
            <a:endParaRPr lang="en-IL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2F5A9-0273-791C-8450-7DB78DF58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Yoav Etsion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0770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8BDD0-9614-F0CF-D063-587199A13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performance evaluation metrics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C9071-2AA0-1F9E-BA3A-8DB55F612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</a:t>
            </a:r>
          </a:p>
          <a:p>
            <a:r>
              <a:rPr lang="en-US" dirty="0"/>
              <a:t>Latency</a:t>
            </a:r>
          </a:p>
          <a:p>
            <a:r>
              <a:rPr lang="en-US" dirty="0"/>
              <a:t>Service time</a:t>
            </a:r>
            <a:endParaRPr lang="en-IL" dirty="0"/>
          </a:p>
          <a:p>
            <a:r>
              <a:rPr lang="en-US" dirty="0"/>
              <a:t>Processing time</a:t>
            </a:r>
          </a:p>
          <a:p>
            <a:r>
              <a:rPr lang="en-US" dirty="0"/>
              <a:t>Throughput</a:t>
            </a:r>
          </a:p>
          <a:p>
            <a:r>
              <a:rPr lang="en-US" dirty="0"/>
              <a:t>Arrival rate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94259-4C63-C2BE-CA2F-38A5B8CB2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82912-61A4-3D4D-5697-861CF5E9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441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FA9BF-936F-B515-B150-14A7E21C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 metrics together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DF0E0-A9BA-3A1E-8D26-CF36C1A83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05027" cy="4351338"/>
          </a:xfrm>
        </p:spPr>
        <p:txBody>
          <a:bodyPr/>
          <a:lstStyle/>
          <a:p>
            <a:r>
              <a:rPr lang="en-US" dirty="0"/>
              <a:t>Let’s examine how the metrics apply to two communicating agents</a:t>
            </a:r>
          </a:p>
          <a:p>
            <a:pPr lvl="1"/>
            <a:endParaRPr lang="en-US" dirty="0"/>
          </a:p>
          <a:p>
            <a:r>
              <a:rPr lang="en-US" dirty="0"/>
              <a:t>Agents can be anything</a:t>
            </a:r>
          </a:p>
          <a:p>
            <a:pPr lvl="1"/>
            <a:r>
              <a:rPr lang="en-US" dirty="0"/>
              <a:t>Software components (same/different hosts)</a:t>
            </a:r>
          </a:p>
          <a:p>
            <a:pPr lvl="1"/>
            <a:r>
              <a:rPr lang="en-US" dirty="0"/>
              <a:t>Networking</a:t>
            </a:r>
          </a:p>
          <a:p>
            <a:pPr lvl="1"/>
            <a:r>
              <a:rPr lang="en-US" dirty="0"/>
              <a:t>Processor &lt;-&gt; Memory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609BF-5AA9-D402-5E49-EA8E0D9C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14960-430C-A071-37D0-268FCE76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A569A5-08B6-6A2D-4FF0-5B682194E696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0AE2586-08AE-BB66-9FC3-562382E6E0C8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8AF8D4-285C-3065-68E0-9F2D3D56E02F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5720C19-9E30-61D4-541C-A7F67C3F8252}"/>
              </a:ext>
            </a:extLst>
          </p:cNvPr>
          <p:cNvSpPr txBox="1"/>
          <p:nvPr/>
        </p:nvSpPr>
        <p:spPr>
          <a:xfrm flipH="1">
            <a:off x="1020960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9F75BA-7066-6B2C-8B79-995F56B8DC19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49DBDC0-9477-94B7-05B0-1D9F181C2B23}"/>
              </a:ext>
            </a:extLst>
          </p:cNvPr>
          <p:cNvSpPr txBox="1"/>
          <p:nvPr/>
        </p:nvSpPr>
        <p:spPr>
          <a:xfrm flipH="1">
            <a:off x="788144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DDB772-813A-AAE7-05AC-110475C34F39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EF1C93-99FC-80C3-C3A0-C57ACBABAB08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5DC30F-C212-C444-AE86-7C19DEC5D353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455648-3EB8-5DF2-9A89-58BF20D8AD5D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B342BA-B681-A63E-67D9-598E8713BEAA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A23025-2621-F355-4EFD-214782006C1D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C0DBC5-C909-B675-E9F4-A2B88243781E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3145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260E-382D-0D57-EC8D-DE298FBCC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E8C81-2213-DA5E-1DF5-0EA9FD51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 metrics together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034AD-9588-8089-EC8C-2BBF27440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53047" cy="4351338"/>
          </a:xfrm>
        </p:spPr>
        <p:txBody>
          <a:bodyPr/>
          <a:lstStyle/>
          <a:p>
            <a:r>
              <a:rPr lang="en-US" b="1" i="1" dirty="0"/>
              <a:t>Latency</a:t>
            </a:r>
            <a:br>
              <a:rPr lang="en-US" dirty="0"/>
            </a:br>
            <a:r>
              <a:rPr lang="en-US" dirty="0"/>
              <a:t>The time it takes between sending the request until the response begins to arrive</a:t>
            </a:r>
          </a:p>
          <a:p>
            <a:pPr lvl="1"/>
            <a:r>
              <a:rPr lang="en-US" dirty="0"/>
              <a:t>E.g.,  Read work from memory 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5030E-34E1-53B3-4EF2-6FFFD7C1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E8B4F-70C9-0AD1-3EB8-F1D6B4C7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77E8EA-C5ED-B63D-C1DD-BC511AE572A9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329D397-4407-B4BF-0E19-87E40C299FBF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441179-B7FA-AEA9-9D5C-4FEE8CD0DF82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C168203-6254-6484-D963-A712D93749CE}"/>
              </a:ext>
            </a:extLst>
          </p:cNvPr>
          <p:cNvSpPr txBox="1"/>
          <p:nvPr/>
        </p:nvSpPr>
        <p:spPr>
          <a:xfrm flipH="1">
            <a:off x="1020960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18F533-D205-5E89-3341-C93A51C57AC9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B219BC5-B58D-857F-DC68-A20CE4E57EE8}"/>
              </a:ext>
            </a:extLst>
          </p:cNvPr>
          <p:cNvSpPr txBox="1"/>
          <p:nvPr/>
        </p:nvSpPr>
        <p:spPr>
          <a:xfrm flipH="1">
            <a:off x="788144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1409FA-A0DB-E3AA-38F7-A9A43C69F625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ECAFF4D-2910-E9A4-5BEB-1AA9A818CCA2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468D37-89C7-D69E-C059-C8EC67D8CDF5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E50504-9C11-A81A-5FE8-73E088D8AEA8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11A544-470D-A108-3F1D-C78235740F43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1AF0AB0-1F8A-6F9B-5AD2-0502F7F93FA6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CBC6F8-7C0E-4C66-7EDE-E35B9631D1C9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86F4131F-428A-B87E-33E1-7C33A88725A0}"/>
              </a:ext>
            </a:extLst>
          </p:cNvPr>
          <p:cNvSpPr/>
          <p:nvPr/>
        </p:nvSpPr>
        <p:spPr>
          <a:xfrm>
            <a:off x="7996803" y="1690688"/>
            <a:ext cx="224184" cy="164471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883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5986-DD2A-C741-043F-C6A3D2212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80112-7868-0CE4-4538-28CD104A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 metrics together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9EBF0-C223-A66B-F8C1-8E1DC3FF1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53047" cy="4351338"/>
          </a:xfrm>
        </p:spPr>
        <p:txBody>
          <a:bodyPr/>
          <a:lstStyle/>
          <a:p>
            <a:r>
              <a:rPr lang="en-US" b="1" i="1" dirty="0"/>
              <a:t>Processing time</a:t>
            </a:r>
            <a:br>
              <a:rPr lang="en-US" dirty="0"/>
            </a:br>
            <a:r>
              <a:rPr lang="en-US" dirty="0"/>
              <a:t>The time it takes for the receiving agent to process the request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98233-603C-B07E-CDE4-10F4BC145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584CA-B0E7-83F4-6190-68E52E368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1F9384-9BE4-F98B-D697-6A3A3FFFBED6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144EBD6-A33C-68FF-5A9C-492CB371B83A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5C7B85-BD3B-7300-746F-F9C0E5BEE663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072A28F-F906-2480-D834-FDAA56C9657F}"/>
              </a:ext>
            </a:extLst>
          </p:cNvPr>
          <p:cNvSpPr txBox="1"/>
          <p:nvPr/>
        </p:nvSpPr>
        <p:spPr>
          <a:xfrm flipH="1">
            <a:off x="1020960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1D5C42-0165-B92E-EA83-0153FB2D688D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C0386D-FC9D-6B00-16E0-CBA766D6F92F}"/>
              </a:ext>
            </a:extLst>
          </p:cNvPr>
          <p:cNvSpPr txBox="1"/>
          <p:nvPr/>
        </p:nvSpPr>
        <p:spPr>
          <a:xfrm flipH="1">
            <a:off x="788144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6AACF4-462D-45C7-CE08-0EE9DECC80A4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22CAD4-9EB6-D8EA-0B34-FC6AAABC78DA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DE38609-657F-5F64-A6C6-E7F8D868B4F7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CBE479-E3C2-D7B4-743B-C0E7D22F979B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F5C41A-7F9E-8876-8859-69CDBEB14092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078A5EE-DCCE-923F-5B24-B65FCA6750E3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CD342F-081E-E390-BFB9-E482E123D6D0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35476EDC-EBDD-6EA5-D3F7-7F7DC6D5C1E5}"/>
              </a:ext>
            </a:extLst>
          </p:cNvPr>
          <p:cNvSpPr/>
          <p:nvPr/>
        </p:nvSpPr>
        <p:spPr>
          <a:xfrm rot="10800000">
            <a:off x="10736968" y="2033080"/>
            <a:ext cx="331673" cy="114412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650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8B276-10FD-FB76-FB2A-B9D91D68E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E325-2F32-CB6B-6F30-C50348BA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 metrics together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BB2C1-99EA-FD0E-4626-508E06B05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53047" cy="4351338"/>
          </a:xfrm>
        </p:spPr>
        <p:txBody>
          <a:bodyPr/>
          <a:lstStyle/>
          <a:p>
            <a:r>
              <a:rPr lang="en-US" b="1" i="1" dirty="0"/>
              <a:t>Service time</a:t>
            </a:r>
            <a:br>
              <a:rPr lang="en-US" dirty="0"/>
            </a:br>
            <a:r>
              <a:rPr lang="en-US" dirty="0"/>
              <a:t>The total time to complete your task</a:t>
            </a:r>
          </a:p>
          <a:p>
            <a:pPr lvl="1"/>
            <a:r>
              <a:rPr lang="en-US" dirty="0"/>
              <a:t>E.g.,  Refuel your car inc. waiting in line</a:t>
            </a:r>
          </a:p>
          <a:p>
            <a:pPr lvl="1"/>
            <a:r>
              <a:rPr lang="en-US" dirty="0"/>
              <a:t>E.g.,  Load a page in your browser</a:t>
            </a:r>
            <a:endParaRPr lang="en-IL" dirty="0"/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3F6A0-BCF7-EC4F-95DB-8507D2228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F7A89-0E22-5B62-F048-A1A4BC2CF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2FA16D-7C9C-5935-2918-D0880EF31D57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7D8E88-2798-C486-1B15-048F8A87F039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E8A7C6-E82A-B554-C8B8-7ADDC89B4E82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55FB69-1A31-6F56-A90F-A627961D8741}"/>
              </a:ext>
            </a:extLst>
          </p:cNvPr>
          <p:cNvSpPr txBox="1"/>
          <p:nvPr/>
        </p:nvSpPr>
        <p:spPr>
          <a:xfrm flipH="1">
            <a:off x="1020960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D0C449-D148-25D9-3E33-A4AC8306B58E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570E3DC-B855-6795-D2FE-46A070D07CA4}"/>
              </a:ext>
            </a:extLst>
          </p:cNvPr>
          <p:cNvSpPr txBox="1"/>
          <p:nvPr/>
        </p:nvSpPr>
        <p:spPr>
          <a:xfrm flipH="1">
            <a:off x="788144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E80552-DC66-3A5B-220E-599C43FC86A2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B7424B-9ACE-A24C-448C-C6CDD1650B7B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9984638-2506-6B6D-BFE3-82C841F6877B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6DEAAC-96AE-8E1E-582B-96AC78D8F5EB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D8DD8A-C292-63C9-37E7-027B1ADB2817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F766D81-67AD-4BE0-5245-A921451A30D6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9699E6-F665-822A-BE19-F32B37961F19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E28C3B3B-66DE-1E00-8350-89CFFE715156}"/>
              </a:ext>
            </a:extLst>
          </p:cNvPr>
          <p:cNvSpPr/>
          <p:nvPr/>
        </p:nvSpPr>
        <p:spPr>
          <a:xfrm>
            <a:off x="7996803" y="1690688"/>
            <a:ext cx="171414" cy="264784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264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91AF1-4E6A-7392-E5AC-9EF2A187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CEAC-2CFE-4C36-B591-EF7E8391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 metrics together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69630-CC0F-4488-3B1F-D29A237EC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53047" cy="4351338"/>
          </a:xfrm>
        </p:spPr>
        <p:txBody>
          <a:bodyPr/>
          <a:lstStyle/>
          <a:p>
            <a:r>
              <a:rPr lang="en-US" b="1" i="1" dirty="0"/>
              <a:t>Throughput (X/t)</a:t>
            </a:r>
            <a:br>
              <a:rPr lang="en-US" dirty="0"/>
            </a:br>
            <a:r>
              <a:rPr lang="en-US" dirty="0"/>
              <a:t>What is the rate in which you can complete multiple events</a:t>
            </a:r>
          </a:p>
          <a:p>
            <a:pPr lvl="1"/>
            <a:r>
              <a:rPr lang="en-US" dirty="0"/>
              <a:t>E.g., Home assignments/week</a:t>
            </a:r>
          </a:p>
          <a:p>
            <a:pPr lvl="1"/>
            <a:r>
              <a:rPr lang="en-US" dirty="0"/>
              <a:t>E.g., IPC, Network bandwidth</a:t>
            </a:r>
          </a:p>
          <a:p>
            <a:pPr lvl="1"/>
            <a:r>
              <a:rPr lang="en-US" dirty="0"/>
              <a:t>E.g., Incoming packets per second in </a:t>
            </a:r>
            <a:r>
              <a:rPr lang="en-US" dirty="0" err="1"/>
              <a:t>NiC</a:t>
            </a:r>
            <a:endParaRPr lang="en-IL" dirty="0"/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A13E0-800C-ECB1-8DF0-F9ECF3C1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3DC91-FA48-808A-FD20-10A6BDD4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224518-974F-CBD7-9C7F-69A18B926697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5BC82F-CB5F-7B0D-3699-8A6B1FF79E9C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2389D5-C738-5335-5CDF-699EE1C71535}"/>
              </a:ext>
            </a:extLst>
          </p:cNvPr>
          <p:cNvCxnSpPr>
            <a:cxnSpLocks/>
          </p:cNvCxnSpPr>
          <p:nvPr/>
        </p:nvCxnSpPr>
        <p:spPr>
          <a:xfrm flipH="1">
            <a:off x="10657544" y="1167319"/>
            <a:ext cx="6853" cy="532555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EE757A-D1CC-F841-3515-F6CAA00CC604}"/>
              </a:ext>
            </a:extLst>
          </p:cNvPr>
          <p:cNvSpPr txBox="1"/>
          <p:nvPr/>
        </p:nvSpPr>
        <p:spPr>
          <a:xfrm flipH="1">
            <a:off x="1020960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B3071F-24BC-16CF-19CA-A9B74B792E84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532555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439E79D-69AD-14C4-AF79-7AFC8B8E6B4E}"/>
              </a:ext>
            </a:extLst>
          </p:cNvPr>
          <p:cNvSpPr txBox="1"/>
          <p:nvPr/>
        </p:nvSpPr>
        <p:spPr>
          <a:xfrm flipH="1">
            <a:off x="788144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890F10-F9AE-C3FF-A564-BB616E7FC821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7A89AE-010A-FCC1-1BA7-67AB47ED60E7}"/>
              </a:ext>
            </a:extLst>
          </p:cNvPr>
          <p:cNvCxnSpPr>
            <a:cxnSpLocks/>
          </p:cNvCxnSpPr>
          <p:nvPr/>
        </p:nvCxnSpPr>
        <p:spPr>
          <a:xfrm flipH="1">
            <a:off x="8336236" y="2574091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BB4C46-2268-EAC1-4A7A-652F62E84A04}"/>
              </a:ext>
            </a:extLst>
          </p:cNvPr>
          <p:cNvCxnSpPr>
            <a:cxnSpLocks/>
          </p:cNvCxnSpPr>
          <p:nvPr/>
        </p:nvCxnSpPr>
        <p:spPr>
          <a:xfrm flipH="1">
            <a:off x="8332629" y="2877453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A3B851-FC8C-2105-4C36-D0764390D632}"/>
              </a:ext>
            </a:extLst>
          </p:cNvPr>
          <p:cNvCxnSpPr>
            <a:cxnSpLocks/>
          </p:cNvCxnSpPr>
          <p:nvPr/>
        </p:nvCxnSpPr>
        <p:spPr>
          <a:xfrm flipH="1">
            <a:off x="8332629" y="3178103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866029-2C3D-FEAD-A9A6-19E941CE1A98}"/>
              </a:ext>
            </a:extLst>
          </p:cNvPr>
          <p:cNvCxnSpPr>
            <a:cxnSpLocks/>
          </p:cNvCxnSpPr>
          <p:nvPr/>
        </p:nvCxnSpPr>
        <p:spPr>
          <a:xfrm flipH="1">
            <a:off x="8339846" y="3472249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5FBF097-CB58-D606-4CCD-4674CD49EA83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B338ED-E8A5-DD69-12CB-CDA148897BD4}"/>
              </a:ext>
            </a:extLst>
          </p:cNvPr>
          <p:cNvSpPr txBox="1"/>
          <p:nvPr/>
        </p:nvSpPr>
        <p:spPr>
          <a:xfrm rot="21344782" flipH="1">
            <a:off x="8752075" y="2306283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51AF3F40-3D66-8520-FDED-6938E3FE804A}"/>
              </a:ext>
            </a:extLst>
          </p:cNvPr>
          <p:cNvSpPr/>
          <p:nvPr/>
        </p:nvSpPr>
        <p:spPr>
          <a:xfrm>
            <a:off x="7996802" y="1690687"/>
            <a:ext cx="226909" cy="46164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3E3516-1E8E-69CC-207B-6CF0CA1EAF67}"/>
              </a:ext>
            </a:extLst>
          </p:cNvPr>
          <p:cNvCxnSpPr>
            <a:cxnSpLocks/>
          </p:cNvCxnSpPr>
          <p:nvPr/>
        </p:nvCxnSpPr>
        <p:spPr>
          <a:xfrm>
            <a:off x="8332992" y="4313922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EA0CB6-D92C-CA5F-6FDC-DDDEF344017C}"/>
              </a:ext>
            </a:extLst>
          </p:cNvPr>
          <p:cNvCxnSpPr>
            <a:cxnSpLocks/>
          </p:cNvCxnSpPr>
          <p:nvPr/>
        </p:nvCxnSpPr>
        <p:spPr>
          <a:xfrm flipH="1">
            <a:off x="8332991" y="5197325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3E18FD-46CB-07A3-6FCB-024B50D37BF4}"/>
              </a:ext>
            </a:extLst>
          </p:cNvPr>
          <p:cNvCxnSpPr>
            <a:cxnSpLocks/>
          </p:cNvCxnSpPr>
          <p:nvPr/>
        </p:nvCxnSpPr>
        <p:spPr>
          <a:xfrm flipH="1">
            <a:off x="8329384" y="5500687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88E77A-B500-5B12-6FF2-99234307B63F}"/>
              </a:ext>
            </a:extLst>
          </p:cNvPr>
          <p:cNvCxnSpPr>
            <a:cxnSpLocks/>
          </p:cNvCxnSpPr>
          <p:nvPr/>
        </p:nvCxnSpPr>
        <p:spPr>
          <a:xfrm flipH="1">
            <a:off x="8329384" y="5801337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FF7A02-6632-A766-0F55-B96466AD48DE}"/>
              </a:ext>
            </a:extLst>
          </p:cNvPr>
          <p:cNvCxnSpPr>
            <a:cxnSpLocks/>
          </p:cNvCxnSpPr>
          <p:nvPr/>
        </p:nvCxnSpPr>
        <p:spPr>
          <a:xfrm flipH="1">
            <a:off x="8336601" y="6095483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4818A9B-DF6E-929D-40A5-372788B7AA73}"/>
              </a:ext>
            </a:extLst>
          </p:cNvPr>
          <p:cNvSpPr txBox="1"/>
          <p:nvPr/>
        </p:nvSpPr>
        <p:spPr>
          <a:xfrm rot="622596" flipH="1">
            <a:off x="8937158" y="4131970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E349EA-21DC-41E3-F603-0A85FD3A9E4E}"/>
              </a:ext>
            </a:extLst>
          </p:cNvPr>
          <p:cNvSpPr txBox="1"/>
          <p:nvPr/>
        </p:nvSpPr>
        <p:spPr>
          <a:xfrm rot="21344782" flipH="1">
            <a:off x="8748830" y="4929517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68252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789D-333F-8987-A965-8D5B4EAC9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16E6D-E0D1-1955-4946-00E5DBBB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 metrics together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51953-85EA-BA58-E235-244A4F531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53047" cy="4351338"/>
          </a:xfrm>
        </p:spPr>
        <p:txBody>
          <a:bodyPr>
            <a:normAutofit/>
          </a:bodyPr>
          <a:lstStyle/>
          <a:p>
            <a:r>
              <a:rPr lang="en-US" b="1" i="1" dirty="0"/>
              <a:t>Throughput (X/t)</a:t>
            </a:r>
            <a:br>
              <a:rPr lang="en-US" dirty="0"/>
            </a:br>
            <a:r>
              <a:rPr lang="en-US" dirty="0"/>
              <a:t>What is the rate in which you can complete multiple events</a:t>
            </a:r>
          </a:p>
          <a:p>
            <a:pPr lvl="1"/>
            <a:r>
              <a:rPr lang="en-US" dirty="0"/>
              <a:t>E.g., Home assignments/week</a:t>
            </a:r>
          </a:p>
          <a:p>
            <a:pPr lvl="1"/>
            <a:r>
              <a:rPr lang="en-US" dirty="0"/>
              <a:t>E.g., IPC, Network bandwidth</a:t>
            </a:r>
          </a:p>
          <a:p>
            <a:pPr lvl="1"/>
            <a:r>
              <a:rPr lang="en-US" dirty="0"/>
              <a:t>E.g., Incoming packets per second in </a:t>
            </a:r>
            <a:r>
              <a:rPr lang="en-US" dirty="0" err="1"/>
              <a:t>NiC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Throughput may refer to interleaved streams</a:t>
            </a:r>
          </a:p>
          <a:p>
            <a:pPr lvl="1"/>
            <a:r>
              <a:rPr lang="en-US" dirty="0"/>
              <a:t>E.g., a web server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BA72F-46E4-304D-2C56-EA42C667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B6E8C-F587-9626-A261-FC02F6C9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CEAF55-0687-1C5A-AA46-D98A4EACA115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9E0CD9-7886-4425-B8CD-E0E0A2D01248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C31E9F-24E3-87B4-B720-8C9CA9980E99}"/>
              </a:ext>
            </a:extLst>
          </p:cNvPr>
          <p:cNvCxnSpPr>
            <a:cxnSpLocks/>
          </p:cNvCxnSpPr>
          <p:nvPr/>
        </p:nvCxnSpPr>
        <p:spPr>
          <a:xfrm flipH="1">
            <a:off x="10657544" y="1167319"/>
            <a:ext cx="6853" cy="532555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5323B11-5C0B-4635-9DEB-B54522841074}"/>
              </a:ext>
            </a:extLst>
          </p:cNvPr>
          <p:cNvSpPr txBox="1"/>
          <p:nvPr/>
        </p:nvSpPr>
        <p:spPr>
          <a:xfrm flipH="1">
            <a:off x="1020960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6F22C4-C5AE-9E34-63B0-1BC696A48E3E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532555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B87258-B114-86C9-C61F-1D75201A64E0}"/>
              </a:ext>
            </a:extLst>
          </p:cNvPr>
          <p:cNvSpPr txBox="1"/>
          <p:nvPr/>
        </p:nvSpPr>
        <p:spPr>
          <a:xfrm flipH="1">
            <a:off x="788144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D5CDA0-69E7-BEE6-12E0-97D710039283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E1AB27-8ED9-550B-01F7-38BB315A93F9}"/>
              </a:ext>
            </a:extLst>
          </p:cNvPr>
          <p:cNvCxnSpPr>
            <a:cxnSpLocks/>
          </p:cNvCxnSpPr>
          <p:nvPr/>
        </p:nvCxnSpPr>
        <p:spPr>
          <a:xfrm flipH="1">
            <a:off x="8336236" y="2574091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40F98D-3F56-437E-D4A2-5B536453BCDC}"/>
              </a:ext>
            </a:extLst>
          </p:cNvPr>
          <p:cNvCxnSpPr>
            <a:cxnSpLocks/>
          </p:cNvCxnSpPr>
          <p:nvPr/>
        </p:nvCxnSpPr>
        <p:spPr>
          <a:xfrm flipH="1">
            <a:off x="8332629" y="2877453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80D42E-58E0-D9D6-E0C8-D5D917686783}"/>
              </a:ext>
            </a:extLst>
          </p:cNvPr>
          <p:cNvCxnSpPr>
            <a:cxnSpLocks/>
          </p:cNvCxnSpPr>
          <p:nvPr/>
        </p:nvCxnSpPr>
        <p:spPr>
          <a:xfrm flipH="1">
            <a:off x="8332629" y="3178103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91F2CE-A24A-F936-3CF2-31BAFF3FBC29}"/>
              </a:ext>
            </a:extLst>
          </p:cNvPr>
          <p:cNvCxnSpPr>
            <a:cxnSpLocks/>
          </p:cNvCxnSpPr>
          <p:nvPr/>
        </p:nvCxnSpPr>
        <p:spPr>
          <a:xfrm flipH="1">
            <a:off x="8339846" y="3472249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F0EDB8-DD2E-4C92-2313-22C44C7F7C5C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2EE102-3528-8FDC-014F-90C66074A8FB}"/>
              </a:ext>
            </a:extLst>
          </p:cNvPr>
          <p:cNvSpPr txBox="1"/>
          <p:nvPr/>
        </p:nvSpPr>
        <p:spPr>
          <a:xfrm rot="21344782" flipH="1">
            <a:off x="8752075" y="2306283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9F9176D1-60BD-39EB-D5DB-A969E9F9F583}"/>
              </a:ext>
            </a:extLst>
          </p:cNvPr>
          <p:cNvSpPr/>
          <p:nvPr/>
        </p:nvSpPr>
        <p:spPr>
          <a:xfrm rot="10800000">
            <a:off x="10724105" y="2025157"/>
            <a:ext cx="278575" cy="290300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0AB3BB-A2D5-1575-D738-2A6CB87BB521}"/>
              </a:ext>
            </a:extLst>
          </p:cNvPr>
          <p:cNvCxnSpPr>
            <a:cxnSpLocks/>
          </p:cNvCxnSpPr>
          <p:nvPr/>
        </p:nvCxnSpPr>
        <p:spPr>
          <a:xfrm>
            <a:off x="8332992" y="314659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968A46-BF86-236A-8BD0-C41EB15FF840}"/>
              </a:ext>
            </a:extLst>
          </p:cNvPr>
          <p:cNvCxnSpPr>
            <a:cxnSpLocks/>
          </p:cNvCxnSpPr>
          <p:nvPr/>
        </p:nvCxnSpPr>
        <p:spPr>
          <a:xfrm flipH="1">
            <a:off x="8332991" y="4030001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DFCA65-950C-8B0A-FC01-CAA0ADC46268}"/>
              </a:ext>
            </a:extLst>
          </p:cNvPr>
          <p:cNvCxnSpPr>
            <a:cxnSpLocks/>
          </p:cNvCxnSpPr>
          <p:nvPr/>
        </p:nvCxnSpPr>
        <p:spPr>
          <a:xfrm flipH="1">
            <a:off x="8329384" y="4333363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307403-E264-0907-2773-7872EF4F0313}"/>
              </a:ext>
            </a:extLst>
          </p:cNvPr>
          <p:cNvCxnSpPr>
            <a:cxnSpLocks/>
          </p:cNvCxnSpPr>
          <p:nvPr/>
        </p:nvCxnSpPr>
        <p:spPr>
          <a:xfrm flipH="1">
            <a:off x="8329384" y="4634013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9E2187-EA23-FE09-9D3F-CA84D2BF99A9}"/>
              </a:ext>
            </a:extLst>
          </p:cNvPr>
          <p:cNvCxnSpPr>
            <a:cxnSpLocks/>
          </p:cNvCxnSpPr>
          <p:nvPr/>
        </p:nvCxnSpPr>
        <p:spPr>
          <a:xfrm flipH="1">
            <a:off x="8336601" y="4928159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F195E4-59BA-B9E3-34FC-F91A957B1A54}"/>
              </a:ext>
            </a:extLst>
          </p:cNvPr>
          <p:cNvSpPr txBox="1"/>
          <p:nvPr/>
        </p:nvSpPr>
        <p:spPr>
          <a:xfrm rot="622596" flipH="1">
            <a:off x="8937158" y="296464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EDA27-912E-192D-4B24-3FDE973F645A}"/>
              </a:ext>
            </a:extLst>
          </p:cNvPr>
          <p:cNvSpPr txBox="1"/>
          <p:nvPr/>
        </p:nvSpPr>
        <p:spPr>
          <a:xfrm rot="21344782" flipH="1">
            <a:off x="8748830" y="3762193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90217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74F-29D5-1DDF-0C18-601C3B5CA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97E7-91CE-3D8E-88E3-BDD0CAF64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 metrics together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72F17-3F3C-133C-2D7B-008A5C1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53047" cy="4351338"/>
          </a:xfrm>
        </p:spPr>
        <p:txBody>
          <a:bodyPr/>
          <a:lstStyle/>
          <a:p>
            <a:r>
              <a:rPr lang="en-US" b="1" i="1" dirty="0"/>
              <a:t>Arrival rate</a:t>
            </a:r>
            <a:br>
              <a:rPr lang="en-US" dirty="0"/>
            </a:br>
            <a:r>
              <a:rPr lang="en-US" dirty="0"/>
              <a:t>How many requests arrive per unit of time?</a:t>
            </a:r>
          </a:p>
          <a:p>
            <a:pPr lvl="1"/>
            <a:r>
              <a:rPr lang="en-US" dirty="0"/>
              <a:t>Somewhat similar to throughput, but does not refer to processing time</a:t>
            </a:r>
          </a:p>
          <a:p>
            <a:pPr lvl="1"/>
            <a:r>
              <a:rPr lang="en-US" dirty="0"/>
              <a:t>E.g., Missiles/day</a:t>
            </a:r>
          </a:p>
          <a:p>
            <a:pPr lvl="1"/>
            <a:r>
              <a:rPr lang="en-US" dirty="0"/>
              <a:t>E.g., Incoming packets per second in </a:t>
            </a:r>
            <a:r>
              <a:rPr lang="en-US" dirty="0" err="1"/>
              <a:t>NiC</a:t>
            </a:r>
            <a:endParaRPr lang="en-US" dirty="0"/>
          </a:p>
          <a:p>
            <a:pPr lvl="1"/>
            <a:r>
              <a:rPr lang="en-US" dirty="0"/>
              <a:t>E.g., How many req/sec arrive to a web server</a:t>
            </a:r>
            <a:endParaRPr lang="en-IL" dirty="0"/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15D2-C58C-9E23-1A0F-373E19BC5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80CAA-4407-70B6-85B0-9876B000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A1536F-B1F6-50C4-E72D-65C2B905FB2A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818499-A717-BE68-E364-FBC88CEC1C7E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7181BA-A687-5476-34B3-E09E52C97A86}"/>
              </a:ext>
            </a:extLst>
          </p:cNvPr>
          <p:cNvCxnSpPr>
            <a:cxnSpLocks/>
          </p:cNvCxnSpPr>
          <p:nvPr/>
        </p:nvCxnSpPr>
        <p:spPr>
          <a:xfrm flipH="1">
            <a:off x="10657544" y="1167319"/>
            <a:ext cx="6853" cy="532555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3A55EE-8B9A-CA60-5329-259380474516}"/>
              </a:ext>
            </a:extLst>
          </p:cNvPr>
          <p:cNvSpPr txBox="1"/>
          <p:nvPr/>
        </p:nvSpPr>
        <p:spPr>
          <a:xfrm flipH="1">
            <a:off x="1020960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778DA1-20AB-1131-BD0B-56C919961DB0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532555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C5CD1E-0332-A72B-4A73-3B8E9AFB55B2}"/>
              </a:ext>
            </a:extLst>
          </p:cNvPr>
          <p:cNvSpPr txBox="1"/>
          <p:nvPr/>
        </p:nvSpPr>
        <p:spPr>
          <a:xfrm flipH="1">
            <a:off x="788144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1172AF-86E7-5E6A-0A94-18AD71AEDE89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896BA6-229E-2C7C-7F02-958D9DF7CA42}"/>
              </a:ext>
            </a:extLst>
          </p:cNvPr>
          <p:cNvCxnSpPr>
            <a:cxnSpLocks/>
          </p:cNvCxnSpPr>
          <p:nvPr/>
        </p:nvCxnSpPr>
        <p:spPr>
          <a:xfrm flipH="1">
            <a:off x="8336236" y="2574091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BCE3988-A7D8-E4BA-E441-0513877CE12C}"/>
              </a:ext>
            </a:extLst>
          </p:cNvPr>
          <p:cNvCxnSpPr>
            <a:cxnSpLocks/>
          </p:cNvCxnSpPr>
          <p:nvPr/>
        </p:nvCxnSpPr>
        <p:spPr>
          <a:xfrm flipH="1">
            <a:off x="8332629" y="2877453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C6AFEB-E19B-CABF-1E57-4B2EE3B245FE}"/>
              </a:ext>
            </a:extLst>
          </p:cNvPr>
          <p:cNvCxnSpPr>
            <a:cxnSpLocks/>
          </p:cNvCxnSpPr>
          <p:nvPr/>
        </p:nvCxnSpPr>
        <p:spPr>
          <a:xfrm flipH="1">
            <a:off x="8332629" y="3178103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67737C7-F737-1643-A2A9-337E25DB3E26}"/>
              </a:ext>
            </a:extLst>
          </p:cNvPr>
          <p:cNvCxnSpPr>
            <a:cxnSpLocks/>
          </p:cNvCxnSpPr>
          <p:nvPr/>
        </p:nvCxnSpPr>
        <p:spPr>
          <a:xfrm flipH="1">
            <a:off x="8339846" y="3472249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C964F8C-6FD0-F98F-C70C-B14BDDA399ED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C58B95-E955-B527-5211-DAD9ACE9C71F}"/>
              </a:ext>
            </a:extLst>
          </p:cNvPr>
          <p:cNvSpPr txBox="1"/>
          <p:nvPr/>
        </p:nvSpPr>
        <p:spPr>
          <a:xfrm rot="21344782" flipH="1">
            <a:off x="8752075" y="2306283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DD86A7D3-9A72-EAF8-C43F-97C3D3205BD0}"/>
              </a:ext>
            </a:extLst>
          </p:cNvPr>
          <p:cNvSpPr/>
          <p:nvPr/>
        </p:nvSpPr>
        <p:spPr>
          <a:xfrm rot="10800000">
            <a:off x="10759460" y="2033081"/>
            <a:ext cx="191610" cy="262323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B01A1A-06FA-19C3-D413-FA995DA6E976}"/>
              </a:ext>
            </a:extLst>
          </p:cNvPr>
          <p:cNvCxnSpPr>
            <a:cxnSpLocks/>
          </p:cNvCxnSpPr>
          <p:nvPr/>
        </p:nvCxnSpPr>
        <p:spPr>
          <a:xfrm>
            <a:off x="8332992" y="4313922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34E0C3-8738-F8D8-8D5E-88869A7FCDBF}"/>
              </a:ext>
            </a:extLst>
          </p:cNvPr>
          <p:cNvCxnSpPr>
            <a:cxnSpLocks/>
          </p:cNvCxnSpPr>
          <p:nvPr/>
        </p:nvCxnSpPr>
        <p:spPr>
          <a:xfrm flipH="1">
            <a:off x="8332991" y="5197325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422C8C-5B16-E832-2612-DE8659F74B81}"/>
              </a:ext>
            </a:extLst>
          </p:cNvPr>
          <p:cNvCxnSpPr>
            <a:cxnSpLocks/>
          </p:cNvCxnSpPr>
          <p:nvPr/>
        </p:nvCxnSpPr>
        <p:spPr>
          <a:xfrm flipH="1">
            <a:off x="8329384" y="5500687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A613E1-C465-25D5-A95C-8ED6C15D4691}"/>
              </a:ext>
            </a:extLst>
          </p:cNvPr>
          <p:cNvCxnSpPr>
            <a:cxnSpLocks/>
          </p:cNvCxnSpPr>
          <p:nvPr/>
        </p:nvCxnSpPr>
        <p:spPr>
          <a:xfrm flipH="1">
            <a:off x="8329384" y="5801337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14DACD-3997-97A7-EC51-90E1970231EC}"/>
              </a:ext>
            </a:extLst>
          </p:cNvPr>
          <p:cNvCxnSpPr>
            <a:cxnSpLocks/>
          </p:cNvCxnSpPr>
          <p:nvPr/>
        </p:nvCxnSpPr>
        <p:spPr>
          <a:xfrm flipH="1">
            <a:off x="8336601" y="6095483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0AF09A-E984-952D-CE41-A8FC24773A9A}"/>
              </a:ext>
            </a:extLst>
          </p:cNvPr>
          <p:cNvSpPr txBox="1"/>
          <p:nvPr/>
        </p:nvSpPr>
        <p:spPr>
          <a:xfrm rot="622596" flipH="1">
            <a:off x="8937158" y="4131970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08D1C8-0275-3D88-C67C-BF26CC16E8E6}"/>
              </a:ext>
            </a:extLst>
          </p:cNvPr>
          <p:cNvSpPr txBox="1"/>
          <p:nvPr/>
        </p:nvSpPr>
        <p:spPr>
          <a:xfrm rot="21344782" flipH="1">
            <a:off x="8748830" y="4929517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17138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E570-1E69-B0A0-8083-E6F04AAD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 metrics together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15DF5-014D-88D2-21F9-1AD72F6CE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001"/>
          </a:xfrm>
        </p:spPr>
        <p:txBody>
          <a:bodyPr>
            <a:normAutofit/>
          </a:bodyPr>
          <a:lstStyle/>
          <a:p>
            <a:r>
              <a:rPr lang="en-US" b="1" i="1" dirty="0"/>
              <a:t>Tail Latency</a:t>
            </a:r>
            <a:br>
              <a:rPr lang="en-US" b="1" i="1" dirty="0"/>
            </a:br>
            <a:r>
              <a:rPr lang="en-US" i="1" dirty="0"/>
              <a:t>Service providers need to guarantee that X% of requests are serviced within a predefined time (e.g., 99% within 18us)</a:t>
            </a:r>
          </a:p>
          <a:p>
            <a:pPr lvl="1"/>
            <a:r>
              <a:rPr lang="en-US" i="1" dirty="0"/>
              <a:t>AKA service level objective (SLO)</a:t>
            </a:r>
          </a:p>
          <a:p>
            <a:pPr lvl="2"/>
            <a:r>
              <a:rPr lang="en-US" i="1" dirty="0"/>
              <a:t>99% is known as P99</a:t>
            </a:r>
          </a:p>
          <a:p>
            <a:pPr marL="457200" lvl="1" indent="0">
              <a:buNone/>
            </a:pPr>
            <a:endParaRPr lang="en-US" i="1" dirty="0"/>
          </a:p>
          <a:p>
            <a:r>
              <a:rPr lang="en-US" i="1" dirty="0"/>
              <a:t>Challenge: scale the service</a:t>
            </a:r>
          </a:p>
          <a:p>
            <a:pPr lvl="1"/>
            <a:r>
              <a:rPr lang="en-US" i="1" dirty="0"/>
              <a:t>Increase RPS while keeping SLO</a:t>
            </a:r>
          </a:p>
          <a:p>
            <a:pPr lvl="1"/>
            <a:r>
              <a:rPr lang="en-US" dirty="0"/>
              <a:t>Service time typically explodes </a:t>
            </a:r>
            <a:br>
              <a:rPr lang="en-US" dirty="0"/>
            </a:br>
            <a:r>
              <a:rPr lang="en-US" dirty="0"/>
              <a:t>at some point</a:t>
            </a:r>
          </a:p>
          <a:p>
            <a:pPr lvl="1"/>
            <a:r>
              <a:rPr lang="en-US" dirty="0"/>
              <a:t>We want to push that point</a:t>
            </a:r>
            <a:br>
              <a:rPr lang="en-US" dirty="0"/>
            </a:br>
            <a:r>
              <a:rPr lang="en-US" dirty="0"/>
              <a:t>to the right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5DB80-B184-C7AF-D489-C6FBD6F4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1A27E-E7F4-21FE-479C-BF0397D1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5C74CE-3C15-F1D8-5A41-2539632B0420}"/>
              </a:ext>
            </a:extLst>
          </p:cNvPr>
          <p:cNvGrpSpPr/>
          <p:nvPr/>
        </p:nvGrpSpPr>
        <p:grpSpPr>
          <a:xfrm>
            <a:off x="5972649" y="3333654"/>
            <a:ext cx="6296303" cy="3067148"/>
            <a:chOff x="5972649" y="3333654"/>
            <a:chExt cx="6296303" cy="306714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CB77F56-D5D6-AD64-B1C4-215322A5E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72649" y="3333654"/>
              <a:ext cx="6296303" cy="299005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B46806-EEBB-4066-CD38-2F666FE8E02C}"/>
                </a:ext>
              </a:extLst>
            </p:cNvPr>
            <p:cNvSpPr txBox="1"/>
            <p:nvPr/>
          </p:nvSpPr>
          <p:spPr>
            <a:xfrm>
              <a:off x="8046203" y="5979485"/>
              <a:ext cx="2675907" cy="4213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Requests/seconds</a:t>
              </a:r>
              <a:endParaRPr lang="en-IL" sz="24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16B82CE-3B61-FB35-9200-70B357F58C74}"/>
              </a:ext>
            </a:extLst>
          </p:cNvPr>
          <p:cNvSpPr txBox="1"/>
          <p:nvPr/>
        </p:nvSpPr>
        <p:spPr>
          <a:xfrm>
            <a:off x="11186810" y="5233482"/>
            <a:ext cx="8187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15890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8619A-AB1A-6A74-C4B8-C58BF3A0C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C2DB-A7BE-18B7-3518-FE110AFF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Classic: Latency vs. Bandwidth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CC536-27B2-DAE1-2A09-9547FACC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53047" cy="4351338"/>
          </a:xfrm>
        </p:spPr>
        <p:txBody>
          <a:bodyPr/>
          <a:lstStyle/>
          <a:p>
            <a:r>
              <a:rPr lang="en-US" dirty="0"/>
              <a:t>We need to transfer 10,000TB from </a:t>
            </a:r>
            <a:br>
              <a:rPr lang="en-US" dirty="0"/>
            </a:br>
            <a:r>
              <a:rPr lang="en-US" dirty="0"/>
              <a:t>Tel Aviv to Haifa</a:t>
            </a:r>
          </a:p>
          <a:p>
            <a:r>
              <a:rPr lang="en-US" dirty="0"/>
              <a:t>What’s better:</a:t>
            </a:r>
          </a:p>
          <a:p>
            <a:endParaRPr lang="en-US" dirty="0"/>
          </a:p>
          <a:p>
            <a:pPr lvl="3"/>
            <a:endParaRPr lang="en-US" dirty="0"/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535C7-AAA2-A303-76DA-CA493D9C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1F766-CC40-2A1C-2B0A-ED544CD4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14EB66-CEE5-B5B5-5994-39D74BBCAAC5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6D8950-BA92-A2A4-7165-EFCF47573323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C7C743-3163-4332-F8FC-0591204721D1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B2A241-1604-30CD-06A4-E19308BC800F}"/>
              </a:ext>
            </a:extLst>
          </p:cNvPr>
          <p:cNvSpPr txBox="1"/>
          <p:nvPr/>
        </p:nvSpPr>
        <p:spPr>
          <a:xfrm flipH="1">
            <a:off x="10209609" y="443057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Tel Aviv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AFD92E-1422-D7FB-3B2F-B15FCE081FD5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B0A13CE-5595-6926-A04E-AFC4DD2D9C40}"/>
              </a:ext>
            </a:extLst>
          </p:cNvPr>
          <p:cNvSpPr txBox="1"/>
          <p:nvPr/>
        </p:nvSpPr>
        <p:spPr>
          <a:xfrm flipH="1">
            <a:off x="7881449" y="443057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Haifa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735358-5867-F0AE-5BEB-40E6F03D67F7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551E9D-732A-6C1D-B1B2-CEC090AE4624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8EE056-D332-C1EC-BC6F-577D4206CF9A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B29B83-7207-5246-0A41-19001686D8FE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DB7857-5D80-CCCB-CF38-CBE144062A36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4444202-449E-0C0E-05BB-9DAFC1AEDE2F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89AAF0-44F7-F5E0-4795-DC1FEAA3CBB8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96458034-7C92-09BB-FD6C-180A9A3CE32B}"/>
              </a:ext>
            </a:extLst>
          </p:cNvPr>
          <p:cNvSpPr/>
          <p:nvPr/>
        </p:nvSpPr>
        <p:spPr>
          <a:xfrm>
            <a:off x="7996803" y="1690688"/>
            <a:ext cx="224184" cy="164471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B35A5835-0628-D155-BDF0-9914AC492CB3}"/>
              </a:ext>
            </a:extLst>
          </p:cNvPr>
          <p:cNvSpPr/>
          <p:nvPr/>
        </p:nvSpPr>
        <p:spPr>
          <a:xfrm>
            <a:off x="7480447" y="1690687"/>
            <a:ext cx="279917" cy="262839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261444-6D0C-C304-BD9E-3CE6AC43019B}"/>
              </a:ext>
            </a:extLst>
          </p:cNvPr>
          <p:cNvSpPr txBox="1"/>
          <p:nvPr/>
        </p:nvSpPr>
        <p:spPr>
          <a:xfrm rot="16200000" flipH="1">
            <a:off x="7342676" y="2329041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Latency</a:t>
            </a:r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28C7B6-A7E1-62B7-7232-20200612C56A}"/>
              </a:ext>
            </a:extLst>
          </p:cNvPr>
          <p:cNvSpPr txBox="1"/>
          <p:nvPr/>
        </p:nvSpPr>
        <p:spPr>
          <a:xfrm rot="16200000" flipH="1">
            <a:off x="6566827" y="2916805"/>
            <a:ext cx="160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Transfer time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75466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58BC-B78E-CB44-4F16-34C1E55A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E8A7-4C7F-B9D7-48B5-D7A32B721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Classic: Latency vs. Bandwidth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D24C-1B91-4ACC-111F-DC251E43B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53047" cy="4351338"/>
          </a:xfrm>
        </p:spPr>
        <p:txBody>
          <a:bodyPr/>
          <a:lstStyle/>
          <a:p>
            <a:r>
              <a:rPr lang="en-US" dirty="0"/>
              <a:t>We need to transfer 10,000TB from </a:t>
            </a:r>
            <a:br>
              <a:rPr lang="en-US" dirty="0"/>
            </a:br>
            <a:r>
              <a:rPr lang="en-US" dirty="0"/>
              <a:t>Tel Aviv to Haifa</a:t>
            </a:r>
          </a:p>
          <a:p>
            <a:r>
              <a:rPr lang="en-US" dirty="0"/>
              <a:t>What’s better:</a:t>
            </a:r>
          </a:p>
          <a:p>
            <a:pPr lvl="1"/>
            <a:r>
              <a:rPr lang="en-US" dirty="0"/>
              <a:t>800gbs fiber (100GB/s), or…</a:t>
            </a:r>
          </a:p>
          <a:p>
            <a:pPr lvl="1"/>
            <a:r>
              <a:rPr lang="en-US" dirty="0"/>
              <a:t>Data center truck with 1000 x 10TB disks?</a:t>
            </a:r>
          </a:p>
          <a:p>
            <a:pPr lvl="3"/>
            <a:endParaRPr lang="en-US" dirty="0"/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5554B-A77B-6AA8-8B49-E8D5AE8D7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580CF-EBDE-42C3-5F5A-1F9D8881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439D59-E844-B660-00EC-01406BD322A0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3358EB-36A8-35C1-D7DF-3E2E459DC8C6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51A8CA-401E-8197-89BE-7BEA5B383704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07D80A-EA7D-A238-5E49-9817A13A1DFC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4FA521B-0A7D-9318-A7AB-F757034816B8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F801F78-8E7F-F03C-9D69-321A8206E4FD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68E1515-E315-9D12-D282-57A88D71F704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B3A2E1-BB09-E65B-B38A-6EEFA121CBBC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78B99F-9659-6D7A-8FC0-6CB6ED8792B4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6DD3E7D-D270-E71B-8B60-9ED028457DD1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ABF728-D4F2-1DEF-E35E-F8332E3AEE3A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D6869A4E-7F35-27BF-CE6C-0DB2588254F3}"/>
              </a:ext>
            </a:extLst>
          </p:cNvPr>
          <p:cNvSpPr/>
          <p:nvPr/>
        </p:nvSpPr>
        <p:spPr>
          <a:xfrm>
            <a:off x="7996803" y="1690688"/>
            <a:ext cx="224184" cy="164471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F020F365-DC05-A6E3-1A9A-74376B905682}"/>
              </a:ext>
            </a:extLst>
          </p:cNvPr>
          <p:cNvSpPr/>
          <p:nvPr/>
        </p:nvSpPr>
        <p:spPr>
          <a:xfrm>
            <a:off x="7480447" y="1690687"/>
            <a:ext cx="279917" cy="262839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972922-2643-2DC8-89BF-490F5BFA9DA0}"/>
              </a:ext>
            </a:extLst>
          </p:cNvPr>
          <p:cNvSpPr txBox="1"/>
          <p:nvPr/>
        </p:nvSpPr>
        <p:spPr>
          <a:xfrm rot="16200000" flipH="1">
            <a:off x="7342676" y="2329041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Latency</a:t>
            </a:r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9BEBFB-9B72-A085-8502-EBE1C5A4C18C}"/>
              </a:ext>
            </a:extLst>
          </p:cNvPr>
          <p:cNvSpPr txBox="1"/>
          <p:nvPr/>
        </p:nvSpPr>
        <p:spPr>
          <a:xfrm rot="16200000" flipH="1">
            <a:off x="6566827" y="2916805"/>
            <a:ext cx="160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Transfer time</a:t>
            </a:r>
            <a:endParaRPr lang="en-IL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9C9E56E-76BA-582E-EA21-8AB155224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442" y="4161221"/>
            <a:ext cx="3395763" cy="226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132699-83CD-3012-2EC6-C060FCC70113}"/>
              </a:ext>
            </a:extLst>
          </p:cNvPr>
          <p:cNvSpPr txBox="1"/>
          <p:nvPr/>
        </p:nvSpPr>
        <p:spPr>
          <a:xfrm flipH="1">
            <a:off x="10209609" y="443057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Tel Aviv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57BAF5-74AE-5056-B4E8-4C232EC75B55}"/>
              </a:ext>
            </a:extLst>
          </p:cNvPr>
          <p:cNvSpPr txBox="1"/>
          <p:nvPr/>
        </p:nvSpPr>
        <p:spPr>
          <a:xfrm flipH="1">
            <a:off x="7881449" y="443057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Haifa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1616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C000-4E71-1BCF-D6C8-9BDA7698E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F3A3-7DDF-EAF8-5317-8A1C5715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Classic: Latency vs. Bandwidth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1F935-9E6B-2E0E-FBBB-FBF5D42F4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5304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Bandwidth:</a:t>
            </a:r>
          </a:p>
          <a:p>
            <a:pPr lvl="1"/>
            <a:r>
              <a:rPr lang="en-US" dirty="0"/>
              <a:t>Truck: </a:t>
            </a:r>
            <a:br>
              <a:rPr lang="en-US" dirty="0"/>
            </a:br>
            <a:r>
              <a:rPr lang="en-US" i="1" dirty="0"/>
              <a:t>10,000TB / </a:t>
            </a:r>
            <a:r>
              <a:rPr lang="en-US" i="1" dirty="0" err="1"/>
              <a:t>hr</a:t>
            </a:r>
            <a:r>
              <a:rPr lang="en-US" i="1" dirty="0"/>
              <a:t> = 10,000/3600 = 2.8TB/s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Fiber:</a:t>
            </a:r>
            <a:br>
              <a:rPr lang="en-US" dirty="0"/>
            </a:br>
            <a:r>
              <a:rPr lang="en-US" i="1" dirty="0"/>
              <a:t>100 GB/s = 0.1 TB/s</a:t>
            </a:r>
          </a:p>
          <a:p>
            <a:endParaRPr lang="en-US" dirty="0"/>
          </a:p>
          <a:p>
            <a:r>
              <a:rPr lang="en-US" dirty="0"/>
              <a:t>However, latency:</a:t>
            </a:r>
          </a:p>
          <a:p>
            <a:pPr lvl="1"/>
            <a:r>
              <a:rPr lang="en-US" dirty="0"/>
              <a:t>Truck: ~1 hour</a:t>
            </a:r>
            <a:br>
              <a:rPr lang="en-US" dirty="0"/>
            </a:br>
            <a:endParaRPr lang="en-US" i="1" dirty="0"/>
          </a:p>
          <a:p>
            <a:pPr lvl="1"/>
            <a:r>
              <a:rPr lang="en-US" dirty="0"/>
              <a:t>Fiber: &lt;1ms</a:t>
            </a:r>
            <a:br>
              <a:rPr lang="en-US" dirty="0"/>
            </a:br>
            <a:endParaRPr lang="en-US" dirty="0"/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6F9A-B543-7B58-88B7-4106902C9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2915B-5E25-B0EF-1C30-BDDE82A1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994CE9-2D90-92B5-25EA-D519F7EA06CD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7442FB-C7A0-DF27-5689-1F8F66D5B453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EE7392-D667-794D-DE50-1114D9157BFF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F0CB1ED-2B3E-3378-C51E-C0967E054C9C}"/>
              </a:ext>
            </a:extLst>
          </p:cNvPr>
          <p:cNvSpPr txBox="1"/>
          <p:nvPr/>
        </p:nvSpPr>
        <p:spPr>
          <a:xfrm flipH="1">
            <a:off x="10209609" y="443057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Tel Aviv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9F057B-4F01-527D-9726-FDA265D9011E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9F7F0E-E8CC-94DB-0AA6-DC504C73AE99}"/>
              </a:ext>
            </a:extLst>
          </p:cNvPr>
          <p:cNvSpPr txBox="1"/>
          <p:nvPr/>
        </p:nvSpPr>
        <p:spPr>
          <a:xfrm flipH="1">
            <a:off x="7881449" y="443057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Haifa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57F5D9-5507-573B-CF8F-6C91F16BBB0E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295D03-5B2A-0E28-A541-390AE8F3B707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2E79A3-467C-694E-6431-21C495CE8D18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D40CAF-C4A7-AD14-61BD-BD6CD1CD27CD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600D16E-29E5-F8ED-33D2-89E35FD58E68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3926920-FB4A-2E6E-A922-1736C4908301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5EDDD0-1C75-AB4D-CAFA-E02B59E019FC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5D8E9B49-2067-D80E-55BF-2150E79B901C}"/>
              </a:ext>
            </a:extLst>
          </p:cNvPr>
          <p:cNvSpPr/>
          <p:nvPr/>
        </p:nvSpPr>
        <p:spPr>
          <a:xfrm>
            <a:off x="7996803" y="1690688"/>
            <a:ext cx="224184" cy="164471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D2684240-9926-3FC8-DADA-D095469B41A1}"/>
              </a:ext>
            </a:extLst>
          </p:cNvPr>
          <p:cNvSpPr/>
          <p:nvPr/>
        </p:nvSpPr>
        <p:spPr>
          <a:xfrm>
            <a:off x="7480447" y="1690687"/>
            <a:ext cx="279917" cy="262839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AA822-C234-5CCF-72B7-8BEEAC4D86F0}"/>
              </a:ext>
            </a:extLst>
          </p:cNvPr>
          <p:cNvSpPr txBox="1"/>
          <p:nvPr/>
        </p:nvSpPr>
        <p:spPr>
          <a:xfrm rot="16200000" flipH="1">
            <a:off x="7342676" y="2329041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Latency</a:t>
            </a:r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5EF329-421D-AB4A-378A-8FE418B438B7}"/>
              </a:ext>
            </a:extLst>
          </p:cNvPr>
          <p:cNvSpPr txBox="1"/>
          <p:nvPr/>
        </p:nvSpPr>
        <p:spPr>
          <a:xfrm rot="16200000" flipH="1">
            <a:off x="6566827" y="2916805"/>
            <a:ext cx="160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Transfer time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95286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0123-BBB6-FB61-BFAC-8E482165A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BDE2-3A6F-6CA4-4816-2F130B90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are like fractals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1F7B2-575E-4510-1346-2F9F89736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In real systems agents have many components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11197-7756-AC31-0498-DA56774E7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E7463-EBD4-D3D2-8B54-00AA53D9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E6A70A-6D30-2932-8D7B-FE360A79A2DA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CCDD65-ACEF-8C69-0316-687D2A69BFE8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668360-6ACE-26B9-7294-7CD1EB5B2B7B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DE0C36-FA14-5CCE-3D5C-ECA9C20212E5}"/>
              </a:ext>
            </a:extLst>
          </p:cNvPr>
          <p:cNvSpPr txBox="1"/>
          <p:nvPr/>
        </p:nvSpPr>
        <p:spPr>
          <a:xfrm flipH="1">
            <a:off x="1020960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B1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C445CB-D3C8-203D-4E8A-3F929556FAE6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5FDA20-DE2F-26A6-154E-894CC701804D}"/>
              </a:ext>
            </a:extLst>
          </p:cNvPr>
          <p:cNvSpPr txBox="1"/>
          <p:nvPr/>
        </p:nvSpPr>
        <p:spPr>
          <a:xfrm flipH="1">
            <a:off x="788144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A3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6D0EF9F-D2B8-8985-5A97-81B66B226C58}"/>
              </a:ext>
            </a:extLst>
          </p:cNvPr>
          <p:cNvCxnSpPr>
            <a:cxnSpLocks/>
          </p:cNvCxnSpPr>
          <p:nvPr/>
        </p:nvCxnSpPr>
        <p:spPr>
          <a:xfrm>
            <a:off x="8336237" y="2001973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A1B0C2D-D36F-3D1E-DB28-536AE14D4B07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B4E269-B38A-B295-C990-B10A4690B519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0382BD-204B-38DD-4BFC-CC7BC24D989E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A5A2E9-6B7F-2CCD-665B-76DE0B8F9A56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34487E-22D5-28B5-F4AC-C546EFE3D357}"/>
              </a:ext>
            </a:extLst>
          </p:cNvPr>
          <p:cNvSpPr txBox="1"/>
          <p:nvPr/>
        </p:nvSpPr>
        <p:spPr>
          <a:xfrm rot="478769" flipH="1">
            <a:off x="8940403" y="1820021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CC5D26-4E00-57F6-553C-A2B81BF0979B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9B74EC-E47F-D90E-68B6-EAB36D8D6EF6}"/>
              </a:ext>
            </a:extLst>
          </p:cNvPr>
          <p:cNvCxnSpPr>
            <a:cxnSpLocks/>
          </p:cNvCxnSpPr>
          <p:nvPr/>
        </p:nvCxnSpPr>
        <p:spPr>
          <a:xfrm>
            <a:off x="6554414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DF09661-41F6-C4C7-0387-B81656F7CFB0}"/>
              </a:ext>
            </a:extLst>
          </p:cNvPr>
          <p:cNvSpPr txBox="1"/>
          <p:nvPr/>
        </p:nvSpPr>
        <p:spPr>
          <a:xfrm flipH="1">
            <a:off x="6099626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A1</a:t>
            </a:r>
            <a:endParaRPr lang="en-I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7496AA-8499-DAED-D558-E3A9A0D06812}"/>
              </a:ext>
            </a:extLst>
          </p:cNvPr>
          <p:cNvCxnSpPr>
            <a:cxnSpLocks/>
          </p:cNvCxnSpPr>
          <p:nvPr/>
        </p:nvCxnSpPr>
        <p:spPr>
          <a:xfrm>
            <a:off x="7478021" y="1144944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F7A532-0E32-EC76-86AD-4CEBB1BD0642}"/>
              </a:ext>
            </a:extLst>
          </p:cNvPr>
          <p:cNvSpPr txBox="1"/>
          <p:nvPr/>
        </p:nvSpPr>
        <p:spPr>
          <a:xfrm flipH="1">
            <a:off x="7023233" y="420682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A2</a:t>
            </a:r>
            <a:endParaRPr lang="en-IL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F0F1EF-688F-26D1-6F80-80C5334CBCCF}"/>
              </a:ext>
            </a:extLst>
          </p:cNvPr>
          <p:cNvCxnSpPr>
            <a:cxnSpLocks/>
          </p:cNvCxnSpPr>
          <p:nvPr/>
        </p:nvCxnSpPr>
        <p:spPr>
          <a:xfrm>
            <a:off x="6540021" y="1347504"/>
            <a:ext cx="938000" cy="13302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06BE07C-7C95-1A53-6AEF-3CE8FA52BAD8}"/>
              </a:ext>
            </a:extLst>
          </p:cNvPr>
          <p:cNvCxnSpPr>
            <a:cxnSpLocks/>
          </p:cNvCxnSpPr>
          <p:nvPr/>
        </p:nvCxnSpPr>
        <p:spPr>
          <a:xfrm>
            <a:off x="7489995" y="1665542"/>
            <a:ext cx="849851" cy="14070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DB178C-0292-87EF-F874-E0504F1E9732}"/>
              </a:ext>
            </a:extLst>
          </p:cNvPr>
          <p:cNvCxnSpPr>
            <a:cxnSpLocks/>
          </p:cNvCxnSpPr>
          <p:nvPr/>
        </p:nvCxnSpPr>
        <p:spPr>
          <a:xfrm>
            <a:off x="11373786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834EEE-E611-2F69-BC6E-AC2A47001DB4}"/>
              </a:ext>
            </a:extLst>
          </p:cNvPr>
          <p:cNvSpPr txBox="1"/>
          <p:nvPr/>
        </p:nvSpPr>
        <p:spPr>
          <a:xfrm flipH="1">
            <a:off x="10918998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B2</a:t>
            </a:r>
            <a:endParaRPr lang="en-IL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B734B68-9B26-1FC5-BD08-3D1E73E89D9C}"/>
              </a:ext>
            </a:extLst>
          </p:cNvPr>
          <p:cNvCxnSpPr>
            <a:cxnSpLocks/>
          </p:cNvCxnSpPr>
          <p:nvPr/>
        </p:nvCxnSpPr>
        <p:spPr>
          <a:xfrm>
            <a:off x="10668006" y="2518369"/>
            <a:ext cx="679354" cy="10732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A4B6580-C48C-24EB-0E80-342B657702AD}"/>
              </a:ext>
            </a:extLst>
          </p:cNvPr>
          <p:cNvCxnSpPr>
            <a:cxnSpLocks/>
          </p:cNvCxnSpPr>
          <p:nvPr/>
        </p:nvCxnSpPr>
        <p:spPr>
          <a:xfrm flipH="1">
            <a:off x="10668006" y="2964945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442E4F2-80FB-9868-CEBB-5943F3327A2E}"/>
              </a:ext>
            </a:extLst>
          </p:cNvPr>
          <p:cNvCxnSpPr>
            <a:cxnSpLocks/>
          </p:cNvCxnSpPr>
          <p:nvPr/>
        </p:nvCxnSpPr>
        <p:spPr>
          <a:xfrm flipH="1">
            <a:off x="10683577" y="3312312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6F3312-D134-8EAF-9013-06F82C35F061}"/>
              </a:ext>
            </a:extLst>
          </p:cNvPr>
          <p:cNvCxnSpPr>
            <a:cxnSpLocks/>
          </p:cNvCxnSpPr>
          <p:nvPr/>
        </p:nvCxnSpPr>
        <p:spPr>
          <a:xfrm flipH="1">
            <a:off x="10660789" y="3668390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28548A-A23B-8A65-27FC-82D95C660B98}"/>
              </a:ext>
            </a:extLst>
          </p:cNvPr>
          <p:cNvCxnSpPr>
            <a:cxnSpLocks/>
          </p:cNvCxnSpPr>
          <p:nvPr/>
        </p:nvCxnSpPr>
        <p:spPr>
          <a:xfrm flipH="1">
            <a:off x="10660789" y="3967154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E06059B-8C8B-29F2-4D39-496BA91CFCD0}"/>
              </a:ext>
            </a:extLst>
          </p:cNvPr>
          <p:cNvCxnSpPr>
            <a:cxnSpLocks/>
          </p:cNvCxnSpPr>
          <p:nvPr/>
        </p:nvCxnSpPr>
        <p:spPr>
          <a:xfrm flipH="1">
            <a:off x="7454831" y="4155553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A7F1E76-0512-746C-7ACD-AD6111C9132C}"/>
              </a:ext>
            </a:extLst>
          </p:cNvPr>
          <p:cNvCxnSpPr>
            <a:cxnSpLocks/>
          </p:cNvCxnSpPr>
          <p:nvPr/>
        </p:nvCxnSpPr>
        <p:spPr>
          <a:xfrm flipH="1">
            <a:off x="7471656" y="3520663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C0C845-E8BC-5B44-0592-62ADCEAD257F}"/>
              </a:ext>
            </a:extLst>
          </p:cNvPr>
          <p:cNvCxnSpPr>
            <a:cxnSpLocks/>
          </p:cNvCxnSpPr>
          <p:nvPr/>
        </p:nvCxnSpPr>
        <p:spPr>
          <a:xfrm flipH="1">
            <a:off x="7449802" y="3828542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A9D91A9-2A49-E517-198E-09C3A672C18D}"/>
              </a:ext>
            </a:extLst>
          </p:cNvPr>
          <p:cNvCxnSpPr>
            <a:cxnSpLocks/>
          </p:cNvCxnSpPr>
          <p:nvPr/>
        </p:nvCxnSpPr>
        <p:spPr>
          <a:xfrm flipH="1">
            <a:off x="7464820" y="4436458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1833FCE-1744-C5E0-3AAB-6522F8C4C215}"/>
              </a:ext>
            </a:extLst>
          </p:cNvPr>
          <p:cNvCxnSpPr>
            <a:cxnSpLocks/>
          </p:cNvCxnSpPr>
          <p:nvPr/>
        </p:nvCxnSpPr>
        <p:spPr>
          <a:xfrm flipH="1">
            <a:off x="6576220" y="4710256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DCA919E-31AB-46E3-A334-4C9C42FF5F37}"/>
              </a:ext>
            </a:extLst>
          </p:cNvPr>
          <p:cNvCxnSpPr>
            <a:cxnSpLocks/>
          </p:cNvCxnSpPr>
          <p:nvPr/>
        </p:nvCxnSpPr>
        <p:spPr>
          <a:xfrm flipH="1">
            <a:off x="6583317" y="4075366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F13E29D-3BF5-FF39-0248-64252871B419}"/>
              </a:ext>
            </a:extLst>
          </p:cNvPr>
          <p:cNvCxnSpPr>
            <a:cxnSpLocks/>
          </p:cNvCxnSpPr>
          <p:nvPr/>
        </p:nvCxnSpPr>
        <p:spPr>
          <a:xfrm flipH="1">
            <a:off x="6571191" y="4383245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A0B7C3-DECF-C6B4-F1FA-46BAF58AB0E4}"/>
              </a:ext>
            </a:extLst>
          </p:cNvPr>
          <p:cNvCxnSpPr>
            <a:cxnSpLocks/>
          </p:cNvCxnSpPr>
          <p:nvPr/>
        </p:nvCxnSpPr>
        <p:spPr>
          <a:xfrm flipH="1">
            <a:off x="6586209" y="4991161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055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257D2-972E-8FFE-F490-DCFC6122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33FA5-7AC6-9591-FA1E-A3066895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are like fractals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E5CE9-C328-C62E-D3E5-3A7472656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In real systems agents have many components</a:t>
            </a:r>
          </a:p>
          <a:p>
            <a:endParaRPr lang="en-US" dirty="0"/>
          </a:p>
          <a:p>
            <a:r>
              <a:rPr lang="en-US" dirty="0"/>
              <a:t>A: App -&gt; OS -&gt; NIC -&gt;</a:t>
            </a:r>
          </a:p>
          <a:p>
            <a:r>
              <a:rPr lang="en-US" dirty="0"/>
              <a:t>B: NIC -&gt; Service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22CCD-3755-409A-2723-6DB9A108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B50E6-A62C-85CB-25BD-C820CB93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8799C2-5043-6D99-6AA1-F5BAB1C99DC1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F790164-7FB7-7460-4C1B-BAE6CD480226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88EDC0-6689-10EB-AAE2-3A8A40F13276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D90902E-ED37-BB09-CC36-3A7FAE976E18}"/>
              </a:ext>
            </a:extLst>
          </p:cNvPr>
          <p:cNvSpPr txBox="1"/>
          <p:nvPr/>
        </p:nvSpPr>
        <p:spPr>
          <a:xfrm flipH="1">
            <a:off x="1020960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B1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A2F82B-3A87-B056-32C8-F9AC1811071E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267C6DD-7DA3-CA6E-832E-48C499E8816E}"/>
              </a:ext>
            </a:extLst>
          </p:cNvPr>
          <p:cNvSpPr txBox="1"/>
          <p:nvPr/>
        </p:nvSpPr>
        <p:spPr>
          <a:xfrm flipH="1">
            <a:off x="788144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A3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0AB441-9760-E85A-C632-BCFDB8E770B2}"/>
              </a:ext>
            </a:extLst>
          </p:cNvPr>
          <p:cNvCxnSpPr>
            <a:cxnSpLocks/>
          </p:cNvCxnSpPr>
          <p:nvPr/>
        </p:nvCxnSpPr>
        <p:spPr>
          <a:xfrm>
            <a:off x="8336237" y="2001973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F219B7-0EAD-4942-6127-F39D1803BEEC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CD9085-3060-A5D1-A5A6-B830BF6EBA40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885A49-A5FB-09D3-5BF1-23990E1688AD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F83D48-7F25-C307-5F09-99E00F9CCA6F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0CFAD80-0B09-40E0-6F71-2A240D917536}"/>
              </a:ext>
            </a:extLst>
          </p:cNvPr>
          <p:cNvSpPr txBox="1"/>
          <p:nvPr/>
        </p:nvSpPr>
        <p:spPr>
          <a:xfrm rot="478769" flipH="1">
            <a:off x="8940403" y="1820021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BA9EF2-599F-9D11-1DC5-8F8DD44FDA19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113E9E-F1B0-6E21-EB5F-A6905264B9DE}"/>
              </a:ext>
            </a:extLst>
          </p:cNvPr>
          <p:cNvCxnSpPr>
            <a:cxnSpLocks/>
          </p:cNvCxnSpPr>
          <p:nvPr/>
        </p:nvCxnSpPr>
        <p:spPr>
          <a:xfrm>
            <a:off x="6554414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C912BB7-2FAC-46DC-C34D-2A2B25C48B8E}"/>
              </a:ext>
            </a:extLst>
          </p:cNvPr>
          <p:cNvSpPr txBox="1"/>
          <p:nvPr/>
        </p:nvSpPr>
        <p:spPr>
          <a:xfrm flipH="1">
            <a:off x="6099626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A1</a:t>
            </a:r>
            <a:endParaRPr lang="en-I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280CEC-19B1-AE03-EF76-8E5DE6DF1918}"/>
              </a:ext>
            </a:extLst>
          </p:cNvPr>
          <p:cNvCxnSpPr>
            <a:cxnSpLocks/>
          </p:cNvCxnSpPr>
          <p:nvPr/>
        </p:nvCxnSpPr>
        <p:spPr>
          <a:xfrm>
            <a:off x="7478021" y="1144944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90696B2-4A1E-DE3E-B817-B3662285E427}"/>
              </a:ext>
            </a:extLst>
          </p:cNvPr>
          <p:cNvSpPr txBox="1"/>
          <p:nvPr/>
        </p:nvSpPr>
        <p:spPr>
          <a:xfrm flipH="1">
            <a:off x="7023233" y="420682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A2</a:t>
            </a:r>
            <a:endParaRPr lang="en-IL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FD9901-E7C5-0CD9-BEF4-DEB5D3F9E7E8}"/>
              </a:ext>
            </a:extLst>
          </p:cNvPr>
          <p:cNvCxnSpPr>
            <a:cxnSpLocks/>
          </p:cNvCxnSpPr>
          <p:nvPr/>
        </p:nvCxnSpPr>
        <p:spPr>
          <a:xfrm>
            <a:off x="6540021" y="1347504"/>
            <a:ext cx="938000" cy="13302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5E5597-3956-E2A4-2A37-173235392786}"/>
              </a:ext>
            </a:extLst>
          </p:cNvPr>
          <p:cNvCxnSpPr>
            <a:cxnSpLocks/>
          </p:cNvCxnSpPr>
          <p:nvPr/>
        </p:nvCxnSpPr>
        <p:spPr>
          <a:xfrm>
            <a:off x="7489995" y="1665542"/>
            <a:ext cx="849851" cy="14070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316AFFD-DC4C-61D2-2E93-8F1FFB948163}"/>
              </a:ext>
            </a:extLst>
          </p:cNvPr>
          <p:cNvCxnSpPr>
            <a:cxnSpLocks/>
          </p:cNvCxnSpPr>
          <p:nvPr/>
        </p:nvCxnSpPr>
        <p:spPr>
          <a:xfrm>
            <a:off x="11373786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8ACBF06-FCFD-7D5A-64F9-092FC8340C5A}"/>
              </a:ext>
            </a:extLst>
          </p:cNvPr>
          <p:cNvSpPr txBox="1"/>
          <p:nvPr/>
        </p:nvSpPr>
        <p:spPr>
          <a:xfrm flipH="1">
            <a:off x="10918998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B2</a:t>
            </a:r>
            <a:endParaRPr lang="en-IL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3046C1F-1AC6-ED4B-5287-BE795341247B}"/>
              </a:ext>
            </a:extLst>
          </p:cNvPr>
          <p:cNvCxnSpPr>
            <a:cxnSpLocks/>
          </p:cNvCxnSpPr>
          <p:nvPr/>
        </p:nvCxnSpPr>
        <p:spPr>
          <a:xfrm>
            <a:off x="10668006" y="2518369"/>
            <a:ext cx="679354" cy="10732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3297B66-4AE9-B45B-6587-8AC55BA729D8}"/>
              </a:ext>
            </a:extLst>
          </p:cNvPr>
          <p:cNvCxnSpPr>
            <a:cxnSpLocks/>
          </p:cNvCxnSpPr>
          <p:nvPr/>
        </p:nvCxnSpPr>
        <p:spPr>
          <a:xfrm flipH="1">
            <a:off x="10668006" y="2964945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3BEF7CB-D033-91D8-379F-9885FF2EBC00}"/>
              </a:ext>
            </a:extLst>
          </p:cNvPr>
          <p:cNvCxnSpPr>
            <a:cxnSpLocks/>
          </p:cNvCxnSpPr>
          <p:nvPr/>
        </p:nvCxnSpPr>
        <p:spPr>
          <a:xfrm flipH="1">
            <a:off x="10683577" y="3312312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7B591B-82DD-464D-71A5-EF747CCDF17B}"/>
              </a:ext>
            </a:extLst>
          </p:cNvPr>
          <p:cNvCxnSpPr>
            <a:cxnSpLocks/>
          </p:cNvCxnSpPr>
          <p:nvPr/>
        </p:nvCxnSpPr>
        <p:spPr>
          <a:xfrm flipH="1">
            <a:off x="10660789" y="3668390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F7E483-9CB0-8304-8705-F0BAB148E912}"/>
              </a:ext>
            </a:extLst>
          </p:cNvPr>
          <p:cNvCxnSpPr>
            <a:cxnSpLocks/>
          </p:cNvCxnSpPr>
          <p:nvPr/>
        </p:nvCxnSpPr>
        <p:spPr>
          <a:xfrm flipH="1">
            <a:off x="10660789" y="3967154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C9E1F4-DB45-118E-C135-53672E72E25D}"/>
              </a:ext>
            </a:extLst>
          </p:cNvPr>
          <p:cNvCxnSpPr>
            <a:cxnSpLocks/>
          </p:cNvCxnSpPr>
          <p:nvPr/>
        </p:nvCxnSpPr>
        <p:spPr>
          <a:xfrm flipH="1">
            <a:off x="7454831" y="4155553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68779E6-9B83-FEE5-CB4E-E498742D6FD6}"/>
              </a:ext>
            </a:extLst>
          </p:cNvPr>
          <p:cNvCxnSpPr>
            <a:cxnSpLocks/>
          </p:cNvCxnSpPr>
          <p:nvPr/>
        </p:nvCxnSpPr>
        <p:spPr>
          <a:xfrm flipH="1">
            <a:off x="7471656" y="3520663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551CE80-284B-52E6-99C2-99A23957F066}"/>
              </a:ext>
            </a:extLst>
          </p:cNvPr>
          <p:cNvCxnSpPr>
            <a:cxnSpLocks/>
          </p:cNvCxnSpPr>
          <p:nvPr/>
        </p:nvCxnSpPr>
        <p:spPr>
          <a:xfrm flipH="1">
            <a:off x="7449802" y="3828542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92336F5-59EF-F413-FB0B-09811C0B59A8}"/>
              </a:ext>
            </a:extLst>
          </p:cNvPr>
          <p:cNvCxnSpPr>
            <a:cxnSpLocks/>
          </p:cNvCxnSpPr>
          <p:nvPr/>
        </p:nvCxnSpPr>
        <p:spPr>
          <a:xfrm flipH="1">
            <a:off x="7464820" y="4436458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0BA65AE-74A9-68AB-CE7B-FEEB38BC7DA6}"/>
              </a:ext>
            </a:extLst>
          </p:cNvPr>
          <p:cNvCxnSpPr>
            <a:cxnSpLocks/>
          </p:cNvCxnSpPr>
          <p:nvPr/>
        </p:nvCxnSpPr>
        <p:spPr>
          <a:xfrm flipH="1">
            <a:off x="6576220" y="4710256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D6BBCDA-4692-3782-F6EE-4E19C4C438CB}"/>
              </a:ext>
            </a:extLst>
          </p:cNvPr>
          <p:cNvCxnSpPr>
            <a:cxnSpLocks/>
          </p:cNvCxnSpPr>
          <p:nvPr/>
        </p:nvCxnSpPr>
        <p:spPr>
          <a:xfrm flipH="1">
            <a:off x="6583317" y="4075366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C0BBA03-FA05-820A-4479-48255A9D83C4}"/>
              </a:ext>
            </a:extLst>
          </p:cNvPr>
          <p:cNvCxnSpPr>
            <a:cxnSpLocks/>
          </p:cNvCxnSpPr>
          <p:nvPr/>
        </p:nvCxnSpPr>
        <p:spPr>
          <a:xfrm flipH="1">
            <a:off x="6571191" y="4383245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A4ABE46-641B-04DD-E118-E955286E4866}"/>
              </a:ext>
            </a:extLst>
          </p:cNvPr>
          <p:cNvCxnSpPr>
            <a:cxnSpLocks/>
          </p:cNvCxnSpPr>
          <p:nvPr/>
        </p:nvCxnSpPr>
        <p:spPr>
          <a:xfrm flipH="1">
            <a:off x="6586209" y="4991161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317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24D2-F7D1-491D-131A-39B10E72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57B0-CF89-ACF9-1359-C11587D4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are like fractals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9266-9D7F-051A-BE82-7056E5A1A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real systems agents have many components</a:t>
            </a:r>
          </a:p>
          <a:p>
            <a:endParaRPr lang="en-US" dirty="0"/>
          </a:p>
          <a:p>
            <a:r>
              <a:rPr lang="en-US" dirty="0"/>
              <a:t>A: App -&gt; OS -&gt; NIC -&gt;</a:t>
            </a:r>
          </a:p>
          <a:p>
            <a:r>
              <a:rPr lang="en-US" dirty="0"/>
              <a:t>B: NIC -&gt; SW service </a:t>
            </a:r>
          </a:p>
          <a:p>
            <a:endParaRPr lang="en-US" dirty="0"/>
          </a:p>
          <a:p>
            <a:r>
              <a:rPr lang="en-US" dirty="0"/>
              <a:t>NIC: PCIe -&gt; </a:t>
            </a:r>
            <a:br>
              <a:rPr lang="en-US" dirty="0"/>
            </a:br>
            <a:r>
              <a:rPr lang="en-US" dirty="0"/>
              <a:t>	 packet processor -&gt;</a:t>
            </a:r>
            <a:br>
              <a:rPr lang="en-US" dirty="0"/>
            </a:br>
            <a:r>
              <a:rPr lang="en-US" dirty="0"/>
              <a:t>	 …</a:t>
            </a:r>
            <a:br>
              <a:rPr lang="en-US" dirty="0"/>
            </a:br>
            <a:r>
              <a:rPr lang="en-US" dirty="0"/>
              <a:t>	 optical transceiver -&gt;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CCB48-6F0A-054D-69F8-C998688BF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4E7CD-AFAA-5FAB-35F0-DE84860D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FF436A-6078-A47C-C45D-8A81E59D96EC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4BC739-0753-A832-4B70-4F1C735DE95E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2F2F0D-538B-FB8B-2BCA-922D3542566A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6ADB142-4F46-92DD-8D66-5D7DF07B2F2E}"/>
              </a:ext>
            </a:extLst>
          </p:cNvPr>
          <p:cNvSpPr txBox="1"/>
          <p:nvPr/>
        </p:nvSpPr>
        <p:spPr>
          <a:xfrm flipH="1">
            <a:off x="1020960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B1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7065CF-B9E6-1AF5-EF52-83A8C9BCAF81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F2C80D-E7CE-F0D6-2D0A-796110B66E14}"/>
              </a:ext>
            </a:extLst>
          </p:cNvPr>
          <p:cNvSpPr txBox="1"/>
          <p:nvPr/>
        </p:nvSpPr>
        <p:spPr>
          <a:xfrm flipH="1">
            <a:off x="7881449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A3</a:t>
            </a:r>
            <a:endParaRPr lang="en-IL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8BEC20-C7AF-DA70-CC39-7CC36175FB5C}"/>
              </a:ext>
            </a:extLst>
          </p:cNvPr>
          <p:cNvCxnSpPr>
            <a:cxnSpLocks/>
          </p:cNvCxnSpPr>
          <p:nvPr/>
        </p:nvCxnSpPr>
        <p:spPr>
          <a:xfrm>
            <a:off x="8336237" y="2001973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B9C17F-4868-8FDB-2272-9ED058AF0CD6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6EDA077-9A8B-187D-A4D3-D81964058B80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56C1F9A-B806-A197-B622-022F5571FC89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4D0EB5-18D0-E50D-87B5-68F6A7EB72E9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938452D-37CB-E03E-AB5F-F13E522B46BB}"/>
              </a:ext>
            </a:extLst>
          </p:cNvPr>
          <p:cNvSpPr txBox="1"/>
          <p:nvPr/>
        </p:nvSpPr>
        <p:spPr>
          <a:xfrm rot="478769" flipH="1">
            <a:off x="8940403" y="1820021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3400F6-CD9C-2A75-031A-128F304B9932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ADAFD2-6371-9E68-AECA-1394FD4D390B}"/>
              </a:ext>
            </a:extLst>
          </p:cNvPr>
          <p:cNvCxnSpPr>
            <a:cxnSpLocks/>
          </p:cNvCxnSpPr>
          <p:nvPr/>
        </p:nvCxnSpPr>
        <p:spPr>
          <a:xfrm>
            <a:off x="6554414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8825E4-2395-C38B-778A-2C2B8F34C5DA}"/>
              </a:ext>
            </a:extLst>
          </p:cNvPr>
          <p:cNvSpPr txBox="1"/>
          <p:nvPr/>
        </p:nvSpPr>
        <p:spPr>
          <a:xfrm flipH="1">
            <a:off x="6099626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A1</a:t>
            </a:r>
            <a:endParaRPr lang="en-I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8E4C8D-6CC7-3262-8744-448F109B27BA}"/>
              </a:ext>
            </a:extLst>
          </p:cNvPr>
          <p:cNvCxnSpPr>
            <a:cxnSpLocks/>
          </p:cNvCxnSpPr>
          <p:nvPr/>
        </p:nvCxnSpPr>
        <p:spPr>
          <a:xfrm>
            <a:off x="7478021" y="1144944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FF2A10-7478-8414-B808-9B9E27AFF113}"/>
              </a:ext>
            </a:extLst>
          </p:cNvPr>
          <p:cNvSpPr txBox="1"/>
          <p:nvPr/>
        </p:nvSpPr>
        <p:spPr>
          <a:xfrm flipH="1">
            <a:off x="7023233" y="420682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A2</a:t>
            </a:r>
            <a:endParaRPr lang="en-IL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85E893-601A-D8AB-A610-51427E11AA5C}"/>
              </a:ext>
            </a:extLst>
          </p:cNvPr>
          <p:cNvCxnSpPr>
            <a:cxnSpLocks/>
          </p:cNvCxnSpPr>
          <p:nvPr/>
        </p:nvCxnSpPr>
        <p:spPr>
          <a:xfrm>
            <a:off x="6540021" y="1347504"/>
            <a:ext cx="938000" cy="13302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942BD16-4081-74EC-1669-BDF76FDA7C84}"/>
              </a:ext>
            </a:extLst>
          </p:cNvPr>
          <p:cNvCxnSpPr>
            <a:cxnSpLocks/>
          </p:cNvCxnSpPr>
          <p:nvPr/>
        </p:nvCxnSpPr>
        <p:spPr>
          <a:xfrm>
            <a:off x="7489995" y="1665542"/>
            <a:ext cx="849851" cy="14070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2F409C-F71B-ABEB-209C-0CEAC5016C61}"/>
              </a:ext>
            </a:extLst>
          </p:cNvPr>
          <p:cNvCxnSpPr>
            <a:cxnSpLocks/>
          </p:cNvCxnSpPr>
          <p:nvPr/>
        </p:nvCxnSpPr>
        <p:spPr>
          <a:xfrm>
            <a:off x="11373786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14FB0A1-60B6-A67B-32EF-90A8E5F9DE96}"/>
              </a:ext>
            </a:extLst>
          </p:cNvPr>
          <p:cNvSpPr txBox="1"/>
          <p:nvPr/>
        </p:nvSpPr>
        <p:spPr>
          <a:xfrm flipH="1">
            <a:off x="10918998" y="443057"/>
            <a:ext cx="90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Agent</a:t>
            </a:r>
            <a:br>
              <a:rPr lang="en-US" dirty="0"/>
            </a:br>
            <a:r>
              <a:rPr lang="en-US" dirty="0"/>
              <a:t>B2</a:t>
            </a:r>
            <a:endParaRPr lang="en-IL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2D4E514-2322-2715-C83B-F50BF7B1BE08}"/>
              </a:ext>
            </a:extLst>
          </p:cNvPr>
          <p:cNvCxnSpPr>
            <a:cxnSpLocks/>
          </p:cNvCxnSpPr>
          <p:nvPr/>
        </p:nvCxnSpPr>
        <p:spPr>
          <a:xfrm>
            <a:off x="10668006" y="2518369"/>
            <a:ext cx="679354" cy="10732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D8F0A8-2647-973E-9D37-5C08F27C082F}"/>
              </a:ext>
            </a:extLst>
          </p:cNvPr>
          <p:cNvCxnSpPr>
            <a:cxnSpLocks/>
          </p:cNvCxnSpPr>
          <p:nvPr/>
        </p:nvCxnSpPr>
        <p:spPr>
          <a:xfrm flipH="1">
            <a:off x="10668006" y="2964945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FF2A54-7356-2121-4206-F1EC53A5B341}"/>
              </a:ext>
            </a:extLst>
          </p:cNvPr>
          <p:cNvCxnSpPr>
            <a:cxnSpLocks/>
          </p:cNvCxnSpPr>
          <p:nvPr/>
        </p:nvCxnSpPr>
        <p:spPr>
          <a:xfrm flipH="1">
            <a:off x="10683577" y="3312312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C6AC5F-8BEE-06D3-A2A4-82C887DD67D4}"/>
              </a:ext>
            </a:extLst>
          </p:cNvPr>
          <p:cNvCxnSpPr>
            <a:cxnSpLocks/>
          </p:cNvCxnSpPr>
          <p:nvPr/>
        </p:nvCxnSpPr>
        <p:spPr>
          <a:xfrm flipH="1">
            <a:off x="10660789" y="3668390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6BBD940-9E37-BBD6-B040-30968D1B4427}"/>
              </a:ext>
            </a:extLst>
          </p:cNvPr>
          <p:cNvCxnSpPr>
            <a:cxnSpLocks/>
          </p:cNvCxnSpPr>
          <p:nvPr/>
        </p:nvCxnSpPr>
        <p:spPr>
          <a:xfrm flipH="1">
            <a:off x="10660789" y="3967154"/>
            <a:ext cx="679354" cy="4924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C6D401B-2E09-8998-534F-80BB9299364A}"/>
              </a:ext>
            </a:extLst>
          </p:cNvPr>
          <p:cNvCxnSpPr>
            <a:cxnSpLocks/>
          </p:cNvCxnSpPr>
          <p:nvPr/>
        </p:nvCxnSpPr>
        <p:spPr>
          <a:xfrm flipH="1">
            <a:off x="7454831" y="4155553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41D284C-6BFC-4077-5001-4ADC4D16117F}"/>
              </a:ext>
            </a:extLst>
          </p:cNvPr>
          <p:cNvCxnSpPr>
            <a:cxnSpLocks/>
          </p:cNvCxnSpPr>
          <p:nvPr/>
        </p:nvCxnSpPr>
        <p:spPr>
          <a:xfrm flipH="1">
            <a:off x="7471656" y="3520663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80700B-23EE-539F-5E89-ACAD1A4454B3}"/>
              </a:ext>
            </a:extLst>
          </p:cNvPr>
          <p:cNvCxnSpPr>
            <a:cxnSpLocks/>
          </p:cNvCxnSpPr>
          <p:nvPr/>
        </p:nvCxnSpPr>
        <p:spPr>
          <a:xfrm flipH="1">
            <a:off x="7449802" y="3828542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9151B0B-CF50-2796-3519-90E1713362CD}"/>
              </a:ext>
            </a:extLst>
          </p:cNvPr>
          <p:cNvCxnSpPr>
            <a:cxnSpLocks/>
          </p:cNvCxnSpPr>
          <p:nvPr/>
        </p:nvCxnSpPr>
        <p:spPr>
          <a:xfrm flipH="1">
            <a:off x="7464820" y="4436458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7CB8FFD-98F6-34EE-9D34-D7232670714B}"/>
              </a:ext>
            </a:extLst>
          </p:cNvPr>
          <p:cNvCxnSpPr>
            <a:cxnSpLocks/>
          </p:cNvCxnSpPr>
          <p:nvPr/>
        </p:nvCxnSpPr>
        <p:spPr>
          <a:xfrm flipH="1">
            <a:off x="6576220" y="4710256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E68FC42-88C1-0A25-A9E9-6F9B854D15C8}"/>
              </a:ext>
            </a:extLst>
          </p:cNvPr>
          <p:cNvCxnSpPr>
            <a:cxnSpLocks/>
          </p:cNvCxnSpPr>
          <p:nvPr/>
        </p:nvCxnSpPr>
        <p:spPr>
          <a:xfrm flipH="1">
            <a:off x="6583317" y="4075366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FCACD17-C744-D86D-28BB-5F4715B93CF6}"/>
              </a:ext>
            </a:extLst>
          </p:cNvPr>
          <p:cNvCxnSpPr>
            <a:cxnSpLocks/>
          </p:cNvCxnSpPr>
          <p:nvPr/>
        </p:nvCxnSpPr>
        <p:spPr>
          <a:xfrm flipH="1">
            <a:off x="6571191" y="4383245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FFEFBDE-C413-B715-4327-9DA2F2795244}"/>
              </a:ext>
            </a:extLst>
          </p:cNvPr>
          <p:cNvCxnSpPr>
            <a:cxnSpLocks/>
          </p:cNvCxnSpPr>
          <p:nvPr/>
        </p:nvCxnSpPr>
        <p:spPr>
          <a:xfrm flipH="1">
            <a:off x="6586209" y="4991161"/>
            <a:ext cx="869613" cy="9152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400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83DE-F718-0FF8-205F-B119F7E2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Fractals in the wild:</a:t>
            </a:r>
            <a:br>
              <a:rPr lang="en-US" sz="4000" dirty="0"/>
            </a:br>
            <a:r>
              <a:rPr lang="en-US" sz="4000" dirty="0"/>
              <a:t>Read from disk, simple host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3AE89-93AB-AEFB-48A6-EA2BFB54D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914303" cy="4351338"/>
          </a:xfrm>
        </p:spPr>
        <p:txBody>
          <a:bodyPr>
            <a:normAutofit/>
          </a:bodyPr>
          <a:lstStyle/>
          <a:p>
            <a:r>
              <a:rPr lang="en-US" dirty="0"/>
              <a:t>App calls read() </a:t>
            </a:r>
            <a:r>
              <a:rPr lang="en-US" dirty="0" err="1"/>
              <a:t>syscall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70624-E252-A8EB-B023-262ADC04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6C0CE-ED3F-D6AD-CCF4-9E089CAE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8DA734-1653-987C-A895-A346B778DA84}"/>
              </a:ext>
            </a:extLst>
          </p:cNvPr>
          <p:cNvCxnSpPr>
            <a:cxnSpLocks/>
          </p:cNvCxnSpPr>
          <p:nvPr/>
        </p:nvCxnSpPr>
        <p:spPr>
          <a:xfrm>
            <a:off x="11805775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00BD7A-189A-911C-E1CF-C71CFDE1C8CB}"/>
              </a:ext>
            </a:extLst>
          </p:cNvPr>
          <p:cNvCxnSpPr>
            <a:cxnSpLocks/>
          </p:cNvCxnSpPr>
          <p:nvPr/>
        </p:nvCxnSpPr>
        <p:spPr>
          <a:xfrm>
            <a:off x="1066439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47A54D-92A1-3DF6-F944-87A006337D59}"/>
              </a:ext>
            </a:extLst>
          </p:cNvPr>
          <p:cNvSpPr txBox="1"/>
          <p:nvPr/>
        </p:nvSpPr>
        <p:spPr>
          <a:xfrm flipH="1">
            <a:off x="10206001" y="769113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Disk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AAE92D-196C-665B-2E9D-D158DD1E3467}"/>
              </a:ext>
            </a:extLst>
          </p:cNvPr>
          <p:cNvCxnSpPr>
            <a:cxnSpLocks/>
          </p:cNvCxnSpPr>
          <p:nvPr/>
        </p:nvCxnSpPr>
        <p:spPr>
          <a:xfrm>
            <a:off x="8336237" y="1167319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7C9636-E6DE-1520-A406-E273C5459A51}"/>
              </a:ext>
            </a:extLst>
          </p:cNvPr>
          <p:cNvCxnSpPr>
            <a:cxnSpLocks/>
          </p:cNvCxnSpPr>
          <p:nvPr/>
        </p:nvCxnSpPr>
        <p:spPr>
          <a:xfrm>
            <a:off x="8336237" y="1690688"/>
            <a:ext cx="2328160" cy="3423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5BCF72-8EB6-F13F-C3D8-CE563C31F7ED}"/>
              </a:ext>
            </a:extLst>
          </p:cNvPr>
          <p:cNvCxnSpPr>
            <a:cxnSpLocks/>
          </p:cNvCxnSpPr>
          <p:nvPr/>
        </p:nvCxnSpPr>
        <p:spPr>
          <a:xfrm flipH="1">
            <a:off x="8336236" y="3177208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F20485-0855-1502-5C58-EC1D990764A7}"/>
              </a:ext>
            </a:extLst>
          </p:cNvPr>
          <p:cNvCxnSpPr>
            <a:cxnSpLocks/>
          </p:cNvCxnSpPr>
          <p:nvPr/>
        </p:nvCxnSpPr>
        <p:spPr>
          <a:xfrm flipH="1">
            <a:off x="8332629" y="348057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ABCF8-75FF-B856-CF9C-0641A57CC6DB}"/>
              </a:ext>
            </a:extLst>
          </p:cNvPr>
          <p:cNvCxnSpPr>
            <a:cxnSpLocks/>
          </p:cNvCxnSpPr>
          <p:nvPr/>
        </p:nvCxnSpPr>
        <p:spPr>
          <a:xfrm flipH="1">
            <a:off x="8332629" y="3781220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E916DE-2275-CC90-CAF0-C8AA9638F26C}"/>
              </a:ext>
            </a:extLst>
          </p:cNvPr>
          <p:cNvCxnSpPr>
            <a:cxnSpLocks/>
          </p:cNvCxnSpPr>
          <p:nvPr/>
        </p:nvCxnSpPr>
        <p:spPr>
          <a:xfrm flipH="1">
            <a:off x="8339846" y="4075366"/>
            <a:ext cx="2328160" cy="17171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CDC1CF5-C852-E7B6-7280-D8D2CCF73004}"/>
              </a:ext>
            </a:extLst>
          </p:cNvPr>
          <p:cNvSpPr txBox="1"/>
          <p:nvPr/>
        </p:nvSpPr>
        <p:spPr>
          <a:xfrm rot="622596" flipH="1">
            <a:off x="8940403" y="1508736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810739-EB70-5431-E14F-74998FE34977}"/>
              </a:ext>
            </a:extLst>
          </p:cNvPr>
          <p:cNvSpPr txBox="1"/>
          <p:nvPr/>
        </p:nvSpPr>
        <p:spPr>
          <a:xfrm rot="21344782" flipH="1">
            <a:off x="8752075" y="290940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C8FB03-9C23-92AF-F365-8342750F0096}"/>
              </a:ext>
            </a:extLst>
          </p:cNvPr>
          <p:cNvSpPr txBox="1"/>
          <p:nvPr/>
        </p:nvSpPr>
        <p:spPr>
          <a:xfrm flipH="1">
            <a:off x="7830925" y="768509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App</a:t>
            </a:r>
            <a:endParaRPr lang="en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AD9B14-C460-60D2-E354-3872AEDC3C67}"/>
              </a:ext>
            </a:extLst>
          </p:cNvPr>
          <p:cNvSpPr txBox="1"/>
          <p:nvPr/>
        </p:nvSpPr>
        <p:spPr>
          <a:xfrm rot="5400000" flipH="1">
            <a:off x="11653863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92025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68AA4-14F3-3C96-92A2-98CECEA7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C784-2128-86BC-B414-B68EF4598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Fractals in the wild:</a:t>
            </a:r>
            <a:br>
              <a:rPr lang="en-US" sz="4000" dirty="0"/>
            </a:br>
            <a:r>
              <a:rPr lang="en-US" sz="4000" dirty="0"/>
              <a:t>Read from disk, simple host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11F05-CB29-7C6D-E6C8-091550CAD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731421" cy="4351338"/>
          </a:xfrm>
        </p:spPr>
        <p:txBody>
          <a:bodyPr>
            <a:normAutofit/>
          </a:bodyPr>
          <a:lstStyle/>
          <a:p>
            <a:r>
              <a:rPr lang="en-US" dirty="0"/>
              <a:t>When we call the read() </a:t>
            </a:r>
            <a:r>
              <a:rPr lang="en-US" dirty="0" err="1"/>
              <a:t>syscall</a:t>
            </a:r>
            <a:r>
              <a:rPr lang="en-US" dirty="0"/>
              <a:t>, we go through multiple SW/HW layers</a:t>
            </a:r>
          </a:p>
          <a:p>
            <a:pPr lvl="1"/>
            <a:r>
              <a:rPr lang="en-US" sz="2000" dirty="0"/>
              <a:t>App calls </a:t>
            </a:r>
            <a:r>
              <a:rPr lang="en-US" sz="2000" dirty="0" err="1"/>
              <a:t>syscall</a:t>
            </a:r>
            <a:r>
              <a:rPr lang="en-US" sz="2000" dirty="0"/>
              <a:t>, which traps to OS 	[SW]</a:t>
            </a:r>
          </a:p>
          <a:p>
            <a:pPr lvl="1"/>
            <a:r>
              <a:rPr lang="en-US" sz="2000" dirty="0"/>
              <a:t>OS filesystem maps file to disk blocks	[SW]</a:t>
            </a:r>
          </a:p>
          <a:p>
            <a:pPr lvl="1"/>
            <a:r>
              <a:rPr lang="en-US" sz="2000" dirty="0"/>
              <a:t>OS block layer gets to device driver		[SW]</a:t>
            </a:r>
          </a:p>
          <a:p>
            <a:pPr lvl="1"/>
            <a:r>
              <a:rPr lang="en-US" sz="2000" dirty="0"/>
              <a:t>Device driver call storage controller 	[SW/HW]</a:t>
            </a:r>
          </a:p>
          <a:p>
            <a:pPr lvl="1"/>
            <a:r>
              <a:rPr lang="en-US" sz="2000" dirty="0"/>
              <a:t>Storage controller comm. w. disk 		[HW]</a:t>
            </a:r>
          </a:p>
          <a:p>
            <a:pPr lvl="1"/>
            <a:r>
              <a:rPr lang="en-US" sz="2000" dirty="0"/>
              <a:t>Device sends data 			[HW]</a:t>
            </a:r>
          </a:p>
          <a:p>
            <a:pPr lvl="1"/>
            <a:r>
              <a:rPr lang="en-US" sz="2000" dirty="0"/>
              <a:t>And all the way back…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6C175-C675-9B8D-B1F2-938638899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7A18D-46D8-B7C6-4AC5-11C1FB101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 dirty="0"/>
              <a:t>00460882 </a:t>
            </a:r>
            <a:r>
              <a:rPr lang="en-US" dirty="0"/>
              <a:t> - HW/SW Co-design</a:t>
            </a:r>
            <a:endParaRPr lang="en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3DB6CC-F64D-F6EF-BDF4-49740870FA12}"/>
              </a:ext>
            </a:extLst>
          </p:cNvPr>
          <p:cNvCxnSpPr>
            <a:cxnSpLocks/>
          </p:cNvCxnSpPr>
          <p:nvPr/>
        </p:nvCxnSpPr>
        <p:spPr>
          <a:xfrm>
            <a:off x="11915844" y="661481"/>
            <a:ext cx="0" cy="564564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962DCB-9E0C-AA6A-07A0-88D889843A7C}"/>
              </a:ext>
            </a:extLst>
          </p:cNvPr>
          <p:cNvCxnSpPr>
            <a:cxnSpLocks/>
          </p:cNvCxnSpPr>
          <p:nvPr/>
        </p:nvCxnSpPr>
        <p:spPr>
          <a:xfrm>
            <a:off x="11790464" y="1410197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20C2B0C-C887-B904-E28E-958168E20E81}"/>
              </a:ext>
            </a:extLst>
          </p:cNvPr>
          <p:cNvSpPr txBox="1"/>
          <p:nvPr/>
        </p:nvSpPr>
        <p:spPr>
          <a:xfrm flipH="1">
            <a:off x="11292747" y="822009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Disk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BBB3F1-D524-C7B6-A9AE-B3236CA8A6D7}"/>
              </a:ext>
            </a:extLst>
          </p:cNvPr>
          <p:cNvCxnSpPr>
            <a:cxnSpLocks/>
          </p:cNvCxnSpPr>
          <p:nvPr/>
        </p:nvCxnSpPr>
        <p:spPr>
          <a:xfrm>
            <a:off x="7658903" y="1376007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A313B6-E092-0E50-777E-D59670014E9A}"/>
              </a:ext>
            </a:extLst>
          </p:cNvPr>
          <p:cNvCxnSpPr>
            <a:cxnSpLocks/>
          </p:cNvCxnSpPr>
          <p:nvPr/>
        </p:nvCxnSpPr>
        <p:spPr>
          <a:xfrm>
            <a:off x="7658903" y="1690688"/>
            <a:ext cx="650314" cy="12765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1B7839-611B-8CE6-641E-3C1568B58181}"/>
              </a:ext>
            </a:extLst>
          </p:cNvPr>
          <p:cNvSpPr txBox="1"/>
          <p:nvPr/>
        </p:nvSpPr>
        <p:spPr>
          <a:xfrm rot="622596" flipH="1">
            <a:off x="9218696" y="1584720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AE6312-9F5E-FC04-BA60-8AC30DDF3BDA}"/>
              </a:ext>
            </a:extLst>
          </p:cNvPr>
          <p:cNvSpPr txBox="1"/>
          <p:nvPr/>
        </p:nvSpPr>
        <p:spPr>
          <a:xfrm rot="21344782" flipH="1">
            <a:off x="9001912" y="2820780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FEA60-86BA-08F8-F651-8DEEE667A50C}"/>
              </a:ext>
            </a:extLst>
          </p:cNvPr>
          <p:cNvSpPr txBox="1"/>
          <p:nvPr/>
        </p:nvSpPr>
        <p:spPr>
          <a:xfrm flipH="1">
            <a:off x="7164708" y="794386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App</a:t>
            </a:r>
            <a:endParaRPr lang="en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72E6E1-5D93-E3E2-C4E8-E9FB9CBEDCDA}"/>
              </a:ext>
            </a:extLst>
          </p:cNvPr>
          <p:cNvSpPr txBox="1"/>
          <p:nvPr/>
        </p:nvSpPr>
        <p:spPr>
          <a:xfrm rot="5400000" flipH="1">
            <a:off x="11763932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144C5A-E16B-B271-1C49-4C5E87ADED36}"/>
              </a:ext>
            </a:extLst>
          </p:cNvPr>
          <p:cNvCxnSpPr>
            <a:cxnSpLocks/>
          </p:cNvCxnSpPr>
          <p:nvPr/>
        </p:nvCxnSpPr>
        <p:spPr>
          <a:xfrm>
            <a:off x="8340025" y="1381556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7B3D4F-BD6B-82EA-38DB-3B4CAF3610FD}"/>
              </a:ext>
            </a:extLst>
          </p:cNvPr>
          <p:cNvCxnSpPr>
            <a:cxnSpLocks/>
          </p:cNvCxnSpPr>
          <p:nvPr/>
        </p:nvCxnSpPr>
        <p:spPr>
          <a:xfrm>
            <a:off x="9094343" y="1410197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4F0455-DC4E-5D59-C41F-F23E81C73FFB}"/>
              </a:ext>
            </a:extLst>
          </p:cNvPr>
          <p:cNvCxnSpPr>
            <a:cxnSpLocks/>
          </p:cNvCxnSpPr>
          <p:nvPr/>
        </p:nvCxnSpPr>
        <p:spPr>
          <a:xfrm>
            <a:off x="9855380" y="1418664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23C0C1-EE38-CE29-5339-44AABDBBF2B6}"/>
              </a:ext>
            </a:extLst>
          </p:cNvPr>
          <p:cNvCxnSpPr>
            <a:cxnSpLocks/>
          </p:cNvCxnSpPr>
          <p:nvPr/>
        </p:nvCxnSpPr>
        <p:spPr>
          <a:xfrm>
            <a:off x="10680320" y="1418664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898ECF6-C69C-46C6-DC4A-9A38D15B8045}"/>
              </a:ext>
            </a:extLst>
          </p:cNvPr>
          <p:cNvSpPr txBox="1"/>
          <p:nvPr/>
        </p:nvSpPr>
        <p:spPr>
          <a:xfrm flipH="1">
            <a:off x="7841106" y="799344"/>
            <a:ext cx="1015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OS</a:t>
            </a:r>
            <a:br>
              <a:rPr lang="en-US" dirty="0"/>
            </a:br>
            <a:r>
              <a:rPr lang="en-US" sz="1400" dirty="0"/>
              <a:t>(</a:t>
            </a:r>
            <a:r>
              <a:rPr lang="en-US" sz="1400" dirty="0" err="1"/>
              <a:t>syscall</a:t>
            </a:r>
            <a:r>
              <a:rPr lang="en-US" sz="1400" dirty="0"/>
              <a:t>)</a:t>
            </a:r>
            <a:endParaRPr lang="en-IL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FF3976-328C-F7B0-51BE-B4B837F31360}"/>
              </a:ext>
            </a:extLst>
          </p:cNvPr>
          <p:cNvSpPr txBox="1"/>
          <p:nvPr/>
        </p:nvSpPr>
        <p:spPr>
          <a:xfrm flipH="1">
            <a:off x="8586836" y="811910"/>
            <a:ext cx="1015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OS</a:t>
            </a:r>
            <a:br>
              <a:rPr lang="en-US" dirty="0"/>
            </a:br>
            <a:r>
              <a:rPr lang="en-US" sz="1400" dirty="0"/>
              <a:t>(fs)</a:t>
            </a:r>
            <a:endParaRPr lang="en-IL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8DE2CC-FAB1-C19B-B9C0-AB1835C00827}"/>
              </a:ext>
            </a:extLst>
          </p:cNvPr>
          <p:cNvSpPr txBox="1"/>
          <p:nvPr/>
        </p:nvSpPr>
        <p:spPr>
          <a:xfrm flipH="1">
            <a:off x="9374305" y="811910"/>
            <a:ext cx="1015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OS</a:t>
            </a:r>
            <a:br>
              <a:rPr lang="en-US" dirty="0"/>
            </a:br>
            <a:r>
              <a:rPr lang="en-US" sz="1400" dirty="0"/>
              <a:t>(block)</a:t>
            </a:r>
            <a:endParaRPr lang="en-IL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743536-497E-C9C2-E7C2-1AF20FE4F843}"/>
              </a:ext>
            </a:extLst>
          </p:cNvPr>
          <p:cNvSpPr txBox="1"/>
          <p:nvPr/>
        </p:nvSpPr>
        <p:spPr>
          <a:xfrm flipH="1">
            <a:off x="10119448" y="820282"/>
            <a:ext cx="1015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OS</a:t>
            </a:r>
            <a:br>
              <a:rPr lang="en-US" dirty="0"/>
            </a:br>
            <a:r>
              <a:rPr lang="en-US" sz="1400" dirty="0"/>
              <a:t>(driver)</a:t>
            </a:r>
            <a:endParaRPr lang="en-IL" sz="14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0F5F3F-C808-4927-7798-736C4E0BB40B}"/>
              </a:ext>
            </a:extLst>
          </p:cNvPr>
          <p:cNvCxnSpPr>
            <a:cxnSpLocks/>
          </p:cNvCxnSpPr>
          <p:nvPr/>
        </p:nvCxnSpPr>
        <p:spPr>
          <a:xfrm>
            <a:off x="11265530" y="1418664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2395AD5-B77D-6540-C674-832F61F3D63B}"/>
              </a:ext>
            </a:extLst>
          </p:cNvPr>
          <p:cNvSpPr txBox="1"/>
          <p:nvPr/>
        </p:nvSpPr>
        <p:spPr>
          <a:xfrm flipH="1">
            <a:off x="10803932" y="806675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</a:t>
            </a:r>
            <a:endParaRPr lang="en-IL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F1EA298-7C40-3077-7471-DFC788A9C658}"/>
              </a:ext>
            </a:extLst>
          </p:cNvPr>
          <p:cNvCxnSpPr>
            <a:cxnSpLocks/>
          </p:cNvCxnSpPr>
          <p:nvPr/>
        </p:nvCxnSpPr>
        <p:spPr>
          <a:xfrm>
            <a:off x="8369717" y="2013335"/>
            <a:ext cx="713725" cy="15258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B92ABC7-3963-D1CA-119A-C09EA5BE3744}"/>
              </a:ext>
            </a:extLst>
          </p:cNvPr>
          <p:cNvCxnSpPr>
            <a:cxnSpLocks/>
          </p:cNvCxnSpPr>
          <p:nvPr/>
        </p:nvCxnSpPr>
        <p:spPr>
          <a:xfrm>
            <a:off x="9105245" y="2266626"/>
            <a:ext cx="720979" cy="16795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4F527E0-21AA-F138-01B2-007B7463904D}"/>
              </a:ext>
            </a:extLst>
          </p:cNvPr>
          <p:cNvCxnSpPr>
            <a:cxnSpLocks/>
          </p:cNvCxnSpPr>
          <p:nvPr/>
        </p:nvCxnSpPr>
        <p:spPr>
          <a:xfrm>
            <a:off x="9884358" y="2502889"/>
            <a:ext cx="774672" cy="18104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DA5A0B5-A617-C021-CAE3-26185AE83CA4}"/>
              </a:ext>
            </a:extLst>
          </p:cNvPr>
          <p:cNvCxnSpPr>
            <a:cxnSpLocks/>
          </p:cNvCxnSpPr>
          <p:nvPr/>
        </p:nvCxnSpPr>
        <p:spPr>
          <a:xfrm>
            <a:off x="10703486" y="2768798"/>
            <a:ext cx="538879" cy="11528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3A87AC4-64C7-EFF9-509A-A5C9876C35B5}"/>
              </a:ext>
            </a:extLst>
          </p:cNvPr>
          <p:cNvCxnSpPr>
            <a:cxnSpLocks/>
          </p:cNvCxnSpPr>
          <p:nvPr/>
        </p:nvCxnSpPr>
        <p:spPr>
          <a:xfrm>
            <a:off x="11294687" y="3069233"/>
            <a:ext cx="532888" cy="9501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0557EAB-07B5-B197-7E68-CE608E6D0A0F}"/>
              </a:ext>
            </a:extLst>
          </p:cNvPr>
          <p:cNvGrpSpPr/>
          <p:nvPr/>
        </p:nvGrpSpPr>
        <p:grpSpPr>
          <a:xfrm>
            <a:off x="11265528" y="3568580"/>
            <a:ext cx="516753" cy="574080"/>
            <a:chOff x="11080382" y="3568580"/>
            <a:chExt cx="701900" cy="574080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60CEEC9B-315E-3BFA-6B5E-C560DD7139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0382" y="3568580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7AF5298-49B2-C994-0413-6C4CC8081D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3652" y="3905160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44AB8AE-CF8A-FB58-FBFC-E49F72905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890" y="3740151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598C62C-7B1F-BDC9-5F14-CD28303D02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160" y="4076731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1B59B20-B242-985D-C37F-895834618C85}"/>
              </a:ext>
            </a:extLst>
          </p:cNvPr>
          <p:cNvGrpSpPr/>
          <p:nvPr/>
        </p:nvGrpSpPr>
        <p:grpSpPr>
          <a:xfrm>
            <a:off x="10680321" y="3792663"/>
            <a:ext cx="569916" cy="574080"/>
            <a:chOff x="11080382" y="3568580"/>
            <a:chExt cx="701900" cy="574080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A647E9C-BE87-7411-9004-E0C46E0B2A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0382" y="3568580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FDE5A5B7-2F4D-3352-154F-97C6541F3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3652" y="3905160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092F0AF-37EB-BD3D-0F6E-CF203CE629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890" y="3740151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121185EB-6505-6E1F-35C4-7C74E21054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160" y="4076731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C1E8075-1726-946B-6B6B-1CFB1841AC46}"/>
              </a:ext>
            </a:extLst>
          </p:cNvPr>
          <p:cNvGrpSpPr/>
          <p:nvPr/>
        </p:nvGrpSpPr>
        <p:grpSpPr>
          <a:xfrm>
            <a:off x="9848661" y="3945063"/>
            <a:ext cx="783509" cy="574080"/>
            <a:chOff x="11080382" y="3568580"/>
            <a:chExt cx="701900" cy="574080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CCA459BA-AE18-8408-D1F9-0A60A1DB7E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0382" y="3568580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A1706A5-B4FC-492A-2626-182DBFDF9B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3652" y="3905160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A875F0D8-18F9-605B-9A8A-3F5532F24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890" y="3740151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5FBB64B0-FF74-E708-CC80-911FA8C5F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160" y="4076731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B6C723C-525C-B49B-C30F-75C4A3135F26}"/>
              </a:ext>
            </a:extLst>
          </p:cNvPr>
          <p:cNvGrpSpPr/>
          <p:nvPr/>
        </p:nvGrpSpPr>
        <p:grpSpPr>
          <a:xfrm>
            <a:off x="9043605" y="4183953"/>
            <a:ext cx="783509" cy="574080"/>
            <a:chOff x="11080382" y="3568580"/>
            <a:chExt cx="701900" cy="574080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A7DA3BFC-2A04-BE13-B865-F11DFCD151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0382" y="3568580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862A40E-E585-3C7E-8AD6-DE9DFC3F6E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3652" y="3905160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DF2C5B6-3001-A889-D5B0-4067C2327F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890" y="3740151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2C9AFEF8-F634-29B2-E0B3-6DB241CB70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160" y="4076731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CB33D55-0F71-3E8F-AEE9-C678613C3238}"/>
              </a:ext>
            </a:extLst>
          </p:cNvPr>
          <p:cNvGrpSpPr/>
          <p:nvPr/>
        </p:nvGrpSpPr>
        <p:grpSpPr>
          <a:xfrm>
            <a:off x="8312482" y="4421416"/>
            <a:ext cx="736169" cy="574080"/>
            <a:chOff x="11080382" y="3568580"/>
            <a:chExt cx="701900" cy="574080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752FF68-82F5-E8A1-D35B-03D9A08130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0382" y="3568580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01C98D51-170B-EB19-7FE0-CD07C35936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3652" y="3905160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D978104-BF78-AFCC-A030-25CD985C92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890" y="3740151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76EA088-8A49-BAA7-D9A7-EB5F87399D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160" y="4076731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A847BF4-4288-3CCF-9C84-76F710B41563}"/>
              </a:ext>
            </a:extLst>
          </p:cNvPr>
          <p:cNvGrpSpPr/>
          <p:nvPr/>
        </p:nvGrpSpPr>
        <p:grpSpPr>
          <a:xfrm>
            <a:off x="7664655" y="4609445"/>
            <a:ext cx="656608" cy="574080"/>
            <a:chOff x="11080382" y="3568580"/>
            <a:chExt cx="701900" cy="574080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68881F2-C85B-2870-8F42-BD45A25383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0382" y="3568580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11F5E7D-7069-E34B-3819-FD53CFEC2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3652" y="3905160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03B3322-0A5D-E849-27F6-412BB55890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7890" y="3740151"/>
              <a:ext cx="694392" cy="52512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581A871-4B4B-B1EA-8105-3795F26CE5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160" y="4076731"/>
              <a:ext cx="681122" cy="65929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873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1A5D649-A3E5-5588-7EE1-BB2ABB8352FB}"/>
              </a:ext>
            </a:extLst>
          </p:cNvPr>
          <p:cNvSpPr/>
          <p:nvPr/>
        </p:nvSpPr>
        <p:spPr>
          <a:xfrm>
            <a:off x="8279294" y="765313"/>
            <a:ext cx="3233530" cy="527036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36F85-E846-D80D-D632-F01EE70F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Fractals in the wild:</a:t>
            </a:r>
            <a:br>
              <a:rPr lang="en-US" sz="4000" dirty="0"/>
            </a:br>
            <a:r>
              <a:rPr lang="en-US" sz="4000" dirty="0"/>
              <a:t>Read from disk, virtual machine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08028-285C-153D-E55A-04321E9B9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53470" cy="4667250"/>
          </a:xfrm>
        </p:spPr>
        <p:txBody>
          <a:bodyPr>
            <a:normAutofit fontScale="55000" lnSpcReduction="20000"/>
          </a:bodyPr>
          <a:lstStyle/>
          <a:p>
            <a:r>
              <a:rPr lang="en-US" sz="4400" dirty="0"/>
              <a:t>Things get even messier when running in a VM</a:t>
            </a:r>
          </a:p>
          <a:p>
            <a:pPr lvl="1"/>
            <a:r>
              <a:rPr lang="en-US" sz="4000" dirty="0"/>
              <a:t>The entire VM image is a single file on the host</a:t>
            </a:r>
          </a:p>
          <a:p>
            <a:pPr lvl="1"/>
            <a:r>
              <a:rPr lang="en-US" sz="4000" dirty="0"/>
              <a:t>The guest disk is fake; it is emulated by hypervisor</a:t>
            </a:r>
          </a:p>
          <a:p>
            <a:endParaRPr lang="en-US" sz="4400" dirty="0"/>
          </a:p>
          <a:p>
            <a:r>
              <a:rPr lang="en-US" sz="4400" dirty="0"/>
              <a:t>Sequence:</a:t>
            </a:r>
          </a:p>
          <a:p>
            <a:pPr lvl="1"/>
            <a:r>
              <a:rPr lang="en-US" sz="3600" dirty="0"/>
              <a:t>Guest map a file offset to a block in its “disk”</a:t>
            </a:r>
          </a:p>
          <a:p>
            <a:pPr lvl="1"/>
            <a:r>
              <a:rPr lang="en-US" sz="4000" dirty="0"/>
              <a:t>Hypervisor’s emulated disk needs to </a:t>
            </a:r>
            <a:br>
              <a:rPr lang="en-US" sz="4000" dirty="0"/>
            </a:br>
            <a:r>
              <a:rPr lang="en-US" sz="4000" dirty="0"/>
              <a:t>read block in guest’s “disk”</a:t>
            </a:r>
          </a:p>
          <a:p>
            <a:pPr lvl="1"/>
            <a:r>
              <a:rPr lang="en-US" sz="4000" dirty="0"/>
              <a:t>Hypervisor’s filesystem maps offset in </a:t>
            </a:r>
            <a:br>
              <a:rPr lang="en-US" sz="4000" dirty="0"/>
            </a:br>
            <a:r>
              <a:rPr lang="en-US" sz="4000" dirty="0"/>
              <a:t>guest image to a real block on disk</a:t>
            </a:r>
          </a:p>
          <a:p>
            <a:pPr lvl="1"/>
            <a:r>
              <a:rPr lang="en-US" sz="4000" dirty="0"/>
              <a:t>Storage controller access real block on disk</a:t>
            </a:r>
            <a:endParaRPr lang="en-US" sz="4800" dirty="0"/>
          </a:p>
          <a:p>
            <a:pPr lvl="1"/>
            <a:endParaRPr lang="en-US" dirty="0"/>
          </a:p>
          <a:p>
            <a:r>
              <a:rPr lang="en-US" sz="4400" dirty="0"/>
              <a:t>Modern clouds use networked storage, so the </a:t>
            </a:r>
            <a:br>
              <a:rPr lang="en-US" sz="4400" dirty="0"/>
            </a:br>
            <a:r>
              <a:rPr lang="en-US" sz="4400" dirty="0"/>
              <a:t>flow is even more complex (but optimized as hell)</a:t>
            </a:r>
            <a:endParaRPr lang="en-IL" sz="4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19687-B4AA-E064-4A8D-AA27BD67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1" name="Slide Number Placeholder 4">
            <a:extLst>
              <a:ext uri="{FF2B5EF4-FFF2-40B4-BE49-F238E27FC236}">
                <a16:creationId xmlns:a16="http://schemas.microsoft.com/office/drawing/2014/main" id="{6A7D6DDA-553F-8ED0-8E44-DBF19A20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r>
              <a:rPr lang="en-IL" dirty="0"/>
              <a:t>00460882 </a:t>
            </a:r>
            <a:r>
              <a:rPr lang="en-US" dirty="0"/>
              <a:t> - HW/SW Co-design</a:t>
            </a:r>
            <a:endParaRPr lang="en-IL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6842D1-BDAC-DEFA-9D40-5384406E49D6}"/>
              </a:ext>
            </a:extLst>
          </p:cNvPr>
          <p:cNvSpPr txBox="1"/>
          <p:nvPr/>
        </p:nvSpPr>
        <p:spPr>
          <a:xfrm>
            <a:off x="8558386" y="807907"/>
            <a:ext cx="66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  <a:endParaRPr lang="en-IL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C577AE2-6DBB-F71B-BEB2-EB3E519BF878}"/>
              </a:ext>
            </a:extLst>
          </p:cNvPr>
          <p:cNvGrpSpPr/>
          <p:nvPr/>
        </p:nvGrpSpPr>
        <p:grpSpPr>
          <a:xfrm>
            <a:off x="8888894" y="1233488"/>
            <a:ext cx="2282686" cy="1976852"/>
            <a:chOff x="8729870" y="1690688"/>
            <a:chExt cx="2282686" cy="1976852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099ED3C1-BE36-A133-6915-B984B08AD42E}"/>
                </a:ext>
              </a:extLst>
            </p:cNvPr>
            <p:cNvSpPr/>
            <p:nvPr/>
          </p:nvSpPr>
          <p:spPr>
            <a:xfrm>
              <a:off x="8729870" y="1690688"/>
              <a:ext cx="2282686" cy="197685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0432D0C-2495-5AA6-2AC8-C354F189BB92}"/>
                </a:ext>
              </a:extLst>
            </p:cNvPr>
            <p:cNvSpPr/>
            <p:nvPr/>
          </p:nvSpPr>
          <p:spPr>
            <a:xfrm>
              <a:off x="8991600" y="2643316"/>
              <a:ext cx="1828800" cy="4687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Guest OS + FS</a:t>
              </a:r>
              <a:endParaRPr lang="en-IL" dirty="0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B6ED196-6F24-AA65-407D-5A66E21D661D}"/>
                </a:ext>
              </a:extLst>
            </p:cNvPr>
            <p:cNvSpPr/>
            <p:nvPr/>
          </p:nvSpPr>
          <p:spPr>
            <a:xfrm>
              <a:off x="9849678" y="3167956"/>
              <a:ext cx="964096" cy="4166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“disk”</a:t>
              </a:r>
              <a:endParaRPr lang="en-IL" dirty="0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E156401-0661-EB8A-FB9A-EE6D28217261}"/>
                </a:ext>
              </a:extLst>
            </p:cNvPr>
            <p:cNvSpPr/>
            <p:nvPr/>
          </p:nvSpPr>
          <p:spPr>
            <a:xfrm>
              <a:off x="8984974" y="2153676"/>
              <a:ext cx="1828800" cy="43339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App</a:t>
              </a:r>
              <a:endParaRPr lang="en-IL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74F065A-DDBC-E31D-87FC-A0A7217F027B}"/>
                </a:ext>
              </a:extLst>
            </p:cNvPr>
            <p:cNvSpPr txBox="1"/>
            <p:nvPr/>
          </p:nvSpPr>
          <p:spPr>
            <a:xfrm>
              <a:off x="8888897" y="1757912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VM</a:t>
              </a:r>
              <a:endParaRPr lang="en-IL" dirty="0"/>
            </a:p>
          </p:txBody>
        </p: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96DFEE0-D08E-BFED-3B1F-1CA3C20DD60E}"/>
              </a:ext>
            </a:extLst>
          </p:cNvPr>
          <p:cNvSpPr/>
          <p:nvPr/>
        </p:nvSpPr>
        <p:spPr>
          <a:xfrm>
            <a:off x="9150624" y="4119418"/>
            <a:ext cx="1828800" cy="90425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Hypervisor + FS</a:t>
            </a:r>
            <a:endParaRPr lang="en-IL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C4A2CA3-F17A-2951-CD27-0E056A17556E}"/>
              </a:ext>
            </a:extLst>
          </p:cNvPr>
          <p:cNvSpPr/>
          <p:nvPr/>
        </p:nvSpPr>
        <p:spPr>
          <a:xfrm>
            <a:off x="9047921" y="5428487"/>
            <a:ext cx="2123659" cy="41668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Disk</a:t>
            </a:r>
            <a:endParaRPr lang="en-IL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FEF0E3A-CBFF-4324-1EAA-D78609160A6F}"/>
              </a:ext>
            </a:extLst>
          </p:cNvPr>
          <p:cNvSpPr/>
          <p:nvPr/>
        </p:nvSpPr>
        <p:spPr>
          <a:xfrm>
            <a:off x="10490750" y="5533440"/>
            <a:ext cx="604633" cy="206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“</a:t>
            </a:r>
            <a:r>
              <a:rPr lang="en-US" sz="1100" dirty="0"/>
              <a:t>disk</a:t>
            </a:r>
            <a:r>
              <a:rPr lang="en-US" dirty="0"/>
              <a:t>”</a:t>
            </a:r>
            <a:endParaRPr lang="en-IL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3C64D44-E4AB-40C3-1C52-57AB08546C8A}"/>
              </a:ext>
            </a:extLst>
          </p:cNvPr>
          <p:cNvCxnSpPr>
            <a:cxnSpLocks/>
          </p:cNvCxnSpPr>
          <p:nvPr/>
        </p:nvCxnSpPr>
        <p:spPr>
          <a:xfrm flipH="1" flipV="1">
            <a:off x="10008702" y="2890037"/>
            <a:ext cx="482048" cy="273447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9F8724A-9F97-0219-5A78-4896D59D1E77}"/>
              </a:ext>
            </a:extLst>
          </p:cNvPr>
          <p:cNvCxnSpPr>
            <a:cxnSpLocks/>
            <a:stCxn id="66" idx="3"/>
            <a:endCxn id="48" idx="3"/>
          </p:cNvCxnSpPr>
          <p:nvPr/>
        </p:nvCxnSpPr>
        <p:spPr>
          <a:xfrm flipH="1" flipV="1">
            <a:off x="10972798" y="2919100"/>
            <a:ext cx="122585" cy="2717731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DA2C95F-8425-8016-3896-7B9B6C87A1B1}"/>
              </a:ext>
            </a:extLst>
          </p:cNvPr>
          <p:cNvSpPr/>
          <p:nvPr/>
        </p:nvSpPr>
        <p:spPr>
          <a:xfrm>
            <a:off x="10008701" y="4190579"/>
            <a:ext cx="851453" cy="27950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dirty="0"/>
              <a:t>emulation</a:t>
            </a:r>
            <a:endParaRPr lang="en-IL" sz="1200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7C39B20-CF05-3AA8-F227-F65511B02A81}"/>
              </a:ext>
            </a:extLst>
          </p:cNvPr>
          <p:cNvCxnSpPr>
            <a:cxnSpLocks/>
          </p:cNvCxnSpPr>
          <p:nvPr/>
        </p:nvCxnSpPr>
        <p:spPr>
          <a:xfrm flipH="1">
            <a:off x="7891670" y="5312664"/>
            <a:ext cx="399553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CDDD543-9024-B818-4673-8380BD222862}"/>
              </a:ext>
            </a:extLst>
          </p:cNvPr>
          <p:cNvSpPr txBox="1"/>
          <p:nvPr/>
        </p:nvSpPr>
        <p:spPr>
          <a:xfrm>
            <a:off x="7808833" y="4943332"/>
            <a:ext cx="51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</a:t>
            </a:r>
            <a:endParaRPr lang="en-IL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663F4C-115C-1E88-E8D6-DDFD4767DDFA}"/>
              </a:ext>
            </a:extLst>
          </p:cNvPr>
          <p:cNvSpPr txBox="1"/>
          <p:nvPr/>
        </p:nvSpPr>
        <p:spPr>
          <a:xfrm>
            <a:off x="7789783" y="5312664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HW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0075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8962F-425E-11DE-A5BD-6646F858C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EB1B-E54A-A15C-C14E-4D3872D68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Fractals in the wild:</a:t>
            </a:r>
            <a:br>
              <a:rPr lang="en-US" sz="4000" dirty="0"/>
            </a:br>
            <a:r>
              <a:rPr lang="en-US" sz="4000" dirty="0"/>
              <a:t>Read from disk, virtual machine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4E1E6-F714-4D29-95A4-30DE7D1D7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1246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Things get even messier when running in a virtual machine:</a:t>
            </a:r>
          </a:p>
          <a:p>
            <a:pPr lvl="1"/>
            <a:r>
              <a:rPr lang="en-US" sz="2000" dirty="0"/>
              <a:t>The guest disk is fake; it is emulated by hypervisor</a:t>
            </a:r>
          </a:p>
          <a:p>
            <a:pPr lvl="1"/>
            <a:r>
              <a:rPr lang="en-US" sz="2000" dirty="0"/>
              <a:t>The hypervisor, like OS, has filesystem, block, and device driver layers</a:t>
            </a:r>
          </a:p>
          <a:p>
            <a:pPr lvl="1"/>
            <a:r>
              <a:rPr lang="en-US" sz="2000" dirty="0"/>
              <a:t>Storage controller and disk remain the same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Switch from VM to hypervisor has very high latency</a:t>
            </a:r>
          </a:p>
          <a:p>
            <a:pPr lvl="1"/>
            <a:r>
              <a:rPr lang="en-US" dirty="0"/>
              <a:t>Limits supported arrival rate</a:t>
            </a:r>
          </a:p>
          <a:p>
            <a:r>
              <a:rPr lang="en-US" dirty="0"/>
              <a:t>Modern clouds use networked storage, so the flow is even more complex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3993D-409F-6680-3D67-FE8409997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1D309-B8F1-91B7-5E7E-B40B194B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42D94E-D7F3-5A6C-EB1C-01C49C521735}"/>
              </a:ext>
            </a:extLst>
          </p:cNvPr>
          <p:cNvCxnSpPr>
            <a:cxnSpLocks/>
          </p:cNvCxnSpPr>
          <p:nvPr/>
        </p:nvCxnSpPr>
        <p:spPr>
          <a:xfrm>
            <a:off x="11805775" y="1144087"/>
            <a:ext cx="0" cy="534878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7A3067-D25A-2127-564F-52F9BF6114E1}"/>
              </a:ext>
            </a:extLst>
          </p:cNvPr>
          <p:cNvCxnSpPr>
            <a:cxnSpLocks/>
          </p:cNvCxnSpPr>
          <p:nvPr/>
        </p:nvCxnSpPr>
        <p:spPr>
          <a:xfrm>
            <a:off x="10664397" y="1649925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8F3FD31-8D83-1B89-CEE0-C027D2B95A0D}"/>
              </a:ext>
            </a:extLst>
          </p:cNvPr>
          <p:cNvSpPr txBox="1"/>
          <p:nvPr/>
        </p:nvSpPr>
        <p:spPr>
          <a:xfrm flipH="1">
            <a:off x="10169687" y="671348"/>
            <a:ext cx="9095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VM</a:t>
            </a:r>
            <a:br>
              <a:rPr lang="en-US" dirty="0"/>
            </a:br>
            <a:r>
              <a:rPr lang="en-US" sz="1200" dirty="0"/>
              <a:t>(fs + block + driver)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662C85-465E-96EA-580D-6C1EC31E5000}"/>
              </a:ext>
            </a:extLst>
          </p:cNvPr>
          <p:cNvCxnSpPr>
            <a:cxnSpLocks/>
          </p:cNvCxnSpPr>
          <p:nvPr/>
        </p:nvCxnSpPr>
        <p:spPr>
          <a:xfrm>
            <a:off x="9798393" y="1684661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ACE32C8-9797-D80F-3F38-6236B01F4586}"/>
              </a:ext>
            </a:extLst>
          </p:cNvPr>
          <p:cNvSpPr txBox="1"/>
          <p:nvPr/>
        </p:nvSpPr>
        <p:spPr>
          <a:xfrm flipH="1">
            <a:off x="9290178" y="646406"/>
            <a:ext cx="909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disk driver</a:t>
            </a:r>
            <a:endParaRPr lang="en-I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EC3839-CC1A-C301-7A40-F1A5A3D9B4F2}"/>
              </a:ext>
            </a:extLst>
          </p:cNvPr>
          <p:cNvCxnSpPr>
            <a:cxnSpLocks/>
          </p:cNvCxnSpPr>
          <p:nvPr/>
        </p:nvCxnSpPr>
        <p:spPr>
          <a:xfrm>
            <a:off x="9841357" y="2587188"/>
            <a:ext cx="794129" cy="741905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054DAA9-1FCB-4BC1-6B68-450C0E820BA1}"/>
              </a:ext>
            </a:extLst>
          </p:cNvPr>
          <p:cNvGrpSpPr/>
          <p:nvPr/>
        </p:nvGrpSpPr>
        <p:grpSpPr>
          <a:xfrm>
            <a:off x="9798393" y="4166711"/>
            <a:ext cx="869613" cy="1069868"/>
            <a:chOff x="8332629" y="3659814"/>
            <a:chExt cx="2335377" cy="1069868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535C1DF-76EC-57DE-93C8-F10C825DF8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6236" y="3659814"/>
              <a:ext cx="2328160" cy="171710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3095342-EB4E-C16A-A28D-3D4FA881CE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2629" y="3963176"/>
              <a:ext cx="2328160" cy="171710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59FF7C2-77F5-3514-EE35-1317970431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2629" y="4263826"/>
              <a:ext cx="2328160" cy="171710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3FB34C3-4EF5-1C95-0B00-12EFEA7019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39846" y="4557972"/>
              <a:ext cx="2328160" cy="171710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F4D5647-825C-49E6-36B4-300F14AD215E}"/>
              </a:ext>
            </a:extLst>
          </p:cNvPr>
          <p:cNvSpPr txBox="1"/>
          <p:nvPr/>
        </p:nvSpPr>
        <p:spPr>
          <a:xfrm rot="1664981" flipH="1">
            <a:off x="9345348" y="2117253"/>
            <a:ext cx="1127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Request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6B00C2-25F8-9CF6-B273-4B669170C3CC}"/>
              </a:ext>
            </a:extLst>
          </p:cNvPr>
          <p:cNvSpPr txBox="1"/>
          <p:nvPr/>
        </p:nvSpPr>
        <p:spPr>
          <a:xfrm rot="20899348" flipH="1">
            <a:off x="9036691" y="3897552"/>
            <a:ext cx="154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Response(s)</a:t>
            </a:r>
            <a:endParaRPr lang="en-IL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5720CC-A464-C988-6C12-9470EB764170}"/>
              </a:ext>
            </a:extLst>
          </p:cNvPr>
          <p:cNvCxnSpPr>
            <a:cxnSpLocks/>
          </p:cNvCxnSpPr>
          <p:nvPr/>
        </p:nvCxnSpPr>
        <p:spPr>
          <a:xfrm>
            <a:off x="7991537" y="1673140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6B5E3C-F3D1-94C0-594A-3FD82C6F6BB1}"/>
              </a:ext>
            </a:extLst>
          </p:cNvPr>
          <p:cNvSpPr txBox="1"/>
          <p:nvPr/>
        </p:nvSpPr>
        <p:spPr>
          <a:xfrm flipH="1">
            <a:off x="7524901" y="623004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App</a:t>
            </a:r>
            <a:endParaRPr lang="en-IL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2A6170-B84A-7272-8183-45294415A283}"/>
              </a:ext>
            </a:extLst>
          </p:cNvPr>
          <p:cNvCxnSpPr>
            <a:cxnSpLocks/>
          </p:cNvCxnSpPr>
          <p:nvPr/>
        </p:nvCxnSpPr>
        <p:spPr>
          <a:xfrm>
            <a:off x="8938549" y="1684661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0FCC401-8FA2-0BDD-0F26-2BADC7730998}"/>
              </a:ext>
            </a:extLst>
          </p:cNvPr>
          <p:cNvSpPr txBox="1"/>
          <p:nvPr/>
        </p:nvSpPr>
        <p:spPr>
          <a:xfrm flipH="1">
            <a:off x="8477602" y="632442"/>
            <a:ext cx="909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Guest OS</a:t>
            </a:r>
          </a:p>
          <a:p>
            <a:pPr algn="ctr"/>
            <a:r>
              <a:rPr lang="en-US" sz="1200" dirty="0"/>
              <a:t>(fs + block</a:t>
            </a:r>
            <a:r>
              <a:rPr lang="he-IL" sz="1200" dirty="0"/>
              <a:t>(</a:t>
            </a:r>
            <a:endParaRPr lang="en-IL" sz="1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3F87AC-18A9-281B-8E51-D9D137EBE82D}"/>
              </a:ext>
            </a:extLst>
          </p:cNvPr>
          <p:cNvCxnSpPr>
            <a:cxnSpLocks/>
          </p:cNvCxnSpPr>
          <p:nvPr/>
        </p:nvCxnSpPr>
        <p:spPr>
          <a:xfrm>
            <a:off x="7973390" y="2066026"/>
            <a:ext cx="938000" cy="13302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90C0BC-5A13-9276-DFEF-6BB6B2185866}"/>
              </a:ext>
            </a:extLst>
          </p:cNvPr>
          <p:cNvCxnSpPr>
            <a:cxnSpLocks/>
          </p:cNvCxnSpPr>
          <p:nvPr/>
        </p:nvCxnSpPr>
        <p:spPr>
          <a:xfrm>
            <a:off x="8938549" y="2313034"/>
            <a:ext cx="849851" cy="14070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69774FD-57D4-0071-1274-A682CBACDCE5}"/>
              </a:ext>
            </a:extLst>
          </p:cNvPr>
          <p:cNvCxnSpPr>
            <a:cxnSpLocks/>
          </p:cNvCxnSpPr>
          <p:nvPr/>
        </p:nvCxnSpPr>
        <p:spPr>
          <a:xfrm>
            <a:off x="11373786" y="1649925"/>
            <a:ext cx="0" cy="4552545"/>
          </a:xfrm>
          <a:prstGeom prst="straightConnector1">
            <a:avLst/>
          </a:prstGeom>
          <a:ln w="38100" cmpd="sng">
            <a:solidFill>
              <a:srgbClr val="0070C0"/>
            </a:solidFill>
            <a:prstDash val="solid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779C6D-FA0D-D7AC-C0BC-27F584C9731A}"/>
              </a:ext>
            </a:extLst>
          </p:cNvPr>
          <p:cNvSpPr txBox="1"/>
          <p:nvPr/>
        </p:nvSpPr>
        <p:spPr>
          <a:xfrm flipH="1">
            <a:off x="10899012" y="722608"/>
            <a:ext cx="909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Disk</a:t>
            </a:r>
            <a:endParaRPr lang="en-IL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4FDF79-C319-D84D-DF75-3C88B095B0C8}"/>
              </a:ext>
            </a:extLst>
          </p:cNvPr>
          <p:cNvCxnSpPr>
            <a:cxnSpLocks/>
          </p:cNvCxnSpPr>
          <p:nvPr/>
        </p:nvCxnSpPr>
        <p:spPr>
          <a:xfrm>
            <a:off x="10668006" y="3458174"/>
            <a:ext cx="679354" cy="10732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8BEEFA8-2CEB-7FA7-6109-53521AED94AF}"/>
              </a:ext>
            </a:extLst>
          </p:cNvPr>
          <p:cNvGrpSpPr/>
          <p:nvPr/>
        </p:nvGrpSpPr>
        <p:grpSpPr>
          <a:xfrm>
            <a:off x="10660789" y="3904750"/>
            <a:ext cx="702142" cy="1051452"/>
            <a:chOff x="10660789" y="3447551"/>
            <a:chExt cx="702142" cy="105145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EA8BA4D-972C-0B72-C548-D7A9B3D705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8006" y="3447551"/>
              <a:ext cx="679354" cy="4924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0661BD-B185-A2F8-656C-7C03C3D0E0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3577" y="3794918"/>
              <a:ext cx="679354" cy="4924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ED963BA-4CB2-CC72-23CA-5459A65408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0789" y="4150996"/>
              <a:ext cx="679354" cy="4924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7505257-371B-46CB-A69A-DF0B770F59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60789" y="4449760"/>
              <a:ext cx="679354" cy="4924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7C0E33D-3C92-5C82-BEC3-40C7F310F4E6}"/>
              </a:ext>
            </a:extLst>
          </p:cNvPr>
          <p:cNvGrpSpPr/>
          <p:nvPr/>
        </p:nvGrpSpPr>
        <p:grpSpPr>
          <a:xfrm>
            <a:off x="8932390" y="4539914"/>
            <a:ext cx="829400" cy="1007318"/>
            <a:chOff x="7449802" y="4003269"/>
            <a:chExt cx="891467" cy="1007318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890916F-2379-116D-50B2-71ACE488CC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54831" y="4638159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475DF0A-46AC-980A-6F83-319A3517C2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1656" y="4003269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524A2FA-FA1C-1D66-CC20-8413B48414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49802" y="4311148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0210BE1-012B-C386-3A31-C07D9D1AEA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4820" y="4919064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235F3E-6EAE-93F7-D5A1-2416E24506F9}"/>
              </a:ext>
            </a:extLst>
          </p:cNvPr>
          <p:cNvGrpSpPr/>
          <p:nvPr/>
        </p:nvGrpSpPr>
        <p:grpSpPr>
          <a:xfrm>
            <a:off x="8033263" y="4870114"/>
            <a:ext cx="884631" cy="1007318"/>
            <a:chOff x="6571191" y="4557972"/>
            <a:chExt cx="884631" cy="1007318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0A5DAA9-712C-13C0-E7D1-458ACA2B57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6220" y="5192862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01A0F17-09F1-25E7-EFC5-9970AA3CE2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3317" y="4557972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B7DCA1F-5B33-313C-97E2-EE9626E18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1191" y="4865851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3A93837-B137-C51B-078F-19D0ADCE7F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6209" y="5473767"/>
              <a:ext cx="869613" cy="9152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B44A79EA-A764-0536-5ABC-40C2C4023014}"/>
              </a:ext>
            </a:extLst>
          </p:cNvPr>
          <p:cNvSpPr/>
          <p:nvPr/>
        </p:nvSpPr>
        <p:spPr>
          <a:xfrm>
            <a:off x="9448800" y="2065719"/>
            <a:ext cx="1583189" cy="2698634"/>
          </a:xfrm>
          <a:prstGeom prst="ellipse">
            <a:avLst/>
          </a:prstGeom>
          <a:noFill/>
          <a:ln w="25400"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83189"/>
                      <a:gd name="connsiteY0" fmla="*/ 1349317 h 2698634"/>
                      <a:gd name="connsiteX1" fmla="*/ 791595 w 1583189"/>
                      <a:gd name="connsiteY1" fmla="*/ 0 h 2698634"/>
                      <a:gd name="connsiteX2" fmla="*/ 1583190 w 1583189"/>
                      <a:gd name="connsiteY2" fmla="*/ 1349317 h 2698634"/>
                      <a:gd name="connsiteX3" fmla="*/ 791595 w 1583189"/>
                      <a:gd name="connsiteY3" fmla="*/ 2698634 h 2698634"/>
                      <a:gd name="connsiteX4" fmla="*/ 0 w 1583189"/>
                      <a:gd name="connsiteY4" fmla="*/ 1349317 h 2698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83189" h="2698634" extrusionOk="0">
                        <a:moveTo>
                          <a:pt x="0" y="1349317"/>
                        </a:moveTo>
                        <a:cubicBezTo>
                          <a:pt x="-21678" y="590738"/>
                          <a:pt x="313704" y="15277"/>
                          <a:pt x="791595" y="0"/>
                        </a:cubicBezTo>
                        <a:cubicBezTo>
                          <a:pt x="1334901" y="22341"/>
                          <a:pt x="1544163" y="605351"/>
                          <a:pt x="1583190" y="1349317"/>
                        </a:cubicBezTo>
                        <a:cubicBezTo>
                          <a:pt x="1499174" y="2176570"/>
                          <a:pt x="1225845" y="2714863"/>
                          <a:pt x="791595" y="2698634"/>
                        </a:cubicBezTo>
                        <a:cubicBezTo>
                          <a:pt x="174257" y="2600069"/>
                          <a:pt x="91515" y="2138251"/>
                          <a:pt x="0" y="1349317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C14B01-7F6A-832A-2A48-B3BBB353BA16}"/>
              </a:ext>
            </a:extLst>
          </p:cNvPr>
          <p:cNvSpPr txBox="1"/>
          <p:nvPr/>
        </p:nvSpPr>
        <p:spPr>
          <a:xfrm rot="5400000" flipH="1">
            <a:off x="11763932" y="3244333"/>
            <a:ext cx="67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1925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F0F4D8-D3A7-62DE-26C5-F18557A85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384" y="2734056"/>
            <a:ext cx="5779315" cy="2835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A71B66-6EAB-5334-5563-B3AE1D6DB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Fractals in the wild:</a:t>
            </a:r>
            <a:br>
              <a:rPr lang="en-US" sz="4000" dirty="0"/>
            </a:br>
            <a:r>
              <a:rPr lang="en-US" sz="4000" dirty="0"/>
              <a:t>Virtualization layers come at a price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C4C0F-6565-9ECA-0BBC-0F4AECDB1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0126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Given the device bandwidth, what’s the performance cost of virtualization?</a:t>
            </a:r>
          </a:p>
          <a:p>
            <a:pPr lvl="1"/>
            <a:r>
              <a:rPr lang="en-US" dirty="0"/>
              <a:t>Speedup of simple host vs. VM</a:t>
            </a:r>
          </a:p>
          <a:p>
            <a:pPr lvl="1"/>
            <a:endParaRPr lang="en-US" dirty="0"/>
          </a:p>
          <a:p>
            <a:r>
              <a:rPr lang="en-US" dirty="0"/>
              <a:t>The faster the disk, the bigger the loss</a:t>
            </a:r>
          </a:p>
          <a:p>
            <a:pPr lvl="1"/>
            <a:r>
              <a:rPr lang="en-US" dirty="0"/>
              <a:t>Disk was simulated in memory, so </a:t>
            </a:r>
            <a:br>
              <a:rPr lang="en-US" dirty="0"/>
            </a:br>
            <a:r>
              <a:rPr lang="en-US" dirty="0"/>
              <a:t>we can control its bandwidth</a:t>
            </a:r>
          </a:p>
          <a:p>
            <a:endParaRPr lang="en-US" sz="2800" dirty="0"/>
          </a:p>
          <a:p>
            <a:endParaRPr lang="en-US" dirty="0"/>
          </a:p>
          <a:p>
            <a:endParaRPr lang="en-US" sz="1900" dirty="0"/>
          </a:p>
          <a:p>
            <a:r>
              <a:rPr lang="en-US" sz="1900" dirty="0"/>
              <a:t>“</a:t>
            </a:r>
            <a:r>
              <a:rPr lang="en-US" sz="1900" dirty="0" err="1"/>
              <a:t>NeSC</a:t>
            </a:r>
            <a:r>
              <a:rPr lang="en-US" sz="1900" dirty="0"/>
              <a:t>: Self-Virtualizing Nested Storage Controller”. Gottesman and Etsion, In MICRO 2016</a:t>
            </a:r>
            <a:endParaRPr lang="en-IL" sz="1900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CA9EC-BEA9-9831-D961-FEF8D083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60D2D-73B7-E62F-F599-FA417994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88197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9011-A6A5-04F8-5F8C-2428647C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A360-B4E9-8A60-84E5-6CB0BB34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NeSC’s</a:t>
            </a:r>
            <a:r>
              <a:rPr lang="en-US" sz="4000" dirty="0"/>
              <a:t> HW/SW co-design:</a:t>
            </a:r>
            <a:br>
              <a:rPr lang="en-US" sz="4000" dirty="0"/>
            </a:br>
            <a:r>
              <a:rPr lang="en-US" sz="4000" dirty="0"/>
              <a:t>Offload block lookups to hardware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F3329-FF2E-ADF5-CDF8-243DD52A9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1246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Add block-table lookups to storage controller</a:t>
            </a:r>
          </a:p>
          <a:p>
            <a:pPr lvl="1"/>
            <a:r>
              <a:rPr lang="en-US" dirty="0"/>
              <a:t>Works like page tables</a:t>
            </a:r>
          </a:p>
          <a:p>
            <a:endParaRPr lang="en-US" dirty="0"/>
          </a:p>
          <a:p>
            <a:r>
              <a:rPr lang="en-US" dirty="0"/>
              <a:t>Each VM’s disk is represented by a block table</a:t>
            </a:r>
          </a:p>
          <a:p>
            <a:pPr lvl="1"/>
            <a:r>
              <a:rPr lang="en-US" dirty="0"/>
              <a:t>Storage controller presents tables as HW disks</a:t>
            </a:r>
          </a:p>
          <a:p>
            <a:endParaRPr lang="en-US" dirty="0"/>
          </a:p>
          <a:p>
            <a:r>
              <a:rPr lang="en-US" dirty="0"/>
              <a:t>Block tables are created by hypervisor</a:t>
            </a:r>
          </a:p>
          <a:p>
            <a:endParaRPr lang="en-US" dirty="0"/>
          </a:p>
          <a:p>
            <a:r>
              <a:rPr lang="en-US" dirty="0"/>
              <a:t>VMs access new disk facility directly</a:t>
            </a:r>
          </a:p>
          <a:p>
            <a:endParaRPr lang="en-US" dirty="0"/>
          </a:p>
          <a:p>
            <a:r>
              <a:rPr lang="en-US" dirty="0"/>
              <a:t>No switch from VM to hypervisor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F6918-E43F-9C5F-13E3-65AE4E86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E1A07-70B5-67C9-5B1F-04F589E5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4C660BA-050A-FE68-2105-2AA7239CAD38}"/>
              </a:ext>
            </a:extLst>
          </p:cNvPr>
          <p:cNvSpPr/>
          <p:nvPr/>
        </p:nvSpPr>
        <p:spPr>
          <a:xfrm>
            <a:off x="8279294" y="765313"/>
            <a:ext cx="3233530" cy="527036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FE3073-A65A-CF31-4B2A-CB1C6EAE69E1}"/>
              </a:ext>
            </a:extLst>
          </p:cNvPr>
          <p:cNvSpPr txBox="1"/>
          <p:nvPr/>
        </p:nvSpPr>
        <p:spPr>
          <a:xfrm>
            <a:off x="8558386" y="807907"/>
            <a:ext cx="66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  <a:endParaRPr lang="en-IL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B766E30-230C-4FCA-3276-D18E8DD0E22E}"/>
              </a:ext>
            </a:extLst>
          </p:cNvPr>
          <p:cNvGrpSpPr/>
          <p:nvPr/>
        </p:nvGrpSpPr>
        <p:grpSpPr>
          <a:xfrm>
            <a:off x="8888894" y="1233488"/>
            <a:ext cx="2282686" cy="1976852"/>
            <a:chOff x="8729870" y="1690688"/>
            <a:chExt cx="2282686" cy="1976852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E8BC9A46-11BE-213E-4FF2-C724EA226D47}"/>
                </a:ext>
              </a:extLst>
            </p:cNvPr>
            <p:cNvSpPr/>
            <p:nvPr/>
          </p:nvSpPr>
          <p:spPr>
            <a:xfrm>
              <a:off x="8729870" y="1690688"/>
              <a:ext cx="2282686" cy="197685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DD993BEB-F39D-96B2-428A-B7E683CEDA06}"/>
                </a:ext>
              </a:extLst>
            </p:cNvPr>
            <p:cNvSpPr/>
            <p:nvPr/>
          </p:nvSpPr>
          <p:spPr>
            <a:xfrm>
              <a:off x="8991600" y="2643316"/>
              <a:ext cx="1828800" cy="4687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Guest OS + FS</a:t>
              </a:r>
              <a:endParaRPr lang="en-IL" dirty="0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D4B5B4F4-6B71-92DF-0D7A-E8AA50C4624D}"/>
                </a:ext>
              </a:extLst>
            </p:cNvPr>
            <p:cNvSpPr/>
            <p:nvPr/>
          </p:nvSpPr>
          <p:spPr>
            <a:xfrm>
              <a:off x="9849678" y="3167956"/>
              <a:ext cx="964096" cy="41668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“disk”</a:t>
              </a:r>
              <a:endParaRPr lang="en-IL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519F83D5-7402-F470-DCBD-8997FF428A5A}"/>
                </a:ext>
              </a:extLst>
            </p:cNvPr>
            <p:cNvSpPr/>
            <p:nvPr/>
          </p:nvSpPr>
          <p:spPr>
            <a:xfrm>
              <a:off x="8984974" y="2153676"/>
              <a:ext cx="1828800" cy="43339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App</a:t>
              </a:r>
              <a:endParaRPr lang="en-IL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F5AEF38-1934-1CD5-89E6-7B80E09907B9}"/>
                </a:ext>
              </a:extLst>
            </p:cNvPr>
            <p:cNvSpPr txBox="1"/>
            <p:nvPr/>
          </p:nvSpPr>
          <p:spPr>
            <a:xfrm>
              <a:off x="8888897" y="1757912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VM</a:t>
              </a:r>
              <a:endParaRPr lang="en-IL" dirty="0"/>
            </a:p>
          </p:txBody>
        </p:sp>
      </p:grp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96070B9-C75E-3A17-4DC2-2B0900144466}"/>
              </a:ext>
            </a:extLst>
          </p:cNvPr>
          <p:cNvSpPr/>
          <p:nvPr/>
        </p:nvSpPr>
        <p:spPr>
          <a:xfrm>
            <a:off x="8402074" y="4037503"/>
            <a:ext cx="1483848" cy="390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Hypervisor + FS</a:t>
            </a:r>
            <a:endParaRPr lang="en-IL" sz="1400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DD22D54-686B-0B03-69FF-D3A41A9B3E29}"/>
              </a:ext>
            </a:extLst>
          </p:cNvPr>
          <p:cNvSpPr/>
          <p:nvPr/>
        </p:nvSpPr>
        <p:spPr>
          <a:xfrm>
            <a:off x="9047921" y="5454839"/>
            <a:ext cx="2123659" cy="3903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Disk</a:t>
            </a:r>
            <a:endParaRPr lang="en-IL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0D1DA5A-9AF0-D590-B91B-C7BFDDC849EA}"/>
              </a:ext>
            </a:extLst>
          </p:cNvPr>
          <p:cNvSpPr/>
          <p:nvPr/>
        </p:nvSpPr>
        <p:spPr>
          <a:xfrm>
            <a:off x="10490750" y="5533440"/>
            <a:ext cx="604633" cy="206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“</a:t>
            </a:r>
            <a:r>
              <a:rPr lang="en-US" sz="1100" dirty="0"/>
              <a:t>disk</a:t>
            </a:r>
            <a:r>
              <a:rPr lang="en-US" dirty="0"/>
              <a:t>”</a:t>
            </a:r>
            <a:endParaRPr lang="en-IL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3715096-31A7-9B46-FB86-E714EDBE77CD}"/>
              </a:ext>
            </a:extLst>
          </p:cNvPr>
          <p:cNvCxnSpPr>
            <a:cxnSpLocks/>
            <a:stCxn id="75" idx="1"/>
            <a:endCxn id="49" idx="1"/>
          </p:cNvCxnSpPr>
          <p:nvPr/>
        </p:nvCxnSpPr>
        <p:spPr>
          <a:xfrm flipH="1" flipV="1">
            <a:off x="10008702" y="2919100"/>
            <a:ext cx="54468" cy="227738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001D9CB-B8A8-3C89-DE0A-7E49082660E7}"/>
              </a:ext>
            </a:extLst>
          </p:cNvPr>
          <p:cNvCxnSpPr>
            <a:cxnSpLocks/>
            <a:stCxn id="75" idx="3"/>
            <a:endCxn id="49" idx="3"/>
          </p:cNvCxnSpPr>
          <p:nvPr/>
        </p:nvCxnSpPr>
        <p:spPr>
          <a:xfrm flipH="1" flipV="1">
            <a:off x="10972798" y="2919100"/>
            <a:ext cx="198782" cy="227738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45D4F6B3-C80C-7659-19D0-0200115A053D}"/>
              </a:ext>
            </a:extLst>
          </p:cNvPr>
          <p:cNvSpPr/>
          <p:nvPr/>
        </p:nvSpPr>
        <p:spPr>
          <a:xfrm>
            <a:off x="10063170" y="4964482"/>
            <a:ext cx="1108410" cy="4640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Block table</a:t>
            </a:r>
            <a:br>
              <a:rPr lang="en-US" sz="1400" dirty="0"/>
            </a:br>
            <a:r>
              <a:rPr lang="en-US" sz="1400" dirty="0"/>
              <a:t>mapper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3202C0D-0C97-7F2C-02CD-99E3C7BD4AE7}"/>
              </a:ext>
            </a:extLst>
          </p:cNvPr>
          <p:cNvCxnSpPr>
            <a:cxnSpLocks/>
          </p:cNvCxnSpPr>
          <p:nvPr/>
        </p:nvCxnSpPr>
        <p:spPr>
          <a:xfrm flipH="1">
            <a:off x="7891670" y="4893564"/>
            <a:ext cx="399553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29DB414-ED87-D891-A51D-456DE60091B8}"/>
              </a:ext>
            </a:extLst>
          </p:cNvPr>
          <p:cNvSpPr txBox="1"/>
          <p:nvPr/>
        </p:nvSpPr>
        <p:spPr>
          <a:xfrm>
            <a:off x="7808833" y="4524232"/>
            <a:ext cx="51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</a:t>
            </a:r>
            <a:endParaRPr lang="en-IL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0ACA79-0843-ABA0-C1D5-1173CA3B1C08}"/>
              </a:ext>
            </a:extLst>
          </p:cNvPr>
          <p:cNvSpPr txBox="1"/>
          <p:nvPr/>
        </p:nvSpPr>
        <p:spPr>
          <a:xfrm>
            <a:off x="7789783" y="4893564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HW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4739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F159-15E5-D593-F0CE-D4F720B1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NeSC’s</a:t>
            </a:r>
            <a:r>
              <a:rPr lang="en-US" dirty="0"/>
              <a:t> improved latency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20FC6-F51D-7AC7-4203-2F20B02B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5AAAA-D32F-0BC9-46E5-175CC546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260EE7-6AA9-5CA2-4775-2158C8750D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90" b="643"/>
          <a:stretch/>
        </p:blipFill>
        <p:spPr>
          <a:xfrm>
            <a:off x="6351825" y="2689881"/>
            <a:ext cx="5378673" cy="288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86BD21-9EC4-4C72-F17B-0AE794AC66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" b="47536"/>
          <a:stretch/>
        </p:blipFill>
        <p:spPr>
          <a:xfrm>
            <a:off x="596454" y="2651782"/>
            <a:ext cx="5378673" cy="28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1D5304-D924-B0B5-1FBE-A332E0B1F313}"/>
              </a:ext>
            </a:extLst>
          </p:cNvPr>
          <p:cNvSpPr txBox="1"/>
          <p:nvPr/>
        </p:nvSpPr>
        <p:spPr>
          <a:xfrm>
            <a:off x="768485" y="5301569"/>
            <a:ext cx="55833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EFD46-76B8-F837-E2A0-8037A54913B9}"/>
              </a:ext>
            </a:extLst>
          </p:cNvPr>
          <p:cNvSpPr txBox="1"/>
          <p:nvPr/>
        </p:nvSpPr>
        <p:spPr>
          <a:xfrm>
            <a:off x="2310013" y="2127196"/>
            <a:ext cx="8083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NeSC’s</a:t>
            </a:r>
            <a:r>
              <a:rPr lang="en-US" sz="2400" dirty="0"/>
              <a:t> latency is like running on a native host without a VM!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316327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E57A-A123-5F3E-33D9-5059B47F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NeSC’s</a:t>
            </a:r>
            <a:r>
              <a:rPr lang="en-US" dirty="0"/>
              <a:t> improved bandwidth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BAE04-76D3-9311-B7A8-2F36264D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17D96-7EA3-2C18-1CE7-8CA541EE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A5E258-2013-D334-574A-8AA9A3B701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743" b="902"/>
          <a:stretch/>
        </p:blipFill>
        <p:spPr>
          <a:xfrm>
            <a:off x="6222495" y="2837594"/>
            <a:ext cx="5293230" cy="27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CBF59E-4B37-3CDB-149C-C0AED5D20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51385"/>
          <a:stretch/>
        </p:blipFill>
        <p:spPr>
          <a:xfrm>
            <a:off x="676276" y="2813781"/>
            <a:ext cx="5293230" cy="2556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DDC9B97-86C0-9F24-D9ED-738F7C8DEA58}"/>
              </a:ext>
            </a:extLst>
          </p:cNvPr>
          <p:cNvSpPr/>
          <p:nvPr/>
        </p:nvSpPr>
        <p:spPr>
          <a:xfrm>
            <a:off x="3128884" y="3608962"/>
            <a:ext cx="2354239" cy="1346200"/>
          </a:xfrm>
          <a:prstGeom prst="ellipse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F8515D-A1D1-1374-E6CC-05F33C19FCFC}"/>
              </a:ext>
            </a:extLst>
          </p:cNvPr>
          <p:cNvSpPr/>
          <p:nvPr/>
        </p:nvSpPr>
        <p:spPr>
          <a:xfrm>
            <a:off x="8787139" y="3333345"/>
            <a:ext cx="2354239" cy="1346200"/>
          </a:xfrm>
          <a:prstGeom prst="ellipse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F0957B-53D1-D67F-1AA3-5C706EF86B94}"/>
              </a:ext>
            </a:extLst>
          </p:cNvPr>
          <p:cNvSpPr txBox="1"/>
          <p:nvPr/>
        </p:nvSpPr>
        <p:spPr>
          <a:xfrm>
            <a:off x="2525615" y="5587276"/>
            <a:ext cx="7925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But what happens with large payloads?</a:t>
            </a:r>
            <a:endParaRPr lang="en-IL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2AF6A-E16F-F83E-ECC0-51A461D81BFD}"/>
              </a:ext>
            </a:extLst>
          </p:cNvPr>
          <p:cNvSpPr txBox="1"/>
          <p:nvPr/>
        </p:nvSpPr>
        <p:spPr>
          <a:xfrm>
            <a:off x="673033" y="2098344"/>
            <a:ext cx="11065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NeSC’s</a:t>
            </a:r>
            <a:r>
              <a:rPr lang="en-US" sz="2800" dirty="0"/>
              <a:t> bandwidth is almost like running on a native host without a VM!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83881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72CF-6216-FF95-EB9E-12EBAA52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EB79-536F-F24C-B024-15E8FA1BA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49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The relation between arrival rate, service time, and average number of requests in the system:</a:t>
            </a:r>
            <a:br>
              <a:rPr lang="en-US" sz="2800" dirty="0"/>
            </a:br>
            <a:r>
              <a:rPr lang="en-US" sz="2800" dirty="0"/>
              <a:t>					</a:t>
            </a:r>
            <a:r>
              <a:rPr lang="en-US" sz="3900" dirty="0"/>
              <a:t>L = </a:t>
            </a:r>
            <a:r>
              <a:rPr lang="en-US" sz="3900" dirty="0" err="1"/>
              <a:t>λW</a:t>
            </a:r>
            <a:endParaRPr lang="en-US" sz="3200" dirty="0"/>
          </a:p>
          <a:p>
            <a:pPr lvl="1"/>
            <a:endParaRPr lang="en-US" sz="2800" dirty="0"/>
          </a:p>
          <a:p>
            <a:pPr lvl="1"/>
            <a:r>
              <a:rPr lang="en-US" sz="2800" b="1" i="1" dirty="0"/>
              <a:t>Lambda</a:t>
            </a:r>
            <a:r>
              <a:rPr lang="en-US" sz="2800" dirty="0"/>
              <a:t>=arrival rate</a:t>
            </a:r>
          </a:p>
          <a:p>
            <a:pPr lvl="1"/>
            <a:r>
              <a:rPr lang="en-US" sz="2800" b="1" i="1" dirty="0"/>
              <a:t>W</a:t>
            </a:r>
            <a:r>
              <a:rPr lang="en-US" sz="2800" dirty="0"/>
              <a:t>=service time</a:t>
            </a:r>
          </a:p>
          <a:p>
            <a:pPr lvl="1"/>
            <a:r>
              <a:rPr lang="en-US" sz="2800" b="1" i="1" dirty="0"/>
              <a:t>L</a:t>
            </a:r>
            <a:r>
              <a:rPr lang="en-US" sz="2800" dirty="0"/>
              <a:t>=average number of request in the system</a:t>
            </a:r>
          </a:p>
          <a:p>
            <a:endParaRPr lang="en-US" dirty="0"/>
          </a:p>
          <a:p>
            <a:r>
              <a:rPr lang="en-US" dirty="0"/>
              <a:t>Refers to a stable system</a:t>
            </a:r>
          </a:p>
          <a:p>
            <a:pPr lvl="1"/>
            <a:r>
              <a:rPr lang="en-US" dirty="0"/>
              <a:t>Stable means that Lambda and W are orthogonal</a:t>
            </a:r>
          </a:p>
          <a:p>
            <a:endParaRPr lang="en-US" dirty="0"/>
          </a:p>
          <a:p>
            <a:r>
              <a:rPr lang="en-US" dirty="0"/>
              <a:t>Original paper:</a:t>
            </a:r>
            <a:br>
              <a:rPr lang="en-US" dirty="0"/>
            </a:br>
            <a:r>
              <a:rPr lang="en-US" sz="1800" dirty="0"/>
              <a:t>J. D. C. Little,  "A Proof for the Queuing Formula: L = </a:t>
            </a:r>
            <a:r>
              <a:rPr lang="en-US" sz="1800" dirty="0" err="1"/>
              <a:t>λW</a:t>
            </a:r>
            <a:r>
              <a:rPr lang="en-US" sz="1800" dirty="0"/>
              <a:t>". In Operations Research 9(3) 383-337, 1961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157CA-ADE0-29D4-B5D9-2A622695E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116E0-FB58-4A09-67C4-45A0960B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64672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4B8C5-6006-4D82-27DB-CD208302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E7B66-9D5B-F485-FCE9-DCD6CC17D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equation provides a useful tool in many domains</a:t>
            </a:r>
          </a:p>
          <a:p>
            <a:pPr lvl="1"/>
            <a:endParaRPr lang="en-US" dirty="0"/>
          </a:p>
          <a:p>
            <a:r>
              <a:rPr lang="en-US" dirty="0"/>
              <a:t>How many chairs do we need to put in the bank branch?</a:t>
            </a:r>
          </a:p>
          <a:p>
            <a:pPr lvl="1"/>
            <a:r>
              <a:rPr lang="en-US" dirty="0"/>
              <a:t>No. of customers in the system given arrival rate and service time</a:t>
            </a:r>
          </a:p>
          <a:p>
            <a:endParaRPr lang="en-US" dirty="0"/>
          </a:p>
          <a:p>
            <a:r>
              <a:rPr lang="en-US" dirty="0"/>
              <a:t>How many tellers do we need in the bank branch?</a:t>
            </a:r>
          </a:p>
          <a:p>
            <a:pPr lvl="1"/>
            <a:r>
              <a:rPr lang="en-US" dirty="0"/>
              <a:t>More tellers reduce avg. service time</a:t>
            </a:r>
          </a:p>
          <a:p>
            <a:pPr lvl="1"/>
            <a:endParaRPr lang="en-US" dirty="0"/>
          </a:p>
          <a:p>
            <a:r>
              <a:rPr lang="en-US" dirty="0"/>
              <a:t>Of course, it’s quite useful in computing…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EF751-C751-97A1-1858-628B28A1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4F913-8D0B-21E2-AF6A-424CE50E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34448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A0EC-26BF-2AD0-6CE0-79E5ADEF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Designing network switches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5CCA5-BEDB-B545-D26F-6134A96C5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high-end 800gbs Ethernet switch (100GB/s)</a:t>
            </a:r>
          </a:p>
          <a:p>
            <a:pPr lvl="1"/>
            <a:r>
              <a:rPr lang="en-US" dirty="0"/>
              <a:t>Standard Ethernet packet: 1500B</a:t>
            </a:r>
          </a:p>
          <a:p>
            <a:pPr lvl="1"/>
            <a:endParaRPr lang="en-US" dirty="0"/>
          </a:p>
          <a:p>
            <a:r>
              <a:rPr lang="en-US" b="1" i="1" dirty="0"/>
              <a:t>Lambda </a:t>
            </a:r>
            <a:r>
              <a:rPr lang="en-US" dirty="0"/>
              <a:t>= 100GB / 1500B = 67M </a:t>
            </a:r>
            <a:r>
              <a:rPr lang="en-US" dirty="0" err="1"/>
              <a:t>pps</a:t>
            </a:r>
            <a:r>
              <a:rPr lang="en-US" dirty="0"/>
              <a:t> (per port)</a:t>
            </a:r>
          </a:p>
          <a:p>
            <a:pPr lvl="1"/>
            <a:r>
              <a:rPr lang="en-US" dirty="0"/>
              <a:t>Minimal packets/second the needs to be supported: 67M</a:t>
            </a:r>
          </a:p>
          <a:p>
            <a:endParaRPr lang="en-US" dirty="0"/>
          </a:p>
          <a:p>
            <a:r>
              <a:rPr lang="en-US" b="1" i="1" dirty="0"/>
              <a:t>W</a:t>
            </a:r>
            <a:r>
              <a:rPr lang="en-US" dirty="0"/>
              <a:t>=200ns means we maintain a 200ns switching latency</a:t>
            </a:r>
          </a:p>
          <a:p>
            <a:endParaRPr lang="en-US" dirty="0"/>
          </a:p>
          <a:p>
            <a:r>
              <a:rPr lang="en-US" b="1" i="1" dirty="0"/>
              <a:t>L</a:t>
            </a:r>
            <a:r>
              <a:rPr lang="en-US" dirty="0"/>
              <a:t> = buffer size = 67M </a:t>
            </a:r>
            <a:r>
              <a:rPr lang="en-US" dirty="0" err="1"/>
              <a:t>pps</a:t>
            </a:r>
            <a:r>
              <a:rPr lang="en-US" dirty="0"/>
              <a:t> * 0.0000002s = 13.4 packets (per port)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0D21B-CCF5-22CD-B37A-EA35C382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3892D4-E9D3-16CD-C6AC-ABD9129B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32136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759CC-576D-DD6F-EE36-5F5A22DB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DC802-FD00-34E3-FBFC-788136BC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Designing network switches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CADF-C011-7912-8B57-C8A3DF2C5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about smaller packets?</a:t>
            </a:r>
          </a:p>
          <a:p>
            <a:pPr lvl="1"/>
            <a:r>
              <a:rPr lang="en-US" dirty="0"/>
              <a:t>Memory accesses fetch as little as 64B per transfer (cache line)</a:t>
            </a:r>
          </a:p>
          <a:p>
            <a:pPr lvl="1"/>
            <a:endParaRPr lang="en-US" dirty="0"/>
          </a:p>
          <a:p>
            <a:r>
              <a:rPr lang="en-US" b="1" i="1" dirty="0"/>
              <a:t>Lambda</a:t>
            </a:r>
            <a:r>
              <a:rPr lang="en-US" i="1" dirty="0"/>
              <a:t> </a:t>
            </a:r>
            <a:r>
              <a:rPr lang="en-US" dirty="0"/>
              <a:t>= 100GB / 64B = 1.56G </a:t>
            </a:r>
            <a:r>
              <a:rPr lang="en-US" dirty="0" err="1"/>
              <a:t>pps</a:t>
            </a:r>
            <a:r>
              <a:rPr lang="en-US" dirty="0"/>
              <a:t> (per port)</a:t>
            </a:r>
          </a:p>
          <a:p>
            <a:endParaRPr lang="en-US" dirty="0"/>
          </a:p>
          <a:p>
            <a:r>
              <a:rPr lang="en-US" b="1" i="1" dirty="0"/>
              <a:t>W</a:t>
            </a:r>
            <a:r>
              <a:rPr lang="en-US" dirty="0"/>
              <a:t>=200ns means we maintain a 200ns switching latency</a:t>
            </a:r>
          </a:p>
          <a:p>
            <a:endParaRPr lang="en-US" dirty="0"/>
          </a:p>
          <a:p>
            <a:r>
              <a:rPr lang="en-US" b="1" i="1" dirty="0"/>
              <a:t>L</a:t>
            </a:r>
            <a:r>
              <a:rPr lang="en-US" dirty="0"/>
              <a:t> = buffer size = 1.56G </a:t>
            </a:r>
            <a:r>
              <a:rPr lang="en-US" dirty="0" err="1"/>
              <a:t>pps</a:t>
            </a:r>
            <a:r>
              <a:rPr lang="en-US" dirty="0"/>
              <a:t> * 0.0000002s = 312 packets (per port)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9E8D3-8B3E-FCE9-1729-7EC0C0975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29925-3128-8271-E2CD-D041D550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80936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9307-6F3C-3D00-3B4E-46174CBC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HW/SW co-design of a task scheduler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35847-F848-BE4E-3A39-F24A530E5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Modern parallel programming models are task-based</a:t>
            </a:r>
          </a:p>
          <a:p>
            <a:pPr lvl="1"/>
            <a:r>
              <a:rPr lang="en-US" dirty="0"/>
              <a:t>E.g., OpenMP</a:t>
            </a:r>
          </a:p>
          <a:p>
            <a:endParaRPr lang="en-US" dirty="0"/>
          </a:p>
          <a:p>
            <a:r>
              <a:rPr lang="en-US" dirty="0"/>
              <a:t>A task is a piece of finite code that needs to be executed</a:t>
            </a:r>
          </a:p>
          <a:p>
            <a:endParaRPr lang="en-US" dirty="0"/>
          </a:p>
          <a:p>
            <a:r>
              <a:rPr lang="en-US" dirty="0"/>
              <a:t>Tasks are inter-dependent and must be scheduled in a correct order</a:t>
            </a:r>
          </a:p>
          <a:p>
            <a:endParaRPr lang="en-US" dirty="0"/>
          </a:p>
          <a:p>
            <a:r>
              <a:rPr lang="en-US" dirty="0"/>
              <a:t>The runtime system must dynamically build the dependency graph and schedule tasks</a:t>
            </a:r>
          </a:p>
          <a:p>
            <a:endParaRPr lang="en-US" dirty="0"/>
          </a:p>
          <a:p>
            <a:r>
              <a:rPr lang="en-US" dirty="0"/>
              <a:t>But what are the requirements from the runtime system?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2100" i="1" dirty="0"/>
              <a:t>Etsion et al., “Task Superscalar: An Out-of-Order Task Pipeline”. In MICRO 2010</a:t>
            </a:r>
            <a:endParaRPr lang="en-IL" sz="21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97D9B-3B55-9DD4-55EF-EA63558A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D7C2C-CE38-5198-0A40-D6C6C1CEA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08307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6357B-0CF1-9452-0648-CEBF4F5FD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CD46B-CF2A-6653-C3FE-11FF5FABB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HW/SW co-design of a task scheduler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68450-11F8-FBDF-5152-BF4A91EE4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cs typeface="Courier New" panose="02070309020205020404" pitchFamily="49" charset="0"/>
              </a:rPr>
              <a:t>OpenMP allows declaring input and output parameters using pragmas: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task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(a, b)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(c) 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sgemm_t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a[M][M],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b[M][M],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c[M][M]); </a:t>
            </a:r>
          </a:p>
          <a:p>
            <a:pPr marL="0" indent="0">
              <a:buNone/>
            </a:pP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task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(a) 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spotrf_t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a[M][M]); 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task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(a)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(b) 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strsm_t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a[M][M],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b[M][M]); </a:t>
            </a: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#pragma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input(a)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(b) </a:t>
            </a:r>
          </a:p>
          <a:p>
            <a:pPr marL="0" indent="0">
              <a:buNone/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ssyrk_t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a[M][M],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b[M][M]); </a:t>
            </a:r>
            <a:endParaRPr lang="en-IL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28F66-2120-5832-FC2D-5EB5D2D7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66AA9-BE7F-98DD-8DFA-9D81ED3F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07327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DFEE-A548-3C56-5944-4283CAC7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37B61-330D-2555-3270-49F834D0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HW/SW co-design of a task scheduler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629B4-E2D4-8EF1-7C44-6CB5E45DB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667249"/>
          </a:xfrm>
        </p:spPr>
        <p:txBody>
          <a:bodyPr>
            <a:normAutofit fontScale="85000" lnSpcReduction="20000"/>
          </a:bodyPr>
          <a:lstStyle/>
          <a:p>
            <a:r>
              <a:rPr lang="en-US" sz="3300" dirty="0">
                <a:cs typeface="Courier New" panose="02070309020205020404" pitchFamily="49" charset="0"/>
              </a:rPr>
              <a:t>At run time, the main thread generates tasks:</a:t>
            </a:r>
            <a:br>
              <a:rPr lang="en-US" sz="3300" dirty="0">
                <a:cs typeface="Courier New" panose="02070309020205020404" pitchFamily="49" charset="0"/>
              </a:rPr>
            </a:br>
            <a:r>
              <a:rPr lang="en-US" sz="3300" dirty="0">
                <a:cs typeface="Courier New" panose="02070309020205020404" pitchFamily="49" charset="0"/>
              </a:rPr>
              <a:t>(example: Cholesky matrix decomposition)</a:t>
            </a:r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A[N][N][M][M]; </a:t>
            </a:r>
            <a:r>
              <a:rPr lang="en-US" sz="2600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2600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NxN</a:t>
            </a:r>
            <a:r>
              <a:rPr lang="en-US" sz="2600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blocked matrix with </a:t>
            </a:r>
            <a:r>
              <a:rPr lang="en-US" sz="2600" i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MxM</a:t>
            </a:r>
            <a:r>
              <a:rPr lang="en-US" sz="2600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blocks</a:t>
            </a:r>
          </a:p>
          <a:p>
            <a:pPr marL="0" indent="0">
              <a:spcBef>
                <a:spcPts val="300"/>
              </a:spcBef>
              <a:buNone/>
            </a:pP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for (int j = 0; j&lt;N;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for (int k = 0; k&lt;j; k++)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j+1;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sgemm_t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(A[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][k], A[j][k], A[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][j]);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for (int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&lt;j;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ssyrk_t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(A[j][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], A[j][j]);</a:t>
            </a:r>
          </a:p>
          <a:p>
            <a:pPr marL="0" indent="0">
              <a:spcBef>
                <a:spcPts val="300"/>
              </a:spcBef>
              <a:buNone/>
            </a:pP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spotrf_t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(A[j][j]);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for (int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= j+1;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strsm_t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(A[j][j], A[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][j]);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DBE88-891A-A079-6DD5-523B962B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8D8F3-905D-696F-FE41-15F62FC54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64344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8A10D1D-D67F-B1D2-C302-C45588CC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618" y="1319858"/>
            <a:ext cx="3385994" cy="50162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98EC76-1829-C036-942E-3284BAF9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HW/SW co-design of a task scheduler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99E69-1A9C-E5EB-FD75-07BDC6FE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8FAAA-D54B-246D-9F75-182B97D7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017B203-0596-4A9B-D8A8-6C0151D9A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what the full task dependency</a:t>
            </a:r>
            <a:br>
              <a:rPr lang="en-US" dirty="0"/>
            </a:br>
            <a:r>
              <a:rPr lang="en-US" dirty="0"/>
              <a:t>graph for a 5x5 Cholesky decomposition</a:t>
            </a:r>
            <a:br>
              <a:rPr lang="en-US" dirty="0"/>
            </a:br>
            <a:r>
              <a:rPr lang="en-US" dirty="0"/>
              <a:t>looks like</a:t>
            </a:r>
          </a:p>
        </p:txBody>
      </p:sp>
    </p:spTree>
    <p:extLst>
      <p:ext uri="{BB962C8B-B14F-4D97-AF65-F5344CB8AC3E}">
        <p14:creationId xmlns:p14="http://schemas.microsoft.com/office/powerpoint/2010/main" val="3723925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9A6E-B0A9-E145-3B6E-022B2266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HW/SW co-design of a task scheduler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15315-066D-3296-AEDD-1F78A213A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69828" cy="4351338"/>
          </a:xfrm>
        </p:spPr>
        <p:txBody>
          <a:bodyPr/>
          <a:lstStyle/>
          <a:p>
            <a:r>
              <a:rPr lang="en-US" dirty="0"/>
              <a:t>The scheduler needs to constructs a partial graph and dispatch ready tasks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29CF1-B8B4-1275-B591-5CFD3D53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191987-01D0-691D-26BE-16ED0A78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366C0-7584-C6CE-6238-5C920105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883" y="1790317"/>
            <a:ext cx="6731055" cy="45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909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2F6B-CCE6-DF50-7CCE-34201DE89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HW/SW co-design of a task scheduler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D6CFA-02E8-4A47-ECCA-35480FBCA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Constraints: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want to utilize a 256-core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Tasks’ run time is determined by the way they are coded</a:t>
            </a:r>
          </a:p>
          <a:p>
            <a:pPr lvl="1"/>
            <a:r>
              <a:rPr lang="en-US" dirty="0"/>
              <a:t>It’s easier to write short functions, which stresses the scheduler</a:t>
            </a:r>
          </a:p>
          <a:p>
            <a:pPr lvl="1"/>
            <a:endParaRPr lang="en-US" dirty="0"/>
          </a:p>
          <a:p>
            <a:r>
              <a:rPr lang="en-US" dirty="0"/>
              <a:t>The scheduler must support an arrival rate of: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Lambda = L / W = 256 / W</a:t>
            </a:r>
          </a:p>
          <a:p>
            <a:pPr marL="0" indent="0">
              <a:buNone/>
            </a:pPr>
            <a:r>
              <a:rPr lang="en-US" sz="2400" dirty="0"/>
              <a:t>    (where W is the task run time)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6D244-C652-D348-0AC4-CB1808868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C8134-B1D3-F32B-C51A-20ECC6B1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113800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1C65-4311-1D68-8C6F-ADD1D194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HW/SW co-design of a task scheduler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74489-92BE-7DB7-BD70-B8B649C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DC0E3-B1F9-1A1F-6747-87CAEA0B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905E92-C794-D9B5-C274-4BBECDA43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948" y="1672921"/>
            <a:ext cx="6836104" cy="47627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1A4ECB-7BD5-F933-D9E8-66E7098B05F0}"/>
              </a:ext>
            </a:extLst>
          </p:cNvPr>
          <p:cNvSpPr txBox="1"/>
          <p:nvPr/>
        </p:nvSpPr>
        <p:spPr>
          <a:xfrm>
            <a:off x="7018130" y="6348144"/>
            <a:ext cx="303089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W=Task run time (</a:t>
            </a:r>
            <a:r>
              <a:rPr lang="en-US" sz="2400" dirty="0" err="1"/>
              <a:t>ms</a:t>
            </a:r>
            <a:r>
              <a:rPr lang="en-US" sz="2400" dirty="0"/>
              <a:t>)</a:t>
            </a:r>
            <a:endParaRPr lang="en-IL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9F4B60-A84C-E53C-8048-F1A12DB6304C}"/>
              </a:ext>
            </a:extLst>
          </p:cNvPr>
          <p:cNvSpPr txBox="1"/>
          <p:nvPr/>
        </p:nvSpPr>
        <p:spPr>
          <a:xfrm rot="16200000">
            <a:off x="559175" y="3281313"/>
            <a:ext cx="399872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λ=Task arrival rate (tasks/</a:t>
            </a:r>
            <a:r>
              <a:rPr lang="en-US" sz="2400" dirty="0" err="1"/>
              <a:t>ms</a:t>
            </a:r>
            <a:r>
              <a:rPr lang="en-US" sz="2400" dirty="0"/>
              <a:t>)</a:t>
            </a:r>
            <a:endParaRPr lang="en-IL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9F31DC-6B72-E62D-71F0-B32973738ACA}"/>
              </a:ext>
            </a:extLst>
          </p:cNvPr>
          <p:cNvSpPr txBox="1"/>
          <p:nvPr/>
        </p:nvSpPr>
        <p:spPr>
          <a:xfrm>
            <a:off x="8771101" y="2629152"/>
            <a:ext cx="3053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Lambda = 256 / W</a:t>
            </a:r>
          </a:p>
        </p:txBody>
      </p:sp>
    </p:spTree>
    <p:extLst>
      <p:ext uri="{BB962C8B-B14F-4D97-AF65-F5344CB8AC3E}">
        <p14:creationId xmlns:p14="http://schemas.microsoft.com/office/powerpoint/2010/main" val="3086590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E42-C550-B330-81FD-B2072C01E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18BCD0-9F09-5ADE-A075-737426C39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948" y="1672921"/>
            <a:ext cx="6836104" cy="4762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2E5FF0-2925-1DDB-B3CE-876BDD4EB769}"/>
              </a:ext>
            </a:extLst>
          </p:cNvPr>
          <p:cNvSpPr txBox="1"/>
          <p:nvPr/>
        </p:nvSpPr>
        <p:spPr>
          <a:xfrm>
            <a:off x="7018130" y="6348144"/>
            <a:ext cx="303089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W=Task run time (</a:t>
            </a:r>
            <a:r>
              <a:rPr lang="en-US" sz="2400" dirty="0" err="1"/>
              <a:t>ms</a:t>
            </a:r>
            <a:r>
              <a:rPr lang="en-US" sz="2400" dirty="0"/>
              <a:t>)</a:t>
            </a:r>
            <a:endParaRPr lang="en-IL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85541-60BB-6CB6-CBB0-52B7C6C8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HW/SW co-design of a task scheduler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92625-6FD1-39F5-B81A-21AC863C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5A163-206F-09DE-1E3C-AE02DD48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81A3FFB-D5B0-0E04-B094-5A1881ACC675}"/>
              </a:ext>
            </a:extLst>
          </p:cNvPr>
          <p:cNvCxnSpPr>
            <a:cxnSpLocks/>
          </p:cNvCxnSpPr>
          <p:nvPr/>
        </p:nvCxnSpPr>
        <p:spPr>
          <a:xfrm>
            <a:off x="6922219" y="5993510"/>
            <a:ext cx="0" cy="18737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6CA4F6-78F9-3C1E-C45F-DF438AE65B74}"/>
              </a:ext>
            </a:extLst>
          </p:cNvPr>
          <p:cNvCxnSpPr>
            <a:cxnSpLocks/>
          </p:cNvCxnSpPr>
          <p:nvPr/>
        </p:nvCxnSpPr>
        <p:spPr>
          <a:xfrm>
            <a:off x="2783569" y="6006553"/>
            <a:ext cx="4138650" cy="0"/>
          </a:xfrm>
          <a:prstGeom prst="straightConnector1">
            <a:avLst/>
          </a:prstGeom>
          <a:ln w="28575"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82DF301-744D-B9E3-9082-F7E2EB1227A6}"/>
              </a:ext>
            </a:extLst>
          </p:cNvPr>
          <p:cNvSpPr txBox="1"/>
          <p:nvPr/>
        </p:nvSpPr>
        <p:spPr>
          <a:xfrm>
            <a:off x="2180195" y="582188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~4.3</a:t>
            </a:r>
            <a:endParaRPr lang="en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238851-D895-E247-9024-CB1109AE8EA4}"/>
              </a:ext>
            </a:extLst>
          </p:cNvPr>
          <p:cNvSpPr txBox="1"/>
          <p:nvPr/>
        </p:nvSpPr>
        <p:spPr>
          <a:xfrm>
            <a:off x="3853108" y="3309002"/>
            <a:ext cx="7821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We need to schedule at a rate </a:t>
            </a:r>
            <a:r>
              <a:rPr lang="en-US" sz="2800">
                <a:highlight>
                  <a:srgbClr val="FFFF00"/>
                </a:highlight>
              </a:rPr>
              <a:t>of ~4,300 </a:t>
            </a:r>
            <a:r>
              <a:rPr lang="en-US" sz="2800" dirty="0">
                <a:highlight>
                  <a:srgbClr val="FFFF00"/>
                </a:highlight>
              </a:rPr>
              <a:t>tasks/sec</a:t>
            </a:r>
            <a:endParaRPr lang="en-IL" sz="28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D8422-E279-1B3C-4EBA-F8A398727060}"/>
              </a:ext>
            </a:extLst>
          </p:cNvPr>
          <p:cNvSpPr txBox="1"/>
          <p:nvPr/>
        </p:nvSpPr>
        <p:spPr>
          <a:xfrm rot="16200000">
            <a:off x="527916" y="3319413"/>
            <a:ext cx="406124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λ= Task arrival rate (tasks/</a:t>
            </a:r>
            <a:r>
              <a:rPr lang="en-US" sz="2400" dirty="0" err="1"/>
              <a:t>ms</a:t>
            </a:r>
            <a:r>
              <a:rPr lang="en-US" sz="2400" dirty="0"/>
              <a:t>)</a:t>
            </a:r>
            <a:endParaRPr lang="en-IL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7EF86E-6C7B-29E6-75D5-B48140C16B70}"/>
              </a:ext>
            </a:extLst>
          </p:cNvPr>
          <p:cNvSpPr txBox="1"/>
          <p:nvPr/>
        </p:nvSpPr>
        <p:spPr>
          <a:xfrm>
            <a:off x="8771101" y="2629152"/>
            <a:ext cx="3053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Lambda = 256 / W</a:t>
            </a:r>
          </a:p>
        </p:txBody>
      </p:sp>
    </p:spTree>
    <p:extLst>
      <p:ext uri="{BB962C8B-B14F-4D97-AF65-F5344CB8AC3E}">
        <p14:creationId xmlns:p14="http://schemas.microsoft.com/office/powerpoint/2010/main" val="338609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B48813C-CC24-C8A4-B2E9-FF206363A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624" y="1901509"/>
            <a:ext cx="5020376" cy="29150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01B298-3521-B4F5-E5E4-73D49F95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HW/SW co-design of a task scheduler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0523A-C104-914D-0424-2F6D9C731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An alternative view for this specific case study</a:t>
            </a:r>
          </a:p>
          <a:p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The first core gets a task at time 0,</a:t>
            </a:r>
            <a:br>
              <a:rPr lang="en-US" dirty="0"/>
            </a:br>
            <a:r>
              <a:rPr lang="en-US" dirty="0"/>
              <a:t>and is then occupies it for 60ms (T)</a:t>
            </a:r>
          </a:p>
          <a:p>
            <a:pPr>
              <a:spcBef>
                <a:spcPts val="1200"/>
              </a:spcBef>
            </a:pPr>
            <a:r>
              <a:rPr lang="en-US" dirty="0"/>
              <a:t>Within time T we need to dispatch tasks </a:t>
            </a:r>
            <a:br>
              <a:rPr lang="en-US" dirty="0"/>
            </a:br>
            <a:r>
              <a:rPr lang="en-US" dirty="0"/>
              <a:t>to all 256 cores</a:t>
            </a:r>
          </a:p>
          <a:p>
            <a:pPr>
              <a:spcBef>
                <a:spcPts val="1200"/>
              </a:spcBef>
            </a:pPr>
            <a:r>
              <a:rPr lang="en-US" dirty="0"/>
              <a:t>Decode and dispatch a task every R=60/256=0.23ms (on average)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Maintain arrival rate of 1/0.00023=4347 tasks/second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94127-61F0-B3C7-CC15-FC2814EB4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B9170-D3E0-991D-8EB2-57A9621A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62802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8575C-F4A9-9E47-6374-A710E603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96A4B5-B7DB-6EE6-68A1-C5E8C6A74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624" y="1901509"/>
            <a:ext cx="5020376" cy="29150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045B1-614D-47D2-CBE3-A4EC5191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Little’s Law in the wild:</a:t>
            </a:r>
            <a:br>
              <a:rPr lang="en-US" dirty="0"/>
            </a:br>
            <a:r>
              <a:rPr lang="en-US" dirty="0"/>
              <a:t>HW/SW co-design of a task scheduler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56CE2-481D-6684-F74E-C1648F8A2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generic Little’s Law applies here</a:t>
            </a:r>
            <a:r>
              <a:rPr lang="en-US" dirty="0">
                <a:sym typeface="Wingdings" panose="05000000000000000000" pitchFamily="2" charset="2"/>
              </a:rPr>
              <a:t>!</a:t>
            </a:r>
          </a:p>
          <a:p>
            <a:pPr lvl="1"/>
            <a:r>
              <a:rPr lang="en-US" dirty="0"/>
              <a:t> No need to invent new methods</a:t>
            </a:r>
          </a:p>
          <a:p>
            <a:pPr lvl="1"/>
            <a:endParaRPr lang="en-US" dirty="0"/>
          </a:p>
          <a:p>
            <a:r>
              <a:rPr lang="en-US" dirty="0"/>
              <a:t>Now that we know the requirements, </a:t>
            </a:r>
            <a:br>
              <a:rPr lang="en-US" dirty="0"/>
            </a:br>
            <a:r>
              <a:rPr lang="en-US" dirty="0"/>
              <a:t>we can design the scheduler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156A4-E6A4-6127-C21D-4785657E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2E1F8-E5B7-4D0E-3CDD-446363FB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42057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796A-B8E7-A196-D8AD-C6B17C2E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9F2EA-9508-E558-821C-6540A60FA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basic metrics are almost universal</a:t>
            </a:r>
          </a:p>
          <a:p>
            <a:endParaRPr lang="en-US" dirty="0"/>
          </a:p>
          <a:p>
            <a:r>
              <a:rPr lang="en-US" dirty="0"/>
              <a:t>But they need to be clearly defined</a:t>
            </a:r>
          </a:p>
          <a:p>
            <a:endParaRPr lang="en-US" dirty="0"/>
          </a:p>
          <a:p>
            <a:r>
              <a:rPr lang="en-US" dirty="0"/>
              <a:t>Look at the whole system to identify the bottlenecks</a:t>
            </a:r>
          </a:p>
          <a:p>
            <a:pPr lvl="1"/>
            <a:r>
              <a:rPr lang="en-US" dirty="0"/>
              <a:t>And systems tend to be complex</a:t>
            </a:r>
          </a:p>
          <a:p>
            <a:endParaRPr lang="en-US" dirty="0"/>
          </a:p>
          <a:p>
            <a:r>
              <a:rPr lang="en-US" dirty="0"/>
              <a:t>Little’s Law is a key tool in an engineer’s toolbox</a:t>
            </a:r>
          </a:p>
          <a:p>
            <a:pPr lvl="1"/>
            <a:r>
              <a:rPr lang="en-US" dirty="0"/>
              <a:t>Use it!</a:t>
            </a:r>
            <a:br>
              <a:rPr lang="en-US" dirty="0"/>
            </a:br>
            <a:r>
              <a:rPr lang="en-US" dirty="0"/>
              <a:t>(we only saw a few examples…)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A776E-DEEC-F612-8880-1F59CB2D7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7B9DF-336A-D7D5-E0B7-D13F9CCE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06739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22114</TotalTime>
  <Words>2826</Words>
  <Application>Microsoft Office PowerPoint</Application>
  <PresentationFormat>Widescreen</PresentationFormat>
  <Paragraphs>477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Courier New</vt:lpstr>
      <vt:lpstr>Wingdings</vt:lpstr>
      <vt:lpstr>Office Theme</vt:lpstr>
      <vt:lpstr>Intro to Performance Evaluation</vt:lpstr>
      <vt:lpstr>Common performance evaluation metrics</vt:lpstr>
      <vt:lpstr>Putting the metrics together</vt:lpstr>
      <vt:lpstr>Putting the metrics together</vt:lpstr>
      <vt:lpstr>Putting the metrics together</vt:lpstr>
      <vt:lpstr>Putting the metrics together</vt:lpstr>
      <vt:lpstr>Putting the metrics together</vt:lpstr>
      <vt:lpstr>Putting the metrics together</vt:lpstr>
      <vt:lpstr>Putting the metrics together</vt:lpstr>
      <vt:lpstr>Putting the metrics together</vt:lpstr>
      <vt:lpstr>Classic: Latency vs. Bandwidth</vt:lpstr>
      <vt:lpstr>Classic: Latency vs. Bandwidth</vt:lpstr>
      <vt:lpstr>Classic: Latency vs. Bandwidth</vt:lpstr>
      <vt:lpstr>Agents are like fractals</vt:lpstr>
      <vt:lpstr>Agents are like fractals</vt:lpstr>
      <vt:lpstr>Agents are like fractals</vt:lpstr>
      <vt:lpstr>Fractals in the wild: Read from disk, simple host</vt:lpstr>
      <vt:lpstr>Fractals in the wild: Read from disk, simple host</vt:lpstr>
      <vt:lpstr>Fractals in the wild: Read from disk, virtual machine</vt:lpstr>
      <vt:lpstr>Fractals in the wild: Read from disk, virtual machine</vt:lpstr>
      <vt:lpstr>Fractals in the wild: Virtualization layers come at a price</vt:lpstr>
      <vt:lpstr>NeSC’s HW/SW co-design: Offload block lookups to hardware</vt:lpstr>
      <vt:lpstr>NeSC’s improved latency</vt:lpstr>
      <vt:lpstr>NeSC’s improved bandwidth</vt:lpstr>
      <vt:lpstr>Little’s Law</vt:lpstr>
      <vt:lpstr>Little’s Law in the wild</vt:lpstr>
      <vt:lpstr>Little’s Law in the wild: Designing network switches</vt:lpstr>
      <vt:lpstr>Little’s Law in the wild: Designing network switches</vt:lpstr>
      <vt:lpstr>Little’s Law in the wild: HW/SW co-design of a task scheduler</vt:lpstr>
      <vt:lpstr>Little’s Law in the wild: HW/SW co-design of a task scheduler</vt:lpstr>
      <vt:lpstr>Little’s Law in the wild: HW/SW co-design of a task scheduler</vt:lpstr>
      <vt:lpstr>Little’s Law in the wild: HW/SW co-design of a task scheduler</vt:lpstr>
      <vt:lpstr>Little’s Law in the wild: HW/SW co-design of a task scheduler</vt:lpstr>
      <vt:lpstr>Little’s Law in the wild: HW/SW co-design of a task scheduler</vt:lpstr>
      <vt:lpstr>Little’s Law in the wild: HW/SW co-design of a task scheduler</vt:lpstr>
      <vt:lpstr>Little’s Law in the wild: HW/SW co-design of a task scheduler</vt:lpstr>
      <vt:lpstr>Little’s Law in the wild: HW/SW co-design of a task scheduler</vt:lpstr>
      <vt:lpstr>Little’s Law in the wild: HW/SW co-design of a task scheduler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Yoav Etsion</dc:creator>
  <cp:lastModifiedBy>Yoav Etsion</cp:lastModifiedBy>
  <cp:revision>1</cp:revision>
  <dcterms:created xsi:type="dcterms:W3CDTF">2025-03-20T10:33:10Z</dcterms:created>
  <dcterms:modified xsi:type="dcterms:W3CDTF">2026-04-19T16:33:32Z</dcterms:modified>
</cp:coreProperties>
</file>